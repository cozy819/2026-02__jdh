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[시간 계획 — 학생 화면에는 표시하지 않는다]
0–3분 도입(유리창 장면) · 3–10분 사라지는 것 직접 보기 · 10–20분 기억할 기록 고르기와 약속표 3항 · 20–28분 SQLite 파일과 표·행·열 · 28–35분 SQLite Viewer 설치와 보는 법 · 35–42분 AI에게 계획만 듣고 대조 · 42–45분 확인과 정리
밀리면 확인 문제(교과서 19쪽)는 11-2 시작 전으로 돌린다. 「사라지는 것 직접 보기」와 「계획 대조」는 줄이지 않는다.
11-1과 11-2는 같은 날 이어서 한다. 11-1 끝에 OpenCode 창을 닫지 않게 한다. 11-2 첫 요청이 「진행해」다.
[0–1분] 표지
10회에 버튼을 누르면 요청이 가고 응답이 화면에 오게 만들었다. 오늘은 그 결과가 언제까지 남는지부터 본다.
오늘과 다음 시간 모두 10 폴더를 연다. 13회까지 쓰는 내 서비스 프로젝트다.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[1–3분] 도입 — 유리창 장면
어젯밤 할 일 정리 서비스에 내일 할 일 세 개를 적어 두었다. 아침에 다시 열었더니 목록이 텅 비어 있다. 화면도 멀쩡하고 버튼도 잘 눌린다.
서비스가 고장 난 게 아니다. 적은 걸 어디에도 남겨 두지 않았을 뿐이다. 그런데 사용자에게는 이게 제일 큰 고장이다. 다시 열 이유가 없어지니까.
(그림을 가리키며) 김 서린 유리창에 쓴 글씨는 잠깐 보이다가 흘러내려 사라진다. 지금 우리 서비스의 결과가 이렇다.
[예상 질문] Q. 10회에 만든 거 저장 안 돼요? A. 안 된다. 일부러 안 했다. 지금 직접 확인해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[3–8분] 사라지는 것 직접 보기
10 폴더를 열고 터미널 → 새 터미널. 줄 끝이 …\10&gt; 인지 보고 npm run dev. Ready가 보이면 localhost:3000.
10-2에서 연결한 핵심 행동을 한 번 한다. 결과가 보이면 F5로 새로고침해 본다. 그다음 터미널을 누르고 Ctrl+C로 멈췄다가 다시 npm run dev.
Windows에서는 Ctrl+C 뒤에 「일괄 작업을 끝내시겠습니까 (Y/N)?」가 나올 수 있다. Y 누르고 Enter.
사라졌으면 정상이다. 10회에는 요청을 받아 응답을 돌려주기만 했다. 받은 값을 어디에도 적지 않았다.
[진행 메모] npm run dev에서 빨간 글자가 나는 학생은 10-2 상태부터 본다. 핵심 기능이 아직 안 되는 학생은 오늘 그것부터 바로잡게 한다(교과서 21쪽).
[진행 메모] 새로고침해도 결과가 남는 학생이 있으면 10-2에서 AI가 저장을 붙였을 수 있다. 어디에 저장했는지 같이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[8–10분] 보이는 것과 기억
결과가 화면에 보였다고 서비스가 기억한 게 아니다. 지금은 브라우저 화면과 실행 중인 서버 안에 잠깐 있다가 같이 사라진다.
기억하려면 두 가지가 다 있어야 한다. 파일에 적어 두는 것, 그리고 다시 열 때 그 파일에서 읽어 오는 것.
저장만 하면 파일 안에는 있는데 사용자는 못 본다. 읽어 오기만 있으면 읽을 게 없다. 그래서 한 짝이다. 11-2에서 둘을 같이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[10–13분] 기억할 기록
무엇을 기억할지는 서비스가 아니라 사용자에게서 시작한다. 다음에 다시 열었을 때 「아, 그대로 있네」 하고 기대하는 것.
표에서 내 서비스와 가까운 줄을 찾아봐라. 계산기 같은 서비스도 「최근 기록」이라는 기억할 것이 있다.
새로 정하는 게 아니다. PRD 5항에 「서비스가 반드시 기억해야 할 기록」을 7-2에서 이미 적었다. 오늘은 그중 처음 연결할 하나를 고른다.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[13–15분] 의미 있는 기록 하나
가장 흔한 실수가 데이터베이스를 썼다는 표시를 내려고 서비스와 상관없는 값을 저장하는 것이다. 방문 횟수 같은 것. 쉽게 저장되지만 사용자는 그걸 다시 볼 이유가 없다.
네 질문에 다 「예」인 기록 하나면 충분하다.
평가에서도 표 개수를 보지 않는다. 계획한 기록이 실제로 저장되고 사용자에게 다시 보이는지를 본다.
[예상 질문] Q. 표가 하나면 점수가 낮지 않아요? A. 아니다. 7-1에서 본 것처럼 나눌 이유가 없으면 하나가 맞다.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[15–20분] 내 기록 세 줄
이제 내 서비스로 정한다. docs 폴더를 열면 PRD, 개발 계획, 10-2에서 쓴 API 약속표가 있다.
PRD 5항의 기억할 기록과 다시 보는 순간, 개발 계획 3항 마지막 칸과 7항 11회 줄을 보고, 약속표 3항 세 줄을 거기에 맞게 채우거나 고친다. Ctrl+S.
이 세 줄을 오늘 마지막에 AI가 읽는다.
세 파일이 서로 다르면 PRD는 고치지 말고 약속표 쪽을 맞춘다. docs 문서는 내가 고친다. AGENTS.md에 AI는 docs를 고치지 말라고 적혀 있다.
교과서 9쪽 표에 흔한 잘못이 있다. 이름 · 전화번호, 방문 횟수, 「모든 기록」.
[진행 메모] 한 바퀴 돌며 「저장할 핵심 기록」 줄만 읽어 준다. PRD 5항이 비어 있는 학생은 손을 들게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[20–23분] SQLite는 파일 하나
기억할 것을 정했으니 이제 적어 둘 곳. 우리 표준 프로젝트는 SQLite를 쓴다.
휴대폰 메모 앱은 가입 안 해도 적은 게 남는다. 앱 안의 파일에 적어 두기 때문이다. SQLite가 그런 방식이다.
(상자 그림을 가리키며) 데이터베이스라고 하면 어딘가 따로 돌아가는 큰 기계를 떠올리는데, 여기서는 상자 하나, 파일 하나다. data 폴더 안의 app.db.
이 파일은 처음 저장하는 순간 저절로 생긴다. 지금은 아직 없다.
app.db는 글자 파일이 아니다. 그냥 클릭하면 깨진 기호가 보인다. 고장 아니다. 고치지 말고 닫는다. 잠시 뒤 설치할 Viewer로 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[23–26분] 표·행·열
SQLite 파일 안에는 7-1에서 엑셀 성적표와 비교했던 그 표가 들어 있다. 할 일 정리라면 이 표 하나면 된다.
표 이름 tasks. 열은 id, text, created_at. id는 7-1의 기본키다. 저장할 때 1, 2, 3 저절로 붙는다. created_at도 저절로 적힌다.
7-1에서 표를 볼 때 첫 질문이 뭐였지? 「이 표의 한 행은 무엇인가?」 (주황 테두리를 가리키며) 한 행이 할 일 하나다.
내 서비스라면 한 행이 무엇인지 한 문장으로 말할 수 있어야 한다. 짝에게 말해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[26–28분] getDb()
이 표는 누가 만드나. lib/db.js를 열어 보자. 파일에 연결하는 부분은 선생님이 정해 두었다. 가운데 「내 서비스의 표를 여기서 만든다」는 빈자리가 있다.
11-2에서 AI가 이 자리에 한 줄을 넣는다. CREATE TABLE.
SQL 문법을 외우지 않는다. 이 줄에서 읽을 건 셋뿐이다. 표 이름, 괄호 안 열 이름, IF NOT EXISTS. 없으면 만들고 이미 있으면 그대로 둔다. 그래서 서버를 다시 켜도 쌓인 행이 안 지워진다.
[썰 — 시간이 남을 때만] node:sqlite는 Node에 들어 있는 SQLite다. 그래서 따로 설치할 패키지가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[28–33분] SQLite Viewer 설치
app.db는 기본 편집기로 못 읽는다. 표와 행을 보여 주는 확장을 설치한다. 2회에 Korean Language Pack, Python 확장을 설치한 그 방법이다.
확장 화면에서 SQLite Viewer를 검색하면 비슷한 이름이 여러 개 나온다. 눌러서 오른쪽 설명 화면의 식별자가 qwtel.sqlite-viewer 인지 본다. 맞으면 설치. 단추가 제거로 바뀌면 끝.
이 확장은 읽기 전용으로만 쓴다. 값을 고치거나 지우지 않는다. 기록은 언제나 내 서비스 화면에서 만든다.
설치까지만 한다. 내 app.db는 아직 없다. 여는 건 11-2.
[진행 메모] 다른 확장을 설치한 학생은 그 확장의 제거를 누르게 한다. 학교 PC에서 확장 마켓 접속이 막히면 미리 받아 둔 VSIX를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[33–35분] Viewer로 보는 것
내 data/app.db는 11-2에서 처음 저장할 때 생긴다. 그래서 오늘은 할 일 예시 파일을 열면 어떻게 보이는지 미리 본다.
(캡처를 가리키며) 탐색기의 data 폴더 아래 app.db, 왼쪽에 표 이름 tasks, 오른쪽에 열과 행. 아까 본 표 모양 그대로다.
11-2에서 Viewer로 확인할 건 두 가지다. 화면에서 입력한 값이 새 행으로 생겼나, 서버를 다시 켜도 그 행이 남았나.
[진행 메모] 선생님 PC에서 example_tasks_route.js로 만든 예시 app.db를 실제로 열어 보여 주면 더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[35–39분] 계획부터 듣기
이제 AI에게 저장을 맡긴다. 그런데 바로 「만들어 줘」라고 하지 않는다.
저장을 붙이면 lib/db.js, API 파일, 화면 파일이 한꺼번에 바뀐다. 다 바뀐 뒤에 표 이름이나 열이 틀린 걸 알면 되돌리기 어렵다.
그래서 오늘은 계획만 듣는다. 고치는 건 11-2에서 「진행해」로 시킨다. 10회부터 쓰는 두 번 나누기 그대로다.
npm run dev 터미널은 그대로 두고, 터미널 패널의 +로 하나 더 연다. 줄 끝이 …\10&gt; 인지 보고 opencode.
교과서 17쪽 요청문을 복사해 보낸다. AI가 네 가지를 설명할 것이다. 무엇을 저장하는지, 언제 다시 보는지, 표와 열, 고칠 파일.
[진행 메모] AI가 바로 파일을 고치기 시작하면 「방금 고친 것을 모두 되돌려 줘. 아직 고치지 말고 계획만 설명해 줘」(교과서 21쪽).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[39–42분] 계획 대조
AI가 계획을 설명하면 PRD 5항과 약속표 3항을 옆에 두고 한 줄씩 대 본다.
열 이름이 영어로 나와도 괜찮다. 그 열에 무엇을 담는지 AI 설명을 읽고, 내가 적은 기록과 같은 건지만 판단한다.
다르면 「이 열은 왜 있어?」가 아니라 「사용자는 이 정보를 입력한 적이 없어」로 말한다. 사용자 눈으로 지적하는 거다. 그리고 꼭 「아직 고치지 말고」.
계획이 맞으면 오늘은 여기까지. OpenCode 창은 닫지 않는다. 11-2 첫 요청이 「진행해」다.
[진행 메모] 「교사 확인 필요」였던 파일 올리기가 계획에 들어 있으면 손을 들게 한다. 허락 여부는 11-2 교과서 14쪽.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[42–44분] 확인 문제와 막힐 때
교과서 19쪽 확인 문제 세 개. 답을 먼저 말하고 해설을 연다.
1번은 파일에 적지 않았기 때문. 2번은 사용자가 다시 볼 이유가 없기 때문. 3번은 여러 파일이 한꺼번에 바뀌기 전에 표와 열을 대 보기 위해서.
막히는 건 교과서 21쪽 표에서 내 줄을 찾는다.
[진행 메모] 시간이 밀리면 확인 문제는 11-2 시작 전에 말로 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[44–45분] 마무리
오늘 남길 것: 화면에 보이는 건 아직 기억이 아니다. 저장하기와 다시 불러오기가 한 짝. 기억할 기록은 사용자가 다시 볼 이유가 있는 것 하나부터. SQLite는 data/app.db 파일 하나. AI에게는 계획부터.
OpenCode 창은 닫지 않는다. 쉬는 시간 뒤 11-2에서 바로 「진행해」를 보낸다.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11회 · 첫째 차시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서비스가 데이터를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기억하는 과정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0352" y="365760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켜면 사라지는 기록을 눈으로 보고,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기억하게 할지 정합니다.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방금 남긴 것이 다시 왔을 때 없다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2–3쪽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900" dirty="0"/>
          </a:p>
        </p:txBody>
      </p:sp>
      <p:pic>
        <p:nvPicPr>
          <p:cNvPr id="9" name="Image 0" descr="/Users/cozy/Library/Mobile Documents/com~apple~CloudDocs/Obsidian Vault/31 장대현중고등학교/02 26.07. 정보와 디지털 문해력/11 수업구성/교과서_배포/assets/img/11-1-01-vanis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7516" y="1737360"/>
            <a:ext cx="7233920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30352" y="5760720"/>
            <a:ext cx="11128248" cy="457200"/>
          </a:xfrm>
          <a:prstGeom prst="roundRect">
            <a:avLst>
              <a:gd name="adj" fmla="val 44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사용자는 어떤 정보를 다시 보기를 기대할까?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켜면 사라지는 것을 내 눈으로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4쪽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실행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run dev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Ready → localhost:3000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6552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385566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8446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8446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행동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568446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입력하고 버튼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결과가 보인다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20740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40780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23660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23660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F5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결과는?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77595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95994" y="1783080"/>
            <a:ext cx="2562606" cy="2103120"/>
          </a:xfrm>
          <a:prstGeom prst="roundRect">
            <a:avLst>
              <a:gd name="adj" fmla="val 2391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8874" y="1947672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8874" y="2368296"/>
            <a:ext cx="2196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멈추고 다시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278874" y="2862072"/>
            <a:ext cx="219684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Ctrl+C → npm run dev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결과는?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4114800"/>
            <a:ext cx="11128248" cy="960120"/>
          </a:xfrm>
          <a:prstGeom prst="roundRect">
            <a:avLst>
              <a:gd name="adj" fmla="val 4762"/>
            </a:avLst>
          </a:prstGeom>
          <a:solidFill>
            <a:srgbClr val="24272C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24281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Ctrl+C 뒤에 이 줄이 보이면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" y="4517136"/>
            <a:ext cx="10652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일괄 작업을 끝내시겠습니까 (Y/N)?  →  Y  Enter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0352" y="53035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3035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사라졌다면 지금은 정상 · 받은 값을 어디에도 적지 않았다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화면에 보이는 것은 아직 기억이 아니다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3017520"/>
          </a:xfrm>
          <a:prstGeom prst="roundRect">
            <a:avLst>
              <a:gd name="adj" fmla="val 1667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 · 10회까지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→ 요청 → 응답 → 화면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결과는 화면과 실행 중인 서버에만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새로고침 · Ctrl+C → 사라진다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3017520"/>
          </a:xfrm>
          <a:prstGeom prst="roundRect">
            <a:avLst>
              <a:gd name="adj" fmla="val 1667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11회가 끝나면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→ 요청 → 파일에 적는다 → 응답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data/app.db 에 한 행으로 남는다</a:t>
            </a:r>
            <a:endParaRPr lang="en-US" sz="1500" dirty="0"/>
          </a:p>
          <a:p>
            <a:pPr marL="203200" indent="-203200">
              <a:lnSpc>
                <a:spcPts val="2700"/>
              </a:lnSpc>
              <a:buSzPct val="100000"/>
              <a:buChar char="▪"/>
            </a:pPr>
            <a:r>
              <a:rPr lang="en-US" sz="15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열면 파일에서 읽어 와 보여 준다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502920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2920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저장하기 + 다시 불러오기 = 한 짝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다시 왔을 때 무엇을 기대하는가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178052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152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서비스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10872" y="1783080"/>
            <a:ext cx="333847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2438888" y="1783080"/>
            <a:ext cx="3082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기록이 생기는 행동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49346" y="1783080"/>
            <a:ext cx="289334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777362" y="1783080"/>
            <a:ext cx="2637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기억할 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42691" y="1783080"/>
            <a:ext cx="311590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8670707" y="1783080"/>
            <a:ext cx="28598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보는 순간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2185416"/>
            <a:ext cx="11128248" cy="54864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185416"/>
            <a:ext cx="152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 정리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38888" y="2185416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일을 쓰고 추가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77362" y="2185416"/>
            <a:ext cx="2637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일 · 추가한 시각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670707" y="2185416"/>
            <a:ext cx="2859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날 다시 연 목록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0352" y="2734056"/>
            <a:ext cx="111282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734056"/>
            <a:ext cx="152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계산 · 변환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438888" y="2734056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값을 넣고 계산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777362" y="2734056"/>
            <a:ext cx="2637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입력값과 결과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70707" y="2734056"/>
            <a:ext cx="2859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최근 기록 목록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30352" y="3282696"/>
            <a:ext cx="11128248" cy="54864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282696"/>
            <a:ext cx="152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추천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438888" y="3282696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조건을 고르고 추천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777362" y="3282696"/>
            <a:ext cx="2637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조건과 추천 결과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670707" y="3282696"/>
            <a:ext cx="2859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지난 추천 다시 보기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30352" y="3831336"/>
            <a:ext cx="11128248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831336"/>
            <a:ext cx="152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퀴즈 · 연습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438888" y="3831336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판을 끝낸다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777362" y="3831336"/>
            <a:ext cx="2637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점수와 날짜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670707" y="3831336"/>
            <a:ext cx="28598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기록이 늘었나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530352" y="484632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84632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새로 정하지 않는다 · PRD 5항과 9회 흐름에 이미 있다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의미 있는 기록 하나부터 시작한다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저절로 생기나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기능을 쓰면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생기는 기록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367278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0158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50158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볼 의미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550158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사용자가 나중에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볼 이유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04204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7084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87084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개인정보 없이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387084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이름 · 연락처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없이 만든다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41130" y="1783080"/>
            <a:ext cx="2617470" cy="2011680"/>
          </a:xfrm>
          <a:prstGeom prst="roundRect">
            <a:avLst>
              <a:gd name="adj" fmla="val 250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4010" y="1947672"/>
            <a:ext cx="22517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24010" y="2368296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하나로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224010" y="2862072"/>
            <a:ext cx="225171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충분하면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하나만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0352" y="4023360"/>
            <a:ext cx="11128248" cy="1234440"/>
          </a:xfrm>
          <a:prstGeom prst="roundRect">
            <a:avLst>
              <a:gd name="adj" fmla="val 4074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187952"/>
            <a:ext cx="10762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가짜 기록을 만들지 않는다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13232" y="4681728"/>
            <a:ext cx="10762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보여 주려고 미리 넣은 예시 기록 열 개 · 아무도 보지 않는 방문 횟수 · 버튼 누른 횟수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서비스가 기억할 기록을 세 줄로 적는다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8–9쪽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3514344" cy="1828800"/>
          </a:xfrm>
          <a:prstGeom prst="roundRect">
            <a:avLst>
              <a:gd name="adj" fmla="val 275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PRD.md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3232" y="2862072"/>
            <a:ext cx="3148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 데이터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기억할 기록 · 다시 보는 순간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017264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37304" y="1783080"/>
            <a:ext cx="3514344" cy="1828800"/>
          </a:xfrm>
          <a:prstGeom prst="roundRect">
            <a:avLst>
              <a:gd name="adj" fmla="val 275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0184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0184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09_development_plan.md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520184" y="2862072"/>
            <a:ext cx="3148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마지막 칸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7항 11회 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24216" y="251460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5C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144256" y="1783080"/>
            <a:ext cx="3514344" cy="1828800"/>
          </a:xfrm>
          <a:prstGeom prst="roundRect">
            <a:avLst>
              <a:gd name="adj" fmla="val 2750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7136" y="1947672"/>
            <a:ext cx="3148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7136" y="2368296"/>
            <a:ext cx="3148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10_api_promise.md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327136" y="2862072"/>
            <a:ext cx="3148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3항 세 줄을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맞게 채운다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30352" y="3840480"/>
            <a:ext cx="11128248" cy="1600200"/>
          </a:xfrm>
          <a:prstGeom prst="roundRect">
            <a:avLst>
              <a:gd name="adj" fmla="val 2857"/>
            </a:avLst>
          </a:prstGeom>
          <a:solidFill>
            <a:srgbClr val="24272C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" y="396849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docs/10_api_promise.md · 3항 (예 · 할 일 정리)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" y="4242816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다시 켜면 사라지는 것: 추가한 할 일 목록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- 11회에 SQLite에 저장할 핵심 기록: 할 일 내용, 추가한 시각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 저장된 기록을 다시 보는 순간: 다음 날 다시 열었을 때 목록 맨 위부터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0352" y="5623560"/>
            <a:ext cx="11128248" cy="457200"/>
          </a:xfrm>
          <a:prstGeom prst="roundRect">
            <a:avLst>
              <a:gd name="adj" fmla="val 44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6235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 · 전화번호 · 방문 횟수가 끼어 있으면 지금 고친다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SQLite는 프로젝트 안의 파일 하나다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10–11쪽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900" dirty="0"/>
          </a:p>
        </p:txBody>
      </p:sp>
      <p:pic>
        <p:nvPicPr>
          <p:cNvPr id="10" name="Image 0" descr="/Users/cozy/Library/Mobile Documents/com~apple~CloudDocs/Obsidian Vault/31 장대현중고등학교/02 26.07. 정보와 디지털 문해력/11 수업구성/교과서_배포/assets/img/11-1-02-one-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84" y="1737360"/>
            <a:ext cx="6762496" cy="38039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571232" y="1737360"/>
            <a:ext cx="4087368" cy="1417320"/>
          </a:xfrm>
          <a:prstGeom prst="roundRect">
            <a:avLst>
              <a:gd name="adj" fmla="val 3226"/>
            </a:avLst>
          </a:prstGeom>
          <a:solidFill>
            <a:srgbClr val="24272C"/>
          </a:solidFill>
          <a:ln/>
        </p:spPr>
      </p:sp>
      <p:sp>
        <p:nvSpPr>
          <p:cNvPr id="12" name="Text 9"/>
          <p:cNvSpPr/>
          <p:nvPr/>
        </p:nvSpPr>
        <p:spPr>
          <a:xfrm>
            <a:off x="7808976" y="18653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폴더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08976" y="2139696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data/</a:t>
            </a:r>
            <a:endParaRPr lang="en-US" sz="1700" dirty="0"/>
          </a:p>
          <a:p>
            <a:pPr indent="0" marL="0">
              <a:lnSpc>
                <a:spcPts val="2890"/>
              </a:lnSpc>
              <a:buNone/>
            </a:pPr>
            <a:r>
              <a:rPr lang="en-US" sz="170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└─ app.db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571232" y="3337560"/>
            <a:ext cx="4087368" cy="2203704"/>
          </a:xfrm>
          <a:prstGeom prst="roundRect">
            <a:avLst>
              <a:gd name="adj" fmla="val 2282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54112" y="3502152"/>
            <a:ext cx="3721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7-1과 같은 것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7754112" y="3995928"/>
            <a:ext cx="3721608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· 행 · 열 · 기본키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다른 것은 위치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외부 서비스가 아니라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내 폴더의 파일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30352" y="5715000"/>
            <a:ext cx="11128248" cy="457200"/>
          </a:xfrm>
          <a:prstGeom prst="roundRect">
            <a:avLst>
              <a:gd name="adj" fmla="val 44000"/>
            </a:avLst>
          </a:prstGeom>
          <a:solidFill>
            <a:srgbClr val="EAF5FB"/>
          </a:solidFill>
          <a:ln w="12700">
            <a:solidFill>
              <a:srgbClr val="3D8D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715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 저장할 때 생긴다 · 기본 편집기로 열면 깨진 글자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7-1에서 본 표가 파일 안에 그대로 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12쪽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0352" y="2103120"/>
            <a:ext cx="1335390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03120"/>
            <a:ext cx="10793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id · 기본키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65742" y="2103120"/>
            <a:ext cx="623181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4" name="Text 12"/>
          <p:cNvSpPr/>
          <p:nvPr/>
        </p:nvSpPr>
        <p:spPr>
          <a:xfrm>
            <a:off x="1993758" y="2103120"/>
            <a:ext cx="59757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text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7561" y="2103120"/>
            <a:ext cx="356103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5577" y="2103120"/>
            <a:ext cx="33050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0352" y="2505456"/>
            <a:ext cx="11128248" cy="50292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505456"/>
            <a:ext cx="10793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993758" y="2505456"/>
            <a:ext cx="59757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수학 숙제 23쪽까지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5577" y="2505456"/>
            <a:ext cx="33050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2026-11-05 08:41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30352" y="3008376"/>
            <a:ext cx="11128248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008376"/>
            <a:ext cx="10793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993758" y="3008376"/>
            <a:ext cx="59757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영어 단어 20개 외우기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25577" y="3008376"/>
            <a:ext cx="33050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2026-11-05 08:42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30352" y="3511296"/>
            <a:ext cx="11128248" cy="50292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511296"/>
            <a:ext cx="10793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993758" y="3511296"/>
            <a:ext cx="59757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과학 보고서 표 그리기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5577" y="3511296"/>
            <a:ext cx="33050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2026-11-05 08:44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30352" y="3008376"/>
            <a:ext cx="11128248" cy="502920"/>
          </a:xfrm>
          <a:prstGeom prst="rect">
            <a:avLst/>
          </a:prstGeom>
          <a:noFill/>
          <a:ln w="28575">
            <a:solidFill>
              <a:srgbClr val="FF5C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4434840"/>
            <a:ext cx="11128248" cy="512064"/>
          </a:xfrm>
          <a:prstGeom prst="roundRect">
            <a:avLst>
              <a:gd name="adj" fmla="val 39286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434840"/>
            <a:ext cx="10725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표의 한 행은 무엇인가?  →  할 일 하나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표는 lib/db.js의 getDb()에서 만든다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13쪽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37360"/>
            <a:ext cx="11128248" cy="2148840"/>
          </a:xfrm>
          <a:prstGeom prst="roundRect">
            <a:avLst>
              <a:gd name="adj" fmla="val 2128"/>
            </a:avLst>
          </a:prstGeom>
          <a:solidFill>
            <a:srgbClr val="24272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186537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lib/db.js · 연결하는 부분은 선생님이 정해 두었다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2139696"/>
            <a:ext cx="10652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export function getDb() {</a:t>
            </a:r>
            <a:endParaRPr lang="en-US" sz="145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if (!db) {</a:t>
            </a:r>
            <a:endParaRPr lang="en-US" sz="145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db = new DatabaseSync(DB_PATH);   // data/app.db</a:t>
            </a:r>
            <a:endParaRPr lang="en-US" sz="145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// 내 서비스의 표를 여기서 만든다 (11회)</a:t>
            </a:r>
            <a:endParaRPr lang="en-US" sz="1450" dirty="0"/>
          </a:p>
          <a:p>
            <a:pPr indent="0" marL="0">
              <a:lnSpc>
                <a:spcPts val="2465"/>
              </a:lnSpc>
              <a:buNone/>
            </a:pPr>
            <a:r>
              <a:rPr lang="en-US" sz="145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30352" y="4069080"/>
            <a:ext cx="11128248" cy="868680"/>
          </a:xfrm>
          <a:prstGeom prst="roundRect">
            <a:avLst>
              <a:gd name="adj" fmla="val 5263"/>
            </a:avLst>
          </a:prstGeom>
          <a:solidFill>
            <a:srgbClr val="24272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419709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AI가 넣을 한 줄 (예)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" y="4471416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 TABLE IF NOT EXISTS tasks (id ..., text ..., created_at ...)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5120640"/>
            <a:ext cx="3538728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528523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tasks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3232" y="5779008"/>
            <a:ext cx="3172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이름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25112" y="5120640"/>
            <a:ext cx="3538728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528523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 … 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507992" y="5779008"/>
            <a:ext cx="3172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 이름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19872" y="5120640"/>
            <a:ext cx="3538728" cy="1051560"/>
          </a:xfrm>
          <a:prstGeom prst="roundRect">
            <a:avLst>
              <a:gd name="adj" fmla="val 478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5285232"/>
            <a:ext cx="3172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IF NOT EXISTS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302752" y="5779008"/>
            <a:ext cx="31729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없으면 만들고, 있으면 그대로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 Code에 SQLite Viewer를 설치한다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14–15쪽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Image 0" descr="/Users/cozy/Library/Mobile Documents/com~apple~CloudDocs/Obsidian Vault/31 장대현중고등학교/02 26.07. 정보와 디지털 문해력/11 수업구성/교과서_배포/assets/img/11-1-03-viewer-ins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84" y="1737360"/>
            <a:ext cx="6762496" cy="38039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2384" y="1737360"/>
            <a:ext cx="6762496" cy="3803904"/>
          </a:xfrm>
          <a:prstGeom prst="rect">
            <a:avLst/>
          </a:prstGeom>
          <a:noFill/>
          <a:ln w="12700">
            <a:solidFill>
              <a:srgbClr val="E0E3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71232" y="1737360"/>
            <a:ext cx="4087368" cy="2514600"/>
          </a:xfrm>
          <a:prstGeom prst="roundRect">
            <a:avLst>
              <a:gd name="adj" fmla="val 2000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4112" y="1901952"/>
            <a:ext cx="3721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순서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754112" y="2240280"/>
            <a:ext cx="3721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확장 · Ctrl+Shift+X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 검색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식별자 확인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설치 → 제거로 바뀌면 끝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571232" y="4434840"/>
            <a:ext cx="4087368" cy="1106424"/>
          </a:xfrm>
          <a:prstGeom prst="roundRect">
            <a:avLst>
              <a:gd name="adj" fmla="val 4132"/>
            </a:avLst>
          </a:prstGeom>
          <a:solidFill>
            <a:srgbClr val="24272C"/>
          </a:solidFill>
          <a:ln/>
        </p:spPr>
      </p:sp>
      <p:sp>
        <p:nvSpPr>
          <p:cNvPr id="16" name="Text 13"/>
          <p:cNvSpPr/>
          <p:nvPr/>
        </p:nvSpPr>
        <p:spPr>
          <a:xfrm>
            <a:off x="7808976" y="45628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식별자 (확장 ID)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08976" y="4837176"/>
            <a:ext cx="36118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20"/>
              </a:lnSpc>
              <a:buNone/>
            </a:pPr>
            <a:r>
              <a:rPr lang="en-US" sz="1600" b="1" dirty="0">
                <a:solidFill>
                  <a:srgbClr val="FFB27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qwtel.sqlite-viewer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0352" y="5715000"/>
            <a:ext cx="11128248" cy="457200"/>
          </a:xfrm>
          <a:prstGeom prst="roundRect">
            <a:avLst>
              <a:gd name="adj" fmla="val 44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7150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이름이 비슷한 확장이 여럿 · 식별자가 다르면 설치하지 않는다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Viewer로 열면 표와 행이 보인다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16쪽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900" dirty="0"/>
          </a:p>
        </p:txBody>
      </p:sp>
      <p:pic>
        <p:nvPicPr>
          <p:cNvPr id="10" name="Image 0" descr="/Users/cozy/Library/Mobile Documents/com~apple~CloudDocs/Obsidian Vault/31 장대현중고등학교/02 26.07. 정보와 디지털 문해력/11 수업구성/교과서_배포/assets/img/11-1-04-viewer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384" y="1737360"/>
            <a:ext cx="6762496" cy="38039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32384" y="1737360"/>
            <a:ext cx="6762496" cy="3803904"/>
          </a:xfrm>
          <a:prstGeom prst="rect">
            <a:avLst/>
          </a:prstGeom>
          <a:noFill/>
          <a:ln w="12700">
            <a:solidFill>
              <a:srgbClr val="E0E3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71232" y="1737360"/>
            <a:ext cx="4087368" cy="2240280"/>
          </a:xfrm>
          <a:prstGeom prst="roundRect">
            <a:avLst>
              <a:gd name="adj" fmla="val 2245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4112" y="1901952"/>
            <a:ext cx="3721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확인하는 것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754112" y="2240280"/>
            <a:ext cx="3721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입력한 값이 새 행으로</a:t>
            </a:r>
            <a:endParaRPr lang="en-US" sz="1350" dirty="0"/>
          </a:p>
          <a:p>
            <a:pPr marL="203200" indent="-203200">
              <a:lnSpc>
                <a:spcPts val="2430"/>
              </a:lnSpc>
              <a:buSzPct val="100000"/>
              <a:buChar char="▪"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켠 뒤에도 그 행이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571232" y="4160520"/>
            <a:ext cx="4087368" cy="1380744"/>
          </a:xfrm>
          <a:prstGeom prst="roundRect">
            <a:avLst>
              <a:gd name="adj" fmla="val 3642"/>
            </a:avLst>
          </a:prstGeom>
          <a:solidFill>
            <a:srgbClr val="FFF1E8"/>
          </a:solidFill>
          <a:ln w="12700">
            <a:solidFill>
              <a:srgbClr val="C24A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4325112"/>
            <a:ext cx="3721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24A0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하지 않는 것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754112" y="4818888"/>
            <a:ext cx="3721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값 고치기 · 지우기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 쓰기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고치기 전에 계획부터 듣는다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17쪽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541782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터미널 ① 그대로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13232" y="2496312"/>
            <a:ext cx="5052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npm run dev · 켜 둔다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3143"/>
            </a:avLst>
          </a:prstGeom>
          <a:solidFill>
            <a:srgbClr val="E7F2ED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3660" y="1947672"/>
            <a:ext cx="50520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터미널 ② 새로 (+)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23660" y="2496312"/>
            <a:ext cx="5052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610"/>
              </a:lnSpc>
              <a:buSzPct val="100000"/>
              <a:buChar char="▪"/>
            </a:pPr>
            <a:r>
              <a:rPr lang="en-US" sz="1450" dirty="0">
                <a:solidFill>
                  <a:srgbClr val="3437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…\10&gt;  opencode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0352" y="3611880"/>
            <a:ext cx="261747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76472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 저장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3232" y="4270248"/>
            <a:ext cx="225171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어떤 행동에서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무엇을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67278" y="3611880"/>
            <a:ext cx="261747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0158" y="3776472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언제 다시 보나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550158" y="4270248"/>
            <a:ext cx="225171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언제 · 화면의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어디에서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04204" y="3611880"/>
            <a:ext cx="261747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7084" y="3776472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표와 열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387084" y="4270248"/>
            <a:ext cx="225171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이름 · 열 이름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열마다 담는 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41130" y="3611880"/>
            <a:ext cx="2617470" cy="1600200"/>
          </a:xfrm>
          <a:prstGeom prst="roundRect">
            <a:avLst>
              <a:gd name="adj" fmla="val 314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4010" y="3776472"/>
            <a:ext cx="22517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고칠 파일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224010" y="4270248"/>
            <a:ext cx="225171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파일 이름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" y="5440680"/>
            <a:ext cx="11128248" cy="502920"/>
          </a:xfrm>
          <a:prstGeom prst="roundRect">
            <a:avLst>
              <a:gd name="adj" fmla="val 40000"/>
            </a:avLst>
          </a:prstGeom>
          <a:solidFill>
            <a:srgbClr val="FF5C00"/>
          </a:solidFill>
          <a:ln w="12700">
            <a:solidFill>
              <a:srgbClr val="FF5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44068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요청문은 교과서 17쪽에서 복사 · 「아직 코드는 고치지 마」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AI의 계획을 PRD와 한 줄씩 대 본다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10195560" y="786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18쪽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83080"/>
            <a:ext cx="756720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783080"/>
            <a:ext cx="731117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확인할 질문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7561" y="1783080"/>
            <a:ext cx="3561039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5577" y="1783080"/>
            <a:ext cx="33050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 볼 곳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" y="21854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185416"/>
            <a:ext cx="7311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표의 역할이 후보 테이블과 같은가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5577" y="2185416"/>
            <a:ext cx="3305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 5항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30352" y="264261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642616"/>
            <a:ext cx="7311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열마다 담는 것이 저장할 핵심 기록에 있는가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5577" y="2642616"/>
            <a:ext cx="3305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약속표 3항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0352" y="30998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099816"/>
            <a:ext cx="7311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이름 · 연락처 같은 개인정보 열이 없는가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5577" y="3099816"/>
            <a:ext cx="3305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 5항 저장하지 않을 정보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30352" y="3557016"/>
            <a:ext cx="1112824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57016"/>
            <a:ext cx="7311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표 하나로 될 일을 여러 개로 나누지 않았나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5577" y="3557016"/>
            <a:ext cx="3305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PRD 5항 후보 테이블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30352" y="4014216"/>
            <a:ext cx="11128248" cy="457200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4014216"/>
            <a:ext cx="7311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다시 보는 순간과 위치가 내 흐름과 같은가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5577" y="4014216"/>
            <a:ext cx="33050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계획 3항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30352" y="4663440"/>
            <a:ext cx="11128248" cy="1097280"/>
          </a:xfrm>
          <a:prstGeom prst="roundRect">
            <a:avLst>
              <a:gd name="adj" fmla="val 4167"/>
            </a:avLst>
          </a:prstGeom>
          <a:solidFill>
            <a:srgbClr val="24272C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" y="4791456"/>
            <a:ext cx="10652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0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다르면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" y="5065776"/>
            <a:ext cx="1065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___ 열은 빼 줘. 사용자는 이 정보를 입력한 적이 없어.</a:t>
            </a:r>
            <a:endParaRPr lang="en-US" sz="1400" dirty="0"/>
          </a:p>
          <a:p>
            <a:pPr indent="0" marL="0">
              <a:lnSpc>
                <a:spcPts val="2380"/>
              </a:lnSpc>
              <a:buNone/>
            </a:pPr>
            <a:r>
              <a:rPr lang="en-US" sz="1400" b="1" dirty="0">
                <a:solidFill>
                  <a:srgbClr val="E8E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아직 고치지 말고, 바뀐 계획만 다시 알려 줘.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정보와 디지털 문해력</a:t>
            </a:r>
            <a:endParaRPr lang="en-US" sz="975" dirty="0"/>
          </a:p>
        </p:txBody>
      </p:sp>
      <p:sp>
        <p:nvSpPr>
          <p:cNvPr id="3" name="Shape 1"/>
          <p:cNvSpPr/>
          <p:nvPr/>
        </p:nvSpPr>
        <p:spPr>
          <a:xfrm>
            <a:off x="10378440" y="2926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B1D21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301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11-1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30352" y="713232"/>
            <a:ext cx="9692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 문제와 막힐 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12648" cy="4572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6327648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19·21쪽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" y="1783080"/>
            <a:ext cx="3538728" cy="1691640"/>
          </a:xfrm>
          <a:prstGeom prst="roundRect">
            <a:avLst>
              <a:gd name="adj" fmla="val 297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4767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" y="2368296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결과가 보였는데 다시 켜니 사라진 이유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5112" y="1783080"/>
            <a:ext cx="3538728" cy="1691640"/>
          </a:xfrm>
          <a:prstGeom prst="roundRect">
            <a:avLst>
              <a:gd name="adj" fmla="val 297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94767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7992" y="2368296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방문 횟수를 기억할 기록으로 고르지 않는 이유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19872" y="1783080"/>
            <a:ext cx="3538728" cy="1691640"/>
          </a:xfrm>
          <a:prstGeom prst="roundRect">
            <a:avLst>
              <a:gd name="adj" fmla="val 2973"/>
            </a:avLst>
          </a:prstGeom>
          <a:solidFill>
            <a:srgbClr val="F1F2F4"/>
          </a:solidFill>
          <a:ln w="12700">
            <a:solidFill>
              <a:srgbClr val="E0E3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947672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C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2752" y="2368296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바로 고치게 하지 않고 계획부터 듣는 이유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" y="3703320"/>
            <a:ext cx="467386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703320"/>
            <a:ext cx="441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막히면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04216" y="3703320"/>
            <a:ext cx="6454384" cy="402336"/>
          </a:xfrm>
          <a:prstGeom prst="rect">
            <a:avLst/>
          </a:prstGeom>
          <a:solidFill>
            <a:srgbClr val="1B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5332232" y="3703320"/>
            <a:ext cx="6198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이렇게 한다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" y="4105656"/>
            <a:ext cx="11128248" cy="43891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05656"/>
            <a:ext cx="441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SQLite Viewer가 여러 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32232" y="4105656"/>
            <a:ext cx="6198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식별자 qwtel.sqlite-viewer 만 설치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" y="4544568"/>
            <a:ext cx="11128248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544568"/>
            <a:ext cx="441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계획 없이 바로 고쳤다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32232" y="4544568"/>
            <a:ext cx="6198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「모두 되돌려 줘. 계획만 설명해 줘」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0352" y="4983480"/>
            <a:ext cx="11128248" cy="438912"/>
          </a:xfrm>
          <a:prstGeom prst="rect">
            <a:avLst/>
          </a:prstGeom>
          <a:solidFill>
            <a:srgbClr val="F1F2F4"/>
          </a:solidFill>
          <a:ln w="9525">
            <a:solidFill>
              <a:srgbClr val="E0E3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983480"/>
            <a:ext cx="4417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1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FreeUsageLimitError · 429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32232" y="4983480"/>
            <a:ext cx="6198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1~2분 뒤 같은 요청을 다시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398" cy="6858000"/>
          </a:xfrm>
          <a:prstGeom prst="rect">
            <a:avLst/>
          </a:prstGeom>
          <a:solidFill>
            <a:srgbClr val="FF5C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차시 · 11-2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" y="182880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기억할 것을 정하고,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적어 둘 곳을 알았다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379476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시간에는 오늘 들은 계획에 「진행해」를 보내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A7ACB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저장과 다시 불러오기를 연결합니다.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0352" y="6327648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교과서 11-1 · 20쪽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32764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0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2026-10-29T13:46:42Z</dcterms:created>
  <dcterms:modified xsi:type="dcterms:W3CDTF">2026-10-29T13:46:42Z</dcterms:modified>
</cp:coreProperties>
</file>