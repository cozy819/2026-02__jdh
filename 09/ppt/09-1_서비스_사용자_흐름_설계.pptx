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계획 — 학생 화면에는 표시하지 않는다]
0–4분 도입(관공서 장면) · 4–9분 09 폴더 준비 · 9–25분 흐름 개념 · 25–33분 09_user_flow.md 적기 · 33–37분 만들 수 있나 · 37–41분 AI에게 묻기 · 41–45분 확인과 정리
밀리면 오해·확인 문제(교과서 18~19쪽)를 과제로 돌린다. 「지금 적는다」 8분은 줄이지 않는다.
[0–1분] 표지
8회에 PRD를 냈다. 9회부터 만든다고 했는데, 오늘은 아직 코드를 만들지 않는다. 오늘과 다음 시간은 무엇을 만들지 정하는 시간이다.
오늘은 PRD의 3항 대표 사용 흐름을 사용자의 걸음으로 펼친다.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[1–4분] 도입 — 관공서 장면
처음 가 보는 관공서에 들어갔다고 해 보자. 안내 데스크도 번호표 기계도 안내문도 없다. 창구는 다섯 개인데 어디로 가야 할지 모른다.
이 건물에 기능이 없는 게 아니다. 창구도 있고 직원도 있다. 없는 건 처음부터 끝까지 지나갈 길이다.
(그림을 가리키며) 이 사람이 지금 우리 서비스를 처음 연 사용자다. PRD에 기능을 다 적었어도, 사용자가 어디서 시작해 어디로 가는지 정해 두지 않으면 이렇게 서 있게 된다.
[예상 질문] Q. PRD 3항에 흐름 이미 썼는데요? A. 3~4줄로 적었다. 오늘은 그 한 줄 한 줄을 「보는 것 · 행동 · 반응 · 남는 정보」로 펼친다.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[4–9분] 09 폴더 준비
교과서 4쪽의 내려받기 버튼으로 09_student_files.zip을 받는다. 압축을 풀어 나온 09 폴더를 JDH_VibeCoding_자기이름 안에 넣는다.
06 폴더에서 PRD.md를 「복사」해 09에 붙여 넣는다. 잘라 내기가 아니다. 06은 제출한 원본이라 그대로 둔다.
VS Code에서 파일 → 폴더 열기로 09 폴더 자체를 연다. 탐색기 맨 위에 09가 보이면 된다.
파일이 다섯 개 보여야 한다. 오늘 내가 쓰는 건 09_user_flow.md 하나다. AGENTS.md는 선생님이 미리 만들어 두었다. 8-2에서 OpenCode에게 만들게 했던 그 파일과 같은 종류다.
[진행 메모] 06 폴더나 PRD.md가 없는 학생은 제출 ZIP에서 꺼내 준다. 그동안 기억나는 흐름부터 적게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[9–12분] 사용자 흐름이란
PRD 2항은 서비스가 할 수 있는 일, 4항은 화면에 무엇이 있는지를 적었다. 둘 다 순서가 없다.
사용자 흐름은 여기에 순서를 붙인다. 사용자가 처음 화면을 본 순간부터 목적을 이룰 때까지 차례대로 무엇을 겪는지.
지하철역을 생각해 보자. 개찰구, 계단, 승강장이 다 있는데 처음 온 사람이 헤매는 역과 안 헤매는 역이 있다. 시설 개수 차이가 아니라 지나가는 순서가 안내되어 있느냐의 차이다.
[썰 — 시간이 남을 때만] 앱 회사에서는 이 흐름을 「유저 플로우」라고 부르고, 디자이너가 화면을 그리기 전에 먼저 그린다.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[12–14분] 흐름과 개발 순서
왼쪽의 주인공은 사용자, 오른쪽의 주인공은 만드는 사람이다. 길이도 다르고 항목도 다르다.
흐름을 안 정하고 개발 계획부터 세우면 「뭐부터 만들까」로 마음이 간다. 그러면 만들기 쉬운 것부터 만들고, 정작 사용자가 목적을 이루는 길은 끝까지 비어 있게 된다.
그래서 오늘은 왼쪽만 쓴다. 개발 순서는 다음 시간 마지막에 AI와 함께 만든다.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[14–17분] 시작과 완료
가운데 단계보다 시작과 완료를 먼저 정한다. 시작은 처음 열었을 때 보는 것, 완료는 사용자가 목적을 이뤘다고 느끼는 순간.
예의 완료 문장에 「다시 열어도 목록에 남은」이 들어 있다. 7-2에서 정한 「다시 확인하는 순간」이 여기에 자리 잡는다.
완료에 꼭 필요 없는 기능은 흐름에서 뺀다. 정렬, 검색, 색 바꾸기 같은 건 흐름이 다 된 뒤에 생각한다.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[17–19분] 한 단계의 다섯 칸
한 단계마다 다섯 가지를 적으면 빠지는 게 없다. 보는 것, 행동, 서비스의 반응, 이어지거나 저장되는 정보, 예외.
네 번째 칸은 11회에 SQLite에 저장할 기록의 재료다. 다섯 번째 칸은 12회에 테스트할 때 그대로 시험한다. 오늘 적는 게 그대로 뒤로 이어진다.
색과 정확한 배치, 파일 이름과 코드는 정하지 않는다. 6-2에서 화면을 글로만 설명한 것과 같은 이유다. 만들면서 대부분 바뀐다.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[19–21분] 예 — 할 일 정리
네 단계가 모두 같은 화면에서 일어난다. 화면이 바뀌어야 다음 단계가 되는 게 아니다. 행동과 반응이 바뀌면 다음 단계다.
(주황 테두리를 가리키며) 3단계의 「할 일 기록」이 11회에 저장할 기록이다. 4단계가 그 기록을 다시 보는 순간이다.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[21–23분] 정상과 예외
가장 자주 일어날 정상 흐름 하나를 먼저 완성한다. 그다음 핵심 행동을 막는 예외 하나.
PRD 4항 마지막 줄에 「입력이 없거나 잘못되었을 때의 안내」를 썼다. 그게 예외 흐름의 재료다.
인터넷이 끊기는 경우 같은 건 지금 안 다룬다. 나머지 예외는 12회 테스트에서 찾는다.
예외는 안내를 보여 주고 끝나면 안 된다. 사용자가 다음에 뭘 해야 하는지, 어디로 돌아가는지까지 적어야 끝난다.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[23–25분] 목록과 흐름
흐름을 쓰다 보면 화면 이름만 늘어놓기 쉽다. 「메인 화면」에 「누가 무엇을 했는가?」를 물으면 답이 안 나온다. 「설명을 확인한다」는 답이 나온다. 사용자가 했다.
오늘 쓰는 흐름의 모든 줄이 이 질문에 답해야 한다.
[예상 질문] Q. 「결과 저장 기능」은요? A. 기능 이름이다. 「서비스가 결과를 기록에 남긴다」라고 써야 흐름이다.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[25–33분] 지금 적는다
이제 내 서비스로 쓴다. PRD.md를 오른쪽 클릭해서 측면에서 열기를 고르면 두 파일이 나란히 보인다.
1. 시작과 완료 두 줄을 먼저 채운다. 완료 줄에 다시 보는 순간이 있는지 본다.
2. 정상 흐름 표에 PRD 3항의 흐름을 한 줄씩 옮긴다. 단계는 3~6개. 각 단계에 보는 것, 반응, 남는 정보를 채운다.
3. 예외 흐름에 하나를 적는다. 정상 흐름으로 돌아가는 방법까지.
Ctrl+S로 저장한다.
[진행 메모] PRD 1~3항이 비어 있는 학생이 있다. PRD는 고치지 말고 09_user_flow.md에 처음부터 쓰게 한다. 「어떤 사용자가 무엇을 하려고 여는지」 한 줄부터.
[진행 메모] 한 바퀴 돌면서 「누가 무엇을 했는가?」로 한 줄씩 물어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[33–37분] 만들 수 있나
00_course_rules.md를 연다. 수업에서 만들 수 있는 것과 어려운 것이 정리되어 있다. 다음 시간에 AI가 이 파일을 먼저 읽고 판정한다.
판정은 넷이다. 구현 가능, 단순화하면 가능, 교사 확인 필요, 구현 어려움.
외부 AI가 사진을 읽는 기능, 로그인해서 여러 기기에서 쓰는 기능, 친구와 실시간 대결 — 이런 건 이 수업에서 그대로는 어렵다.
중요한 건 기능이 아니라 사용자가 얻으려던 결과다. 결과를 지키는 작은 대안을 찾는다.
걸리는 기능이 있으면 09_user_flow.md의 4. 확인이 필요한 기능에 적는다. 숨기고 시작하면 10회에 아무것도 작동하지 않는다.
AI 기능을 규칙으로 바꿨으면 진짜 AI라고 말하지 않고 「수업용 프로토타입」이라고 적는다. 1-1에서 한 약속이다.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[37–41분] AI에게 묻기
다 썼으면 OpenCode에게 한 번 보여 준다. 터미널 줄 끝이 …\09&gt; 인지 보고 opencode를 켠다.
오늘 AI가 할 일은 내 흐름을 대신 쓰는 게 아니다. 목록처럼 적혀서 행동과 반응이 빠진 줄을 찾아 주는 것뿐이다.
교과서 17쪽 요청문을 복사해 보낸다. 요청문에 「파일은 고치지 말고」가 들어 있다. 고칠지 말지는 내가 정하기 때문이다.
AI가 찾은 줄을 읽고 맞으면 내가 고친다. 동의하지 않으면 그대로 둔다.
[진행 메모] AI대화기록.md가 생기는지 본다. AGENTS.md 덕분에 대화가 기록된다.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[41–43분] 오해와 확인
세 번째 오해가 제일 중요하다. AI는 적힌 대로 만든다. 흐름이 비어 있으면 AI가 자기 생각으로 채우고, 그게 내 서비스와 달라도 알아채기 어렵다. 10회부터 바로 문제가 된다.
교과서 19쪽 확인 문제 세 개. 답을 먼저 말해 보고 해설을 연다.
[진행 메모] 시간이 밀리면 확인 문제는 과제로 돌린다.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[43–44분] 막힐 때
교과서 21쪽 표에서 내 상황과 같은 줄을 찾는다.
AI가 파일을 고쳤으면 되돌린다. 고칠지는 내가 정한다.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[44–45분] 마무리
오늘 남길 것: 사용자 흐름은 사용자가 겪는 순서이고 개발 순서보다 먼저 정한다. 한 단계에 보는 것 · 행동 · 반응 · 남는 정보 · 예외. 완료에는 다시 보는 순간. 어려운 기능은 숨기지 않고 사용자가 얻으려던 결과와 함께 적는다.
09_user_flow.md는 다음 시간에 AI가 읽는다. 09 폴더에 그대로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9회 · 첫째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서비스 사용자 흐름</a:t>
            </a:r>
            <a:endParaRPr lang="en-US" sz="4000" dirty="0"/>
          </a:p>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(Flow) 설계</a:t>
            </a:r>
            <a:endParaRPr lang="en-US" sz="40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사용자가 처음 열어 결과를 얻고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기록을 다시 보기까지를 차례대로 적습니다.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창구도 직원도 다 있다. 없는 것은 지나갈 길이다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2–3쪽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pic>
        <p:nvPicPr>
          <p:cNvPr id="9" name="Image 0" descr="/Users/cozy/Library/Mobile Documents/com~apple~CloudDocs/Obsidian Vault/31 장대현중고등학교/02 26.07. 정보와 디지털 문해력/11 수업구성/교과서_배포/assets/img/09-1-01-no-signpost.png">    </p:cNvPr>
          <p:cNvPicPr>
            <a:picLocks noChangeAspect="1"/>
          </p:cNvPicPr>
          <p:nvPr/>
        </p:nvPicPr>
        <p:blipFill>
          <a:blip r:embed="rId1"/>
          <a:stretch>
            <a:fillRect/>
          </a:stretch>
        </p:blipFill>
        <p:spPr>
          <a:xfrm>
            <a:off x="2436876" y="1737360"/>
            <a:ext cx="7315200" cy="4114800"/>
          </a:xfrm>
          <a:prstGeom prst="rect">
            <a:avLst/>
          </a:prstGeom>
        </p:spPr>
      </p:pic>
      <p:sp>
        <p:nvSpPr>
          <p:cNvPr id="10" name="Shape 7"/>
          <p:cNvSpPr/>
          <p:nvPr/>
        </p:nvSpPr>
        <p:spPr>
          <a:xfrm>
            <a:off x="530352" y="5779008"/>
            <a:ext cx="11128248" cy="457200"/>
          </a:xfrm>
          <a:prstGeom prst="roundRect">
            <a:avLst>
              <a:gd name="adj" fmla="val 44000"/>
            </a:avLst>
          </a:prstGeom>
          <a:solidFill>
            <a:srgbClr val="FF5C00"/>
          </a:solidFill>
          <a:ln w="12700">
            <a:solidFill>
              <a:srgbClr val="FF5C00"/>
            </a:solidFill>
            <a:prstDash val="solid"/>
          </a:ln>
        </p:spPr>
      </p:sp>
      <p:sp>
        <p:nvSpPr>
          <p:cNvPr id="11" name="Text 8"/>
          <p:cNvSpPr/>
          <p:nvPr/>
        </p:nvSpPr>
        <p:spPr>
          <a:xfrm>
            <a:off x="731520" y="5779008"/>
            <a:ext cx="10725912"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처음 연 사람은 어디서 시작해 어디로 가야 하는가?</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09 폴더를 만들고 PRD.md를 복사해 온다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4–5쪽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1783080"/>
            <a:ext cx="2562606" cy="2011680"/>
          </a:xfrm>
          <a:prstGeom prst="roundRect">
            <a:avLst>
              <a:gd name="adj" fmla="val 2500"/>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자료 받기</a:t>
            </a:r>
            <a:endParaRPr lang="en-US" sz="1650" dirty="0"/>
          </a:p>
        </p:txBody>
      </p:sp>
      <p:sp>
        <p:nvSpPr>
          <p:cNvPr id="13" name="Text 11"/>
          <p:cNvSpPr/>
          <p:nvPr/>
        </p:nvSpPr>
        <p:spPr>
          <a:xfrm>
            <a:off x="713232"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교과서 4쪽</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09 학생용 자료</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011680"/>
          </a:xfrm>
          <a:prstGeom prst="roundRect">
            <a:avLst>
              <a:gd name="adj" fmla="val 2500"/>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09 폴더 넣기</a:t>
            </a:r>
            <a:endParaRPr lang="en-US" sz="1650" dirty="0"/>
          </a:p>
        </p:txBody>
      </p:sp>
      <p:sp>
        <p:nvSpPr>
          <p:cNvPr id="18" name="Text 16"/>
          <p:cNvSpPr/>
          <p:nvPr/>
        </p:nvSpPr>
        <p:spPr>
          <a:xfrm>
            <a:off x="3568446"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JDH_VibeCoding_</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자기이름 안에</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011680"/>
          </a:xfrm>
          <a:prstGeom prst="roundRect">
            <a:avLst>
              <a:gd name="adj" fmla="val 2500"/>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PRD.md 복사</a:t>
            </a:r>
            <a:endParaRPr lang="en-US" sz="1650" dirty="0"/>
          </a:p>
        </p:txBody>
      </p:sp>
      <p:sp>
        <p:nvSpPr>
          <p:cNvPr id="23" name="Text 21"/>
          <p:cNvSpPr/>
          <p:nvPr/>
        </p:nvSpPr>
        <p:spPr>
          <a:xfrm>
            <a:off x="6423660"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06 폴더에서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복사 → 09에 붙여넣기</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011680"/>
          </a:xfrm>
          <a:prstGeom prst="roundRect">
            <a:avLst>
              <a:gd name="adj" fmla="val 2500"/>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09 폴더 열기</a:t>
            </a:r>
            <a:endParaRPr lang="en-US" sz="1650" dirty="0"/>
          </a:p>
        </p:txBody>
      </p:sp>
      <p:sp>
        <p:nvSpPr>
          <p:cNvPr id="28" name="Text 26"/>
          <p:cNvSpPr/>
          <p:nvPr/>
        </p:nvSpPr>
        <p:spPr>
          <a:xfrm>
            <a:off x="9278874"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파일 → 폴더 열기</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맨 위에 09</a:t>
            </a:r>
            <a:endParaRPr lang="en-US" sz="1350" dirty="0"/>
          </a:p>
        </p:txBody>
      </p:sp>
      <p:sp>
        <p:nvSpPr>
          <p:cNvPr id="29" name="Shape 27"/>
          <p:cNvSpPr/>
          <p:nvPr/>
        </p:nvSpPr>
        <p:spPr>
          <a:xfrm>
            <a:off x="530352" y="4023360"/>
            <a:ext cx="3783604" cy="402336"/>
          </a:xfrm>
          <a:prstGeom prst="rect">
            <a:avLst/>
          </a:prstGeom>
          <a:solidFill>
            <a:srgbClr val="1B1D21"/>
          </a:solidFill>
          <a:ln/>
        </p:spPr>
      </p:sp>
      <p:sp>
        <p:nvSpPr>
          <p:cNvPr id="30" name="Text 28"/>
          <p:cNvSpPr/>
          <p:nvPr/>
        </p:nvSpPr>
        <p:spPr>
          <a:xfrm>
            <a:off x="658368" y="4023360"/>
            <a:ext cx="35275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09 폴더 안의 파일</a:t>
            </a:r>
            <a:endParaRPr lang="en-US" sz="1050" dirty="0"/>
          </a:p>
        </p:txBody>
      </p:sp>
      <p:sp>
        <p:nvSpPr>
          <p:cNvPr id="31" name="Shape 29"/>
          <p:cNvSpPr/>
          <p:nvPr/>
        </p:nvSpPr>
        <p:spPr>
          <a:xfrm>
            <a:off x="4313956" y="4023360"/>
            <a:ext cx="5118994" cy="402336"/>
          </a:xfrm>
          <a:prstGeom prst="rect">
            <a:avLst/>
          </a:prstGeom>
          <a:solidFill>
            <a:srgbClr val="1B1D21"/>
          </a:solidFill>
          <a:ln/>
        </p:spPr>
      </p:sp>
      <p:sp>
        <p:nvSpPr>
          <p:cNvPr id="32" name="Text 30"/>
          <p:cNvSpPr/>
          <p:nvPr/>
        </p:nvSpPr>
        <p:spPr>
          <a:xfrm>
            <a:off x="4441972" y="4023360"/>
            <a:ext cx="486296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하는 일</a:t>
            </a:r>
            <a:endParaRPr lang="en-US" sz="1050" dirty="0"/>
          </a:p>
        </p:txBody>
      </p:sp>
      <p:sp>
        <p:nvSpPr>
          <p:cNvPr id="33" name="Shape 31"/>
          <p:cNvSpPr/>
          <p:nvPr/>
        </p:nvSpPr>
        <p:spPr>
          <a:xfrm>
            <a:off x="9432950" y="4023360"/>
            <a:ext cx="2225650" cy="402336"/>
          </a:xfrm>
          <a:prstGeom prst="rect">
            <a:avLst/>
          </a:prstGeom>
          <a:solidFill>
            <a:srgbClr val="1B1D21"/>
          </a:solidFill>
          <a:ln/>
        </p:spPr>
      </p:sp>
      <p:sp>
        <p:nvSpPr>
          <p:cNvPr id="34" name="Text 32"/>
          <p:cNvSpPr/>
          <p:nvPr/>
        </p:nvSpPr>
        <p:spPr>
          <a:xfrm>
            <a:off x="9560966" y="4023360"/>
            <a:ext cx="196961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언제</a:t>
            </a:r>
            <a:endParaRPr lang="en-US" sz="1050" dirty="0"/>
          </a:p>
        </p:txBody>
      </p:sp>
      <p:sp>
        <p:nvSpPr>
          <p:cNvPr id="35" name="Shape 33"/>
          <p:cNvSpPr/>
          <p:nvPr/>
        </p:nvSpPr>
        <p:spPr>
          <a:xfrm>
            <a:off x="530352" y="4425696"/>
            <a:ext cx="11128248" cy="365760"/>
          </a:xfrm>
          <a:prstGeom prst="rect">
            <a:avLst/>
          </a:prstGeom>
          <a:solidFill>
            <a:srgbClr val="F1F2F4"/>
          </a:solidFill>
          <a:ln w="9525">
            <a:solidFill>
              <a:srgbClr val="E0E3E7"/>
            </a:solidFill>
            <a:prstDash val="solid"/>
          </a:ln>
        </p:spPr>
      </p:sp>
      <p:sp>
        <p:nvSpPr>
          <p:cNvPr id="36" name="Text 34"/>
          <p:cNvSpPr/>
          <p:nvPr/>
        </p:nvSpPr>
        <p:spPr>
          <a:xfrm>
            <a:off x="658368" y="4425696"/>
            <a:ext cx="352757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09_user_flow.md</a:t>
            </a:r>
            <a:endParaRPr lang="en-US" sz="1250" dirty="0"/>
          </a:p>
        </p:txBody>
      </p:sp>
      <p:sp>
        <p:nvSpPr>
          <p:cNvPr id="37" name="Text 35"/>
          <p:cNvSpPr/>
          <p:nvPr/>
        </p:nvSpPr>
        <p:spPr>
          <a:xfrm>
            <a:off x="4441972" y="4425696"/>
            <a:ext cx="486296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오늘 내 흐름 초안을 적는다</a:t>
            </a:r>
            <a:endParaRPr lang="en-US" sz="1250" dirty="0"/>
          </a:p>
        </p:txBody>
      </p:sp>
      <p:sp>
        <p:nvSpPr>
          <p:cNvPr id="38" name="Text 36"/>
          <p:cNvSpPr/>
          <p:nvPr/>
        </p:nvSpPr>
        <p:spPr>
          <a:xfrm>
            <a:off x="9560966" y="4425696"/>
            <a:ext cx="1969618"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오늘</a:t>
            </a:r>
            <a:endParaRPr lang="en-US" sz="1250" dirty="0"/>
          </a:p>
        </p:txBody>
      </p:sp>
      <p:sp>
        <p:nvSpPr>
          <p:cNvPr id="39" name="Shape 37"/>
          <p:cNvSpPr/>
          <p:nvPr/>
        </p:nvSpPr>
        <p:spPr>
          <a:xfrm>
            <a:off x="530352" y="4791456"/>
            <a:ext cx="11128248" cy="365760"/>
          </a:xfrm>
          <a:prstGeom prst="rect">
            <a:avLst/>
          </a:prstGeom>
          <a:solidFill>
            <a:srgbClr val="FFFFFF"/>
          </a:solidFill>
          <a:ln w="9525">
            <a:solidFill>
              <a:srgbClr val="E0E3E7"/>
            </a:solidFill>
            <a:prstDash val="solid"/>
          </a:ln>
        </p:spPr>
      </p:sp>
      <p:sp>
        <p:nvSpPr>
          <p:cNvPr id="40" name="Text 38"/>
          <p:cNvSpPr/>
          <p:nvPr/>
        </p:nvSpPr>
        <p:spPr>
          <a:xfrm>
            <a:off x="658368" y="4791456"/>
            <a:ext cx="352757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PRD.md · 00_course_rules.md</a:t>
            </a:r>
            <a:endParaRPr lang="en-US" sz="1250" dirty="0"/>
          </a:p>
        </p:txBody>
      </p:sp>
      <p:sp>
        <p:nvSpPr>
          <p:cNvPr id="41" name="Text 39"/>
          <p:cNvSpPr/>
          <p:nvPr/>
        </p:nvSpPr>
        <p:spPr>
          <a:xfrm>
            <a:off x="4441972" y="4791456"/>
            <a:ext cx="486296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읽기만 한다 · AI가 먼저 읽는다</a:t>
            </a:r>
            <a:endParaRPr lang="en-US" sz="1250" dirty="0"/>
          </a:p>
        </p:txBody>
      </p:sp>
      <p:sp>
        <p:nvSpPr>
          <p:cNvPr id="42" name="Text 40"/>
          <p:cNvSpPr/>
          <p:nvPr/>
        </p:nvSpPr>
        <p:spPr>
          <a:xfrm>
            <a:off x="9560966" y="4791456"/>
            <a:ext cx="1969618"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오늘 · 9-2</a:t>
            </a:r>
            <a:endParaRPr lang="en-US" sz="1250" dirty="0"/>
          </a:p>
        </p:txBody>
      </p:sp>
      <p:sp>
        <p:nvSpPr>
          <p:cNvPr id="43" name="Shape 41"/>
          <p:cNvSpPr/>
          <p:nvPr/>
        </p:nvSpPr>
        <p:spPr>
          <a:xfrm>
            <a:off x="530352" y="5157216"/>
            <a:ext cx="11128248" cy="365760"/>
          </a:xfrm>
          <a:prstGeom prst="rect">
            <a:avLst/>
          </a:prstGeom>
          <a:solidFill>
            <a:srgbClr val="F1F2F4"/>
          </a:solidFill>
          <a:ln w="9525">
            <a:solidFill>
              <a:srgbClr val="E0E3E7"/>
            </a:solidFill>
            <a:prstDash val="solid"/>
          </a:ln>
        </p:spPr>
      </p:sp>
      <p:sp>
        <p:nvSpPr>
          <p:cNvPr id="44" name="Text 42"/>
          <p:cNvSpPr/>
          <p:nvPr/>
        </p:nvSpPr>
        <p:spPr>
          <a:xfrm>
            <a:off x="658368" y="5157216"/>
            <a:ext cx="3527572" cy="365760"/>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09_development_plan.md · AGENTS.md</a:t>
            </a:r>
            <a:endParaRPr lang="en-US" sz="1250" dirty="0"/>
          </a:p>
        </p:txBody>
      </p:sp>
      <p:sp>
        <p:nvSpPr>
          <p:cNvPr id="45" name="Text 43"/>
          <p:cNvSpPr/>
          <p:nvPr/>
        </p:nvSpPr>
        <p:spPr>
          <a:xfrm>
            <a:off x="4441972" y="5157216"/>
            <a:ext cx="4862962"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9-2에서 쓴다 · AI가 켤 때 읽는 규칙</a:t>
            </a:r>
            <a:endParaRPr lang="en-US" sz="1250" dirty="0"/>
          </a:p>
        </p:txBody>
      </p:sp>
      <p:sp>
        <p:nvSpPr>
          <p:cNvPr id="46" name="Text 44"/>
          <p:cNvSpPr/>
          <p:nvPr/>
        </p:nvSpPr>
        <p:spPr>
          <a:xfrm>
            <a:off x="9560966" y="5157216"/>
            <a:ext cx="1969618" cy="365760"/>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9-2</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사용자 흐름은 사용자가 지나가는 길이다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783080"/>
            <a:ext cx="3514344"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194767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기능 목록 · PRD 2항</a:t>
            </a:r>
            <a:endParaRPr lang="en-US" sz="1650" dirty="0"/>
          </a:p>
        </p:txBody>
      </p:sp>
      <p:sp>
        <p:nvSpPr>
          <p:cNvPr id="12" name="Text 10"/>
          <p:cNvSpPr/>
          <p:nvPr/>
        </p:nvSpPr>
        <p:spPr>
          <a:xfrm>
            <a:off x="713232" y="2441448"/>
            <a:ext cx="3148584" cy="1298448"/>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서비스가 할 수 있는 일</a:t>
            </a:r>
            <a:endParaRPr lang="en-US" sz="1240" dirty="0"/>
          </a:p>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순서가 없다</a:t>
            </a:r>
            <a:endParaRPr lang="en-US" sz="1240" dirty="0"/>
          </a:p>
        </p:txBody>
      </p:sp>
      <p:sp>
        <p:nvSpPr>
          <p:cNvPr id="13" name="Shape 11"/>
          <p:cNvSpPr/>
          <p:nvPr/>
        </p:nvSpPr>
        <p:spPr>
          <a:xfrm>
            <a:off x="4337304" y="1783080"/>
            <a:ext cx="3514344" cy="2103120"/>
          </a:xfrm>
          <a:prstGeom prst="roundRect">
            <a:avLst>
              <a:gd name="adj" fmla="val 2391"/>
            </a:avLst>
          </a:prstGeom>
          <a:solidFill>
            <a:srgbClr val="F1F2F4"/>
          </a:solidFill>
          <a:ln w="12700">
            <a:solidFill>
              <a:srgbClr val="E0E3E7"/>
            </a:solidFill>
            <a:prstDash val="solid"/>
          </a:ln>
        </p:spPr>
      </p:sp>
      <p:sp>
        <p:nvSpPr>
          <p:cNvPr id="14" name="Text 12"/>
          <p:cNvSpPr/>
          <p:nvPr/>
        </p:nvSpPr>
        <p:spPr>
          <a:xfrm>
            <a:off x="4520184" y="194767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 목록 · PRD 4항</a:t>
            </a:r>
            <a:endParaRPr lang="en-US" sz="1650" dirty="0"/>
          </a:p>
        </p:txBody>
      </p:sp>
      <p:sp>
        <p:nvSpPr>
          <p:cNvPr id="15" name="Text 13"/>
          <p:cNvSpPr/>
          <p:nvPr/>
        </p:nvSpPr>
        <p:spPr>
          <a:xfrm>
            <a:off x="4520184" y="2441448"/>
            <a:ext cx="3148584" cy="1298448"/>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화면에 있는 것</a:t>
            </a:r>
            <a:endParaRPr lang="en-US" sz="1240" dirty="0"/>
          </a:p>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순서가 없다</a:t>
            </a:r>
            <a:endParaRPr lang="en-US" sz="1240" dirty="0"/>
          </a:p>
        </p:txBody>
      </p:sp>
      <p:sp>
        <p:nvSpPr>
          <p:cNvPr id="16" name="Shape 14"/>
          <p:cNvSpPr/>
          <p:nvPr/>
        </p:nvSpPr>
        <p:spPr>
          <a:xfrm>
            <a:off x="8144256" y="1783080"/>
            <a:ext cx="3514344" cy="2103120"/>
          </a:xfrm>
          <a:prstGeom prst="roundRect">
            <a:avLst>
              <a:gd name="adj" fmla="val 2391"/>
            </a:avLst>
          </a:prstGeom>
          <a:solidFill>
            <a:srgbClr val="E7F2ED"/>
          </a:solidFill>
          <a:ln w="12700">
            <a:solidFill>
              <a:srgbClr val="0E7C86"/>
            </a:solidFill>
            <a:prstDash val="solid"/>
          </a:ln>
        </p:spPr>
      </p:sp>
      <p:sp>
        <p:nvSpPr>
          <p:cNvPr id="17" name="Text 15"/>
          <p:cNvSpPr/>
          <p:nvPr/>
        </p:nvSpPr>
        <p:spPr>
          <a:xfrm>
            <a:off x="8327136" y="194767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사용자 흐름 · 오늘</a:t>
            </a:r>
            <a:endParaRPr lang="en-US" sz="1650" dirty="0"/>
          </a:p>
        </p:txBody>
      </p:sp>
      <p:sp>
        <p:nvSpPr>
          <p:cNvPr id="18" name="Text 16"/>
          <p:cNvSpPr/>
          <p:nvPr/>
        </p:nvSpPr>
        <p:spPr>
          <a:xfrm>
            <a:off x="8327136" y="2441448"/>
            <a:ext cx="3148584" cy="1298448"/>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처음 열어 목적을 이룰 때까지</a:t>
            </a: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순서가 있다</a:t>
            </a:r>
            <a:endParaRPr lang="en-US" sz="1240" dirty="0"/>
          </a:p>
        </p:txBody>
      </p:sp>
      <p:sp>
        <p:nvSpPr>
          <p:cNvPr id="19" name="Shape 17"/>
          <p:cNvSpPr/>
          <p:nvPr/>
        </p:nvSpPr>
        <p:spPr>
          <a:xfrm>
            <a:off x="530352" y="4160520"/>
            <a:ext cx="11128248" cy="512064"/>
          </a:xfrm>
          <a:prstGeom prst="roundRect">
            <a:avLst>
              <a:gd name="adj" fmla="val 39286"/>
            </a:avLst>
          </a:prstGeom>
          <a:solidFill>
            <a:srgbClr val="EAF5FB"/>
          </a:solidFill>
          <a:ln w="12700">
            <a:solidFill>
              <a:srgbClr val="3D8DFF"/>
            </a:solidFill>
            <a:prstDash val="solid"/>
          </a:ln>
        </p:spPr>
      </p:sp>
      <p:sp>
        <p:nvSpPr>
          <p:cNvPr id="20" name="Text 18"/>
          <p:cNvSpPr/>
          <p:nvPr/>
        </p:nvSpPr>
        <p:spPr>
          <a:xfrm>
            <a:off x="731520" y="4160520"/>
            <a:ext cx="10725912" cy="512064"/>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한 단계마다 · 보는 것 → 행동 → 서비스의 반응</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사용자 흐름과 개발 순서는 다르다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783080"/>
            <a:ext cx="5417820" cy="3429000"/>
          </a:xfrm>
          <a:prstGeom prst="roundRect">
            <a:avLst>
              <a:gd name="adj" fmla="val 1467"/>
            </a:avLst>
          </a:prstGeom>
          <a:solidFill>
            <a:srgbClr val="E7F2ED"/>
          </a:solidFill>
          <a:ln w="12700">
            <a:solidFill>
              <a:srgbClr val="0E7C86"/>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사용자 흐름 · 사용자가 겪는 순서</a:t>
            </a:r>
            <a:endParaRPr lang="en-US" sz="1650" dirty="0"/>
          </a:p>
        </p:txBody>
      </p:sp>
      <p:sp>
        <p:nvSpPr>
          <p:cNvPr id="12" name="Text 10"/>
          <p:cNvSpPr/>
          <p:nvPr/>
        </p:nvSpPr>
        <p:spPr>
          <a:xfrm>
            <a:off x="713232" y="2496312"/>
            <a:ext cx="5052060" cy="256032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서비스를 열고 안내를 본다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값을 입력하거나 고른다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버튼을 누른다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결과를 확인한다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기록이 남는다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다시 열어 기록을 본다</a:t>
            </a:r>
            <a:endParaRPr lang="en-US" sz="1500" dirty="0"/>
          </a:p>
        </p:txBody>
      </p:sp>
      <p:sp>
        <p:nvSpPr>
          <p:cNvPr id="13" name="Shape 11"/>
          <p:cNvSpPr/>
          <p:nvPr/>
        </p:nvSpPr>
        <p:spPr>
          <a:xfrm>
            <a:off x="6240780" y="1783080"/>
            <a:ext cx="5417820" cy="3429000"/>
          </a:xfrm>
          <a:prstGeom prst="roundRect">
            <a:avLst>
              <a:gd name="adj" fmla="val 1467"/>
            </a:avLst>
          </a:prstGeom>
          <a:solidFill>
            <a:srgbClr val="F1F2F4"/>
          </a:solidFill>
          <a:ln w="12700">
            <a:solidFill>
              <a:srgbClr val="E0E3E7"/>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개발 순서 · 만드는 사람의 순서</a:t>
            </a:r>
            <a:endParaRPr lang="en-US" sz="1650" dirty="0"/>
          </a:p>
        </p:txBody>
      </p:sp>
      <p:sp>
        <p:nvSpPr>
          <p:cNvPr id="15" name="Text 13"/>
          <p:cNvSpPr/>
          <p:nvPr/>
        </p:nvSpPr>
        <p:spPr>
          <a:xfrm>
            <a:off x="6423660" y="2496312"/>
            <a:ext cx="5052060" cy="256032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첫 화면을 만든다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핵심 기능을 작동시킨다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저장과 다시 보기를 연결한다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테스트하고 고친다</a:t>
            </a:r>
            <a:endParaRPr lang="en-US" sz="1500" dirty="0"/>
          </a:p>
        </p:txBody>
      </p:sp>
      <p:sp>
        <p:nvSpPr>
          <p:cNvPr id="16" name="Shape 14"/>
          <p:cNvSpPr/>
          <p:nvPr/>
        </p:nvSpPr>
        <p:spPr>
          <a:xfrm>
            <a:off x="530352" y="544068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54406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오늘은 왼쪽 · 개발 순서는 9-2 마지막에</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시작과 완료를 먼저 한 줄씩 정한다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11128248" cy="1325880"/>
          </a:xfrm>
          <a:prstGeom prst="roundRect">
            <a:avLst>
              <a:gd name="adj" fmla="val 3448"/>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09_user_flow.md · 1. 시작과 완료</a:t>
            </a:r>
            <a:endParaRPr lang="en-US" sz="950" dirty="0"/>
          </a:p>
        </p:txBody>
      </p:sp>
      <p:sp>
        <p:nvSpPr>
          <p:cNvPr id="12" name="Text 10"/>
          <p:cNvSpPr/>
          <p:nvPr/>
        </p:nvSpPr>
        <p:spPr>
          <a:xfrm>
            <a:off x="768096" y="2185416"/>
            <a:ext cx="10652760" cy="77724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시작: 사용자가 서비스를 처음 열고 ___을 본다.</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완료: 사용자가 ___을 하고 ___ 결과와 저장된 기록을 확인한다.</a:t>
            </a:r>
            <a:endParaRPr lang="en-US" sz="1500" dirty="0"/>
          </a:p>
        </p:txBody>
      </p:sp>
      <p:sp>
        <p:nvSpPr>
          <p:cNvPr id="13" name="Shape 11"/>
          <p:cNvSpPr/>
          <p:nvPr/>
        </p:nvSpPr>
        <p:spPr>
          <a:xfrm>
            <a:off x="530352" y="3291840"/>
            <a:ext cx="11128248" cy="1325880"/>
          </a:xfrm>
          <a:prstGeom prst="roundRect">
            <a:avLst>
              <a:gd name="adj" fmla="val 3448"/>
            </a:avLst>
          </a:prstGeom>
          <a:solidFill>
            <a:srgbClr val="24272C"/>
          </a:solidFill>
          <a:ln/>
        </p:spPr>
      </p:sp>
      <p:sp>
        <p:nvSpPr>
          <p:cNvPr id="14" name="Text 12"/>
          <p:cNvSpPr/>
          <p:nvPr/>
        </p:nvSpPr>
        <p:spPr>
          <a:xfrm>
            <a:off x="768096" y="34198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예 · 할 일 정리 서비스</a:t>
            </a:r>
            <a:endParaRPr lang="en-US" sz="950" dirty="0"/>
          </a:p>
        </p:txBody>
      </p:sp>
      <p:sp>
        <p:nvSpPr>
          <p:cNvPr id="15" name="Text 13"/>
          <p:cNvSpPr/>
          <p:nvPr/>
        </p:nvSpPr>
        <p:spPr>
          <a:xfrm>
            <a:off x="768096" y="3694176"/>
            <a:ext cx="10652760" cy="77724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시작: 사용자가 할 일 정리 서비스를 열고 입력 안내를 본다.</a:t>
            </a:r>
            <a:endParaRPr lang="en-US" sz="1500" dirty="0"/>
          </a:p>
          <a:p>
            <a:pPr indent="0" marL="0">
              <a:lnSpc>
                <a:spcPts val="2550"/>
              </a:lnSpc>
              <a:buNone/>
            </a:pPr>
            <a:r>
              <a:rPr lang="en-US" sz="1500" b="1" dirty="0">
                <a:solidFill>
                  <a:srgbClr val="FFB27F"/>
                </a:solidFill>
                <a:latin typeface="IBM Plex Mono" pitchFamily="34" charset="0"/>
                <a:ea typeface="IBM Plex Mono" pitchFamily="34" charset="-122"/>
                <a:cs typeface="IBM Plex Mono" pitchFamily="34" charset="-120"/>
              </a:rPr>
              <a:t>- 완료: 사용자가 할 일을 추가하고, 다시 열어도 목록에 남은 기록을 확인한다.</a:t>
            </a:r>
            <a:endParaRPr lang="en-US" sz="1500" dirty="0"/>
          </a:p>
        </p:txBody>
      </p:sp>
      <p:sp>
        <p:nvSpPr>
          <p:cNvPr id="16" name="Shape 14"/>
          <p:cNvSpPr/>
          <p:nvPr/>
        </p:nvSpPr>
        <p:spPr>
          <a:xfrm>
            <a:off x="530352" y="4892040"/>
            <a:ext cx="11128248" cy="512064"/>
          </a:xfrm>
          <a:prstGeom prst="roundRect">
            <a:avLst>
              <a:gd name="adj" fmla="val 39286"/>
            </a:avLst>
          </a:prstGeom>
          <a:solidFill>
            <a:srgbClr val="EAF5FB"/>
          </a:solidFill>
          <a:ln w="12700">
            <a:solidFill>
              <a:srgbClr val="3D8DFF"/>
            </a:solidFill>
            <a:prstDash val="solid"/>
          </a:ln>
        </p:spPr>
      </p:sp>
      <p:sp>
        <p:nvSpPr>
          <p:cNvPr id="17" name="Text 15"/>
          <p:cNvSpPr/>
          <p:nvPr/>
        </p:nvSpPr>
        <p:spPr>
          <a:xfrm>
            <a:off x="731520" y="489204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완료 문장에는 「다시 보는 순간」이 들어간다 · 한 번 보여 주고 끝나면 아직 완료가 아니다</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한 단계에는 다섯 가지를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2050085" cy="2286000"/>
          </a:xfrm>
          <a:prstGeom prst="roundRect">
            <a:avLst>
              <a:gd name="adj" fmla="val 2453"/>
            </a:avLst>
          </a:prstGeom>
          <a:solidFill>
            <a:srgbClr val="F1F2F4"/>
          </a:solidFill>
          <a:ln w="12700">
            <a:solidFill>
              <a:srgbClr val="E0E3E7"/>
            </a:solidFill>
            <a:prstDash val="solid"/>
          </a:ln>
        </p:spPr>
      </p:sp>
      <p:sp>
        <p:nvSpPr>
          <p:cNvPr id="11" name="Text 9"/>
          <p:cNvSpPr/>
          <p:nvPr/>
        </p:nvSpPr>
        <p:spPr>
          <a:xfrm>
            <a:off x="713232" y="1947672"/>
            <a:ext cx="1684325"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1684325"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보는 것</a:t>
            </a:r>
            <a:endParaRPr lang="en-US" sz="1650" dirty="0"/>
          </a:p>
        </p:txBody>
      </p:sp>
      <p:sp>
        <p:nvSpPr>
          <p:cNvPr id="13" name="Text 11"/>
          <p:cNvSpPr/>
          <p:nvPr/>
        </p:nvSpPr>
        <p:spPr>
          <a:xfrm>
            <a:off x="713232" y="2862072"/>
            <a:ext cx="1684325" cy="106070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화면에 무엇이</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보이는가</a:t>
            </a:r>
            <a:endParaRPr lang="en-US" sz="1300" dirty="0"/>
          </a:p>
        </p:txBody>
      </p:sp>
      <p:sp>
        <p:nvSpPr>
          <p:cNvPr id="14" name="Shape 12"/>
          <p:cNvSpPr/>
          <p:nvPr/>
        </p:nvSpPr>
        <p:spPr>
          <a:xfrm>
            <a:off x="2799893" y="1783080"/>
            <a:ext cx="2050085" cy="2286000"/>
          </a:xfrm>
          <a:prstGeom prst="roundRect">
            <a:avLst>
              <a:gd name="adj" fmla="val 2453"/>
            </a:avLst>
          </a:prstGeom>
          <a:solidFill>
            <a:srgbClr val="F1F2F4"/>
          </a:solidFill>
          <a:ln w="12700">
            <a:solidFill>
              <a:srgbClr val="E0E3E7"/>
            </a:solidFill>
            <a:prstDash val="solid"/>
          </a:ln>
        </p:spPr>
      </p:sp>
      <p:sp>
        <p:nvSpPr>
          <p:cNvPr id="15" name="Text 13"/>
          <p:cNvSpPr/>
          <p:nvPr/>
        </p:nvSpPr>
        <p:spPr>
          <a:xfrm>
            <a:off x="2982773" y="1947672"/>
            <a:ext cx="1684325"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2982773" y="2368296"/>
            <a:ext cx="1684325"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행동</a:t>
            </a:r>
            <a:endParaRPr lang="en-US" sz="1650" dirty="0"/>
          </a:p>
        </p:txBody>
      </p:sp>
      <p:sp>
        <p:nvSpPr>
          <p:cNvPr id="17" name="Text 15"/>
          <p:cNvSpPr/>
          <p:nvPr/>
        </p:nvSpPr>
        <p:spPr>
          <a:xfrm>
            <a:off x="2982773" y="2862072"/>
            <a:ext cx="1684325" cy="106070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무엇을 입력·선택·</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누르는가</a:t>
            </a:r>
            <a:endParaRPr lang="en-US" sz="1300" dirty="0"/>
          </a:p>
        </p:txBody>
      </p:sp>
      <p:sp>
        <p:nvSpPr>
          <p:cNvPr id="18" name="Shape 16"/>
          <p:cNvSpPr/>
          <p:nvPr/>
        </p:nvSpPr>
        <p:spPr>
          <a:xfrm>
            <a:off x="5069434" y="1783080"/>
            <a:ext cx="2050085" cy="2286000"/>
          </a:xfrm>
          <a:prstGeom prst="roundRect">
            <a:avLst>
              <a:gd name="adj" fmla="val 2453"/>
            </a:avLst>
          </a:prstGeom>
          <a:solidFill>
            <a:srgbClr val="F1F2F4"/>
          </a:solidFill>
          <a:ln w="12700">
            <a:solidFill>
              <a:srgbClr val="E0E3E7"/>
            </a:solidFill>
            <a:prstDash val="solid"/>
          </a:ln>
        </p:spPr>
      </p:sp>
      <p:sp>
        <p:nvSpPr>
          <p:cNvPr id="19" name="Text 17"/>
          <p:cNvSpPr/>
          <p:nvPr/>
        </p:nvSpPr>
        <p:spPr>
          <a:xfrm>
            <a:off x="5252314" y="1947672"/>
            <a:ext cx="1684325"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0" name="Text 18"/>
          <p:cNvSpPr/>
          <p:nvPr/>
        </p:nvSpPr>
        <p:spPr>
          <a:xfrm>
            <a:off x="5252314" y="2368296"/>
            <a:ext cx="1684325"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서비스의 반응</a:t>
            </a:r>
            <a:endParaRPr lang="en-US" sz="1650" dirty="0"/>
          </a:p>
        </p:txBody>
      </p:sp>
      <p:sp>
        <p:nvSpPr>
          <p:cNvPr id="21" name="Text 19"/>
          <p:cNvSpPr/>
          <p:nvPr/>
        </p:nvSpPr>
        <p:spPr>
          <a:xfrm>
            <a:off x="5252314" y="2862072"/>
            <a:ext cx="1684325" cy="106070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무엇이 바뀌거나</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나타나는가</a:t>
            </a:r>
            <a:endParaRPr lang="en-US" sz="1300" dirty="0"/>
          </a:p>
        </p:txBody>
      </p:sp>
      <p:sp>
        <p:nvSpPr>
          <p:cNvPr id="22" name="Shape 20"/>
          <p:cNvSpPr/>
          <p:nvPr/>
        </p:nvSpPr>
        <p:spPr>
          <a:xfrm>
            <a:off x="7338974" y="1783080"/>
            <a:ext cx="2050085" cy="2286000"/>
          </a:xfrm>
          <a:prstGeom prst="roundRect">
            <a:avLst>
              <a:gd name="adj" fmla="val 2453"/>
            </a:avLst>
          </a:prstGeom>
          <a:solidFill>
            <a:srgbClr val="E7F2ED"/>
          </a:solidFill>
          <a:ln w="12700">
            <a:solidFill>
              <a:srgbClr val="0E7C86"/>
            </a:solidFill>
            <a:prstDash val="solid"/>
          </a:ln>
        </p:spPr>
      </p:sp>
      <p:sp>
        <p:nvSpPr>
          <p:cNvPr id="23" name="Text 21"/>
          <p:cNvSpPr/>
          <p:nvPr/>
        </p:nvSpPr>
        <p:spPr>
          <a:xfrm>
            <a:off x="7521854" y="1947672"/>
            <a:ext cx="1684325"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4" name="Text 22"/>
          <p:cNvSpPr/>
          <p:nvPr/>
        </p:nvSpPr>
        <p:spPr>
          <a:xfrm>
            <a:off x="7521854" y="2368296"/>
            <a:ext cx="1684325"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남는 정보</a:t>
            </a:r>
            <a:endParaRPr lang="en-US" sz="1650" dirty="0"/>
          </a:p>
        </p:txBody>
      </p:sp>
      <p:sp>
        <p:nvSpPr>
          <p:cNvPr id="25" name="Text 23"/>
          <p:cNvSpPr/>
          <p:nvPr/>
        </p:nvSpPr>
        <p:spPr>
          <a:xfrm>
            <a:off x="7521854" y="2862072"/>
            <a:ext cx="1684325" cy="106070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다음 단계에 쓰거나</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저장되는 것</a:t>
            </a:r>
            <a:endParaRPr lang="en-US" sz="1300" dirty="0"/>
          </a:p>
        </p:txBody>
      </p:sp>
      <p:sp>
        <p:nvSpPr>
          <p:cNvPr id="26" name="Shape 24"/>
          <p:cNvSpPr/>
          <p:nvPr/>
        </p:nvSpPr>
        <p:spPr>
          <a:xfrm>
            <a:off x="9608515" y="1783080"/>
            <a:ext cx="2050085" cy="2286000"/>
          </a:xfrm>
          <a:prstGeom prst="roundRect">
            <a:avLst>
              <a:gd name="adj" fmla="val 2453"/>
            </a:avLst>
          </a:prstGeom>
          <a:solidFill>
            <a:srgbClr val="FFF1E8"/>
          </a:solidFill>
          <a:ln w="12700">
            <a:solidFill>
              <a:srgbClr val="C24A00"/>
            </a:solidFill>
            <a:prstDash val="solid"/>
          </a:ln>
        </p:spPr>
      </p:sp>
      <p:sp>
        <p:nvSpPr>
          <p:cNvPr id="27" name="Text 25"/>
          <p:cNvSpPr/>
          <p:nvPr/>
        </p:nvSpPr>
        <p:spPr>
          <a:xfrm>
            <a:off x="9791395" y="1947672"/>
            <a:ext cx="1684325" cy="329184"/>
          </a:xfrm>
          <a:prstGeom prst="rect">
            <a:avLst/>
          </a:prstGeom>
          <a:noFill/>
          <a:ln/>
        </p:spPr>
        <p:txBody>
          <a:bodyPr wrap="square" lIns="0" tIns="0" rIns="0" bIns="0" rtlCol="0" anchor="ctr"/>
          <a:lstStyle/>
          <a:p>
            <a:pPr indent="0" marL="0">
              <a:buNone/>
            </a:pPr>
            <a:r>
              <a:rPr lang="en-US" sz="1800" b="1" dirty="0">
                <a:solidFill>
                  <a:srgbClr val="C24A00"/>
                </a:solidFill>
                <a:latin typeface="IBM Plex Mono" pitchFamily="34" charset="0"/>
                <a:ea typeface="IBM Plex Mono" pitchFamily="34" charset="-122"/>
                <a:cs typeface="IBM Plex Mono" pitchFamily="34" charset="-120"/>
              </a:rPr>
              <a:t>5</a:t>
            </a:r>
            <a:endParaRPr lang="en-US" sz="1800" dirty="0"/>
          </a:p>
        </p:txBody>
      </p:sp>
      <p:sp>
        <p:nvSpPr>
          <p:cNvPr id="28" name="Text 26"/>
          <p:cNvSpPr/>
          <p:nvPr/>
        </p:nvSpPr>
        <p:spPr>
          <a:xfrm>
            <a:off x="9791395" y="2368296"/>
            <a:ext cx="1684325"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예외</a:t>
            </a:r>
            <a:endParaRPr lang="en-US" sz="1650" dirty="0"/>
          </a:p>
        </p:txBody>
      </p:sp>
      <p:sp>
        <p:nvSpPr>
          <p:cNvPr id="29" name="Text 27"/>
          <p:cNvSpPr/>
          <p:nvPr/>
        </p:nvSpPr>
        <p:spPr>
          <a:xfrm>
            <a:off x="9791395" y="2862072"/>
            <a:ext cx="1684325" cy="106070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값이 없거나</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틀리면?</a:t>
            </a:r>
            <a:endParaRPr lang="en-US" sz="1300" dirty="0"/>
          </a:p>
        </p:txBody>
      </p:sp>
      <p:sp>
        <p:nvSpPr>
          <p:cNvPr id="30" name="Shape 28"/>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31" name="Text 29"/>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4번 칸 → 11회 SQLite에 저장할 기록 · 5번 칸 → 12회 테스트에서 그대로 시험</a:t>
            </a:r>
            <a:endParaRPr lang="en-US" sz="1500" dirty="0"/>
          </a:p>
        </p:txBody>
      </p:sp>
      <p:sp>
        <p:nvSpPr>
          <p:cNvPr id="32" name="Shape 30"/>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33" name="Text 31"/>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색 · 정확한 위치 · 파일 이름 · 코드는 아직 정하지 않는다</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예 — 네 단계가 모두 같은 화면에서 일어난다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890260" cy="402336"/>
          </a:xfrm>
          <a:prstGeom prst="rect">
            <a:avLst/>
          </a:prstGeom>
          <a:solidFill>
            <a:srgbClr val="1B1D21"/>
          </a:solidFill>
          <a:ln/>
        </p:spPr>
      </p:sp>
      <p:sp>
        <p:nvSpPr>
          <p:cNvPr id="11" name="Text 9"/>
          <p:cNvSpPr/>
          <p:nvPr/>
        </p:nvSpPr>
        <p:spPr>
          <a:xfrm>
            <a:off x="658368" y="1783080"/>
            <a:ext cx="63422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단계</a:t>
            </a:r>
            <a:endParaRPr lang="en-US" sz="1050" dirty="0"/>
          </a:p>
        </p:txBody>
      </p:sp>
      <p:sp>
        <p:nvSpPr>
          <p:cNvPr id="12" name="Shape 10"/>
          <p:cNvSpPr/>
          <p:nvPr/>
        </p:nvSpPr>
        <p:spPr>
          <a:xfrm>
            <a:off x="1420612" y="1783080"/>
            <a:ext cx="2114367" cy="402336"/>
          </a:xfrm>
          <a:prstGeom prst="rect">
            <a:avLst/>
          </a:prstGeom>
          <a:solidFill>
            <a:srgbClr val="1B1D21"/>
          </a:solidFill>
          <a:ln/>
        </p:spPr>
      </p:sp>
      <p:sp>
        <p:nvSpPr>
          <p:cNvPr id="13" name="Text 11"/>
          <p:cNvSpPr/>
          <p:nvPr/>
        </p:nvSpPr>
        <p:spPr>
          <a:xfrm>
            <a:off x="1548628" y="1783080"/>
            <a:ext cx="185833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보는 것</a:t>
            </a:r>
            <a:endParaRPr lang="en-US" sz="1050" dirty="0"/>
          </a:p>
        </p:txBody>
      </p:sp>
      <p:sp>
        <p:nvSpPr>
          <p:cNvPr id="14" name="Shape 12"/>
          <p:cNvSpPr/>
          <p:nvPr/>
        </p:nvSpPr>
        <p:spPr>
          <a:xfrm>
            <a:off x="3534979" y="1783080"/>
            <a:ext cx="2448215" cy="402336"/>
          </a:xfrm>
          <a:prstGeom prst="rect">
            <a:avLst/>
          </a:prstGeom>
          <a:solidFill>
            <a:srgbClr val="1B1D21"/>
          </a:solidFill>
          <a:ln/>
        </p:spPr>
      </p:sp>
      <p:sp>
        <p:nvSpPr>
          <p:cNvPr id="15" name="Text 13"/>
          <p:cNvSpPr/>
          <p:nvPr/>
        </p:nvSpPr>
        <p:spPr>
          <a:xfrm>
            <a:off x="3662995" y="1783080"/>
            <a:ext cx="219218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행동</a:t>
            </a:r>
            <a:endParaRPr lang="en-US" sz="1050" dirty="0"/>
          </a:p>
        </p:txBody>
      </p:sp>
      <p:sp>
        <p:nvSpPr>
          <p:cNvPr id="16" name="Shape 14"/>
          <p:cNvSpPr/>
          <p:nvPr/>
        </p:nvSpPr>
        <p:spPr>
          <a:xfrm>
            <a:off x="5983194" y="1783080"/>
            <a:ext cx="3115909" cy="402336"/>
          </a:xfrm>
          <a:prstGeom prst="rect">
            <a:avLst/>
          </a:prstGeom>
          <a:solidFill>
            <a:srgbClr val="1B1D21"/>
          </a:solidFill>
          <a:ln/>
        </p:spPr>
      </p:sp>
      <p:sp>
        <p:nvSpPr>
          <p:cNvPr id="17" name="Text 15"/>
          <p:cNvSpPr/>
          <p:nvPr/>
        </p:nvSpPr>
        <p:spPr>
          <a:xfrm>
            <a:off x="6111210" y="1783080"/>
            <a:ext cx="285987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서비스의 반응</a:t>
            </a:r>
            <a:endParaRPr lang="en-US" sz="1050" dirty="0"/>
          </a:p>
        </p:txBody>
      </p:sp>
      <p:sp>
        <p:nvSpPr>
          <p:cNvPr id="18" name="Shape 16"/>
          <p:cNvSpPr/>
          <p:nvPr/>
        </p:nvSpPr>
        <p:spPr>
          <a:xfrm>
            <a:off x="9099103" y="1783080"/>
            <a:ext cx="2559497" cy="402336"/>
          </a:xfrm>
          <a:prstGeom prst="rect">
            <a:avLst/>
          </a:prstGeom>
          <a:solidFill>
            <a:srgbClr val="1B1D21"/>
          </a:solidFill>
          <a:ln/>
        </p:spPr>
      </p:sp>
      <p:sp>
        <p:nvSpPr>
          <p:cNvPr id="19" name="Text 17"/>
          <p:cNvSpPr/>
          <p:nvPr/>
        </p:nvSpPr>
        <p:spPr>
          <a:xfrm>
            <a:off x="9227119" y="1783080"/>
            <a:ext cx="230346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남는 정보</a:t>
            </a:r>
            <a:endParaRPr lang="en-US" sz="1050" dirty="0"/>
          </a:p>
        </p:txBody>
      </p:sp>
      <p:sp>
        <p:nvSpPr>
          <p:cNvPr id="20" name="Shape 18"/>
          <p:cNvSpPr/>
          <p:nvPr/>
        </p:nvSpPr>
        <p:spPr>
          <a:xfrm>
            <a:off x="530352" y="2185416"/>
            <a:ext cx="11128248" cy="566928"/>
          </a:xfrm>
          <a:prstGeom prst="rect">
            <a:avLst/>
          </a:prstGeom>
          <a:solidFill>
            <a:srgbClr val="F1F2F4"/>
          </a:solidFill>
          <a:ln w="9525">
            <a:solidFill>
              <a:srgbClr val="E0E3E7"/>
            </a:solidFill>
            <a:prstDash val="solid"/>
          </a:ln>
        </p:spPr>
      </p:sp>
      <p:sp>
        <p:nvSpPr>
          <p:cNvPr id="21" name="Text 19"/>
          <p:cNvSpPr/>
          <p:nvPr/>
        </p:nvSpPr>
        <p:spPr>
          <a:xfrm>
            <a:off x="658368" y="2185416"/>
            <a:ext cx="634228" cy="56692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1</a:t>
            </a:r>
            <a:endParaRPr lang="en-US" sz="1300" dirty="0"/>
          </a:p>
        </p:txBody>
      </p:sp>
      <p:sp>
        <p:nvSpPr>
          <p:cNvPr id="22" name="Text 20"/>
          <p:cNvSpPr/>
          <p:nvPr/>
        </p:nvSpPr>
        <p:spPr>
          <a:xfrm>
            <a:off x="1548628" y="2185416"/>
            <a:ext cx="185833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설명과 입력칸</a:t>
            </a:r>
            <a:endParaRPr lang="en-US" sz="1300" dirty="0"/>
          </a:p>
        </p:txBody>
      </p:sp>
      <p:sp>
        <p:nvSpPr>
          <p:cNvPr id="23" name="Text 21"/>
          <p:cNvSpPr/>
          <p:nvPr/>
        </p:nvSpPr>
        <p:spPr>
          <a:xfrm>
            <a:off x="3662995" y="2185416"/>
            <a:ext cx="2192183"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입력칸을 본다</a:t>
            </a:r>
            <a:endParaRPr lang="en-US" sz="1300" dirty="0"/>
          </a:p>
        </p:txBody>
      </p:sp>
      <p:sp>
        <p:nvSpPr>
          <p:cNvPr id="24" name="Text 22"/>
          <p:cNvSpPr/>
          <p:nvPr/>
        </p:nvSpPr>
        <p:spPr>
          <a:xfrm>
            <a:off x="6111210" y="2185416"/>
            <a:ext cx="2859877"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무엇을 쓸지 안내</a:t>
            </a:r>
            <a:endParaRPr lang="en-US" sz="1300" dirty="0"/>
          </a:p>
        </p:txBody>
      </p:sp>
      <p:sp>
        <p:nvSpPr>
          <p:cNvPr id="25" name="Text 23"/>
          <p:cNvSpPr/>
          <p:nvPr/>
        </p:nvSpPr>
        <p:spPr>
          <a:xfrm>
            <a:off x="9227119" y="2185416"/>
            <a:ext cx="230346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없음</a:t>
            </a:r>
            <a:endParaRPr lang="en-US" sz="1300" dirty="0"/>
          </a:p>
        </p:txBody>
      </p:sp>
      <p:sp>
        <p:nvSpPr>
          <p:cNvPr id="26" name="Shape 24"/>
          <p:cNvSpPr/>
          <p:nvPr/>
        </p:nvSpPr>
        <p:spPr>
          <a:xfrm>
            <a:off x="530352" y="2752344"/>
            <a:ext cx="11128248" cy="566928"/>
          </a:xfrm>
          <a:prstGeom prst="rect">
            <a:avLst/>
          </a:prstGeom>
          <a:solidFill>
            <a:srgbClr val="FFFFFF"/>
          </a:solidFill>
          <a:ln w="9525">
            <a:solidFill>
              <a:srgbClr val="E0E3E7"/>
            </a:solidFill>
            <a:prstDash val="solid"/>
          </a:ln>
        </p:spPr>
      </p:sp>
      <p:sp>
        <p:nvSpPr>
          <p:cNvPr id="27" name="Text 25"/>
          <p:cNvSpPr/>
          <p:nvPr/>
        </p:nvSpPr>
        <p:spPr>
          <a:xfrm>
            <a:off x="658368" y="2752344"/>
            <a:ext cx="634228" cy="56692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2</a:t>
            </a:r>
            <a:endParaRPr lang="en-US" sz="1300" dirty="0"/>
          </a:p>
        </p:txBody>
      </p:sp>
      <p:sp>
        <p:nvSpPr>
          <p:cNvPr id="28" name="Text 26"/>
          <p:cNvSpPr/>
          <p:nvPr/>
        </p:nvSpPr>
        <p:spPr>
          <a:xfrm>
            <a:off x="1548628" y="2752344"/>
            <a:ext cx="185833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입력칸·추가 버튼</a:t>
            </a:r>
            <a:endParaRPr lang="en-US" sz="1300" dirty="0"/>
          </a:p>
        </p:txBody>
      </p:sp>
      <p:sp>
        <p:nvSpPr>
          <p:cNvPr id="29" name="Text 27"/>
          <p:cNvSpPr/>
          <p:nvPr/>
        </p:nvSpPr>
        <p:spPr>
          <a:xfrm>
            <a:off x="3662995" y="2752344"/>
            <a:ext cx="2192183"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할 일을 쓰고 추가</a:t>
            </a:r>
            <a:endParaRPr lang="en-US" sz="1300" dirty="0"/>
          </a:p>
        </p:txBody>
      </p:sp>
      <p:sp>
        <p:nvSpPr>
          <p:cNvPr id="30" name="Text 28"/>
          <p:cNvSpPr/>
          <p:nvPr/>
        </p:nvSpPr>
        <p:spPr>
          <a:xfrm>
            <a:off x="6111210" y="2752344"/>
            <a:ext cx="2859877"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빈칸인지 확인</a:t>
            </a:r>
            <a:endParaRPr lang="en-US" sz="1300" dirty="0"/>
          </a:p>
        </p:txBody>
      </p:sp>
      <p:sp>
        <p:nvSpPr>
          <p:cNvPr id="31" name="Text 29"/>
          <p:cNvSpPr/>
          <p:nvPr/>
        </p:nvSpPr>
        <p:spPr>
          <a:xfrm>
            <a:off x="9227119" y="2752344"/>
            <a:ext cx="230346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입력한 할 일</a:t>
            </a:r>
            <a:endParaRPr lang="en-US" sz="1300" dirty="0"/>
          </a:p>
        </p:txBody>
      </p:sp>
      <p:sp>
        <p:nvSpPr>
          <p:cNvPr id="32" name="Shape 30"/>
          <p:cNvSpPr/>
          <p:nvPr/>
        </p:nvSpPr>
        <p:spPr>
          <a:xfrm>
            <a:off x="530352" y="3319272"/>
            <a:ext cx="11128248" cy="566928"/>
          </a:xfrm>
          <a:prstGeom prst="rect">
            <a:avLst/>
          </a:prstGeom>
          <a:solidFill>
            <a:srgbClr val="F1F2F4"/>
          </a:solidFill>
          <a:ln w="9525">
            <a:solidFill>
              <a:srgbClr val="E0E3E7"/>
            </a:solidFill>
            <a:prstDash val="solid"/>
          </a:ln>
        </p:spPr>
      </p:sp>
      <p:sp>
        <p:nvSpPr>
          <p:cNvPr id="33" name="Text 31"/>
          <p:cNvSpPr/>
          <p:nvPr/>
        </p:nvSpPr>
        <p:spPr>
          <a:xfrm>
            <a:off x="658368" y="3319272"/>
            <a:ext cx="634228" cy="56692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3</a:t>
            </a:r>
            <a:endParaRPr lang="en-US" sz="1300" dirty="0"/>
          </a:p>
        </p:txBody>
      </p:sp>
      <p:sp>
        <p:nvSpPr>
          <p:cNvPr id="34" name="Text 32"/>
          <p:cNvSpPr/>
          <p:nvPr/>
        </p:nvSpPr>
        <p:spPr>
          <a:xfrm>
            <a:off x="1548628" y="3319272"/>
            <a:ext cx="185833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할 일 목록</a:t>
            </a:r>
            <a:endParaRPr lang="en-US" sz="1300" dirty="0"/>
          </a:p>
        </p:txBody>
      </p:sp>
      <p:sp>
        <p:nvSpPr>
          <p:cNvPr id="35" name="Text 33"/>
          <p:cNvSpPr/>
          <p:nvPr/>
        </p:nvSpPr>
        <p:spPr>
          <a:xfrm>
            <a:off x="3662995" y="3319272"/>
            <a:ext cx="2192183"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추가된 줄을 본다</a:t>
            </a:r>
            <a:endParaRPr lang="en-US" sz="1300" dirty="0"/>
          </a:p>
        </p:txBody>
      </p:sp>
      <p:sp>
        <p:nvSpPr>
          <p:cNvPr id="36" name="Text 34"/>
          <p:cNvSpPr/>
          <p:nvPr/>
        </p:nvSpPr>
        <p:spPr>
          <a:xfrm>
            <a:off x="6111210" y="3319272"/>
            <a:ext cx="2859877"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새 할 일을 맨 위에</a:t>
            </a:r>
            <a:endParaRPr lang="en-US" sz="1300" dirty="0"/>
          </a:p>
        </p:txBody>
      </p:sp>
      <p:sp>
        <p:nvSpPr>
          <p:cNvPr id="37" name="Text 35"/>
          <p:cNvSpPr/>
          <p:nvPr/>
        </p:nvSpPr>
        <p:spPr>
          <a:xfrm>
            <a:off x="9227119" y="3319272"/>
            <a:ext cx="230346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할 일 기록</a:t>
            </a:r>
            <a:endParaRPr lang="en-US" sz="1300" dirty="0"/>
          </a:p>
        </p:txBody>
      </p:sp>
      <p:sp>
        <p:nvSpPr>
          <p:cNvPr id="38" name="Shape 36"/>
          <p:cNvSpPr/>
          <p:nvPr/>
        </p:nvSpPr>
        <p:spPr>
          <a:xfrm>
            <a:off x="530352" y="3886200"/>
            <a:ext cx="11128248" cy="566928"/>
          </a:xfrm>
          <a:prstGeom prst="rect">
            <a:avLst/>
          </a:prstGeom>
          <a:solidFill>
            <a:srgbClr val="FFFFFF"/>
          </a:solidFill>
          <a:ln w="9525">
            <a:solidFill>
              <a:srgbClr val="E0E3E7"/>
            </a:solidFill>
            <a:prstDash val="solid"/>
          </a:ln>
        </p:spPr>
      </p:sp>
      <p:sp>
        <p:nvSpPr>
          <p:cNvPr id="39" name="Text 37"/>
          <p:cNvSpPr/>
          <p:nvPr/>
        </p:nvSpPr>
        <p:spPr>
          <a:xfrm>
            <a:off x="658368" y="3886200"/>
            <a:ext cx="634228" cy="56692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4</a:t>
            </a:r>
            <a:endParaRPr lang="en-US" sz="1300" dirty="0"/>
          </a:p>
        </p:txBody>
      </p:sp>
      <p:sp>
        <p:nvSpPr>
          <p:cNvPr id="40" name="Text 38"/>
          <p:cNvSpPr/>
          <p:nvPr/>
        </p:nvSpPr>
        <p:spPr>
          <a:xfrm>
            <a:off x="1548628" y="3886200"/>
            <a:ext cx="185833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다시 연 화면</a:t>
            </a:r>
            <a:endParaRPr lang="en-US" sz="1300" dirty="0"/>
          </a:p>
        </p:txBody>
      </p:sp>
      <p:sp>
        <p:nvSpPr>
          <p:cNvPr id="41" name="Text 39"/>
          <p:cNvSpPr/>
          <p:nvPr/>
        </p:nvSpPr>
        <p:spPr>
          <a:xfrm>
            <a:off x="3662995" y="3886200"/>
            <a:ext cx="2192183"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다음 날 다시 연다</a:t>
            </a:r>
            <a:endParaRPr lang="en-US" sz="1300" dirty="0"/>
          </a:p>
        </p:txBody>
      </p:sp>
      <p:sp>
        <p:nvSpPr>
          <p:cNvPr id="42" name="Text 40"/>
          <p:cNvSpPr/>
          <p:nvPr/>
        </p:nvSpPr>
        <p:spPr>
          <a:xfrm>
            <a:off x="6111210" y="3886200"/>
            <a:ext cx="2859877"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어제 할 일을 그대로</a:t>
            </a:r>
            <a:endParaRPr lang="en-US" sz="1300" dirty="0"/>
          </a:p>
        </p:txBody>
      </p:sp>
      <p:sp>
        <p:nvSpPr>
          <p:cNvPr id="43" name="Text 41"/>
          <p:cNvSpPr/>
          <p:nvPr/>
        </p:nvSpPr>
        <p:spPr>
          <a:xfrm>
            <a:off x="9227119" y="3886200"/>
            <a:ext cx="2303465" cy="56692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저장된 기록</a:t>
            </a:r>
            <a:endParaRPr lang="en-US" sz="1300" dirty="0"/>
          </a:p>
        </p:txBody>
      </p:sp>
      <p:sp>
        <p:nvSpPr>
          <p:cNvPr id="44" name="Shape 42"/>
          <p:cNvSpPr/>
          <p:nvPr/>
        </p:nvSpPr>
        <p:spPr>
          <a:xfrm>
            <a:off x="9099103" y="3319272"/>
            <a:ext cx="2559497" cy="566928"/>
          </a:xfrm>
          <a:prstGeom prst="rect">
            <a:avLst/>
          </a:prstGeom>
          <a:noFill/>
          <a:ln w="28575">
            <a:solidFill>
              <a:srgbClr val="FF5C00"/>
            </a:solidFill>
            <a:prstDash val="solid"/>
          </a:ln>
        </p:spPr>
      </p:sp>
      <p:sp>
        <p:nvSpPr>
          <p:cNvPr id="45" name="Shape 43"/>
          <p:cNvSpPr/>
          <p:nvPr/>
        </p:nvSpPr>
        <p:spPr>
          <a:xfrm>
            <a:off x="530352" y="4846320"/>
            <a:ext cx="11128248" cy="512064"/>
          </a:xfrm>
          <a:prstGeom prst="roundRect">
            <a:avLst>
              <a:gd name="adj" fmla="val 39286"/>
            </a:avLst>
          </a:prstGeom>
          <a:solidFill>
            <a:srgbClr val="EAF5FB"/>
          </a:solidFill>
          <a:ln w="12700">
            <a:solidFill>
              <a:srgbClr val="3D8DFF"/>
            </a:solidFill>
            <a:prstDash val="solid"/>
          </a:ln>
        </p:spPr>
      </p:sp>
      <p:sp>
        <p:nvSpPr>
          <p:cNvPr id="46" name="Text 44"/>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화면이 바뀌지 않아도 행동과 반응이 바뀌면 다음 단계</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정상 흐름 하나, 예외 흐름 하나부터</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5417820" cy="3017520"/>
          </a:xfrm>
          <a:prstGeom prst="roundRect">
            <a:avLst>
              <a:gd name="adj" fmla="val 1667"/>
            </a:avLst>
          </a:prstGeom>
          <a:solidFill>
            <a:srgbClr val="E7F2ED"/>
          </a:solidFill>
          <a:ln w="12700">
            <a:solidFill>
              <a:srgbClr val="0E7C86"/>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정상 흐름</a:t>
            </a:r>
            <a:endParaRPr lang="en-US" sz="1650" dirty="0"/>
          </a:p>
        </p:txBody>
      </p:sp>
      <p:sp>
        <p:nvSpPr>
          <p:cNvPr id="12" name="Text 10"/>
          <p:cNvSpPr/>
          <p:nvPr/>
        </p:nvSpPr>
        <p:spPr>
          <a:xfrm>
            <a:off x="713232" y="2496312"/>
            <a:ext cx="5052060" cy="214884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할 일을 쓴다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추가를 누른다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목록에서 확인한다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다시 열어 남은 기록을 본다</a:t>
            </a:r>
            <a:endParaRPr lang="en-US" sz="1500" dirty="0"/>
          </a:p>
        </p:txBody>
      </p:sp>
      <p:sp>
        <p:nvSpPr>
          <p:cNvPr id="13" name="Shape 11"/>
          <p:cNvSpPr/>
          <p:nvPr/>
        </p:nvSpPr>
        <p:spPr>
          <a:xfrm>
            <a:off x="6240780" y="1783080"/>
            <a:ext cx="5417820" cy="3017520"/>
          </a:xfrm>
          <a:prstGeom prst="roundRect">
            <a:avLst>
              <a:gd name="adj" fmla="val 1667"/>
            </a:avLst>
          </a:prstGeom>
          <a:solidFill>
            <a:srgbClr val="FFF1E8"/>
          </a:solidFill>
          <a:ln w="12700">
            <a:solidFill>
              <a:srgbClr val="C24A00"/>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예외 흐름</a:t>
            </a:r>
            <a:endParaRPr lang="en-US" sz="1650" dirty="0"/>
          </a:p>
        </p:txBody>
      </p:sp>
      <p:sp>
        <p:nvSpPr>
          <p:cNvPr id="15" name="Text 13"/>
          <p:cNvSpPr/>
          <p:nvPr/>
        </p:nvSpPr>
        <p:spPr>
          <a:xfrm>
            <a:off x="6423660" y="2496312"/>
            <a:ext cx="5052060" cy="214884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아무것도 안 쓰고 추가를 누른다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서비스가 저장하지 않는다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「할 일을 입력하세요」를 보여 준다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입력칸으로 돌아가 다시 쓴다</a:t>
            </a:r>
            <a:endParaRPr lang="en-US" sz="1500" dirty="0"/>
          </a:p>
        </p:txBody>
      </p:sp>
      <p:sp>
        <p:nvSpPr>
          <p:cNvPr id="16" name="Shape 14"/>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예외는 「정상 흐름으로 돌아가는 방법」까지 적어야 끝난다</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화면 이름만 적으면 흐름이 아니다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783080"/>
            <a:ext cx="5417820" cy="2743200"/>
          </a:xfrm>
          <a:prstGeom prst="roundRect">
            <a:avLst>
              <a:gd name="adj" fmla="val 1833"/>
            </a:avLst>
          </a:prstGeom>
          <a:solidFill>
            <a:srgbClr val="F1F2F4"/>
          </a:solidFill>
          <a:ln w="12700">
            <a:solidFill>
              <a:srgbClr val="E0E3E7"/>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 목록</a:t>
            </a:r>
            <a:endParaRPr lang="en-US" sz="1650" dirty="0"/>
          </a:p>
        </p:txBody>
      </p:sp>
      <p:sp>
        <p:nvSpPr>
          <p:cNvPr id="12" name="Text 10"/>
          <p:cNvSpPr/>
          <p:nvPr/>
        </p:nvSpPr>
        <p:spPr>
          <a:xfrm>
            <a:off x="713232" y="2496312"/>
            <a:ext cx="5052060" cy="187452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메인 화면</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입력 화면</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결과 화면</a:t>
            </a:r>
            <a:endParaRPr lang="en-US" sz="1500" dirty="0"/>
          </a:p>
        </p:txBody>
      </p:sp>
      <p:sp>
        <p:nvSpPr>
          <p:cNvPr id="13" name="Shape 11"/>
          <p:cNvSpPr/>
          <p:nvPr/>
        </p:nvSpPr>
        <p:spPr>
          <a:xfrm>
            <a:off x="6240780" y="1783080"/>
            <a:ext cx="5417820" cy="2743200"/>
          </a:xfrm>
          <a:prstGeom prst="roundRect">
            <a:avLst>
              <a:gd name="adj" fmla="val 1833"/>
            </a:avLst>
          </a:prstGeom>
          <a:solidFill>
            <a:srgbClr val="E7F2ED"/>
          </a:solidFill>
          <a:ln w="12700">
            <a:solidFill>
              <a:srgbClr val="0E7C86"/>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흐름</a:t>
            </a:r>
            <a:endParaRPr lang="en-US" sz="1650" dirty="0"/>
          </a:p>
        </p:txBody>
      </p:sp>
      <p:sp>
        <p:nvSpPr>
          <p:cNvPr id="15" name="Text 13"/>
          <p:cNvSpPr/>
          <p:nvPr/>
        </p:nvSpPr>
        <p:spPr>
          <a:xfrm>
            <a:off x="6423660" y="2496312"/>
            <a:ext cx="5052060" cy="187452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메인 화면에서 설명을 확인한다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값을 입력하고 실행을 누른다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서비스가 입력을 확인한다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결과 또는 고칠 곳을 보여 준다</a:t>
            </a:r>
            <a:endParaRPr lang="en-US" sz="1500" dirty="0"/>
          </a:p>
        </p:txBody>
      </p:sp>
      <p:sp>
        <p:nvSpPr>
          <p:cNvPr id="16" name="Shape 14"/>
          <p:cNvSpPr/>
          <p:nvPr/>
        </p:nvSpPr>
        <p:spPr>
          <a:xfrm>
            <a:off x="530352" y="480060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4800600"/>
            <a:ext cx="10725912"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IBM Plex Sans KR" pitchFamily="34" charset="0"/>
                <a:ea typeface="IBM Plex Sans KR" pitchFamily="34" charset="-122"/>
                <a:cs typeface="IBM Plex Sans KR" pitchFamily="34" charset="-120"/>
              </a:rPr>
              <a:t>줄마다 묻는다 · 「누가 무엇을 했는가?」</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09_user_flow.md에 내 흐름을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13–14쪽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783080"/>
            <a:ext cx="2562606" cy="2011680"/>
          </a:xfrm>
          <a:prstGeom prst="roundRect">
            <a:avLst>
              <a:gd name="adj" fmla="val 2500"/>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나란히 열기</a:t>
            </a:r>
            <a:endParaRPr lang="en-US" sz="1650" dirty="0"/>
          </a:p>
        </p:txBody>
      </p:sp>
      <p:sp>
        <p:nvSpPr>
          <p:cNvPr id="13" name="Text 11"/>
          <p:cNvSpPr/>
          <p:nvPr/>
        </p:nvSpPr>
        <p:spPr>
          <a:xfrm>
            <a:off x="713232"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PRD.md 오른쪽 클릭</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 측면에서 열기</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011680"/>
          </a:xfrm>
          <a:prstGeom prst="roundRect">
            <a:avLst>
              <a:gd name="adj" fmla="val 2500"/>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 시작과 완료</a:t>
            </a:r>
            <a:endParaRPr lang="en-US" sz="1650" dirty="0"/>
          </a:p>
        </p:txBody>
      </p:sp>
      <p:sp>
        <p:nvSpPr>
          <p:cNvPr id="18" name="Text 16"/>
          <p:cNvSpPr/>
          <p:nvPr/>
        </p:nvSpPr>
        <p:spPr>
          <a:xfrm>
            <a:off x="3568446"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빈칸 두 줄</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다시 보는 순간</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011680"/>
          </a:xfrm>
          <a:prstGeom prst="roundRect">
            <a:avLst>
              <a:gd name="adj" fmla="val 2500"/>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2. 정상 흐름</a:t>
            </a:r>
            <a:endParaRPr lang="en-US" sz="1650" dirty="0"/>
          </a:p>
        </p:txBody>
      </p:sp>
      <p:sp>
        <p:nvSpPr>
          <p:cNvPr id="23" name="Text 21"/>
          <p:cNvSpPr/>
          <p:nvPr/>
        </p:nvSpPr>
        <p:spPr>
          <a:xfrm>
            <a:off x="6423660"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PRD 3항 → 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3~6단계</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011680"/>
          </a:xfrm>
          <a:prstGeom prst="roundRect">
            <a:avLst>
              <a:gd name="adj" fmla="val 2500"/>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3. 예외 흐름</a:t>
            </a:r>
            <a:endParaRPr lang="en-US" sz="1650" dirty="0"/>
          </a:p>
        </p:txBody>
      </p:sp>
      <p:sp>
        <p:nvSpPr>
          <p:cNvPr id="28" name="Text 26"/>
          <p:cNvSpPr/>
          <p:nvPr/>
        </p:nvSpPr>
        <p:spPr>
          <a:xfrm>
            <a:off x="9278874"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한 가지</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돌아가는 방법까지</a:t>
            </a:r>
            <a:endParaRPr lang="en-US" sz="1350" dirty="0"/>
          </a:p>
        </p:txBody>
      </p:sp>
      <p:sp>
        <p:nvSpPr>
          <p:cNvPr id="29" name="Shape 27"/>
          <p:cNvSpPr/>
          <p:nvPr/>
        </p:nvSpPr>
        <p:spPr>
          <a:xfrm>
            <a:off x="530352" y="4023360"/>
            <a:ext cx="11128248" cy="1783080"/>
          </a:xfrm>
          <a:prstGeom prst="roundRect">
            <a:avLst>
              <a:gd name="adj" fmla="val 2821"/>
            </a:avLst>
          </a:prstGeom>
          <a:solidFill>
            <a:srgbClr val="F1F2F4"/>
          </a:solidFill>
          <a:ln w="12700">
            <a:solidFill>
              <a:srgbClr val="E0E3E7"/>
            </a:solidFill>
            <a:prstDash val="solid"/>
          </a:ln>
        </p:spPr>
      </p:sp>
      <p:sp>
        <p:nvSpPr>
          <p:cNvPr id="30" name="Text 28"/>
          <p:cNvSpPr/>
          <p:nvPr/>
        </p:nvSpPr>
        <p:spPr>
          <a:xfrm>
            <a:off x="713232" y="418795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 적었으면 훑어보기</a:t>
            </a:r>
            <a:endParaRPr lang="en-US" sz="1650" dirty="0"/>
          </a:p>
        </p:txBody>
      </p:sp>
      <p:sp>
        <p:nvSpPr>
          <p:cNvPr id="31" name="Text 29"/>
          <p:cNvSpPr/>
          <p:nvPr/>
        </p:nvSpPr>
        <p:spPr>
          <a:xfrm>
            <a:off x="713232" y="4572000"/>
            <a:ext cx="10762488" cy="118872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모든 줄이 「누가 무엇을 했는가?」에 답하는가 · 행동 다음에 반응이 있는가</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기록이 생기는 단계와 다시 보는 단계가 둘 다 있는가 · PRD 2항에 없는 기능이 끼어들지 않았는가</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수업에서 만들 수 있는 흐름인지 미리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15–16쪽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783080"/>
            <a:ext cx="2590038" cy="1691640"/>
          </a:xfrm>
          <a:prstGeom prst="roundRect">
            <a:avLst>
              <a:gd name="adj" fmla="val 2973"/>
            </a:avLst>
          </a:prstGeom>
          <a:solidFill>
            <a:srgbClr val="E7F2ED"/>
          </a:solidFill>
          <a:ln w="12700">
            <a:solidFill>
              <a:srgbClr val="0E7C86"/>
            </a:solidFill>
            <a:prstDash val="solid"/>
          </a:ln>
        </p:spPr>
      </p:sp>
      <p:sp>
        <p:nvSpPr>
          <p:cNvPr id="11" name="Text 9"/>
          <p:cNvSpPr/>
          <p:nvPr/>
        </p:nvSpPr>
        <p:spPr>
          <a:xfrm>
            <a:off x="713232" y="1947672"/>
            <a:ext cx="222427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구현 가능</a:t>
            </a:r>
            <a:endParaRPr lang="en-US" sz="1650" dirty="0"/>
          </a:p>
        </p:txBody>
      </p:sp>
      <p:sp>
        <p:nvSpPr>
          <p:cNvPr id="12" name="Text 10"/>
          <p:cNvSpPr/>
          <p:nvPr/>
        </p:nvSpPr>
        <p:spPr>
          <a:xfrm>
            <a:off x="713232" y="2441448"/>
            <a:ext cx="2224278" cy="886968"/>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표준 프로젝트에서</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바로</a:t>
            </a:r>
            <a:endParaRPr lang="en-US" sz="1350" dirty="0"/>
          </a:p>
        </p:txBody>
      </p:sp>
      <p:sp>
        <p:nvSpPr>
          <p:cNvPr id="13" name="Shape 11"/>
          <p:cNvSpPr/>
          <p:nvPr/>
        </p:nvSpPr>
        <p:spPr>
          <a:xfrm>
            <a:off x="3376422" y="1783080"/>
            <a:ext cx="2590038" cy="1691640"/>
          </a:xfrm>
          <a:prstGeom prst="roundRect">
            <a:avLst>
              <a:gd name="adj" fmla="val 2973"/>
            </a:avLst>
          </a:prstGeom>
          <a:solidFill>
            <a:srgbClr val="F1F2F4"/>
          </a:solidFill>
          <a:ln w="12700">
            <a:solidFill>
              <a:srgbClr val="E0E3E7"/>
            </a:solidFill>
            <a:prstDash val="solid"/>
          </a:ln>
        </p:spPr>
      </p:sp>
      <p:sp>
        <p:nvSpPr>
          <p:cNvPr id="14" name="Text 12"/>
          <p:cNvSpPr/>
          <p:nvPr/>
        </p:nvSpPr>
        <p:spPr>
          <a:xfrm>
            <a:off x="3559302" y="1947672"/>
            <a:ext cx="222427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단순화하면 가능</a:t>
            </a:r>
            <a:endParaRPr lang="en-US" sz="1650" dirty="0"/>
          </a:p>
        </p:txBody>
      </p:sp>
      <p:sp>
        <p:nvSpPr>
          <p:cNvPr id="15" name="Text 13"/>
          <p:cNvSpPr/>
          <p:nvPr/>
        </p:nvSpPr>
        <p:spPr>
          <a:xfrm>
            <a:off x="3559302" y="2441448"/>
            <a:ext cx="2224278" cy="88696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목적은 남기고</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범위를 줄인다</a:t>
            </a:r>
            <a:endParaRPr lang="en-US" sz="1350" dirty="0"/>
          </a:p>
        </p:txBody>
      </p:sp>
      <p:sp>
        <p:nvSpPr>
          <p:cNvPr id="16" name="Shape 14"/>
          <p:cNvSpPr/>
          <p:nvPr/>
        </p:nvSpPr>
        <p:spPr>
          <a:xfrm>
            <a:off x="6222492" y="1783080"/>
            <a:ext cx="2590038" cy="1691640"/>
          </a:xfrm>
          <a:prstGeom prst="roundRect">
            <a:avLst>
              <a:gd name="adj" fmla="val 2973"/>
            </a:avLst>
          </a:prstGeom>
          <a:solidFill>
            <a:srgbClr val="F1F2F4"/>
          </a:solidFill>
          <a:ln w="12700">
            <a:solidFill>
              <a:srgbClr val="E0E3E7"/>
            </a:solidFill>
            <a:prstDash val="solid"/>
          </a:ln>
        </p:spPr>
      </p:sp>
      <p:sp>
        <p:nvSpPr>
          <p:cNvPr id="17" name="Text 15"/>
          <p:cNvSpPr/>
          <p:nvPr/>
        </p:nvSpPr>
        <p:spPr>
          <a:xfrm>
            <a:off x="6405372" y="1947672"/>
            <a:ext cx="222427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교사 확인 필요</a:t>
            </a:r>
            <a:endParaRPr lang="en-US" sz="1650" dirty="0"/>
          </a:p>
        </p:txBody>
      </p:sp>
      <p:sp>
        <p:nvSpPr>
          <p:cNvPr id="18" name="Text 16"/>
          <p:cNvSpPr/>
          <p:nvPr/>
        </p:nvSpPr>
        <p:spPr>
          <a:xfrm>
            <a:off x="6405372" y="2441448"/>
            <a:ext cx="2224278" cy="88696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파일 올리기·</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추가 패키지</a:t>
            </a:r>
            <a:endParaRPr lang="en-US" sz="1350" dirty="0"/>
          </a:p>
        </p:txBody>
      </p:sp>
      <p:sp>
        <p:nvSpPr>
          <p:cNvPr id="19" name="Shape 17"/>
          <p:cNvSpPr/>
          <p:nvPr/>
        </p:nvSpPr>
        <p:spPr>
          <a:xfrm>
            <a:off x="9068562" y="1783080"/>
            <a:ext cx="2590038" cy="1691640"/>
          </a:xfrm>
          <a:prstGeom prst="roundRect">
            <a:avLst>
              <a:gd name="adj" fmla="val 2973"/>
            </a:avLst>
          </a:prstGeom>
          <a:solidFill>
            <a:srgbClr val="FFF1E8"/>
          </a:solidFill>
          <a:ln w="12700">
            <a:solidFill>
              <a:srgbClr val="C24A00"/>
            </a:solidFill>
            <a:prstDash val="solid"/>
          </a:ln>
        </p:spPr>
      </p:sp>
      <p:sp>
        <p:nvSpPr>
          <p:cNvPr id="20" name="Text 18"/>
          <p:cNvSpPr/>
          <p:nvPr/>
        </p:nvSpPr>
        <p:spPr>
          <a:xfrm>
            <a:off x="9251442" y="1947672"/>
            <a:ext cx="2224278"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구현 어려움</a:t>
            </a:r>
            <a:endParaRPr lang="en-US" sz="1650" dirty="0"/>
          </a:p>
        </p:txBody>
      </p:sp>
      <p:sp>
        <p:nvSpPr>
          <p:cNvPr id="21" name="Text 19"/>
          <p:cNvSpPr/>
          <p:nvPr/>
        </p:nvSpPr>
        <p:spPr>
          <a:xfrm>
            <a:off x="9251442" y="2441448"/>
            <a:ext cx="2224278" cy="886968"/>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외부 AI·로그인·</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실시간</a:t>
            </a:r>
            <a:endParaRPr lang="en-US" sz="1350" dirty="0"/>
          </a:p>
        </p:txBody>
      </p:sp>
      <p:sp>
        <p:nvSpPr>
          <p:cNvPr id="22" name="Shape 20"/>
          <p:cNvSpPr/>
          <p:nvPr/>
        </p:nvSpPr>
        <p:spPr>
          <a:xfrm>
            <a:off x="530352" y="3703320"/>
            <a:ext cx="3561039" cy="402336"/>
          </a:xfrm>
          <a:prstGeom prst="rect">
            <a:avLst/>
          </a:prstGeom>
          <a:solidFill>
            <a:srgbClr val="1B1D21"/>
          </a:solidFill>
          <a:ln/>
        </p:spPr>
      </p:sp>
      <p:sp>
        <p:nvSpPr>
          <p:cNvPr id="23" name="Text 21"/>
          <p:cNvSpPr/>
          <p:nvPr/>
        </p:nvSpPr>
        <p:spPr>
          <a:xfrm>
            <a:off x="658368" y="3703320"/>
            <a:ext cx="33050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원래 아이디어</a:t>
            </a:r>
            <a:endParaRPr lang="en-US" sz="1050" dirty="0"/>
          </a:p>
        </p:txBody>
      </p:sp>
      <p:sp>
        <p:nvSpPr>
          <p:cNvPr id="24" name="Shape 22"/>
          <p:cNvSpPr/>
          <p:nvPr/>
        </p:nvSpPr>
        <p:spPr>
          <a:xfrm>
            <a:off x="4091391" y="3703320"/>
            <a:ext cx="3561039" cy="402336"/>
          </a:xfrm>
          <a:prstGeom prst="rect">
            <a:avLst/>
          </a:prstGeom>
          <a:solidFill>
            <a:srgbClr val="1B1D21"/>
          </a:solidFill>
          <a:ln/>
        </p:spPr>
      </p:sp>
      <p:sp>
        <p:nvSpPr>
          <p:cNvPr id="25" name="Text 23"/>
          <p:cNvSpPr/>
          <p:nvPr/>
        </p:nvSpPr>
        <p:spPr>
          <a:xfrm>
            <a:off x="4219407" y="3703320"/>
            <a:ext cx="33050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사용자가 얻으려던 결과</a:t>
            </a:r>
            <a:endParaRPr lang="en-US" sz="1050" dirty="0"/>
          </a:p>
        </p:txBody>
      </p:sp>
      <p:sp>
        <p:nvSpPr>
          <p:cNvPr id="26" name="Shape 24"/>
          <p:cNvSpPr/>
          <p:nvPr/>
        </p:nvSpPr>
        <p:spPr>
          <a:xfrm>
            <a:off x="7652431" y="3703320"/>
            <a:ext cx="4006169" cy="402336"/>
          </a:xfrm>
          <a:prstGeom prst="rect">
            <a:avLst/>
          </a:prstGeom>
          <a:solidFill>
            <a:srgbClr val="1B1D21"/>
          </a:solidFill>
          <a:ln/>
        </p:spPr>
      </p:sp>
      <p:sp>
        <p:nvSpPr>
          <p:cNvPr id="27" name="Text 25"/>
          <p:cNvSpPr/>
          <p:nvPr/>
        </p:nvSpPr>
        <p:spPr>
          <a:xfrm>
            <a:off x="7780447" y="3703320"/>
            <a:ext cx="375013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수업에서 만들 수 있는 대안</a:t>
            </a:r>
            <a:endParaRPr lang="en-US" sz="1050" dirty="0"/>
          </a:p>
        </p:txBody>
      </p:sp>
      <p:sp>
        <p:nvSpPr>
          <p:cNvPr id="28" name="Shape 26"/>
          <p:cNvSpPr/>
          <p:nvPr/>
        </p:nvSpPr>
        <p:spPr>
          <a:xfrm>
            <a:off x="530352" y="4105656"/>
            <a:ext cx="11128248" cy="438912"/>
          </a:xfrm>
          <a:prstGeom prst="rect">
            <a:avLst/>
          </a:prstGeom>
          <a:solidFill>
            <a:srgbClr val="F1F2F4"/>
          </a:solidFill>
          <a:ln w="9525">
            <a:solidFill>
              <a:srgbClr val="E0E3E7"/>
            </a:solidFill>
            <a:prstDash val="solid"/>
          </a:ln>
        </p:spPr>
      </p:sp>
      <p:sp>
        <p:nvSpPr>
          <p:cNvPr id="29" name="Text 27"/>
          <p:cNvSpPr/>
          <p:nvPr/>
        </p:nvSpPr>
        <p:spPr>
          <a:xfrm>
            <a:off x="658368" y="4105656"/>
            <a:ext cx="3305007" cy="438912"/>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AI가 사진 속 단어를 읽는다</a:t>
            </a:r>
            <a:endParaRPr lang="en-US" sz="1250" dirty="0"/>
          </a:p>
        </p:txBody>
      </p:sp>
      <p:sp>
        <p:nvSpPr>
          <p:cNvPr id="30" name="Text 28"/>
          <p:cNvSpPr/>
          <p:nvPr/>
        </p:nvSpPr>
        <p:spPr>
          <a:xfrm>
            <a:off x="4219407" y="4105656"/>
            <a:ext cx="3305007" cy="438912"/>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모르는 단어를 표로 모은다</a:t>
            </a:r>
            <a:endParaRPr lang="en-US" sz="1250" dirty="0"/>
          </a:p>
        </p:txBody>
      </p:sp>
      <p:sp>
        <p:nvSpPr>
          <p:cNvPr id="31" name="Text 29"/>
          <p:cNvSpPr/>
          <p:nvPr/>
        </p:nvSpPr>
        <p:spPr>
          <a:xfrm>
            <a:off x="7780447" y="4105656"/>
            <a:ext cx="3750137" cy="438912"/>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단어를 직접 입력한다</a:t>
            </a:r>
            <a:endParaRPr lang="en-US" sz="1250" dirty="0"/>
          </a:p>
        </p:txBody>
      </p:sp>
      <p:sp>
        <p:nvSpPr>
          <p:cNvPr id="32" name="Shape 30"/>
          <p:cNvSpPr/>
          <p:nvPr/>
        </p:nvSpPr>
        <p:spPr>
          <a:xfrm>
            <a:off x="530352" y="4544568"/>
            <a:ext cx="11128248" cy="438912"/>
          </a:xfrm>
          <a:prstGeom prst="rect">
            <a:avLst/>
          </a:prstGeom>
          <a:solidFill>
            <a:srgbClr val="FFFFFF"/>
          </a:solidFill>
          <a:ln w="9525">
            <a:solidFill>
              <a:srgbClr val="E0E3E7"/>
            </a:solidFill>
            <a:prstDash val="solid"/>
          </a:ln>
        </p:spPr>
      </p:sp>
      <p:sp>
        <p:nvSpPr>
          <p:cNvPr id="33" name="Text 31"/>
          <p:cNvSpPr/>
          <p:nvPr/>
        </p:nvSpPr>
        <p:spPr>
          <a:xfrm>
            <a:off x="658368" y="4544568"/>
            <a:ext cx="3305007" cy="438912"/>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로그인해서 여러 기기에서</a:t>
            </a:r>
            <a:endParaRPr lang="en-US" sz="1250" dirty="0"/>
          </a:p>
        </p:txBody>
      </p:sp>
      <p:sp>
        <p:nvSpPr>
          <p:cNvPr id="34" name="Text 32"/>
          <p:cNvSpPr/>
          <p:nvPr/>
        </p:nvSpPr>
        <p:spPr>
          <a:xfrm>
            <a:off x="4219407" y="4544568"/>
            <a:ext cx="3305007" cy="438912"/>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내 기록이 사라지지 않는다</a:t>
            </a:r>
            <a:endParaRPr lang="en-US" sz="1250" dirty="0"/>
          </a:p>
        </p:txBody>
      </p:sp>
      <p:sp>
        <p:nvSpPr>
          <p:cNvPr id="35" name="Text 33"/>
          <p:cNvSpPr/>
          <p:nvPr/>
        </p:nvSpPr>
        <p:spPr>
          <a:xfrm>
            <a:off x="7780447" y="4544568"/>
            <a:ext cx="3750137" cy="438912"/>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한 기기에서 다시 켜도 남는다</a:t>
            </a:r>
            <a:endParaRPr lang="en-US" sz="1250" dirty="0"/>
          </a:p>
        </p:txBody>
      </p:sp>
      <p:sp>
        <p:nvSpPr>
          <p:cNvPr id="36" name="Shape 34"/>
          <p:cNvSpPr/>
          <p:nvPr/>
        </p:nvSpPr>
        <p:spPr>
          <a:xfrm>
            <a:off x="530352" y="4983480"/>
            <a:ext cx="11128248" cy="438912"/>
          </a:xfrm>
          <a:prstGeom prst="rect">
            <a:avLst/>
          </a:prstGeom>
          <a:solidFill>
            <a:srgbClr val="F1F2F4"/>
          </a:solidFill>
          <a:ln w="9525">
            <a:solidFill>
              <a:srgbClr val="E0E3E7"/>
            </a:solidFill>
            <a:prstDash val="solid"/>
          </a:ln>
        </p:spPr>
      </p:sp>
      <p:sp>
        <p:nvSpPr>
          <p:cNvPr id="37" name="Text 35"/>
          <p:cNvSpPr/>
          <p:nvPr/>
        </p:nvSpPr>
        <p:spPr>
          <a:xfrm>
            <a:off x="658368" y="4983480"/>
            <a:ext cx="3305007" cy="438912"/>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친구와 실시간 대결</a:t>
            </a:r>
            <a:endParaRPr lang="en-US" sz="1250" dirty="0"/>
          </a:p>
        </p:txBody>
      </p:sp>
      <p:sp>
        <p:nvSpPr>
          <p:cNvPr id="38" name="Text 36"/>
          <p:cNvSpPr/>
          <p:nvPr/>
        </p:nvSpPr>
        <p:spPr>
          <a:xfrm>
            <a:off x="4219407" y="4983480"/>
            <a:ext cx="3305007" cy="438912"/>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누가 잘했는지 비교한다</a:t>
            </a:r>
            <a:endParaRPr lang="en-US" sz="1250" dirty="0"/>
          </a:p>
        </p:txBody>
      </p:sp>
      <p:sp>
        <p:nvSpPr>
          <p:cNvPr id="39" name="Text 37"/>
          <p:cNvSpPr/>
          <p:nvPr/>
        </p:nvSpPr>
        <p:spPr>
          <a:xfrm>
            <a:off x="7780447" y="4983480"/>
            <a:ext cx="3750137" cy="438912"/>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차례로 하고 기록을 순위로</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AI에게 「목록처럼 적힌 줄」만 찾게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783080"/>
            <a:ext cx="11128248" cy="868680"/>
          </a:xfrm>
          <a:prstGeom prst="roundRect">
            <a:avLst>
              <a:gd name="adj" fmla="val 5263"/>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 → 새 터미널 · 줄 끝이 …\09&gt; 인지 보고</a:t>
            </a:r>
            <a:endParaRPr lang="en-US" sz="950" dirty="0"/>
          </a:p>
        </p:txBody>
      </p:sp>
      <p:sp>
        <p:nvSpPr>
          <p:cNvPr id="12" name="Text 10"/>
          <p:cNvSpPr/>
          <p:nvPr/>
        </p:nvSpPr>
        <p:spPr>
          <a:xfrm>
            <a:off x="768096" y="2185416"/>
            <a:ext cx="10652760" cy="32004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opencode</a:t>
            </a:r>
            <a:endParaRPr lang="en-US" sz="1800" dirty="0"/>
          </a:p>
        </p:txBody>
      </p:sp>
      <p:sp>
        <p:nvSpPr>
          <p:cNvPr id="13" name="Shape 11"/>
          <p:cNvSpPr/>
          <p:nvPr/>
        </p:nvSpPr>
        <p:spPr>
          <a:xfrm>
            <a:off x="530352" y="2880360"/>
            <a:ext cx="3514344" cy="1737360"/>
          </a:xfrm>
          <a:prstGeom prst="roundRect">
            <a:avLst>
              <a:gd name="adj" fmla="val 2895"/>
            </a:avLst>
          </a:prstGeom>
          <a:solidFill>
            <a:srgbClr val="F1F2F4"/>
          </a:solidFill>
          <a:ln w="12700">
            <a:solidFill>
              <a:srgbClr val="E0E3E7"/>
            </a:solidFill>
            <a:prstDash val="solid"/>
          </a:ln>
        </p:spPr>
      </p:sp>
      <p:sp>
        <p:nvSpPr>
          <p:cNvPr id="14" name="Text 12"/>
          <p:cNvSpPr/>
          <p:nvPr/>
        </p:nvSpPr>
        <p:spPr>
          <a:xfrm>
            <a:off x="713232" y="304495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찾게 한다</a:t>
            </a:r>
            <a:endParaRPr lang="en-US" sz="1650" dirty="0"/>
          </a:p>
        </p:txBody>
      </p:sp>
      <p:sp>
        <p:nvSpPr>
          <p:cNvPr id="15" name="Text 13"/>
          <p:cNvSpPr/>
          <p:nvPr/>
        </p:nvSpPr>
        <p:spPr>
          <a:xfrm>
            <a:off x="713232" y="3538728"/>
            <a:ext cx="3148584" cy="932688"/>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누가 무엇을 했는가에</a:t>
            </a:r>
            <a:endParaRPr lang="en-US" sz="1400" dirty="0"/>
          </a:p>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답할 수 없는 줄</a:t>
            </a:r>
            <a:endParaRPr lang="en-US" sz="1400" dirty="0"/>
          </a:p>
        </p:txBody>
      </p:sp>
      <p:sp>
        <p:nvSpPr>
          <p:cNvPr id="16" name="Shape 14"/>
          <p:cNvSpPr/>
          <p:nvPr/>
        </p:nvSpPr>
        <p:spPr>
          <a:xfrm>
            <a:off x="4337304" y="2880360"/>
            <a:ext cx="3514344" cy="1737360"/>
          </a:xfrm>
          <a:prstGeom prst="roundRect">
            <a:avLst>
              <a:gd name="adj" fmla="val 2895"/>
            </a:avLst>
          </a:prstGeom>
          <a:solidFill>
            <a:srgbClr val="F1F2F4"/>
          </a:solidFill>
          <a:ln w="12700">
            <a:solidFill>
              <a:srgbClr val="E0E3E7"/>
            </a:solidFill>
            <a:prstDash val="solid"/>
          </a:ln>
        </p:spPr>
      </p:sp>
      <p:sp>
        <p:nvSpPr>
          <p:cNvPr id="17" name="Text 15"/>
          <p:cNvSpPr/>
          <p:nvPr/>
        </p:nvSpPr>
        <p:spPr>
          <a:xfrm>
            <a:off x="4520184" y="304495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찾게 한다</a:t>
            </a:r>
            <a:endParaRPr lang="en-US" sz="1650" dirty="0"/>
          </a:p>
        </p:txBody>
      </p:sp>
      <p:sp>
        <p:nvSpPr>
          <p:cNvPr id="18" name="Text 16"/>
          <p:cNvSpPr/>
          <p:nvPr/>
        </p:nvSpPr>
        <p:spPr>
          <a:xfrm>
            <a:off x="4520184" y="3538728"/>
            <a:ext cx="3148584" cy="932688"/>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행동 다음에</a:t>
            </a:r>
            <a:endParaRPr lang="en-US" sz="1400" dirty="0"/>
          </a:p>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반응이 빠진 줄</a:t>
            </a:r>
            <a:endParaRPr lang="en-US" sz="1400" dirty="0"/>
          </a:p>
        </p:txBody>
      </p:sp>
      <p:sp>
        <p:nvSpPr>
          <p:cNvPr id="19" name="Shape 17"/>
          <p:cNvSpPr/>
          <p:nvPr/>
        </p:nvSpPr>
        <p:spPr>
          <a:xfrm>
            <a:off x="8144256" y="2880360"/>
            <a:ext cx="3514344" cy="1737360"/>
          </a:xfrm>
          <a:prstGeom prst="roundRect">
            <a:avLst>
              <a:gd name="adj" fmla="val 2895"/>
            </a:avLst>
          </a:prstGeom>
          <a:solidFill>
            <a:srgbClr val="FFF1E8"/>
          </a:solidFill>
          <a:ln w="12700">
            <a:solidFill>
              <a:srgbClr val="C24A00"/>
            </a:solidFill>
            <a:prstDash val="solid"/>
          </a:ln>
        </p:spPr>
      </p:sp>
      <p:sp>
        <p:nvSpPr>
          <p:cNvPr id="20" name="Text 18"/>
          <p:cNvSpPr/>
          <p:nvPr/>
        </p:nvSpPr>
        <p:spPr>
          <a:xfrm>
            <a:off x="8327136" y="3044952"/>
            <a:ext cx="3148584"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하지 말 것</a:t>
            </a:r>
            <a:endParaRPr lang="en-US" sz="1650" dirty="0"/>
          </a:p>
        </p:txBody>
      </p:sp>
      <p:sp>
        <p:nvSpPr>
          <p:cNvPr id="21" name="Text 19"/>
          <p:cNvSpPr/>
          <p:nvPr/>
        </p:nvSpPr>
        <p:spPr>
          <a:xfrm>
            <a:off x="8327136" y="3538728"/>
            <a:ext cx="3148584" cy="932688"/>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파일 고치기</a:t>
            </a: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새 기능 제안</a:t>
            </a:r>
            <a:endParaRPr lang="en-US" sz="1400" dirty="0"/>
          </a:p>
        </p:txBody>
      </p:sp>
      <p:sp>
        <p:nvSpPr>
          <p:cNvPr id="22" name="Shape 20"/>
          <p:cNvSpPr/>
          <p:nvPr/>
        </p:nvSpPr>
        <p:spPr>
          <a:xfrm>
            <a:off x="530352" y="4892040"/>
            <a:ext cx="11128248" cy="512064"/>
          </a:xfrm>
          <a:prstGeom prst="roundRect">
            <a:avLst>
              <a:gd name="adj" fmla="val 39286"/>
            </a:avLst>
          </a:prstGeom>
          <a:solidFill>
            <a:srgbClr val="FF5C00"/>
          </a:solidFill>
          <a:ln w="12700">
            <a:solidFill>
              <a:srgbClr val="FF5C00"/>
            </a:solidFill>
            <a:prstDash val="solid"/>
          </a:ln>
        </p:spPr>
      </p:sp>
      <p:sp>
        <p:nvSpPr>
          <p:cNvPr id="23" name="Text 21"/>
          <p:cNvSpPr/>
          <p:nvPr/>
        </p:nvSpPr>
        <p:spPr>
          <a:xfrm>
            <a:off x="731520" y="48920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요청문은 교과서 17쪽에서 복사 · 고칠지는 내가 정한다</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흔한 오해 세 가지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18–19쪽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9" name="Shape 7"/>
          <p:cNvSpPr/>
          <p:nvPr/>
        </p:nvSpPr>
        <p:spPr>
          <a:xfrm>
            <a:off x="530352" y="1783080"/>
            <a:ext cx="4673864" cy="402336"/>
          </a:xfrm>
          <a:prstGeom prst="rect">
            <a:avLst/>
          </a:prstGeom>
          <a:solidFill>
            <a:srgbClr val="1B1D21"/>
          </a:solidFill>
          <a:ln/>
        </p:spPr>
      </p:sp>
      <p:sp>
        <p:nvSpPr>
          <p:cNvPr id="10" name="Text 8"/>
          <p:cNvSpPr/>
          <p:nvPr/>
        </p:nvSpPr>
        <p:spPr>
          <a:xfrm>
            <a:off x="658368" y="17830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오해</a:t>
            </a:r>
            <a:endParaRPr lang="en-US" sz="1050" dirty="0"/>
          </a:p>
        </p:txBody>
      </p:sp>
      <p:sp>
        <p:nvSpPr>
          <p:cNvPr id="11" name="Shape 9"/>
          <p:cNvSpPr/>
          <p:nvPr/>
        </p:nvSpPr>
        <p:spPr>
          <a:xfrm>
            <a:off x="5204216" y="1783080"/>
            <a:ext cx="6454384" cy="402336"/>
          </a:xfrm>
          <a:prstGeom prst="rect">
            <a:avLst/>
          </a:prstGeom>
          <a:solidFill>
            <a:srgbClr val="1B1D21"/>
          </a:solidFill>
          <a:ln/>
        </p:spPr>
      </p:sp>
      <p:sp>
        <p:nvSpPr>
          <p:cNvPr id="12" name="Text 10"/>
          <p:cNvSpPr/>
          <p:nvPr/>
        </p:nvSpPr>
        <p:spPr>
          <a:xfrm>
            <a:off x="5332232" y="178308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사실</a:t>
            </a:r>
            <a:endParaRPr lang="en-US" sz="1050" dirty="0"/>
          </a:p>
        </p:txBody>
      </p:sp>
      <p:sp>
        <p:nvSpPr>
          <p:cNvPr id="13" name="Shape 11"/>
          <p:cNvSpPr/>
          <p:nvPr/>
        </p:nvSpPr>
        <p:spPr>
          <a:xfrm>
            <a:off x="530352" y="2185416"/>
            <a:ext cx="11128248" cy="713232"/>
          </a:xfrm>
          <a:prstGeom prst="rect">
            <a:avLst/>
          </a:prstGeom>
          <a:solidFill>
            <a:srgbClr val="F1F2F4"/>
          </a:solidFill>
          <a:ln w="9525">
            <a:solidFill>
              <a:srgbClr val="E0E3E7"/>
            </a:solidFill>
            <a:prstDash val="solid"/>
          </a:ln>
        </p:spPr>
      </p:sp>
      <p:sp>
        <p:nvSpPr>
          <p:cNvPr id="14" name="Text 12"/>
          <p:cNvSpPr/>
          <p:nvPr/>
        </p:nvSpPr>
        <p:spPr>
          <a:xfrm>
            <a:off x="658368" y="2185416"/>
            <a:ext cx="4417832" cy="71323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흐름은 화면이 여러 개일 때만 필요하다</a:t>
            </a:r>
            <a:endParaRPr lang="en-US" sz="1400" dirty="0"/>
          </a:p>
        </p:txBody>
      </p:sp>
      <p:sp>
        <p:nvSpPr>
          <p:cNvPr id="15" name="Text 13"/>
          <p:cNvSpPr/>
          <p:nvPr/>
        </p:nvSpPr>
        <p:spPr>
          <a:xfrm>
            <a:off x="5332232" y="2185416"/>
            <a:ext cx="6198352" cy="71323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화면이 하나여도 행동과 반응이 바뀌면 흐름이다</a:t>
            </a:r>
            <a:endParaRPr lang="en-US" sz="1400" dirty="0"/>
          </a:p>
        </p:txBody>
      </p:sp>
      <p:sp>
        <p:nvSpPr>
          <p:cNvPr id="16" name="Shape 14"/>
          <p:cNvSpPr/>
          <p:nvPr/>
        </p:nvSpPr>
        <p:spPr>
          <a:xfrm>
            <a:off x="530352" y="2898648"/>
            <a:ext cx="11128248" cy="713232"/>
          </a:xfrm>
          <a:prstGeom prst="rect">
            <a:avLst/>
          </a:prstGeom>
          <a:solidFill>
            <a:srgbClr val="FFFFFF"/>
          </a:solidFill>
          <a:ln w="9525">
            <a:solidFill>
              <a:srgbClr val="E0E3E7"/>
            </a:solidFill>
            <a:prstDash val="solid"/>
          </a:ln>
        </p:spPr>
      </p:sp>
      <p:sp>
        <p:nvSpPr>
          <p:cNvPr id="17" name="Text 15"/>
          <p:cNvSpPr/>
          <p:nvPr/>
        </p:nvSpPr>
        <p:spPr>
          <a:xfrm>
            <a:off x="658368" y="2898648"/>
            <a:ext cx="4417832" cy="71323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예외를 많이 적을수록 꼼꼼하다</a:t>
            </a:r>
            <a:endParaRPr lang="en-US" sz="1400" dirty="0"/>
          </a:p>
        </p:txBody>
      </p:sp>
      <p:sp>
        <p:nvSpPr>
          <p:cNvPr id="18" name="Text 16"/>
          <p:cNvSpPr/>
          <p:nvPr/>
        </p:nvSpPr>
        <p:spPr>
          <a:xfrm>
            <a:off x="5332232" y="2898648"/>
            <a:ext cx="6198352" cy="71323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지금은 핵심 행동을 막는 예외 하나면 충분하다</a:t>
            </a:r>
            <a:endParaRPr lang="en-US" sz="1400" dirty="0"/>
          </a:p>
        </p:txBody>
      </p:sp>
      <p:sp>
        <p:nvSpPr>
          <p:cNvPr id="19" name="Shape 17"/>
          <p:cNvSpPr/>
          <p:nvPr/>
        </p:nvSpPr>
        <p:spPr>
          <a:xfrm>
            <a:off x="530352" y="3611880"/>
            <a:ext cx="11128248" cy="713232"/>
          </a:xfrm>
          <a:prstGeom prst="rect">
            <a:avLst/>
          </a:prstGeom>
          <a:solidFill>
            <a:srgbClr val="F1F2F4"/>
          </a:solidFill>
          <a:ln w="9525">
            <a:solidFill>
              <a:srgbClr val="E0E3E7"/>
            </a:solidFill>
            <a:prstDash val="solid"/>
          </a:ln>
        </p:spPr>
      </p:sp>
      <p:sp>
        <p:nvSpPr>
          <p:cNvPr id="20" name="Text 18"/>
          <p:cNvSpPr/>
          <p:nvPr/>
        </p:nvSpPr>
        <p:spPr>
          <a:xfrm>
            <a:off x="658368" y="3611880"/>
            <a:ext cx="4417832" cy="71323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어차피 AI가 만드니 대충 적어도 된다</a:t>
            </a:r>
            <a:endParaRPr lang="en-US" sz="1400" dirty="0"/>
          </a:p>
        </p:txBody>
      </p:sp>
      <p:sp>
        <p:nvSpPr>
          <p:cNvPr id="21" name="Text 19"/>
          <p:cNvSpPr/>
          <p:nvPr/>
        </p:nvSpPr>
        <p:spPr>
          <a:xfrm>
            <a:off x="5332232" y="3611880"/>
            <a:ext cx="6198352" cy="71323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비어 있으면 AI가 자기 생각으로 채운다</a:t>
            </a:r>
            <a:endParaRPr lang="en-US" sz="1400" dirty="0"/>
          </a:p>
        </p:txBody>
      </p:sp>
      <p:sp>
        <p:nvSpPr>
          <p:cNvPr id="22" name="Shape 20"/>
          <p:cNvSpPr/>
          <p:nvPr/>
        </p:nvSpPr>
        <p:spPr>
          <a:xfrm>
            <a:off x="530352" y="3611880"/>
            <a:ext cx="11128248" cy="713232"/>
          </a:xfrm>
          <a:prstGeom prst="rect">
            <a:avLst/>
          </a:prstGeom>
          <a:noFill/>
          <a:ln w="28575">
            <a:solidFill>
              <a:srgbClr val="FF5C00"/>
            </a:solidFill>
            <a:prstDash val="solid"/>
          </a:ln>
        </p:spPr>
      </p:sp>
      <p:sp>
        <p:nvSpPr>
          <p:cNvPr id="23" name="Shape 21"/>
          <p:cNvSpPr/>
          <p:nvPr/>
        </p:nvSpPr>
        <p:spPr>
          <a:xfrm>
            <a:off x="530352" y="4754880"/>
            <a:ext cx="11128248" cy="512064"/>
          </a:xfrm>
          <a:prstGeom prst="roundRect">
            <a:avLst>
              <a:gd name="adj" fmla="val 39286"/>
            </a:avLst>
          </a:prstGeom>
          <a:solidFill>
            <a:srgbClr val="EAF5FB"/>
          </a:solidFill>
          <a:ln w="12700">
            <a:solidFill>
              <a:srgbClr val="3D8DFF"/>
            </a:solidFill>
            <a:prstDash val="solid"/>
          </a:ln>
        </p:spPr>
      </p:sp>
      <p:sp>
        <p:nvSpPr>
          <p:cNvPr id="24" name="Text 22"/>
          <p:cNvSpPr/>
          <p:nvPr/>
        </p:nvSpPr>
        <p:spPr>
          <a:xfrm>
            <a:off x="731520" y="475488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확인 문제 세 개는 교과서 19쪽 · 답을 먼저 말하고 해설을 연다</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막히면 이 표에서 내 줄을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21쪽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sp>
        <p:nvSpPr>
          <p:cNvPr id="9" name="Shape 7"/>
          <p:cNvSpPr/>
          <p:nvPr/>
        </p:nvSpPr>
        <p:spPr>
          <a:xfrm>
            <a:off x="530352" y="1783080"/>
            <a:ext cx="4451299" cy="402336"/>
          </a:xfrm>
          <a:prstGeom prst="rect">
            <a:avLst/>
          </a:prstGeom>
          <a:solidFill>
            <a:srgbClr val="1B1D21"/>
          </a:solidFill>
          <a:ln/>
        </p:spPr>
      </p:sp>
      <p:sp>
        <p:nvSpPr>
          <p:cNvPr id="10" name="Text 8"/>
          <p:cNvSpPr/>
          <p:nvPr/>
        </p:nvSpPr>
        <p:spPr>
          <a:xfrm>
            <a:off x="658368" y="178308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1" name="Shape 9"/>
          <p:cNvSpPr/>
          <p:nvPr/>
        </p:nvSpPr>
        <p:spPr>
          <a:xfrm>
            <a:off x="4981651" y="1783080"/>
            <a:ext cx="6676949" cy="402336"/>
          </a:xfrm>
          <a:prstGeom prst="rect">
            <a:avLst/>
          </a:prstGeom>
          <a:solidFill>
            <a:srgbClr val="1B1D21"/>
          </a:solidFill>
          <a:ln/>
        </p:spPr>
      </p:sp>
      <p:sp>
        <p:nvSpPr>
          <p:cNvPr id="12" name="Text 10"/>
          <p:cNvSpPr/>
          <p:nvPr/>
        </p:nvSpPr>
        <p:spPr>
          <a:xfrm>
            <a:off x="5109667" y="178308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3" name="Shape 11"/>
          <p:cNvSpPr/>
          <p:nvPr/>
        </p:nvSpPr>
        <p:spPr>
          <a:xfrm>
            <a:off x="530352" y="2185416"/>
            <a:ext cx="11128248" cy="548640"/>
          </a:xfrm>
          <a:prstGeom prst="rect">
            <a:avLst/>
          </a:prstGeom>
          <a:solidFill>
            <a:srgbClr val="F1F2F4"/>
          </a:solidFill>
          <a:ln w="9525">
            <a:solidFill>
              <a:srgbClr val="E0E3E7"/>
            </a:solidFill>
            <a:prstDash val="solid"/>
          </a:ln>
        </p:spPr>
      </p:sp>
      <p:sp>
        <p:nvSpPr>
          <p:cNvPr id="14" name="Text 12"/>
          <p:cNvSpPr/>
          <p:nvPr/>
        </p:nvSpPr>
        <p:spPr>
          <a:xfrm>
            <a:off x="658368" y="2185416"/>
            <a:ext cx="4195267"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06 폴더나 PRD.md가 없다</a:t>
            </a:r>
            <a:endParaRPr lang="en-US" sz="1350" dirty="0"/>
          </a:p>
        </p:txBody>
      </p:sp>
      <p:sp>
        <p:nvSpPr>
          <p:cNvPr id="15" name="Text 13"/>
          <p:cNvSpPr/>
          <p:nvPr/>
        </p:nvSpPr>
        <p:spPr>
          <a:xfrm>
            <a:off x="5109667" y="2185416"/>
            <a:ext cx="6420917"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손을 든다 · 그동안 기억나는 흐름부터 적는다</a:t>
            </a:r>
            <a:endParaRPr lang="en-US" sz="1350" dirty="0"/>
          </a:p>
        </p:txBody>
      </p:sp>
      <p:sp>
        <p:nvSpPr>
          <p:cNvPr id="16" name="Shape 14"/>
          <p:cNvSpPr/>
          <p:nvPr/>
        </p:nvSpPr>
        <p:spPr>
          <a:xfrm>
            <a:off x="530352" y="2734056"/>
            <a:ext cx="11128248" cy="548640"/>
          </a:xfrm>
          <a:prstGeom prst="rect">
            <a:avLst/>
          </a:prstGeom>
          <a:solidFill>
            <a:srgbClr val="FFFFFF"/>
          </a:solidFill>
          <a:ln w="9525">
            <a:solidFill>
              <a:srgbClr val="E0E3E7"/>
            </a:solidFill>
            <a:prstDash val="solid"/>
          </a:ln>
        </p:spPr>
      </p:sp>
      <p:sp>
        <p:nvSpPr>
          <p:cNvPr id="17" name="Text 15"/>
          <p:cNvSpPr/>
          <p:nvPr/>
        </p:nvSpPr>
        <p:spPr>
          <a:xfrm>
            <a:off x="658368" y="2734056"/>
            <a:ext cx="4195267"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탐색기 맨 위가 09가 아니다</a:t>
            </a:r>
            <a:endParaRPr lang="en-US" sz="1350" dirty="0"/>
          </a:p>
        </p:txBody>
      </p:sp>
      <p:sp>
        <p:nvSpPr>
          <p:cNvPr id="18" name="Text 16"/>
          <p:cNvSpPr/>
          <p:nvPr/>
        </p:nvSpPr>
        <p:spPr>
          <a:xfrm>
            <a:off x="5109667" y="2734056"/>
            <a:ext cx="6420917"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파일 → 폴더 열기로 09 폴더 자체를 다시 연다</a:t>
            </a:r>
            <a:endParaRPr lang="en-US" sz="1350" dirty="0"/>
          </a:p>
        </p:txBody>
      </p:sp>
      <p:sp>
        <p:nvSpPr>
          <p:cNvPr id="19" name="Shape 17"/>
          <p:cNvSpPr/>
          <p:nvPr/>
        </p:nvSpPr>
        <p:spPr>
          <a:xfrm>
            <a:off x="530352" y="3282696"/>
            <a:ext cx="11128248" cy="548640"/>
          </a:xfrm>
          <a:prstGeom prst="rect">
            <a:avLst/>
          </a:prstGeom>
          <a:solidFill>
            <a:srgbClr val="F1F2F4"/>
          </a:solidFill>
          <a:ln w="9525">
            <a:solidFill>
              <a:srgbClr val="E0E3E7"/>
            </a:solidFill>
            <a:prstDash val="solid"/>
          </a:ln>
        </p:spPr>
      </p:sp>
      <p:sp>
        <p:nvSpPr>
          <p:cNvPr id="20" name="Text 18"/>
          <p:cNvSpPr/>
          <p:nvPr/>
        </p:nvSpPr>
        <p:spPr>
          <a:xfrm>
            <a:off x="658368" y="3282696"/>
            <a:ext cx="4195267"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AI가 09_user_flow.md를 고쳤다</a:t>
            </a:r>
            <a:endParaRPr lang="en-US" sz="1350" dirty="0"/>
          </a:p>
        </p:txBody>
      </p:sp>
      <p:sp>
        <p:nvSpPr>
          <p:cNvPr id="21" name="Text 19"/>
          <p:cNvSpPr/>
          <p:nvPr/>
        </p:nvSpPr>
        <p:spPr>
          <a:xfrm>
            <a:off x="5109667" y="3282696"/>
            <a:ext cx="6420917"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Ctrl+Z 또는 「방금 고친 곳을 모두 되돌려 줘」</a:t>
            </a:r>
            <a:endParaRPr lang="en-US" sz="1350" dirty="0"/>
          </a:p>
        </p:txBody>
      </p:sp>
      <p:sp>
        <p:nvSpPr>
          <p:cNvPr id="22" name="Shape 20"/>
          <p:cNvSpPr/>
          <p:nvPr/>
        </p:nvSpPr>
        <p:spPr>
          <a:xfrm>
            <a:off x="530352" y="3831336"/>
            <a:ext cx="11128248" cy="548640"/>
          </a:xfrm>
          <a:prstGeom prst="rect">
            <a:avLst/>
          </a:prstGeom>
          <a:solidFill>
            <a:srgbClr val="FFFFFF"/>
          </a:solidFill>
          <a:ln w="9525">
            <a:solidFill>
              <a:srgbClr val="E0E3E7"/>
            </a:solidFill>
            <a:prstDash val="solid"/>
          </a:ln>
        </p:spPr>
      </p:sp>
      <p:sp>
        <p:nvSpPr>
          <p:cNvPr id="23" name="Text 21"/>
          <p:cNvSpPr/>
          <p:nvPr/>
        </p:nvSpPr>
        <p:spPr>
          <a:xfrm>
            <a:off x="658368" y="3831336"/>
            <a:ext cx="4195267"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FreeUsageLimitError · 429</a:t>
            </a:r>
            <a:endParaRPr lang="en-US" sz="1350" dirty="0"/>
          </a:p>
        </p:txBody>
      </p:sp>
      <p:sp>
        <p:nvSpPr>
          <p:cNvPr id="24" name="Text 22"/>
          <p:cNvSpPr/>
          <p:nvPr/>
        </p:nvSpPr>
        <p:spPr>
          <a:xfrm>
            <a:off x="5109667" y="3831336"/>
            <a:ext cx="6420917"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1~2분 기다렸다 같은 요청을 다시</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9-2</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내 서비스의 길이</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한 장에 적혔다</a:t>
            </a:r>
            <a:endParaRPr lang="en-US" sz="38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다음 시간에는 세 파일을 AI에게 읽혀</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흐름을 다듬고 개발 계획을 확정합니다.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9-1 · 20쪽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2026-10-29T11:54:18Z</dcterms:created>
  <dcterms:modified xsi:type="dcterms:W3CDTF">2026-10-29T11:54:18Z</dcterms:modified>
</cp:coreProperties>
</file>