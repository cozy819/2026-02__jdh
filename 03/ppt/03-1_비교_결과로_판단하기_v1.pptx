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ef901161404375" /><Relationship Type="http://schemas.openxmlformats.org/officeDocument/2006/relationships/extended-properties" Target="/docProps/app.xml" Id="Rbaf8b906556f43e3" /><Relationship Type="http://schemas.openxmlformats.org/officeDocument/2006/relationships/officeDocument" Target="/ppt/presentation.xml" Id="R301a923da38040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a818777cd14efa"/>
  </p:sldMasterIdLst>
  <p:notesMasterIdLst>
    <p:notesMasterId xmlns:r="http://schemas.openxmlformats.org/officeDocument/2006/relationships" r:id="Re967ea2a840d48b7"/>
  </p:notesMasterIdLst>
  <p:sldIdLst>
    <p:sldId xmlns:r="http://schemas.openxmlformats.org/officeDocument/2006/relationships" id="256" r:id="Rf41a63c25a1749df"/>
    <p:sldId xmlns:r="http://schemas.openxmlformats.org/officeDocument/2006/relationships" id="257" r:id="R4d33b47a8e9e40b0"/>
    <p:sldId xmlns:r="http://schemas.openxmlformats.org/officeDocument/2006/relationships" id="258" r:id="R0a33c365722346b2"/>
    <p:sldId xmlns:r="http://schemas.openxmlformats.org/officeDocument/2006/relationships" id="259" r:id="Race61fd672444ab9"/>
    <p:sldId xmlns:r="http://schemas.openxmlformats.org/officeDocument/2006/relationships" id="260" r:id="R650b2a12bb304cd4"/>
    <p:sldId xmlns:r="http://schemas.openxmlformats.org/officeDocument/2006/relationships" id="261" r:id="R961018d0a439406f"/>
    <p:sldId xmlns:r="http://schemas.openxmlformats.org/officeDocument/2006/relationships" id="262" r:id="R114c9c4f35894f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7d01d30a3d4a1b" /><Relationship Type="http://schemas.openxmlformats.org/officeDocument/2006/relationships/slideMaster" Target="/ppt/slideMasters/slideMaster1.xml" Id="R21a818777cd14efa" /><Relationship Type="http://schemas.openxmlformats.org/officeDocument/2006/relationships/notesMaster" Target="/ppt/notesMasters/notesMaster1.xml" Id="Re967ea2a840d48b7" /><Relationship Type="http://schemas.openxmlformats.org/officeDocument/2006/relationships/presProps" Target="/ppt/presProps.xml" Id="Re1ebd347a9194de5" /><Relationship Type="http://schemas.openxmlformats.org/officeDocument/2006/relationships/tableStyles" Target="/ppt/tableStyles.xml" Id="Rbc136755cb7f409a" /><Relationship Type="http://schemas.openxmlformats.org/officeDocument/2006/relationships/slide" Target="/ppt/slides/slide1.xml" Id="Rf41a63c25a1749df" /><Relationship Type="http://schemas.openxmlformats.org/officeDocument/2006/relationships/slide" Target="/ppt/slides/slide2.xml" Id="R4d33b47a8e9e40b0" /><Relationship Type="http://schemas.openxmlformats.org/officeDocument/2006/relationships/slide" Target="/ppt/slides/slide3.xml" Id="R0a33c365722346b2" /><Relationship Type="http://schemas.openxmlformats.org/officeDocument/2006/relationships/slide" Target="/ppt/slides/slide4.xml" Id="Race61fd672444ab9" /><Relationship Type="http://schemas.openxmlformats.org/officeDocument/2006/relationships/slide" Target="/ppt/slides/slide5.xml" Id="R650b2a12bb304cd4" /><Relationship Type="http://schemas.openxmlformats.org/officeDocument/2006/relationships/slide" Target="/ppt/slides/slide6.xml" Id="R961018d0a439406f" /><Relationship Type="http://schemas.openxmlformats.org/officeDocument/2006/relationships/slide" Target="/ppt/slides/slide7.xml" Id="R114c9c4f35894f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91b72f092343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1bf1685d324961" /><Relationship Type="http://schemas.openxmlformats.org/officeDocument/2006/relationships/notesMaster" Target="/ppt/notesMasters/notesMaster1.xml" Id="Ra0b08cc20dd748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7c621871f14f10" /><Relationship Type="http://schemas.openxmlformats.org/officeDocument/2006/relationships/notesMaster" Target="/ppt/notesMasters/notesMaster1.xml" Id="R7b7b64d00d0b45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1d7d1c6ef04195" /><Relationship Type="http://schemas.openxmlformats.org/officeDocument/2006/relationships/notesMaster" Target="/ppt/notesMasters/notesMaster1.xml" Id="R9a26bf7170ed4b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bcb11520dd437a" /><Relationship Type="http://schemas.openxmlformats.org/officeDocument/2006/relationships/notesMaster" Target="/ppt/notesMasters/notesMaster1.xml" Id="R8e2caa7ddf9647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dbec690ba24a1d" /><Relationship Type="http://schemas.openxmlformats.org/officeDocument/2006/relationships/notesMaster" Target="/ppt/notesMasters/notesMaster1.xml" Id="Ref66f8c82c904a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ea023fb9c44cea" /><Relationship Type="http://schemas.openxmlformats.org/officeDocument/2006/relationships/notesMaster" Target="/ppt/notesMasters/notesMaster1.xml" Id="Rcbbecc69283042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d379e515cf4058" /><Relationship Type="http://schemas.openxmlformats.org/officeDocument/2006/relationships/notesMaster" Target="/ppt/notesMasters/notesMaster1.xml" Id="Rfd7d90ceb64f41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[45분 운영]</a:t>
            </a:r>
          </a:p>
          <a:p xmlns:a="http://schemas.openxmlformats.org/drawingml/2006/main">
            <a:r>
              <a:t>0–5분: 오늘의 질문과 결과 종류 예상</a:t>
            </a:r>
          </a:p>
          <a:p xmlns:a="http://schemas.openxmlformats.org/drawingml/2006/main">
            <a:r>
              <a:t>5–15분: 계산과 비교 나란히 보기</a:t>
            </a:r>
          </a:p>
          <a:p xmlns:a="http://schemas.openxmlformats.org/drawingml/2006/main">
            <a:r>
              <a:t>15–25분: 경계값 59·60·61</a:t>
            </a:r>
          </a:p>
          <a:p xmlns:a="http://schemas.openxmlformats.org/drawingml/2006/main">
            <a:r>
              <a:t>25–35분: 값·단위·기준·연산자 찾기</a:t>
            </a:r>
          </a:p>
          <a:p xmlns:a="http://schemas.openxmlformats.org/drawingml/2006/main">
            <a:r>
              <a:t>35–42분: 준비 파일 두 개 실행</a:t>
            </a:r>
          </a:p>
          <a:p xmlns:a="http://schemas.openxmlformats.org/drawingml/2006/main">
            <a:r>
              <a:t>42–45분: 책임과 기준 확인 정리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오늘은 코드를 길게 쓰는 시간이 아닙니다. 같은 숫자도 어떤 기준과 기호로 비교하느냐에 따라 프로그램의 판단이 달라지는 것을 보겠습니다.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72에 10을 더하면 82라는 새 숫자가 나옵니다. 반면 72가 60 이상인지 묻는 식은 True라는 판단값을 만듭니다. 먼저 두 결과가 무엇이 다른지 말하게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[예상 질문]</a:t>
            </a:r>
          </a:p>
          <a:p xmlns:a="http://schemas.openxmlformats.org/drawingml/2006/main">
            <a:r>
              <a:t>True는 정답이라는 뜻인가요? → 아닙니다. 지금 정한 조건이 맞다는 뜻입니다.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‘60점 이상’에서 가장 중요한 숫자는 60입니다. 59, 60, 61을 차례로 넣어 보면 &gt;와 &gt;=의 차이가 긴 설명보다 빨리 보입니다. 이상은 경계값을 포함하고 초과는 포함하지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AI 코드에서 네 가지를 찾습니다. 비교할 값, 단위, 기준, 연산자입니다. 코드가 실행돼도 단위가 다르거나 기준이 잘못되면 판단은 틀릴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[연결]</a:t>
            </a:r>
          </a:p>
          <a:p xmlns:a="http://schemas.openxmlformats.org/drawingml/2006/main">
            <a:r>
              <a:t>1주차의 책임 이야기로 돌아갑니다. AI가 썼다는 말은 잘못된 기준을 제출한 책임을 없애 주지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비교 결과는 다음 행동을 고르는 기준이 됩니다. 지금은 if 문법을 외우지 않습니다. 조건이 True일 때만 다음 칸으로 간다는 흐름만 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OpenCode 요청문을 읽고 현재 값 27, 기준 25, 단위 도, 기호 &gt;=를 찾습니다. 그다음 sample/code의 두 준비 파일을 엽니다. 학생은 코드를 고치지 않고 기준 25와 30, 결과 True와 False를 대조합니다.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[대본]</a:t>
            </a:r>
          </a:p>
          <a:p xmlns:a="http://schemas.openxmlformats.org/drawingml/2006/main">
            <a:r>
              <a:t>코드가 맞는가와 기준이 맞는가는 다른 질문입니다. 마지막으로 값 → 단위 → 기준 → 연산자 순서로 말하게 합니다. 시간이 남으면 부록의 ‘메모리’ 이야기를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ff0a803484b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2af2bcb9cf4c16" /><Relationship Type="http://schemas.openxmlformats.org/officeDocument/2006/relationships/slideLayout" Target="/ppt/slideLayouts/slideLayout1.xml" Id="Rdf151c1f977043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151c1f977043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159e12fd3474c" /><Relationship Type="http://schemas.openxmlformats.org/officeDocument/2006/relationships/notesSlide" Target="/ppt/notesSlides/notesSlide1.xml" Id="R18f90d1dc22b4c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77d9286cc46a2" /><Relationship Type="http://schemas.openxmlformats.org/officeDocument/2006/relationships/notesSlide" Target="/ppt/notesSlides/notesSlide2.xml" Id="R48d846f5800b49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ed2b54e1f427f" /><Relationship Type="http://schemas.openxmlformats.org/officeDocument/2006/relationships/notesSlide" Target="/ppt/notesSlides/notesSlide3.xml" Id="R1a3940727a1a40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f58e5045174a60" /><Relationship Type="http://schemas.openxmlformats.org/officeDocument/2006/relationships/notesSlide" Target="/ppt/notesSlides/notesSlide4.xml" Id="R784680dfe4754b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2df77ee984ae3" /><Relationship Type="http://schemas.openxmlformats.org/officeDocument/2006/relationships/image" Target="/ppt/media/image.png" Id="Re31197570a204098" /><Relationship Type="http://schemas.openxmlformats.org/officeDocument/2006/relationships/notesSlide" Target="/ppt/notesSlides/notesSlide5.xml" Id="R0d9ce6a2839347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a337f5039418d" /><Relationship Type="http://schemas.openxmlformats.org/officeDocument/2006/relationships/notesSlide" Target="/ppt/notesSlides/notesSlide6.xml" Id="Rcc64497f186149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6e6bdba5b4d6b" /><Relationship Type="http://schemas.openxmlformats.org/officeDocument/2006/relationships/notesSlide" Target="/ppt/notesSlides/notesSlide7.xml" Id="Ra7ef97a5aa3548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D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0DFF9-EC3C-4F5E-BF94-E8D0B83C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E31AD-7223-4479-8594-5DE00CC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장대현중고등학교 · 2026학년도 2학기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75CC8-30C9-492D-9F0E-E92B91B5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76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4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33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03-1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0391-B705-460B-B564-5014063D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43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비교 결과로 판단하기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FEC6-DF96-4C6F-8644-9AC67434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87E46-F76C-48F5-A953-2CAA0EBE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95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0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계산한 값을 기준과 비교해 True 또는 False가 만들어지는 과정을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87667-CD22-4E15-BC83-CF37074E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AEB3BA"/>
                </a:solidFill>
                <a:latin typeface="IBM Plex Sans KR"/>
                <a:ea typeface="IBM Plex Sans KR"/>
                <a:cs typeface="IBM Plex Sans KR"/>
              </a:rPr>
              <a:t>수업자료 3-1</a:t>
            </a:r>
          </a:p>
        </p:txBody>
      </p:sp>
    </p:spTree>
    <p:extLst>
      <p:ext uri="{BB962C8B-B14F-4D97-AF65-F5344CB8AC3E}">
        <p14:creationId xmlns:p14="http://schemas.microsoft.com/office/powerpoint/2010/main" val="2118893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6CE8A-4F6C-4413-AE7E-7EB0536F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5AB99-487D-4A39-BF64-C3363820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85ACD2-B3B4-4D07-9198-C016A642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A1E21-E13B-466F-8F1E-188B1432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계산과 판단은 결과의 종류가 다릅니다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424B4-D138-4388-990B-86ECBA7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41F88-F8C9-4E35-B364-B2E333F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1F02F-29D9-4770-BF49-EEBDFBD8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6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72 + 10은 숫자를, 72 &gt;= 60은 True 또는 False를 만듭니다.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ACAE29-3AC3-4D6A-AB27-489EA44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97917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34CA8-5A08-4A87-8B39-79419F48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718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값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78A8DB-4649-4FB1-B2CB-D3BB60F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C1D3A-8637-45B7-B11B-6EF8F5C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71825"/>
            <a:ext cx="2457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기준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F795E-0438-482A-9DD6-D03975B4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05175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250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0268F-07AE-4D4E-8D33-63B9E942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71825"/>
            <a:ext cx="2838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8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비교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8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True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2E1D5-2B69-4CDF-B097-FC103ACE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비교연산은 두 값을 비교해 지금 정한 조건이 맞는지 알려 줍니다.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9A2B6-FF5A-4FCC-83B8-A46912E0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3-1</a:t>
            </a:r>
          </a:p>
        </p:txBody>
      </p:sp>
    </p:spTree>
    <p:extLst>
      <p:ext uri="{BB962C8B-B14F-4D97-AF65-F5344CB8AC3E}">
        <p14:creationId xmlns:p14="http://schemas.microsoft.com/office/powerpoint/2010/main" val="1275925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비교연산자는 경계값으로 이해합니다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&gt; · &lt;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초과·미만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경계값을 포함하지 않습니다.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&gt;= · &lt;=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이상·이하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경계값을 포함합니다.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== · !=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같다·다르다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= 저장과 == 비교를 구분합니다.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‘60점 이상’에서 정확히 60점이 True인지 물으면 기호의 차이가 보입니다.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3-1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E71833-949F-473B-AA98-6414C491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7CE97-F21C-45F4-B764-3ADA0830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39F5A-0AA1-4A92-9FB0-4FC1A07F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FEBD6-82E5-489A-A4AF-97113A5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AI가 만든 비교에서 네 가지를 찾습니다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E1FD4-BC3A-4018-B2F0-6E550F77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FFF27-4FC7-4A7B-8C31-E51F4593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1532B0-9B57-46EC-89A0-66E04E61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43075"/>
            <a:ext cx="64770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D87A3-D06C-466A-9406-1CCCF1E2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7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1">
                <a:solidFill>
                  <a:srgbClr val="FFFFFF"/>
                </a:solidFill>
                <a:latin typeface="IBM Plex Mono"/>
                <a:ea typeface="IBM Plex Mono"/>
                <a:cs typeface="IBM Plex Mono"/>
              </a:rPr>
              <a:t>study_minutes = 45 · goal_minutes = 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17D5-ADCB-4B17-BAF8-12AB825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A06EB-FCE1-4684-9552-3E42E177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198BD-3458-49A6-B7AC-D219E71C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대상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BD13C-84A7-43D3-9F76-E7A838CC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무엇을 비교?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B9C01-9C5B-4EEB-ADF2-95C09BD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3C842-E501-4C8A-ADDD-1B813DDA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01508-E42F-4EBA-903B-6D05A9F2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F8B4C-B8B2-449F-82FB-E726B54D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단위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E7079-60D6-4B7B-B4E5-12E45E64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둘 다 분?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FC3E6B-E4CD-4BB8-8D48-8E6BF4A0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5AE95-3707-4923-AC32-E4FC41B9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E9B20C-0DCD-445D-A9F0-55339211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70A81C-BD9B-4E12-8336-08784EC0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기준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1B2A4-F835-4286-B9C1-50C505C6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누가 정했나?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4C7B88-AC02-4263-AE8F-3E7621D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8540F2-8C0C-462D-ABA5-68053929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E9BA3-01CB-47C1-ACB0-3CD425E3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E4DDE7-77B0-42A9-8E9E-7D56C9F2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기호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BC0C1A-75F8-4502-99F2-04B37E19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&gt;=가 맞나?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E90E5-FE88-4EB8-B8FA-E24264BD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7660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7A8F4-9866-4F26-B01B-99689513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86050"/>
            <a:ext cx="200025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5D5881-A257-4755-905F-AF93316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575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22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Archivo"/>
                <a:ea typeface="Archivo"/>
                <a:cs typeface="Archivo"/>
              </a:defRPr>
            </a:pPr>
            <a:r>
              <a:rPr sz="1575" b="1">
                <a:solidFill>
                  <a:srgbClr val="0E7C86"/>
                </a:solidFill>
                <a:latin typeface="Archivo"/>
                <a:ea typeface="Archivo"/>
                <a:cs typeface="Archiv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F37F3A-E964-4A0E-B61C-9D139D6E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48025"/>
            <a:ext cx="1695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예상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B8C2D-C2E8-4073-8D23-18C62627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14750"/>
            <a:ext cx="16954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16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False인가?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DC38BC-E6D1-456C-B0A5-C1A08BFE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코드가 정확해도 기준·단위·연산자가 잘못되면 판단은 틀립니다.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5D98E-4C16-4900-978D-0E44CD71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3-1</a:t>
            </a:r>
          </a:p>
        </p:txBody>
      </p:sp>
    </p:spTree>
    <p:extLst>
      <p:ext uri="{BB962C8B-B14F-4D97-AF65-F5344CB8AC3E}">
        <p14:creationId xmlns:p14="http://schemas.microsoft.com/office/powerpoint/2010/main" val="1685485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4D15D-8981-4337-BE99-1B4E9AC7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36CD2-85D2-4E63-9024-BCB9A3F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E1618-E5DC-48D3-980C-0389DB1D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31C33-F7FA-4D44-9E64-9CF89EED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비교 결과는 다음 행동의 기준이 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266FE-AF0D-40BC-8DA5-6C0DF35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A6554-F5E3-46B1-AA52-3E386EFA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05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197570a204098"/>
          <a:stretch xmlns:a="http://schemas.openxmlformats.org/drawingml/2006/main"/>
        </p:blipFill>
        <p:spPr>
          <a:xfrm xmlns:a="http://schemas.openxmlformats.org/drawingml/2006/main">
            <a:off x="533400" y="1822847"/>
            <a:ext cx="6896100" cy="3879056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6AA35-B656-4867-ABAA-1383287B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09750"/>
            <a:ext cx="3524250" cy="3905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A258-4454-4D9C-B9CC-02E47119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조건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0A666-D1B7-4FB6-A0CA-D962BA93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score &gt;= 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FDECB4-6EC6-4151-BE72-AEE07E26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5277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3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3B86D0-9626-4B94-8977-EEE0EF0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29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FF5C00"/>
                </a:solidFill>
                <a:latin typeface="Archivo"/>
                <a:ea typeface="Archivo"/>
                <a:cs typeface="Archivo"/>
              </a:defRPr>
            </a:pPr>
            <a:r>
              <a:rPr sz="2100" b="1">
                <a:solidFill>
                  <a:srgbClr val="FF5C00"/>
                </a:solidFill>
                <a:latin typeface="Archivo"/>
                <a:ea typeface="Archivo"/>
                <a:cs typeface="Archivo"/>
              </a:rPr>
              <a:t>결과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A02551-D203-43C6-B7F4-638AFF1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862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725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True / False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449E3F-5628-4DF7-9B16-16F7C266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0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313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True일 때 다음 행동 실행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8AB2E-E505-4BFB-95F4-E46B7FD1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3-1</a:t>
            </a:r>
          </a:p>
        </p:txBody>
      </p:sp>
    </p:spTree>
    <p:extLst>
      <p:ext uri="{BB962C8B-B14F-4D97-AF65-F5344CB8AC3E}">
        <p14:creationId xmlns:p14="http://schemas.microsoft.com/office/powerpoint/2010/main" val="1382871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630FD0-91C2-461A-A67E-CA35153B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B741E-D9B5-4C27-BAD6-2AD845A1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0F06DC-980E-4579-9F1B-EA9465A9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7D43B3-AB8A-4E7B-A72B-4331A4AC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준비 파일 두 개로 기준 변화를 확인합니다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67449-9915-4DD9-96F0-D411849D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37A3F-767A-44D6-912E-4C4436DB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BD25C3-F908-4B9D-9836-D9525700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88161-E2FF-4391-BFCE-A1A45ABE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B7E7-8C3C-4AB6-969C-CBFE171C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7C6AF-ECAB-4CCD-93DD-D1657B8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현재 27도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FD94B-DEAB-4A71-BB7B-B0846D44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비교할 현재 값을 찾습니다.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EF2E0F-2F55-467F-B0A0-1B2DE17A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8F367-BE1D-4CA1-AD11-49C86095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5C00"/>
          </a:solidFill>
          <a:ln xmlns:a="http://schemas.openxmlformats.org/drawingml/2006/main" w="9525">
            <a:solidFill>
              <a:srgbClr val="FF5C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A0322-7BE8-434B-9972-737C4137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7E949-0275-424B-A17B-F44BB591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기준 25도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0AD5B-4756-4D7C-ADB7-118D379B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단위와 기준의 출처를 확인합니다.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C9B57-5DEF-4FA7-A333-808A986A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5262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E0E3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1800-CA1E-4B9C-AEA7-BB198289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8763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684C1-D98C-42AA-8B34-5AAA2477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기호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6DB609-8345-46BC-B54F-1567C4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933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0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&gt;=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613D53-FB95-4807-9A99-F8499828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48050"/>
            <a:ext cx="293370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425" b="0">
                <a:solidFill>
                  <a:srgbClr val="34373D"/>
                </a:solidFill>
                <a:latin typeface="IBM Plex Sans KR"/>
                <a:ea typeface="IBM Plex Sans KR"/>
                <a:cs typeface="IBM Plex Sans KR"/>
              </a:rPr>
              <a:t>‘이상’과 맞는지 확인합니다.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80D43-3E08-42E2-9849-813A416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67350"/>
            <a:ext cx="10782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575" b="1">
                <a:solidFill>
                  <a:srgbClr val="0E7C86"/>
                </a:solidFill>
                <a:latin typeface="IBM Plex Sans KR"/>
                <a:ea typeface="IBM Plex Sans KR"/>
                <a:cs typeface="IBM Plex Sans KR"/>
              </a:rPr>
              <a:t>03-1_temperature_25.py와 03-1_temperature_30.py를 차례로 실행합니다.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FD20AD-6134-4338-9212-664B0FED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3-1</a:t>
            </a:r>
          </a:p>
        </p:txBody>
      </p:sp>
    </p:spTree>
    <p:extLst>
      <p:ext uri="{BB962C8B-B14F-4D97-AF65-F5344CB8AC3E}">
        <p14:creationId xmlns:p14="http://schemas.microsoft.com/office/powerpoint/2010/main" val="7977766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D84A4-768F-472D-9848-F5AB664A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75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정보와 디지털 문해력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66864-8A40-45AF-9B4C-98FC1B8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238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FBD8F-39FD-442E-8878-DE6416D5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048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24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1">
                <a:solidFill>
                  <a:srgbClr val="FFFFFF"/>
                </a:solidFill>
                <a:latin typeface="Archivo"/>
                <a:ea typeface="Archivo"/>
                <a:cs typeface="Archivo"/>
              </a:defRPr>
            </a:pPr>
            <a:r>
              <a:rPr sz="975" b="1">
                <a:solidFill>
                  <a:srgbClr val="FFFFFF"/>
                </a:solidFill>
                <a:latin typeface="Archivo"/>
                <a:ea typeface="Archivo"/>
                <a:cs typeface="Archivo"/>
              </a:rPr>
              <a:t>03-1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E2401-6019-4F48-A131-23C632F5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850" b="1">
                <a:solidFill>
                  <a:srgbClr val="1B1D21"/>
                </a:solidFill>
                <a:latin typeface="IBM Plex Sans KR"/>
                <a:ea typeface="IBM Plex Sans KR"/>
                <a:cs typeface="IBM Plex Sans KR"/>
              </a:rPr>
              <a:t>코드가 정확해도 기준은 틀릴 수 있습니다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3612F-9EF3-486E-8E80-CC954EF3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BC44F-BF50-4A05-96DE-150B9C87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246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Archivo"/>
                <a:ea typeface="Archivo"/>
                <a:cs typeface="Archivo"/>
              </a:defRPr>
            </a:pPr>
            <a:r>
              <a:rPr sz="900" b="1">
                <a:solidFill>
                  <a:srgbClr val="6C7078"/>
                </a:solidFill>
                <a:latin typeface="Archivo"/>
                <a:ea typeface="Archivo"/>
                <a:cs typeface="Archivo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A9CDE-9344-4424-824E-46171BD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4394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B1D21"/>
          </a:solidFill>
          <a:ln xmlns:a="http://schemas.openxmlformats.org/drawingml/2006/main" w="9525">
            <a:solidFill>
              <a:srgbClr val="1B1D2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6555-3F47-4856-A3A9-EA18FFB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19325"/>
            <a:ext cx="986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비교는 True·False를 만들지만 현실의 옳음을 보증하지 않습니다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1DF65-3627-41F2-A074-6910C173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908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734E0-D545-4AC4-8C0C-13AB0F51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7861F-72F7-46EB-8A6D-7A84361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단위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B180A-8939-46E1-AA66-C6CE2A3C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8B9CC-8A07-4804-BB79-691A20A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99085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B319C8-991F-4849-9638-58791227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57525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175" b="1">
                <a:solidFill>
                  <a:srgbClr val="FF5C00"/>
                </a:solidFill>
                <a:latin typeface="IBM Plex Sans KR"/>
                <a:ea typeface="IBM Plex Sans KR"/>
                <a:cs typeface="IBM Plex Sans K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951057-987C-4730-A3B5-24BA4758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908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950" b="1">
                <a:solidFill>
                  <a:srgbClr val="FFFFFF"/>
                </a:solidFill>
                <a:latin typeface="IBM Plex Sans KR"/>
                <a:ea typeface="IBM Plex Sans KR"/>
                <a:cs typeface="IBM Plex Sans KR"/>
              </a:rPr>
              <a:t>연산자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1EA09-0954-4D6C-8A82-74650CD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81450"/>
            <a:ext cx="914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2025" b="1">
                <a:solidFill>
                  <a:srgbClr val="C9CDD2"/>
                </a:solidFill>
                <a:latin typeface="IBM Plex Sans KR"/>
                <a:ea typeface="IBM Plex Sans KR"/>
                <a:cs typeface="IBM Plex Sans KR"/>
              </a:rPr>
              <a:t>AI가 만든 비교도 사람이 기준을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D0CFB-923C-4C1E-9DE2-01DCC0E9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1650" b="0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다음 차시: 외부 라이브러리 전에 프로젝트별 .venv를 준비합니다.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F9A22-2C31-41EA-B269-AD14C918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defRPr>
            </a:pPr>
            <a:r>
              <a:rPr sz="900" b="1">
                <a:solidFill>
                  <a:srgbClr val="6C7078"/>
                </a:solidFill>
                <a:latin typeface="IBM Plex Sans KR"/>
                <a:ea typeface="IBM Plex Sans KR"/>
                <a:cs typeface="IBM Plex Sans KR"/>
              </a:rPr>
              <a:t>수업자료 3-1</a:t>
            </a:r>
          </a:p>
        </p:txBody>
      </p:sp>
    </p:spTree>
    <p:extLst>
      <p:ext uri="{BB962C8B-B14F-4D97-AF65-F5344CB8AC3E}">
        <p14:creationId xmlns:p14="http://schemas.microsoft.com/office/powerpoint/2010/main" val="1879392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2026-08-30T17:35:38.0230000Z</dcterms:created>
  <dcterms:modified xsi:type="dcterms:W3CDTF">2026-08-30T17:35:38.0230000Z</dcterms:modified>
</coreProperties>
</file>