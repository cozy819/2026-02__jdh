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[0–1분] 표지와 지난 시간 잇기
지난 시간 마지막에 결과가 터미널에만 나오는 게 아니라고 했죠. 오늘 그걸 만듭니다.
오늘은 두 덩어리입니다. 앞의 25분은 실습 환경을 준비합니다. 뒤의 20분은 두 값을 비교해서 판단을 만드는 걸 배웁니다.
[시간 계획 — 학생 화면에는 표시하지 않는다]
0–1 표지 / 1–3 결과 나오는 곳 / 3–4 진행 지도 / 4–5 uv 는 왜 / 5–13 uv 설치
13–16 Jupyter 확장 / 16–18 폴더 열기 / 18–21 uv sync / 21–23 커널 / 23–25 첫 실행
25–26 칸 다루기 / 26–29 계산과 비교 / 29–31 비교연산자 / 31–33 = 와 == / 33–35 경계값
35–37 수직선 / 37–39 문장 분해 / 39–44 워크시트 / 44–45 애매한 말 / 45–46 마무리
※ 설치가 밀리면 25분을 넘기지 말고 커널까지만 하고 넘어간다. 못 끝낸 학생은 옆자리 화면을 같이 본다.
※ 반대로 설치가 빨리 끝나면 워크시트 시간을 늘린다. 워크시트가 이 차시의 주 활동이다.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[1–3분] 결과가 나오는 곳이 달라진다
지난 시간엔 결과가 저 아래 검은 칸에만 나왔죠. 처음 보면 낯섭니다. 오늘부터는 여러분이 쓴 코드 바로 밑에 답이 나옵니다.
(그림 왼쪽을 가리키며) 여기는 지난 시간 화면입니다. 코드는 위에 있는데 결과는 저 밑에 따로 나옵니다. 눈이 위아래로 왔다 갔다 해야 합니다.
(오른쪽) 오늘 만들 화면입니다. 한 줄 실행하면 그 줄 바로 밑에 답이 붙습니다. 세 줄이면 세 개가 각각 붙습니다.
이런 파일을 Notebook 이라고 부르고 이름이 .ipynb 로 끝납니다. 설명과 코드와 결과가 한 화면에 순서대로 쌓이니까, 나중에 다시 열었을 때 내가 뭘 했고 뭐가 나왔는지 읽을 수 있습니다.
오늘은 새 문법을 배우는 시간이 아닙니다. 결과가 나오는 곳을 바꾸는 시간입니다.
[예상 질문]
Q. 지난 시간 방식은 이제 안 쓰나요?
A. 둘 다 쓴다. 프로그램을 완성해서 돌릴 때는 .py 파일을 쓰고, 값을 하나씩 확인하며 살펴볼 때는 Notebook 을 쓴다. 오늘은 두 번째를 준비하는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[3–4분] 진행 지도
방금 본 오른쪽 화면을 만들려면 세 가지가 필요합니다. 도구 하나 설치하고, 확장 하나 설치하고, 둘을 연결합니다.
지금부터 하나씩 하겠습니다. 화면 제목에 ①②③ 번호가 붙어 있을 테니까, 중간에 헷갈리면 지금 몇 번째인지 그 번호를 보면 됩니다.
끝났는지 어떻게 아느냐. 코드 셀 아래에 결과가 나오면 끝난 겁니다. 그게 오늘 앞부분의 도착점입니다.
[진행 메모]
이 장은 30초를 넘기지 않는다. 여기서 설명을 시작하면 설치 시간이 없어진다.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[4–5분] Python 은 깔았는데 uv 는 왜?
여기서 반드시 나오는 질문이 있습니다. 먼저 물어봐 주세요 — "우리 지난 시간에 Python 깔았죠? 그런데 오늘 또 뭘 깔아요?"
지난 시간에 깐 Python 은 이 컴퓨터에 하나 있습니다. 어느 폴더에서 작업하든 같은 걸 씁니다.
그런데 앞으로 수업마다 폴더를 하나씩 만들 겁니다. 3주차 폴더, 4주차 폴더, 나중엔 여러분이 만들 서비스 폴더. 그런데 폴더마다 필요한 게 다릅니다. 4주차에는 그래프 그리는 도구가 필요하고, 다른 폴더에서는 그게 필요 없습니다.
uv 는 그 폴더에서 쓸 것을 그 폴더 안에 챙겨 주는 도구입니다. Python 을 또 까는 게 아니라, 이 폴더에서 쓸 준비를 해 두는 겁니다.
그리고 이게 조금 뒤에 나올 이야기와 이어집니다. Notebook 을 열면 "어떤 Python 으로 실행할까요" 하고 묻는데, 그때 고르는 게 바로 지금 이 폴더 안에 만들어진 겁니다.
[예상 질문]
Q. 폴더마다 Python 이 하나씩 생기는 건가요? 용량 안 커져요?
A. 통째로 복사되는 게 아니라 필요한 것만 챙긴다. 지금은 이만큼만 알면 된다. 궁금하면 교과서 부록 「확장 이야기 2」를 읽으라고 안내한다.
[썰 — 시간이 남을 때만]
실제 개발 현장에서 가장 자주 나는 사고 중 하나가 이것이다. 내 컴퓨터에서는 잘 되는데 다른 사람 컴퓨터에서는 안 된다. 폴더마다 도구를 따로 챙기는 방식은 그 사고를 줄이려고 생긴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[5–13분] ① uv 설치
이제 설치합니다. 화면의 이 한 줄을 PowerShell 에 복사해서 붙여 넣으세요. 직접 타이핑하지 마세요. 길고, 한 글자만 틀려도 안 됩니다.
이건 uv 공식 홈페이지가 안내하는 방법 그대로입니다. 제가 만든 게 아니라 만든 사람들이 이렇게 쓰라고 해 둔 겁니다.
붙여 넣고 엔터를 치면 글자가 쭉 지나갑니다. 그거 읽지 마세요. 외울 필요도 없습니다. 지나가는 게 정상입니다.
입력할 수 있는 줄이 다시 나타나면 끝난 겁니다.
그다음이 중요합니다. VS Code 를 완전히 닫았다가 다시 여세요. 터미널은 열릴 때 프로그램 목록을 한 번 읽습니다. 그 뒤에 깔린 건 새로 연 창에서만 보입니다. 2-1 때 PowerShell 새로 열었던 것과 같은 이유입니다.
다시 열고 uv --version 을 쳐서 번호가 나오면 성공입니다.
번호가 안 나오면 혼자 다른 방법 찾지 마세요. 손 들고 화면을 보여 주세요.
[진행 메모]
설치는 8분을 잡아 두었지만 학교 PC 사정에 따라 더 걸릴 수 있다. 먼저 끝난 학생은 옆자리를 대신 조작하지 말고 화면만 같이 본다.
막힐 때의 대체 방법은 수업 전에 하나로 정해 둔 것을 쓴다. 수업 중에 방법을 바꾸지 않는다. 세부 대응은 「09 교사용 설치·오류 대응 카드」 C1·C4.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[13–16분] ② Jupyter 확장 설치
두 번째입니다. VS Code 왼쪽에 확장 화면이 있습니다. 거기서 Jupyter 를 검색하세요.
여기서 하나만 확인합니다. 게시자가 Microsoft 인지 보세요. 비슷한 이름이 여러 개 나옵니다.
확장은 VS Code 에 기능을 덧붙이는 작은 도구입니다. Python 자체와는 다릅니다. 2-1 때 깐 Python 확장은 .py 파일을 실행하게 해 줬고, 오늘 까는 Jupyter 확장은 .ipynb 파일을 열고 셀 하나씩 실행하게 해 줍니다.
[예상 질문]
Q. Python 확장이 있는데 왜 또 필요해요?
A. 파일 종류가 다르다. .py 와 .ipynb 는 생김새부터 다르고, 담당하는 확장도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[16–18분] 폴더를 통째로 연다
제가 나눠 준 폴더를 VS Code 로 열 건데, 여기서 실수가 제일 많이 나옵니다.
파일 하나만 열면 안 됩니다. 폴더를 통째로 열어야 합니다.
(왼쪽 화면) 이건 파일 하나만 연 겁니다. 이렇게 하면 다음 단계가 안 됩니다.
(오른쪽 화면) 이게 맞는 상태입니다. 왼쪽 탐색기에 폴더 이름이 보이죠.
여러분 화면 왼쪽에 폴더 이름이 보이는지 지금 확인하세요. 안 보이면 다시 여세요.
[진행 메모]
이 단계를 건너뛰면 다음의 uv sync 가 엉뚱한 곳에서 실행된다. 교실을 한 바퀴 돌면서 왼쪽 탐색기만 눈으로 확인하는 게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[18–21분] uv sync — 이 폴더에서 쓸 것을 챙긴다
이제 아까 깐 uv 를 처음 써 봅니다. 터미널에 uv sync 라고 치세요. 두 단어입니다.
이게 하는 일은 아까 말한 그겁니다. 이 폴더에서 쓸 것을 챙겨서 이 폴더 안에 넣습니다.
실행하기 전에 왼쪽 탐색기를 한 번 보세요. 그리고 실행한 뒤에 다시 보세요. 뭐가 달라졌는지 찾아보세요.
.venv 라는 폴더가 새로 생겼을 겁니다. 그 안에 이 프로젝트가 쓸 Python 이 들어 있습니다. 지금은 이만큼만 알면 됩니다.
[진행 메모]
폴더가 생기는 변화는 눈으로 확인하게 한다. 실행 전 화면을 먼저 보게 하고 나서 실행시키는 순서를 지킨다. 그냥 실행시키면 뭐가 달라졌는지 못 본다.
동시에 여러 명이 실행하면 네트워크가 느려질 수 있다. 줄을 나눠서 실행시킨다.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[21–23분] ③ 커널을 고른다
세 번째, 마지막입니다. 제가 준 .ipynb 파일을 여세요.
오른쪽 위에 커널 선택이라는 게 있습니다. 그걸 누르면 목록이 나옵니다.
여기서 아까 만든 .venv 가 들어 있는 걸 고르세요. 경로에 이 폴더 이름과 .venv 가 같이 보이는 겁니다.
이게 오늘 제일 중요한 한 번의 선택입니다. 여기서 다른 걸 고르면 나중에 셀이 실행이 안 되거나, 4주차에 그래프를 그리려는데 못 찾겠다는 오류가 납니다. 지금 경로에 .venv 가 있는지 눈으로 확인하세요.
[진행 메모]
이 차시에서 가장 흔한 사고 지점이다. 목록에 비슷한 항목이 여러 개 나오므로 학생 화면을 직접 보고 확인해 주는 게 빠르다. 「09 교사용 설치·오류 대응 카드」 C5.
Jupyter 확장만 깐 상태에서 커널을 고르면 추가 설치 안내가 뜰 수 있다. 수업 전에 한 대에서 미리 확인해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[필요할 때만 — 시간 배정 없음] 목록에 .venv 가 안 보인다
(이 상황이 나오면 이 장으로 넘어간다)
목록에 .venv 가 하나도 없다는 사람 있나요? 없는 게 아니라 지금 연 폴더가 달라서 안 보이는 겁니다.
왼쪽 탐색기 맨 위를 보세요. 거기 03 이라고 적혀 있어야 합니다. 다른 이름이면 폴더를 잘못 연 겁니다.
파일 → 폴더 열기를 눌러서 03 폴더 자체를 고르세요. 03 안으로 들어가서 고르는 게 아니라 03 을 고르는 겁니다.
다시 열고 나서 커널을 다시 고르면 이번엔 .venv 가 보일 겁니다.
[예상 질문]
Q. 목록에 cpython 어쩌고 하는 게 많은데 그건 뭐예요?
A. uv 가 컴퓨터에 받아 둔 Python 들입니다. 우리가 고를 건 그게 아니라 이 폴더 안의 .venv 입니다.
[진행 메모]
선생님이 직접 해 보다 걸린 지점이다. VS Code 는 연 폴더 바로 안의 .venv 만 목록에 올린다. 저장소 전체나 JDH_VibeCoding_자기이름 을 열면 03/.venv 는 나오지 않는다.
한 명이라도 나오면 전체에게 탐색기 맨 위를 확인시키는 게 빠르다. 「09 교사용 설치·오류 대응 카드」 C5b.
멀티 루트로 폴더를 여러 개 열지 않게 한다. 한 번에 회차 폴더 하나만 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[23–25분] 첫 셀 실행 — 여기까지 되면 준비 끝
첫 셀을 실행해 보세요. 코드 바로 아래에 결과가 나타나면 성공입니다.
(오른쪽 카드를 가리키며) 네 가지가 다 됐는지 확인하세요. uv 번호 나왔고, .venv 폴더 있고, 커널 이름에 .venv 있고, 코드 아래에 결과 나왔고.
이제 지도에 있던 세 가지가 다 끝났습니다. 여기서부터는 오늘의 두 번째 이야기로 넘어갑니다.
[진행 메모]
첫 셀에 sys.executable 출력이 있다. 학생마다 경로가 다르게 나오는 게 정상이다. 배포본에서는 이 출력을 비워 두었으니 직접 실행해서 자기 경로를 보게 한다.
25분을 넘겼으면 여기서 끊고 넘어간다. 안 된 학생은 옆자리 화면을 같이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[25–26분] 칸을 다루는 법
Notebook 은 칸 단위로 움직입니다. 칸 하나를 실행하면 그 칸 아래에 결과가 붙습니다.
실행은 두 가지만 기억하세요. Shift 엔터는 실행하고 아래 칸으로 내려갑니다. Ctrl 엔터는 실행하고 그 자리에 머무릅니다. 같은 칸을 고쳐 가며 여러 번 돌릴 때는 Ctrl 엔터가 편합니다.
칸을 새로 만들 때는 + 코드 버튼을 누르면 됩니다. 단축키도 있는데, 여기 하나 조심할 게 있습니다.
칸 안을 눌러서 글자를 쓰고 있는 중에는 B 를 눌러도 그냥 b 라는 글자가 써집니다. Esc 를 한 번 눌러서 칸 밖으로 나온 다음에 눌러야 단축키로 듣습니다. 이게 헷갈리면 그냥 버튼으로 하세요.
그리고 칸은 위에서부터 차례로 실행합니다. 위 칸을 건너뛰면 아래 칸에서 이름이 없다는 오류가 납니다. 뭔가 꼬였다 싶으면 위쪽 다시 시작을 누르고 처음부터 돌리면 됩니다.
[예상 질문]
Q. 실행했는데 [*] 로만 되어 있어요.
A. 아직 도는 중입니다. 오래 걸리면 위쪽 중단을 누르세요.
[진행 메모]
표를 다 읽지 않는다. Shift 엔터 하나만 손으로 시켜 보고 나머지는 "교과서 18쪽에 있다" 로 넘긴다. 1분 안에 끝낸다.
시간이 밀렸으면 이 장은 건너뛴다. 교과서에 남아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[26–29분] 계산과 비교는 다른 종류의 결과를 만든다
이제 화면 안에서 결과를 볼 수 있게 됐으니, 볼 게 하나 있습니다.
(왼쪽) 72 더하기 10 은 82 입니다. 지난 시간에 한 거죠. 결과가 숫자입니다.
(오른쪽) 72 는 60 보다 크거나 같은가. 결과가 True 라고 나옵니다. 이건 숫자가 아니죠.
두 결과는 무엇이 다를까요? 답을 먼저 말하지 마시고 학생에게 물어보세요. "하나는 숫자고 하나는 글자 같아요" 정도만 나와도 충분합니다.
계산은 새로운 값을 만듭니다. 비교는 판단을 만듭니다. 두 값을 견주어서 조건이 맞는지 알려 주는 걸 비교연산이라고 합니다.
여기서 하나 짚고 갑니다. True 와 False 는 정답과 오답이 아닙니다. 시험 점수가 아니에요. 지금 내가 정한 조건이 맞는지를 나타내는 값입니다. 조건을 바꾸면 답도 바뀝니다.
[예상 질문]
Q. False 가 나오면 틀린 건가요?
A. 아니다. 조건에 맞지 않는다는 뜻일 뿐이다. 60점 이상이 통과라는 조건에서 59점은 False 지만, 그건 그 학생이 틀린 게 아니라 조건에 안 맞는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[29–31분] 비교연산자 여섯 개
기호는 여섯 개입니다. 다 외우려고 하지 마세요.
크다, 작다는 수학에서 봤죠. 그 아래 두 개는 등호가 붙어 있습니다. 크거나 같다, 작거나 같다.
하나만 기억하세요. 등호가 붙어 있으면 같을 때도 참입니다. 8 은 8 보다 크지 않지만, 8 은 8 보다 크거나 같습니다. 이게 오늘 뒤에서 계속 나올 이야기입니다.
마지막 두 개는 같다와 같지 않다입니다. 다음 장에서 따로 봅니다.
그리고 하나 미리 말해 둡니다. 크거나 같다를 소리 나는 대로 등호 먼저 써서 = &gt; 이렇게 쓰는 사람이 꼭 나옵니다. 그렇게 쓰면 안 됩니다. 등호는 뒤에 옵니다. &gt; = 입니다.
= &gt; 라고 쓰면 결과가 틀리게 나오는 게 아니라 아예 SyntaxError 가 납니다. 문법이 아니라는 뜻입니다. 오류가 나면 기호 순서부터 보세요.
[예상 질문]
Q. 다른 언어에서는 = &gt; 쓰던데요?
A. 언어마다 다릅니다. 파이썬은 &gt; = 입니다.
[진행 메모]
표를 한 줄씩 읽어 내려가지 않는다. 등호가 붙은 줄 두 개만 짚고 넘어간다. 나머지는 교과서에 있다.
= &gt; 실수는 반드시 나온다. 미리 말해 두면 오류 났을 때 학생이 스스로 찾는다. 화면 아래 띠에도 남겨 두었다.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[31–33분] 등호 하나와 등호 둘
이걸 가장 먼저 구분해야 합니다. 처음 배우는 사람이 제일 많이 헷갈리는 부분입니다.
등호 하나는 저장입니다. score 라는 이름에 72 를 넣는 겁니다. 지난 시간에 한 거죠.
등호 둘은 비교입니다. score 안에 들어 있는 값이 72 와 같은지 묻는 겁니다. 넣는 게 아니라 묻는 겁니다.
수학에서는 등호가 하나인데 프로그래밍에서는 둘입니다. 왜 그럴까요? 저장하는 데 이미 등호 하나를 써 버렸기 때문입니다. 그래서 묻는 쪽은 둘로 쓰기로 한 겁니다.
[썰 — 시간이 남을 때만]
이 구분 때문에 생기는 실수는 경력 있는 개발자도 한다. 언어에 따라서는 등호 하나로 비교하려고 하면 아예 실행을 막아 주기도 한다. 그만큼 흔한 실수라는 뜻이다.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[33–35분] 정확히 60점인 사람은 통과일까?
여기가 오늘의 매듭입니다.
60점 이상이면 통과입니다. 그러면 59점, 60점, 61점. 각각 어떻게 될까요?
세 줄을 한 번에 보여 주지 말고, 실행하기 전에 먼저 예상해서 교과서 여백에 적게 하세요. 적고 나서 실행합니다.
(가운데 줄에서 멈추고) 정확히 60점 받은 사람은요? 통과일까요?
여기서 의견이 갈립니다. 갈리는 게 좋습니다. 그러고 나서 실행해서 확인합니다.
크다와 크거나 같다의 차이는 딱 한 사람에게서 갈립니다. 정확히 기준에 걸린 사람입니다. 규칙을 만들 때 사람들이 가장 많이 다투는 지점도 여기입니다.
[진행 메모]
멈추고 묻는 것은 교사의 진행이므로 화면에는 적혀 있지 않다. 반드시 가운데 줄에서 한 번 끊는다. 세 줄을 한꺼번에 실행시키면 이 차시의 매듭이 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[35–37분] 포함하는 말과 포함하지 않는 말
방금 본 걸 말로 바꾸면 이렇게 됩니다.
이상과 이하는 기준값을 포함합니다. 그래서 점이 꽉 차 있습니다.
초과와 미만은 기준값을 포함하지 않습니다. 그래서 점이 비어 있습니다.
60점 이상이면 60점도 들어갑니다. 60점 초과면 60점은 빠집니다.
시험 문제에서 봤을 수도 있는데, 오늘은 이게 코드에서 기호 하나 차이로 나타난다는 걸 보는 겁니다.
[예상 질문]
Q. 일상에서 "60점 넘으면"은 어느 쪽인가요?
A. 애매하다. 그 애매함이 바로 뒤에서 다룰 내용이다. 여기서는 답을 미뤄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[37–39분] 문장에서 기준을 찾아낸다
이제 오늘의 주 활동으로 갑니다.
우리가 쓰는 규칙은 대부분 문장으로 되어 있습니다. 그 문장을 비교식으로 옮기려면 네 가지를 차례로 찾아야 합니다.
체온이 37.5도 이상이면 보건실에 간다. 이 문장으로 해 보겠습니다.
첫째, 무엇을 비교하나. 체온입니다. 사람마다 달라지는 값이죠.
둘째, 기준값은 얼마인가. 37.5 입니다. 규칙이 정해 둔 값입니다.
셋째, 기준값 자신이 포함되나. 이상이니까 포함됩니다.
넷째, 그러면 기호는. 앞의 셋이 정해지면 기호는 자동으로 결정됩니다. 크거나 같다입니다.
앞의 셋만 제대로 찾으면 기호는 고민할 게 없습니다. 학생들이 기호부터 고르려고 하는데, 순서가 반대입니다.
이 네 칸이 곧 워크시트의 네 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[39–44분] 워크시트 ① 문장을 비교식으로
교과서를 펴세요. 여섯 문장이 있습니다. 방금 한 방식으로 네 칸을 채우면 됩니다.
코드는 실행하지 않습니다. 손으로 적습니다. 5분 드리겠습니다.
3번을 특히 잘 보세요. "3권까지"라고 되어 있는데, 3권은 되는 걸까요 안 되는 걸까요. 6번은 기호가 좀 다릅니다.
[진행 메모]
돌아다니면서 세 번째 칸(경계 포함?)을 먼저 확인한다. 거기가 비어 있으면 네 번째 칸도 틀린다.
빨리 끝낸 학생에게는 자기가 아는 학교 규칙을 하나 골라 같은 방식으로 적어 보게 한다.
답을 맞히는 게 목적이 아니라 문장에서 기준을 뽑아내는 연습이 목적이다. 3번과 6번은 의견이 갈려도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[44–45분] 이 말은 포함일까, 아닐까?
마지막으로 하나 던지고 끝냅니다.
과제는 9월 3일까지 제출하세요. 9월 3일 밤에 낸 사람은 늦은 걸까요?
이상, 초과, 이하, 미만은 분명합니다. 그런데 우리가 실제로 더 자주 쓰는 말은 까지, 안에, 넘으면 같은 말입니다. 이런 말은 사람마다 다르게 읽힙니다.
규칙을 코드로 옮기려면 이걸 애매한 채로 둘 수 없습니다. 규칙 만든 사람에게 묻거나, 물을 수 없으면 내가 어떻게 읽었는지 밝혀 두어야 합니다.
(답을 정해 주지 않고 넘어간다. 의견이 갈린 채로 끝내는 게 낫다.)
[썰 — 시간이 남을 때만]
실제 서비스에서 이런 문장 하나 때문에 사고가 난다. 쿠폰이 며칠까지 유효한가, 자정 기준인가 다음 날 오전 기준인가. 만든 사람과 쓰는 사람이 다르게 읽으면 바로 항의가 들어온다.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[45–46분] 마무리
오늘 남길 건 하나입니다. 코드가 정확해도 기준이 틀리면 판단이 틀립니다.
기호를 외웠는지가 중요한 게 아니라, 문장에서 기준을 뽑아낼 수 있는지가 중요합니다. 6주차에 여러분이 서비스 계획서를 쓸 때 "언제 성공이라고 볼 것인가"를 정하게 되는데, 오늘 연습한 게 그대로 쓰입니다.
오늘 채운 워크시트는 폴더에 남겨 두세요. 다음 시간 시작할 때 다시 엽니다.
다음 시간에는 값이 여러 개일 때 한 번에 묶는 방법 두 가지를 봅니다.
[진행 메모]
오늘 준비한 환경(.venv, 커널)은 4주차에 그대로 쓴다. 폴더를 지우지 말라고 반드시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3회 · 첫째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실습 환경 준비와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 결과로 판단하기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0352" y="356616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 바로 아래에서 결과를 보는 환경을 만들고,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값을 비교해 판단을 만들어 봅니다.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 바로 아래에서 결과를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pic>
        <p:nvPicPr>
          <p:cNvPr id="10" name="Image 0" descr="/home/claude/w5/교과서_배포/assets/img/03-1-01-result-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828800"/>
            <a:ext cx="9857232" cy="34015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553212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줄을 실행하면 그 줄의 답이 나온다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 화면까지 세 가지가 필요하다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3쪽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2011680"/>
            <a:ext cx="3502152" cy="2331720"/>
          </a:xfrm>
          <a:prstGeom prst="roundRect">
            <a:avLst>
              <a:gd name="adj" fmla="val 215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76272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59689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889504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uv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383280"/>
            <a:ext cx="31363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폴더에서 쓸 것을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챙겨 준다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68496" y="3063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43400" y="2011680"/>
            <a:ext cx="3502152" cy="2331720"/>
          </a:xfrm>
          <a:prstGeom prst="roundRect">
            <a:avLst>
              <a:gd name="adj" fmla="val 215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176272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259689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2889504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Jupyter 확장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526280" y="3383280"/>
            <a:ext cx="31363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 아래에 결과가 나오는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파일을 열 수 있게 한다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81544" y="30632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156448" y="2011680"/>
            <a:ext cx="3502152" cy="2331720"/>
          </a:xfrm>
          <a:prstGeom prst="roundRect">
            <a:avLst>
              <a:gd name="adj" fmla="val 215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2176272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39328" y="259689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39328" y="2889504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커널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339328" y="3383280"/>
            <a:ext cx="31363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어떤 Python 으로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실행할지 고른다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" y="498348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 셀 아래에 결과가 나오면 준비가 끝난 것이다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Python 은 깔았는데, uv 는 왜?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3–4쪽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810512"/>
            <a:ext cx="5349240" cy="2121408"/>
          </a:xfrm>
          <a:prstGeom prst="roundRect">
            <a:avLst>
              <a:gd name="adj" fmla="val 237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7510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2-1 에서 깐 것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226771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Python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761488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컴퓨터에 하나 있다.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어느 폴더에서든 같은 것을 쓴다.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1810512"/>
            <a:ext cx="5349240" cy="2121408"/>
          </a:xfrm>
          <a:prstGeom prst="roundRect">
            <a:avLst>
              <a:gd name="adj" fmla="val 237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7510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깔 것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26771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uv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92240" y="2761488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폴더마다 필요한 것을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 폴더 안에 챙겨 준다.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0352" y="4160520"/>
            <a:ext cx="11128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앞으로 수업마다 폴더를 하나씩 만든다. 그런데 폴더마다 필요한 것이 다르다.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0352" y="4590288"/>
            <a:ext cx="11128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uv 는 그 폴더에서 쓸 것을 그 폴더 안에 챙겨 주는 도구다.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0352" y="5020056"/>
            <a:ext cx="11128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뒤에서 Notebook 을 열 때 고르게 되는 것이 바로 이 폴더 안에 만들어진 것이다.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0352" y="562356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Python 을 또 까는 게 아니다. 이 폴더에서 쓸 준비를 하는 것이다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uv 를 가져온다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5–6쪽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PowerShell 에 아래 한 줄을 복사해 붙여 넣는다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21408"/>
            <a:ext cx="11128248" cy="932688"/>
          </a:xfrm>
          <a:prstGeom prst="roundRect">
            <a:avLst>
              <a:gd name="adj" fmla="val 4902"/>
            </a:avLst>
          </a:prstGeom>
          <a:solidFill>
            <a:srgbClr val="2427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249424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uv 공식 홈페이지가 안내하는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2523744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powershell -ExecutionPolicy ByPass -c "irm https://astral.sh/uv/install.ps1 | iex"</a:t>
            </a:r>
            <a:endParaRPr lang="en-US" sz="1300" dirty="0"/>
          </a:p>
        </p:txBody>
      </p:sp>
      <p:pic>
        <p:nvPicPr>
          <p:cNvPr id="14" name="Image 0" descr="/home/claude/w5/교과서_배포/assets/img/03-1-02-uv-version-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0340" y="3108960"/>
            <a:ext cx="4226560" cy="23774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30352" y="4956048"/>
            <a:ext cx="11128248" cy="1298448"/>
          </a:xfrm>
          <a:prstGeom prst="roundRect">
            <a:avLst>
              <a:gd name="adj" fmla="val 3521"/>
            </a:avLst>
          </a:prstGeom>
          <a:solidFill>
            <a:srgbClr val="24272C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5084064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확인 · VS Code 를 완전히 닫고 다시 연 뒤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8096" y="5358384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uv --version</a:t>
            </a:r>
            <a:endParaRPr lang="en-US" sz="1600" dirty="0"/>
          </a:p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7FE0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uv 0.9.x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Jupyter 확장을 설치한다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확장 화면에서 Jupyter 를 찾는다</a:t>
            </a:r>
            <a:endParaRPr lang="en-US" sz="1450" dirty="0"/>
          </a:p>
        </p:txBody>
      </p:sp>
      <p:pic>
        <p:nvPicPr>
          <p:cNvPr id="11" name="Image 0" descr="/home/claude/w5/교과서_배포/assets/img/03-1-03-jupyter-exten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832" y="2103120"/>
            <a:ext cx="6014720" cy="3383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452360" y="2103120"/>
            <a:ext cx="4206240" cy="1572768"/>
          </a:xfrm>
          <a:prstGeom prst="roundRect">
            <a:avLst>
              <a:gd name="adj" fmla="val 3198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35240" y="2267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2-1 에서 설치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35240" y="25603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Python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635240" y="30540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.py 파일 실행과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Python 선택을 돕는다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7452360" y="3913632"/>
            <a:ext cx="4206240" cy="1572768"/>
          </a:xfrm>
          <a:prstGeom prst="roundRect">
            <a:avLst>
              <a:gd name="adj" fmla="val 3198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35240" y="4078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설치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35240" y="43708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Jupyter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635240" y="48646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.ipynb 를 열고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셀별로 실행하게 한다</a:t>
            </a:r>
            <a:endParaRPr lang="en-US" sz="12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폴더를 통째로 연다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8–9쪽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파일 하나가 아니라 폴더 전체를 연다</a:t>
            </a:r>
            <a:endParaRPr lang="en-US" sz="1450" dirty="0"/>
          </a:p>
        </p:txBody>
      </p:sp>
      <p:pic>
        <p:nvPicPr>
          <p:cNvPr id="11" name="Image 0" descr="/home/claude/w5/교과서_배포/assets/img/03-1-04-folder-ope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320" y="2103120"/>
            <a:ext cx="5770880" cy="3246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557784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왼쪽 탐색기에 폴더 이름이 보여야 한다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자리를 만든다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10–11쪽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37360"/>
            <a:ext cx="11128248" cy="822960"/>
          </a:xfrm>
          <a:prstGeom prst="roundRect">
            <a:avLst>
              <a:gd name="adj" fmla="val 5556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92024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uv sync</a:t>
            </a:r>
            <a:endParaRPr lang="en-US" sz="2000" dirty="0"/>
          </a:p>
        </p:txBody>
      </p:sp>
      <p:pic>
        <p:nvPicPr>
          <p:cNvPr id="12" name="Image 0" descr="/home/claude/w5/교과서_배포/assets/img/03-1-05-uv-sync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2360" y="2697480"/>
            <a:ext cx="4876800" cy="274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87368" y="38862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900416" y="38862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30352" y="57150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7150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성공하면 보이는 것 · 왼쪽 탐색기에 .venv 폴더가 새로 보인다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커널을 고른다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12–14쪽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Notebook 오른쪽 위에서 이 폴더의 .venv 를 고른다</a:t>
            </a:r>
            <a:endParaRPr lang="en-US" sz="1450" dirty="0"/>
          </a:p>
        </p:txBody>
      </p:sp>
      <p:pic>
        <p:nvPicPr>
          <p:cNvPr id="11" name="Image 0" descr="/home/claude/w5/교과서_배포/assets/img/03-1-06-kernel-but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314289"/>
            <a:ext cx="3703320" cy="2083118"/>
          </a:xfrm>
          <a:prstGeom prst="rect">
            <a:avLst/>
          </a:prstGeom>
        </p:spPr>
      </p:pic>
      <p:pic>
        <p:nvPicPr>
          <p:cNvPr id="12" name="Image 1" descr="/home/claude/w5/교과서_배포/assets/img/03-1-07-kernel-pic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2314289"/>
            <a:ext cx="3703320" cy="2083118"/>
          </a:xfrm>
          <a:prstGeom prst="rect">
            <a:avLst/>
          </a:prstGeom>
        </p:spPr>
      </p:pic>
      <p:pic>
        <p:nvPicPr>
          <p:cNvPr id="13" name="Image 2" descr="/home/claude/w5/교과서_배포/assets/img/03-1-08-kernel-selec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390670"/>
            <a:ext cx="3703320" cy="19303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" y="45902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버튼을 찾는다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242816" y="45902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목록에서 고른다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955280" y="45902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이름을 확인한다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여기서 다른 것을 고르면 나중에 셀이 실행되지 않는다. 경로에 .venv 가 있는지 눈으로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목록에 .venv 가 안 보이면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15–16쪽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탐색기 맨 위 이름부터 본다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30352" y="2148840"/>
            <a:ext cx="422873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48840"/>
            <a:ext cx="39727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화면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9086" y="2148840"/>
            <a:ext cx="689951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4887102" y="2148840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무슨 뜻인가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551176"/>
            <a:ext cx="11128248" cy="56692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51176"/>
            <a:ext cx="3972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맨 위가 03 이 아니다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4887102" y="2551176"/>
            <a:ext cx="66434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보다 위 폴더를 열었다 · 목록에 .venv 가 나오지 않는다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530352" y="3118104"/>
            <a:ext cx="111282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118104"/>
            <a:ext cx="3972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맨 위가 03 이다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4887102" y="3118104"/>
            <a:ext cx="66434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제대로 열었다 · 목록 아래쪽에 .venv 항목이 나온다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530352" y="3977640"/>
            <a:ext cx="11128248" cy="1417320"/>
          </a:xfrm>
          <a:prstGeom prst="roundRect">
            <a:avLst>
              <a:gd name="adj" fmla="val 3548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42232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여는 순서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" y="4434840"/>
            <a:ext cx="1076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→ 폴더 열기 → 03 폴더 자체를 고른다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3232" y="4928616"/>
            <a:ext cx="10762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안으로 들어가서 고르지 않는다 · 연 뒤에 커널을 다시 고른다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VS Code 는 연 폴더 바로 안의 .venv 만 목록에 올린다.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첫 셀을 실행한다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17·19쪽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Image 0" descr="/home/claude/w5/교과서_배포/assets/img/03-1-09-first-cell-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712" y="1828800"/>
            <a:ext cx="6339840" cy="35661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635240" y="1828800"/>
            <a:ext cx="4023360" cy="3566160"/>
          </a:xfrm>
          <a:prstGeom prst="roundRect">
            <a:avLst>
              <a:gd name="adj" fmla="val 141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여기까지 되면 준비 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18120" y="2286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 가지 확인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818120" y="2779776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uv --version 에 번호가 보인다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탐색기에 .venv 폴더가 있다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커널 이름에 .venv 가 있다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 코드 아래에 결과가 나왔다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칸을 다루는 법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18쪽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오늘 쓸 것만 — 실행 · 추가 · 지우기 · 멈추기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445129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03120"/>
            <a:ext cx="41952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하고 싶은 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81651" y="2103120"/>
            <a:ext cx="3672322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5109667" y="2103120"/>
            <a:ext cx="34162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버튼으로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53973" y="2103120"/>
            <a:ext cx="3004627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8781989" y="2103120"/>
            <a:ext cx="27485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단축키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250545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505456"/>
            <a:ext cx="4195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칸 실행하고 아래 칸으로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109667" y="2505456"/>
            <a:ext cx="3416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칸 왼쪽 ▶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8781989" y="2505456"/>
            <a:ext cx="2748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Shift + Enter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530352" y="296265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962656"/>
            <a:ext cx="4195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칸 실행하고 그대로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5109667" y="2962656"/>
            <a:ext cx="3416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—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8781989" y="2962656"/>
            <a:ext cx="2748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Ctrl + Enter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41985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19856"/>
            <a:ext cx="4195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위에서부터 전부 실행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5109667" y="3419856"/>
            <a:ext cx="3416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위쪽 모두 실행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8781989" y="3419856"/>
            <a:ext cx="2748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—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530352" y="387705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77056"/>
            <a:ext cx="4195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 칸 추가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5109667" y="3877056"/>
            <a:ext cx="3416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+ 코드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8781989" y="3877056"/>
            <a:ext cx="2748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Esc 다음 B</a:t>
            </a: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530352" y="433425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334256"/>
            <a:ext cx="4195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칸 지우기</a:t>
            </a: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5109667" y="4334256"/>
            <a:ext cx="3416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칸 오른쪽 휴지통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8781989" y="4334256"/>
            <a:ext cx="2748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Esc 다음 D, D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530352" y="479145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791456"/>
            <a:ext cx="4195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 멈추기</a:t>
            </a:r>
            <a:endParaRPr lang="en-US" sz="1240" dirty="0"/>
          </a:p>
        </p:txBody>
      </p:sp>
      <p:sp>
        <p:nvSpPr>
          <p:cNvPr id="38" name="Text 36"/>
          <p:cNvSpPr/>
          <p:nvPr/>
        </p:nvSpPr>
        <p:spPr>
          <a:xfrm>
            <a:off x="5109667" y="4791456"/>
            <a:ext cx="3416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위쪽 중단</a:t>
            </a:r>
            <a:endParaRPr lang="en-US" sz="1240" dirty="0"/>
          </a:p>
        </p:txBody>
      </p:sp>
      <p:sp>
        <p:nvSpPr>
          <p:cNvPr id="39" name="Text 37"/>
          <p:cNvSpPr/>
          <p:nvPr/>
        </p:nvSpPr>
        <p:spPr>
          <a:xfrm>
            <a:off x="8781989" y="4791456"/>
            <a:ext cx="2748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—</a:t>
            </a:r>
            <a:endParaRPr lang="en-US" sz="1240" dirty="0"/>
          </a:p>
        </p:txBody>
      </p:sp>
      <p:sp>
        <p:nvSpPr>
          <p:cNvPr id="40" name="Shape 38"/>
          <p:cNvSpPr/>
          <p:nvPr/>
        </p:nvSpPr>
        <p:spPr>
          <a:xfrm>
            <a:off x="530352" y="54406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4406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칸 안에 글자를 쓰는 중에는 단축키가 글자로 들어간다. Esc 를 눌러 칸 밖으로 나온 뒤에 누른다.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결과는 무엇이 다른가?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20쪽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5349240" cy="1371600"/>
          </a:xfrm>
          <a:prstGeom prst="roundRect">
            <a:avLst>
              <a:gd name="adj" fmla="val 3333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286000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0"/>
              </a:lnSpc>
              <a:buNone/>
            </a:pPr>
            <a:r>
              <a:rPr lang="en-US" sz="2200" dirty="0">
                <a:solidFill>
                  <a:srgbClr val="9BD1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 + 10</a:t>
            </a:r>
            <a:endParaRPr lang="en-US" sz="2200" dirty="0"/>
          </a:p>
          <a:p>
            <a:pPr indent="0" marL="0">
              <a:lnSpc>
                <a:spcPts val="3740"/>
              </a:lnSpc>
              <a:buNone/>
            </a:pPr>
            <a:r>
              <a:rPr lang="en-US" sz="22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  82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5349240" cy="1371600"/>
          </a:xfrm>
          <a:prstGeom prst="roundRect">
            <a:avLst>
              <a:gd name="adj" fmla="val 3333"/>
            </a:avLst>
          </a:prstGeom>
          <a:solidFill>
            <a:srgbClr val="24272C"/>
          </a:solidFill>
          <a:ln/>
        </p:spPr>
      </p:sp>
      <p:sp>
        <p:nvSpPr>
          <p:cNvPr id="13" name="Text 11"/>
          <p:cNvSpPr/>
          <p:nvPr/>
        </p:nvSpPr>
        <p:spPr>
          <a:xfrm>
            <a:off x="6547104" y="2286000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0"/>
              </a:lnSpc>
              <a:buNone/>
            </a:pPr>
            <a:r>
              <a:rPr lang="en-US" sz="2200" dirty="0">
                <a:solidFill>
                  <a:srgbClr val="9BD1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 &gt;= 60</a:t>
            </a:r>
            <a:endParaRPr lang="en-US" sz="2200" dirty="0"/>
          </a:p>
          <a:p>
            <a:pPr indent="0" marL="0">
              <a:lnSpc>
                <a:spcPts val="3740"/>
              </a:lnSpc>
              <a:buNone/>
            </a:pPr>
            <a:r>
              <a:rPr lang="en-US" sz="2200" b="1" dirty="0">
                <a:solidFill>
                  <a:srgbClr val="7FE0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  True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0352" y="3749040"/>
            <a:ext cx="5349240" cy="1463040"/>
          </a:xfrm>
          <a:prstGeom prst="roundRect">
            <a:avLst>
              <a:gd name="adj" fmla="val 3438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91363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계산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13232" y="440740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새로운 값을 만든다 · 결과는 숫자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6309360" y="3749040"/>
            <a:ext cx="5349240" cy="1463040"/>
          </a:xfrm>
          <a:prstGeom prst="roundRect">
            <a:avLst>
              <a:gd name="adj" fmla="val 3438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91363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92240" y="440740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판단을 만든다 · 결과는 True 또는 False</a:t>
            </a:r>
            <a:endParaRPr lang="en-US" sz="12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비교연산자 여섯 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21쪽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920240"/>
            <a:ext cx="178052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920240"/>
            <a:ext cx="152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10872" y="1920240"/>
            <a:ext cx="378360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2438888" y="1920240"/>
            <a:ext cx="35275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뜻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4476" y="1920240"/>
            <a:ext cx="333847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6222492" y="1920240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32950" y="1920240"/>
            <a:ext cx="222565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9560966" y="1920240"/>
            <a:ext cx="1969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23225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322576"/>
            <a:ext cx="152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&gt;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2438888" y="2322576"/>
            <a:ext cx="3527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크다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6222492" y="2322576"/>
            <a:ext cx="3082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 &gt; 5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9560966" y="23225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True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530352" y="27797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779776"/>
            <a:ext cx="152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&lt;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2438888" y="2779776"/>
            <a:ext cx="3527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작다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6222492" y="2779776"/>
            <a:ext cx="3082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 &lt; 5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9560966" y="27797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False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530352" y="32369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236976"/>
            <a:ext cx="152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&gt;=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2438888" y="3236976"/>
            <a:ext cx="3527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크거나 같다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6222492" y="3236976"/>
            <a:ext cx="3082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 &gt;= 8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9560966" y="32369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True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30352" y="36941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3694176"/>
            <a:ext cx="152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&lt;=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2438888" y="3694176"/>
            <a:ext cx="3527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작거나 같다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6222492" y="3694176"/>
            <a:ext cx="3082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 &lt;= 7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9560966" y="36941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False</a:t>
            </a:r>
            <a:endParaRPr lang="en-US" sz="1240" dirty="0"/>
          </a:p>
        </p:txBody>
      </p:sp>
      <p:sp>
        <p:nvSpPr>
          <p:cNvPr id="38" name="Shape 36"/>
          <p:cNvSpPr/>
          <p:nvPr/>
        </p:nvSpPr>
        <p:spPr>
          <a:xfrm>
            <a:off x="530352" y="41513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151376"/>
            <a:ext cx="152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==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2438888" y="4151376"/>
            <a:ext cx="3527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같다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6222492" y="4151376"/>
            <a:ext cx="3082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 == 8</a:t>
            </a: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9560966" y="41513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True</a:t>
            </a:r>
            <a:endParaRPr lang="en-US" sz="1240" dirty="0"/>
          </a:p>
        </p:txBody>
      </p:sp>
      <p:sp>
        <p:nvSpPr>
          <p:cNvPr id="43" name="Shape 41"/>
          <p:cNvSpPr/>
          <p:nvPr/>
        </p:nvSpPr>
        <p:spPr>
          <a:xfrm>
            <a:off x="530352" y="46085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608576"/>
            <a:ext cx="152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!=</a:t>
            </a:r>
            <a:endParaRPr lang="en-US" sz="1240" dirty="0"/>
          </a:p>
        </p:txBody>
      </p:sp>
      <p:sp>
        <p:nvSpPr>
          <p:cNvPr id="45" name="Text 43"/>
          <p:cNvSpPr/>
          <p:nvPr/>
        </p:nvSpPr>
        <p:spPr>
          <a:xfrm>
            <a:off x="2438888" y="4608576"/>
            <a:ext cx="3527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같지 않다</a:t>
            </a:r>
            <a:endParaRPr lang="en-US" sz="1240" dirty="0"/>
          </a:p>
        </p:txBody>
      </p:sp>
      <p:sp>
        <p:nvSpPr>
          <p:cNvPr id="46" name="Text 44"/>
          <p:cNvSpPr/>
          <p:nvPr/>
        </p:nvSpPr>
        <p:spPr>
          <a:xfrm>
            <a:off x="6222492" y="4608576"/>
            <a:ext cx="3082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 != 5</a:t>
            </a: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9560966" y="46085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True</a:t>
            </a: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530352" y="5175504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5175504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등호가 붙어 있으면 같을 때도 참이다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30352" y="5779008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5779008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등호는 뒤에 온다.   &gt;=  ○      =&gt;  ✕ 라고 쓰면 SyntaxError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등호 하나와 등호 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21쪽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5349240" cy="2651760"/>
          </a:xfrm>
          <a:prstGeom prst="roundRect">
            <a:avLst>
              <a:gd name="adj" fmla="val 189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저장한다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182112"/>
            <a:ext cx="4983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score = 72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72 라는 값을 score 라는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이름에 넣는다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5349240" cy="2651760"/>
          </a:xfrm>
          <a:prstGeom prst="roundRect">
            <a:avLst>
              <a:gd name="adj" fmla="val 189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26771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==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68833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비교한다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92240" y="3182112"/>
            <a:ext cx="4983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score == 72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score 안의 값이 72 와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같은지 묻는다</a:t>
            </a:r>
            <a:endParaRPr lang="en-US" sz="12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정확히 60점인 사람은 통과일까?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22쪽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11128248" cy="2148840"/>
          </a:xfrm>
          <a:prstGeom prst="roundRect">
            <a:avLst>
              <a:gd name="adj" fmla="val 2128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194560"/>
            <a:ext cx="10652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59 &gt;= 60      →   ?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 &gt;= 60      →   ?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 &gt;= 60      →   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" y="4434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실행하기 전에 세 줄의 결과를 먼저 예상해 적는다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포함하는 말과 포함하지 않는 말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23–24쪽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130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60점 이상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11680" y="2514600"/>
            <a:ext cx="7863840" cy="0"/>
          </a:xfrm>
          <a:prstGeom prst="line">
            <a:avLst/>
          </a:prstGeom>
          <a:noFill/>
          <a:ln w="25400">
            <a:solidFill>
              <a:srgbClr val="E0E3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514600"/>
            <a:ext cx="3931920" cy="0"/>
          </a:xfrm>
          <a:prstGeom prst="line">
            <a:avLst/>
          </a:prstGeom>
          <a:noFill/>
          <a:ln w="63500">
            <a:solidFill>
              <a:srgbClr val="FF5C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43016" y="2414016"/>
            <a:ext cx="201168" cy="201168"/>
          </a:xfrm>
          <a:prstGeom prst="ellipse">
            <a:avLst/>
          </a:prstGeom>
          <a:solidFill>
            <a:srgbClr val="FF5C00"/>
          </a:solidFill>
          <a:ln w="25400">
            <a:solidFill>
              <a:srgbClr val="FF5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112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60도 포함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" y="39593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60점 초과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011680" y="4343400"/>
            <a:ext cx="7863840" cy="0"/>
          </a:xfrm>
          <a:prstGeom prst="line">
            <a:avLst/>
          </a:prstGeom>
          <a:noFill/>
          <a:ln w="25400">
            <a:solidFill>
              <a:srgbClr val="E0E3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4343400"/>
            <a:ext cx="3931920" cy="0"/>
          </a:xfrm>
          <a:prstGeom prst="line">
            <a:avLst/>
          </a:prstGeom>
          <a:noFill/>
          <a:ln w="63500">
            <a:solidFill>
              <a:srgbClr val="FF5C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43016" y="4242816"/>
            <a:ext cx="201168" cy="20116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4507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941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60은 빠짐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5212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12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이상·이하는 기준값을 포함하고, 초과·미만은 포함하지 않는다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문장에서 기준을 찾아낸다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25–26쪽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783080"/>
            <a:ext cx="11128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“체온이 37.5도 이상이면 보건실에 간다.”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30352" y="2514600"/>
            <a:ext cx="2679192" cy="1965960"/>
          </a:xfrm>
          <a:prstGeom prst="roundRect">
            <a:avLst>
              <a:gd name="adj" fmla="val 2558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7919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3099816"/>
            <a:ext cx="2313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비교할 값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3232" y="3593592"/>
            <a:ext cx="23134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46704" y="2514600"/>
            <a:ext cx="2679192" cy="1965960"/>
          </a:xfrm>
          <a:prstGeom prst="roundRect">
            <a:avLst>
              <a:gd name="adj" fmla="val 2558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9584" y="267919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9584" y="3099816"/>
            <a:ext cx="2313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기준값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29584" y="3593592"/>
            <a:ext cx="23134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37.5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63056" y="2514600"/>
            <a:ext cx="2679192" cy="1965960"/>
          </a:xfrm>
          <a:prstGeom prst="roundRect">
            <a:avLst>
              <a:gd name="adj" fmla="val 2558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67919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45936" y="3099816"/>
            <a:ext cx="2313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경계 포함?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345936" y="3593592"/>
            <a:ext cx="23134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이상 → 포함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79408" y="2514600"/>
            <a:ext cx="2679192" cy="1965960"/>
          </a:xfrm>
          <a:prstGeom prst="roundRect">
            <a:avLst>
              <a:gd name="adj" fmla="val 2558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62288" y="267919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62288" y="3099816"/>
            <a:ext cx="2313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비교식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62288" y="3593592"/>
            <a:ext cx="23134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체온 &gt;= 37.5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" y="553212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네 칸이 워크시트의 네 칸이다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워크시트 ① 문장을 비교식으로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27쪽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920240"/>
            <a:ext cx="8902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920240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#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20612" y="1920240"/>
            <a:ext cx="578668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1548628" y="1920240"/>
            <a:ext cx="55306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07301" y="1920240"/>
            <a:ext cx="222565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7335317" y="1920240"/>
            <a:ext cx="1969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경계 표현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32950" y="1920240"/>
            <a:ext cx="222565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9560966" y="1920240"/>
            <a:ext cx="1969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23225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322576"/>
            <a:ext cx="63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548628" y="2322576"/>
            <a:ext cx="55306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체온이 37.5도 이상이면 보건실에 간다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7335317" y="23225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9560966" y="23225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530352" y="27797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779776"/>
            <a:ext cx="63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548628" y="2779776"/>
            <a:ext cx="55306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지각은 8시 30분을 넘겨 들어오는 것이다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335317" y="27797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9560966" y="27797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530352" y="32369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236976"/>
            <a:ext cx="63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1548628" y="3236976"/>
            <a:ext cx="55306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책은 한 번에 3권까지 빌릴 수 있다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35317" y="32369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9560966" y="32369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30352" y="36941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3694176"/>
            <a:ext cx="63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1548628" y="3694176"/>
            <a:ext cx="55306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18세 미만은 이 영화를 볼 수 없다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7335317" y="36941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9560966" y="36941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8" name="Shape 36"/>
          <p:cNvSpPr/>
          <p:nvPr/>
        </p:nvSpPr>
        <p:spPr>
          <a:xfrm>
            <a:off x="530352" y="415137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151376"/>
            <a:ext cx="63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1548628" y="4151376"/>
            <a:ext cx="55306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수행평가는 60점 이상이어야 통과다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7335317" y="41513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9560966" y="41513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43" name="Shape 41"/>
          <p:cNvSpPr/>
          <p:nvPr/>
        </p:nvSpPr>
        <p:spPr>
          <a:xfrm>
            <a:off x="530352" y="460857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608576"/>
            <a:ext cx="63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</a:t>
            </a:r>
            <a:endParaRPr lang="en-US" sz="1240" dirty="0"/>
          </a:p>
        </p:txBody>
      </p:sp>
      <p:sp>
        <p:nvSpPr>
          <p:cNvPr id="45" name="Text 43"/>
          <p:cNvSpPr/>
          <p:nvPr/>
        </p:nvSpPr>
        <p:spPr>
          <a:xfrm>
            <a:off x="1548628" y="4608576"/>
            <a:ext cx="55306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국어 점수가 영어 점수와 다르면 표시한다</a:t>
            </a:r>
            <a:endParaRPr lang="en-US" sz="1240" dirty="0"/>
          </a:p>
        </p:txBody>
      </p:sp>
      <p:sp>
        <p:nvSpPr>
          <p:cNvPr id="46" name="Text 44"/>
          <p:cNvSpPr/>
          <p:nvPr/>
        </p:nvSpPr>
        <p:spPr>
          <a:xfrm>
            <a:off x="7335317" y="46085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9560966" y="4608576"/>
            <a:ext cx="1969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530352" y="53949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53949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코드를 실행하지 않는다. 교과서에 손으로 적는다.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말은 포함일까, 아닐까?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28–29쪽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286000"/>
            <a:ext cx="11128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“과제는 9월 3일까지 제출하세요.”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0352" y="3291840"/>
            <a:ext cx="11128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9월 3일 밤에 낸 사람은 늦은 걸까?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남길 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코드가 정확해도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기준이 틀리면 판단이 틀린다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" y="38404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도구 준비 → 숫자와 변수 → 결과 보는 자리와 비교 →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여러 값 묶기 → 그래프 → 표 데이터 → 수행평가 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03-1 · 30쪽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2026-09-07T23:31:25Z</dcterms:created>
  <dcterms:modified xsi:type="dcterms:W3CDTF">2026-09-07T23:31:25Z</dcterms:modified>
</cp:coreProperties>
</file>