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7327cd787d46a3" /><Relationship Type="http://schemas.openxmlformats.org/officeDocument/2006/relationships/extended-properties" Target="/docProps/app.xml" Id="R060d5e9762994355" /><Relationship Type="http://schemas.openxmlformats.org/officeDocument/2006/relationships/officeDocument" Target="/ppt/presentation.xml" Id="Rbb7c37b346a84f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bc0a5652a048c6"/>
  </p:sldMasterIdLst>
  <p:notesMasterIdLst>
    <p:notesMasterId xmlns:r="http://schemas.openxmlformats.org/officeDocument/2006/relationships" r:id="Ra8ac3728c2454160"/>
  </p:notesMasterIdLst>
  <p:sldIdLst>
    <p:sldId xmlns:r="http://schemas.openxmlformats.org/officeDocument/2006/relationships" id="256" r:id="Rf0419806661a4fea"/>
    <p:sldId xmlns:r="http://schemas.openxmlformats.org/officeDocument/2006/relationships" id="257" r:id="R7438c2786cc34f2d"/>
    <p:sldId xmlns:r="http://schemas.openxmlformats.org/officeDocument/2006/relationships" id="258" r:id="Rb19bc6423c044402"/>
    <p:sldId xmlns:r="http://schemas.openxmlformats.org/officeDocument/2006/relationships" id="259" r:id="Re7109a79157d44bb"/>
    <p:sldId xmlns:r="http://schemas.openxmlformats.org/officeDocument/2006/relationships" id="260" r:id="R1f3bbaf81ecd4dd2"/>
    <p:sldId xmlns:r="http://schemas.openxmlformats.org/officeDocument/2006/relationships" id="261" r:id="R5fe7e0b912d64400"/>
    <p:sldId xmlns:r="http://schemas.openxmlformats.org/officeDocument/2006/relationships" id="262" r:id="R53687efd669c4b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9656eb198343e6" /><Relationship Type="http://schemas.openxmlformats.org/officeDocument/2006/relationships/slideMaster" Target="/ppt/slideMasters/slideMaster1.xml" Id="R18bc0a5652a048c6" /><Relationship Type="http://schemas.openxmlformats.org/officeDocument/2006/relationships/notesMaster" Target="/ppt/notesMasters/notesMaster1.xml" Id="Ra8ac3728c2454160" /><Relationship Type="http://schemas.openxmlformats.org/officeDocument/2006/relationships/presProps" Target="/ppt/presProps.xml" Id="R5bf9cdcc99c04e4a" /><Relationship Type="http://schemas.openxmlformats.org/officeDocument/2006/relationships/tableStyles" Target="/ppt/tableStyles.xml" Id="R45a6ddfd88324716" /><Relationship Type="http://schemas.openxmlformats.org/officeDocument/2006/relationships/slide" Target="/ppt/slides/slide1.xml" Id="Rf0419806661a4fea" /><Relationship Type="http://schemas.openxmlformats.org/officeDocument/2006/relationships/slide" Target="/ppt/slides/slide2.xml" Id="R7438c2786cc34f2d" /><Relationship Type="http://schemas.openxmlformats.org/officeDocument/2006/relationships/slide" Target="/ppt/slides/slide3.xml" Id="Rb19bc6423c044402" /><Relationship Type="http://schemas.openxmlformats.org/officeDocument/2006/relationships/slide" Target="/ppt/slides/slide4.xml" Id="Re7109a79157d44bb" /><Relationship Type="http://schemas.openxmlformats.org/officeDocument/2006/relationships/slide" Target="/ppt/slides/slide5.xml" Id="R1f3bbaf81ecd4dd2" /><Relationship Type="http://schemas.openxmlformats.org/officeDocument/2006/relationships/slide" Target="/ppt/slides/slide6.xml" Id="R5fe7e0b912d64400" /><Relationship Type="http://schemas.openxmlformats.org/officeDocument/2006/relationships/slide" Target="/ppt/slides/slide7.xml" Id="R53687efd669c4b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12c12af4e34e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da8342bcc54817" /><Relationship Type="http://schemas.openxmlformats.org/officeDocument/2006/relationships/notesMaster" Target="/ppt/notesMasters/notesMaster1.xml" Id="R223566ae25c74e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a7ad6dc8254c24" /><Relationship Type="http://schemas.openxmlformats.org/officeDocument/2006/relationships/notesMaster" Target="/ppt/notesMasters/notesMaster1.xml" Id="R946604ffed4d4d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e550968b5f4dfd" /><Relationship Type="http://schemas.openxmlformats.org/officeDocument/2006/relationships/notesMaster" Target="/ppt/notesMasters/notesMaster1.xml" Id="Rc6176012db9a4f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64d8596df546d7" /><Relationship Type="http://schemas.openxmlformats.org/officeDocument/2006/relationships/notesMaster" Target="/ppt/notesMasters/notesMaster1.xml" Id="Reba50bf0f4a24d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06db8af0134bd3" /><Relationship Type="http://schemas.openxmlformats.org/officeDocument/2006/relationships/notesMaster" Target="/ppt/notesMasters/notesMaster1.xml" Id="R0a5d0c48ef484f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93aa1028f04fec" /><Relationship Type="http://schemas.openxmlformats.org/officeDocument/2006/relationships/notesMaster" Target="/ppt/notesMasters/notesMaster1.xml" Id="R2a7d15e879ef40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437261993d4d4f" /><Relationship Type="http://schemas.openxmlformats.org/officeDocument/2006/relationships/notesMaster" Target="/ppt/notesMasters/notesMaster1.xml" Id="R394dfc141f1343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[45분 운영]</a:t>
            </a:r>
          </a:p>
          <a:p xmlns:a="http://schemas.openxmlformats.org/drawingml/2006/main">
            <a:r>
              <a:t>0–8분: 두 프로젝트의 도구 충돌 장면</a:t>
            </a:r>
          </a:p>
          <a:p xmlns:a="http://schemas.openxmlformats.org/drawingml/2006/main">
            <a:r>
              <a:t>8–15분: 프로젝트별 도구함 비유</a:t>
            </a:r>
          </a:p>
          <a:p xmlns:a="http://schemas.openxmlformats.org/drawingml/2006/main">
            <a:r>
              <a:t>15–28분: Jupyter·uv 설치와 uv sync</a:t>
            </a:r>
          </a:p>
          <a:p xmlns:a="http://schemas.openxmlformats.org/drawingml/2006/main">
            <a:r>
              <a:t>28–35분: 인터프리터·커널 선택</a:t>
            </a:r>
          </a:p>
          <a:p xmlns:a="http://schemas.openxmlformats.org/drawingml/2006/main">
            <a:r>
              <a:t>35–42분: 준비 Notebook에서 환경·list·dict 확인</a:t>
            </a:r>
          </a:p>
          <a:p xmlns:a="http://schemas.openxmlformats.org/drawingml/2006/main">
            <a:r>
              <a:t>42–45분: 세 행동 정리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오늘은 어려운 명령을 외우는 시간이 아니라 앞으로 그래프 도구를 안전하게 꺼내 쓰기 위한 준비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하나의 공용 도구함을 두 프로젝트가 함께 쓴다고 생각합니다. A가 옛 버전 렌치를 원하고 B가 새 버전을 원하면 한쪽을 맞출 때 다른 쪽이 멈출 수 있습니다. 그래서 프로젝트 옆에 전용 도구함을 둡니다.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.venv는 도구함, pyproject.toml은 필요한 도구 목록, uv.lock은 정확한 제품과 버전이 적힌 준비 기록입니다. 비유가 끝나면 실제 폴더 이름을 반드시 짚습니다. 가상환경은 별도 컴퓨터나 보안 공간이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학생이 기억할 행동은 폴더 열기, uv sync, .venv 선택입니다. 확장과 uv가 없으면 설치하고 VS Code를 완전히 닫아 다시 엽니다. 설치가 끝난 학생은 옆 학생의 화면을 함께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프로젝트마다 같은 이름의 .venv가 있어도 서로 다른 폴더입니다. 03-2_environment_and_structures.ipynb를 열고 오른쪽 위 커널도 같은 .venv로 선택합니다. sys.executable 경로에서 프로젝트 이름과 .venv를 찾습니다.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list는 위치와 순서로, dict는 이름과 의미로 값을 묶습니다. 학생은 준비 셀을 실행하고 결과만 읽습니다. 추가·삭제나 반복 문법으로 확장하지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[예상 질문]</a:t>
            </a:r>
          </a:p>
          <a:p xmlns:a="http://schemas.openxmlformats.org/drawingml/2006/main">
            <a:r>
              <a:t>왜 첫 번호가 0인가요? → 컴퓨터가 첫 위치를 시작점에서 0만큼 떨어진 곳으로 세는 방식에서 출발했다고 짧게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환경을 먼저 확인하고 자료를 실행합니다. 도구함이 맞지 않으면 코드가 맞아도 라이브러리를 찾지 못합니다. 시간이 남으면 다른 환경을 선택한 화면과 정상 화면을 비교합니다.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62bf32039b4a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6feb8786914741" /><Relationship Type="http://schemas.openxmlformats.org/officeDocument/2006/relationships/slideLayout" Target="/ppt/slideLayouts/slideLayout1.xml" Id="Rfdc8e4589b6246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c8e4589b6246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a7e94481d460d" /><Relationship Type="http://schemas.openxmlformats.org/officeDocument/2006/relationships/notesSlide" Target="/ppt/notesSlides/notesSlide1.xml" Id="R1eadcff8ca9b46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176237f94464f" /><Relationship Type="http://schemas.openxmlformats.org/officeDocument/2006/relationships/notesSlide" Target="/ppt/notesSlides/notesSlide2.xml" Id="R1a17ee7bc6254a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f47aa126846b5" /><Relationship Type="http://schemas.openxmlformats.org/officeDocument/2006/relationships/notesSlide" Target="/ppt/notesSlides/notesSlide3.xml" Id="Rc882585bdc234a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ebc65506b4157" /><Relationship Type="http://schemas.openxmlformats.org/officeDocument/2006/relationships/notesSlide" Target="/ppt/notesSlides/notesSlide4.xml" Id="R2de0402a91db42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ad4e8ccd34d34" /><Relationship Type="http://schemas.openxmlformats.org/officeDocument/2006/relationships/image" Target="/ppt/media/image.png" Id="R5fa28d60b71540df" /><Relationship Type="http://schemas.openxmlformats.org/officeDocument/2006/relationships/notesSlide" Target="/ppt/notesSlides/notesSlide5.xml" Id="Rf749046123ba40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f30d5136449ac" /><Relationship Type="http://schemas.openxmlformats.org/officeDocument/2006/relationships/notesSlide" Target="/ppt/notesSlides/notesSlide6.xml" Id="R8e889e3a7f404e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dd07fb109451e" /><Relationship Type="http://schemas.openxmlformats.org/officeDocument/2006/relationships/notesSlide" Target="/ppt/notesSlides/notesSlide7.xml" Id="R82c12bd7285e4a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D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0DFF9-EC3C-4F5E-BF94-E8D0B83C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E31AD-7223-4479-8594-5DE00CCE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장대현중고등학교 · 2026학년도 2학기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75CC8-30C9-492D-9F0E-E92B91B5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33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03-2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E0391-B705-460B-B564-5014063D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프로젝트별 Python 환경과 자료구조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4FEC6-DF96-4C6F-8644-9AC67434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87E46-F76C-48F5-A953-2CAA0EBE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프로젝트마다 별도 도구함을 준비하고, 여러 값을 list와 dict로 묶습니다.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87667-CD22-4E15-BC83-CF37074E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rPr>
              <a:t>수업자료 3-2</a:t>
            </a:r>
          </a:p>
        </p:txBody>
      </p:sp>
    </p:spTree>
    <p:extLst>
      <p:ext uri="{BB962C8B-B14F-4D97-AF65-F5344CB8AC3E}">
        <p14:creationId xmlns:p14="http://schemas.microsoft.com/office/powerpoint/2010/main" val="2118893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6CE8A-4F6C-4413-AE7E-7EB0536F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5AB99-487D-4A39-BF64-C3363820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5ACD2-B3B4-4D07-9198-C016A642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A1E21-E13B-466F-8F1E-188B143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왜 모든 라이브러리를 한곳에 설치하지 않을까요?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424B4-D138-4388-990B-86ECBA70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41F88-F8C9-4E35-B364-B2E333F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1F02F-29D9-4770-BF49-EEBDFBD8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프로젝트마다 필요한 도구와 버전이 다르면 한쪽 변경이 다른 쪽을 멈출 수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CAE29-3AC3-4D6A-AB27-489EA446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97917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34CA8-5A08-4A87-8B39-79419F48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718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Project A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이전 버전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8A8DB-4649-4FB1-B2CB-D3BB60F5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C1D3A-8637-45B7-B11B-6EF8F5CE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71825"/>
            <a:ext cx="245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전역 설치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서로 충돌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F795E-0438-482A-9DD6-D03975B4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0268F-07AE-4D4E-8D33-63B9E942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71825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Project B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새 버전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2E1D5-2B69-4CDF-B097-FC103ACE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가상환경은 프로젝트마다 사용할 Python과 라이브러리의 자리를 나눕니다.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9A2B6-FF5A-4FCC-83B8-A46912E0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3-2</a:t>
            </a:r>
          </a:p>
        </p:txBody>
      </p:sp>
    </p:spTree>
    <p:extLst>
      <p:ext uri="{BB962C8B-B14F-4D97-AF65-F5344CB8AC3E}">
        <p14:creationId xmlns:p14="http://schemas.microsoft.com/office/powerpoint/2010/main" val="1275925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프로젝트별 도구함으로 이해합니다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.venv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전용 도구함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그 프로젝트가 사용할 Python과 라이브러리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8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pyproject.toml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도구 목록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프로젝트에 필요한 항목을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uv.lock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정확한 기록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다른 컴퓨터에서도 같은 버전을 준비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가상환경은 별도 컴퓨터나 보안 공간이 아니라 프로젝트 옆의 폴더입니다.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3-2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E71833-949F-473B-AA98-6414C491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7CE97-F21C-45F4-B764-3ADA083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39F5A-0AA1-4A92-9FB0-4FC1A07F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FEBD6-82E5-489A-A4AF-97113A5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프로젝트 폴더를 열고 같은 .venv를 선택합니다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E1FD4-BC3A-4018-B2F0-6E550F77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FFF27-4FC7-4A7B-8C31-E51F4593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532B0-9B57-46EC-89A0-66E04E61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43075"/>
            <a:ext cx="6477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D87A3-D06C-466A-9406-1CCCF1E2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폴더 열기 → uv sync → 인터프리터·커널에서 .venv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517D5-ADCB-4B17-BAF8-12AB825E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A06EB-FCE1-4684-9552-3E42E177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198BD-3458-49A6-B7AC-D219E71C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확장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BD13C-84A7-43D3-9F76-E7A838CC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Jupyter 설치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B9C01-9C5B-4EEB-ADF2-95C09BDB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3C842-E501-4C8A-ADDD-1B813DDA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01508-E42F-4EBA-903B-6D05A9F2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F8B4C-B8B2-449F-82FB-E726B54D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uv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E7079-60D6-4B7B-B4E5-12E45E64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버전 확인·설치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C3E6B-E4CD-4BB8-8D48-8E6BF4A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5AE95-3707-4923-AC32-E4FC41B9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9B20C-0DCD-445D-A9F0-55339211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0A81C-BD9B-4E12-8336-08784EC0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동기화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1B2A4-F835-4286-B9C1-50C505C6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uv sync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C7B88-AC02-4263-AE8F-3E7621DC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540F2-8C0C-462D-ABA5-68053929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E9BA3-01CB-47C1-ACB0-3CD425E3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4DDE7-77B0-42A9-8E9E-7D56C9F2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인터프리터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BC0C1A-75F8-4502-99F2-04B37E19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.venv 선택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E90E5-FE88-4EB8-B8FA-E24264BD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77A8F4-9866-4F26-B01B-99689513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5D5881-A257-4755-905F-AF933162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0E7C86"/>
                </a:solidFill>
                <a:latin typeface="Archivo"/>
                <a:ea typeface="Archivo"/>
                <a:cs typeface="Archivo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F37F3A-E964-4A0E-B61C-9D139D6E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커널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AB8C2D-C2E8-4073-8D23-18C62627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같은 .venv 선택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DC38BC-E6D1-456C-B0A5-C1A08BFE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03-2_environment_and_structures.ipynb에서 .venv 경로를 확인합니다.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65D98E-4C16-4900-978D-0E44CD7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3-2</a:t>
            </a:r>
          </a:p>
        </p:txBody>
      </p:sp>
    </p:spTree>
    <p:extLst>
      <p:ext uri="{BB962C8B-B14F-4D97-AF65-F5344CB8AC3E}">
        <p14:creationId xmlns:p14="http://schemas.microsoft.com/office/powerpoint/2010/main" val="16854851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프로젝트마다 자신의 도구함을 둡니다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05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28d60b71540df"/>
          <a:stretch xmlns:a="http://schemas.openxmlformats.org/drawingml/2006/main"/>
        </p:blipFill>
        <p:spPr>
          <a:xfrm xmlns:a="http://schemas.openxmlformats.org/drawingml/2006/main">
            <a:off x="533400" y="1821816"/>
            <a:ext cx="6896100" cy="3881118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D2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112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Project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data · graph 도구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431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D2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112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Project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web · service 도구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도구를 서로 섞지 않기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3-2</a:t>
            </a:r>
          </a:p>
        </p:txBody>
      </p:sp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list와 dict는 여러 값을 다르게 묶습니다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순서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[72, 85, 90] · 위치는 0부터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dict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이름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name: 민준 · score: 85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무엇으로 찾나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순서면 list, 의미 있는 이름이면 dict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추가·삭제·복잡한 반복은 하지 않고 모양과 역할만 구분합니다.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3-2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D84A4-768F-472D-9848-F5AB664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66864-8A40-45AF-9B4C-98FC1B8A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FBD8F-39FD-442E-8878-DE6416D5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E2401-6019-4F48-A131-23C632F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환경을 먼저 확인한 뒤 자료를 실행합니다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3612F-9EF3-486E-8E80-CC954EF3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BC44F-BF50-4A05-96DE-150B9C87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A9CDE-9344-4424-824E-46171BD6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555-3F47-4856-A3A9-EA18FFBD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19325"/>
            <a:ext cx="986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라이브러리를 쓰기 전, 같은 프로젝트 환경을 선택합니다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1DF65-3627-41F2-A074-6910C173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0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프로젝트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734E0-D545-4AC4-8C0C-13AB0F51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7861F-72F7-46EB-8A6D-7A84361D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uv sync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B180A-8939-46E1-AA66-C6CE2A3C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8B9CC-8A07-4804-BB79-691A20A9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.venv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319C8-991F-4849-9638-58791227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51057-987C-4730-A3B5-24BA4758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908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list·dict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1EA09-0954-4D6C-8A82-74650CD0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프로젝트 열기 → 환경 준비 → 같은 환경 선택 → 값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D0CFB-923C-4C1E-9DE2-01DCC0E9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다음 차시: 같은 환경에서 Matplotlib으로 그래프를 만듭니다.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F9A22-2C31-41EA-B269-AD14C918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3-2</a:t>
            </a:r>
          </a:p>
        </p:txBody>
      </p:sp>
    </p:spTree>
    <p:extLst>
      <p:ext uri="{BB962C8B-B14F-4D97-AF65-F5344CB8AC3E}">
        <p14:creationId xmlns:p14="http://schemas.microsoft.com/office/powerpoint/2010/main" val="1879392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2026-08-30T17:35:38.6950000Z</dcterms:created>
  <dcterms:modified xsi:type="dcterms:W3CDTF">2026-08-30T17:35:38.6950000Z</dcterms:modified>
</coreProperties>
</file>