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계획 — 학생 화면에는 표시하지 않는다]
0–3분 오늘의 세 단계 · 3–7분 터미널 두 개 · 7–18분 요청 ①과 확인 · 18–26분 요청 ②와 시험 · 26–33분 다를 때 · 33–38분 다시 켜기 · 38–45분 마지막 확인과 정리
밀리면 「다를 때」는 막힌 학생에게만 개별로. 다시 켜기 5분은 11회로 넘어가는 다리라 줄이지 않는다.
[0–1분] 표지
10-1에서 예시 버튼이 요청을 보내고 응답을 받는 걸 봤다. 오늘은 그 자리에 내 서비스의 핵심 행동을 넣는다.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[1–3분] 세 단계
고치는 건 AI가 한다. 그런데 AI가 내 약속과 다르게 만들면 그걸 알아챌 사람은 나뿐이다.
그래서 9회처럼 단계를 나눈다. 먼저 계획을 설명하게 하고, 내가 확인하고, 진행하게 하고, 화면에서 직접 눌러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[3–7분] 터미널 두 개
오늘은 서비스를 켜 둔 채로 AI와 이야기한다. npm run dev를 켠 터미널은 계속 일하고 있어서 거기에 다른 걸 칠 수 없다.
터미널 오른쪽 위 +를 눌러 하나 더 연다. 줄 끝이 …\10&gt; 인지 보고 opencode.
아직 아무것도 고치지 않았는데 예시 화면이 안 열리면 환경 문제다. AI에게 고치게 하지 말고 손을 든다.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[7–13분] 요청 ①
첫 요청은 아무 파일도 고치지 않게 하고 연결 계획만 설명하게 한다.
교과서 4쪽 요청문을 복사해 붙인 뒤 빈칸 세 개를 약속표에서 옮겨 채운다.
AI가 여섯 줄을 설명한다. 행동, 주소와 방법, 보낼 것, 받을 것, 화면 변화, 고칠 파일.
저장, 파일 올리기, 로그인, 외부 API, 새 패키지는 넣지 말라고 요청문에 있다. 저장은 11회다.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[13–18분] 계획 확인
진행하라고 하기 전에 다섯 질문으로 확인한다. 하나라도 아니요면 그 줄만 다시 묻는다.
모두 예면 AI가 제안한 요청 주소와 방법을 약속표 빈칸에 내가 적는다.
그리고 짝에게 내 말로 말해 본다. 요청 주소, 방법, 보낼 것, 받을 것. 말이 막히면 「___이 무슨 뜻인지 쉽게 다시 설명해 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[18–26분] 진행해와 시험
계획이 맞으면 짧게 「진행해」. AI가 고치는 동안 기다리고, 끝나면 무엇을 바꿨는지 대화창에서 읽는다.
서비스는 터미널 ①에서 계속 켜져 있어서 고친 게 브라우저에 저절로 반영된다. 새로고침하고 내 손으로 누른다.
정상 입력, 잘못된 입력 두 번. 본 것을 약속표 2항에 적는다. 이 표는 12회 테스트 기록의 연습이다.
[썰 — 시간이 남을 때만] F12 → 네트워크 탭을 열고 버튼을 누르면 요청 한 줄이 생기고, 누르면 응답 JSON이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[26–33분] 다를 때
화면이 약속과 다르게 움직이면 「안 돼, 다시 해 줘」라고 보내기 쉽다. 그러면 AI가 프로젝트를 크게 다시 만들고 잘되던 부분까지 바뀐다.
대신 원래 약속, 내가 한 행동, 실제로 보인 것을 그대로 전한다. 그리고 다섯 칸 중 처음 달라진 한 칸만 찾아 가장 작은 수정을 제안하게 한다. 아직 고치지는 말라고.
수정 제안이 이해되면 「진행해」, 그리고 고장 났던 그 입력 그대로 다시 눌러 본다. 결과는 AI의 말이 아니라 화면으로 확인한다.
[진행 메모] 막힌 학생이 없으면 이 장은 짧게 넘어가고, 막힌 학생에게 개별로 안내한다.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[33–38분] 다시 켜기
핵심 행동이 약속대로 움직였으면 하나 더 해 본다. 터미널 ①에서 Ctrl+C, npm run dev, 새로고침.
방금 입력한 게 남아 있나? 대부분 사라진다. 오늘의 API는 답만 하고 기억하지 않는다.
약속표 3항에 적는다. 사라지는 것, 11회에 저장할 기록, 그 기록을 다시 보는 순간.
7-2에서 PRD 5항에 적은 기록과 같은지 본다. 다르면 왜 달라졌는지 한 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[38–42분] 마지막 확인
다섯 줄을 하나씩 확인한다. 다음 시간에 같은 폴더에서 이어서 하니 오늘 상태가 정리되어 있어야 한다.
package.json이 바뀌었다면 AI가 패키지를 설치한 것이다. 「방금 설치한 패키지를 지우고 package.json을 원래대로 되돌려 줘」 그리고 손을 든다.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[42–44분] 막힐 때
교과서 12쪽 표. 코드를 고치기 시작하면 막히는 일이 는다. 당황하지 말고 화면과 터미널의 글자를 먼저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[44–45분] 마무리
남길 것: 코드를 고치는 요청은 계획 설명 → 내가 확인 → 진행해로 나눈다. 결과는 AI의 말이 아니라 화면에서 직접. 고장 나면 원래 약속 · 내 행동 · 보인 것을 전하고 처음 달라진 한 단계만. 지금의 API는 기억하지 못한다.
10 폴더는 그대로 둔다. 11회에 같은 폴더를 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10회 · 둘째 차시</a:t>
            </a:r>
            <a:endParaRPr lang="en-US" sz="1200" dirty="0"/>
          </a:p>
        </p:txBody>
      </p:sp>
      <p:sp>
        <p:nvSpPr>
          <p:cNvPr id="4" name="Text 2"/>
          <p:cNvSpPr/>
          <p:nvPr/>
        </p:nvSpPr>
        <p:spPr>
          <a:xfrm>
            <a:off x="530352" y="1828800"/>
            <a:ext cx="10424160" cy="1783080"/>
          </a:xfrm>
          <a:prstGeom prst="rect">
            <a:avLst/>
          </a:prstGeom>
          <a:noFill/>
          <a:ln/>
        </p:spPr>
        <p:txBody>
          <a:bodyPr wrap="square" lIns="0" tIns="0" rIns="0" bIns="0" rtlCol="0" anchor="ctr"/>
          <a:lstStyle/>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AI와 핵심 API</a:t>
            </a:r>
            <a:endParaRPr lang="en-US" sz="4000" dirty="0"/>
          </a:p>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연결하기</a:t>
            </a:r>
            <a:endParaRPr lang="en-US" sz="4000" dirty="0"/>
          </a:p>
        </p:txBody>
      </p:sp>
      <p:sp>
        <p:nvSpPr>
          <p:cNvPr id="5" name="Text 3"/>
          <p:cNvSpPr/>
          <p:nvPr/>
        </p:nvSpPr>
        <p:spPr>
          <a:xfrm>
            <a:off x="530352" y="365760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코드보다 약속을 먼저 설명하게 하고,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내 서비스의 버튼 하나를 요청과 응답으로 잇습니다.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한 번에 시키지 않고 세 단계로</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2쪽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sp>
        <p:nvSpPr>
          <p:cNvPr id="9" name="Shape 7"/>
          <p:cNvSpPr/>
          <p:nvPr/>
        </p:nvSpPr>
        <p:spPr>
          <a:xfrm>
            <a:off x="530352" y="1783080"/>
            <a:ext cx="3514344" cy="2194560"/>
          </a:xfrm>
          <a:prstGeom prst="roundRect">
            <a:avLst>
              <a:gd name="adj" fmla="val 2292"/>
            </a:avLst>
          </a:prstGeom>
          <a:solidFill>
            <a:srgbClr val="F1F2F4"/>
          </a:solidFill>
          <a:ln w="12700">
            <a:solidFill>
              <a:srgbClr val="E0E3E7"/>
            </a:solidFill>
            <a:prstDash val="solid"/>
          </a:ln>
        </p:spPr>
      </p:sp>
      <p:sp>
        <p:nvSpPr>
          <p:cNvPr id="10" name="Text 8"/>
          <p:cNvSpPr/>
          <p:nvPr/>
        </p:nvSpPr>
        <p:spPr>
          <a:xfrm>
            <a:off x="713232" y="1947672"/>
            <a:ext cx="314858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1" name="Text 9"/>
          <p:cNvSpPr/>
          <p:nvPr/>
        </p:nvSpPr>
        <p:spPr>
          <a:xfrm>
            <a:off x="713232" y="236829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계획 설명</a:t>
            </a:r>
            <a:endParaRPr lang="en-US" sz="1650" dirty="0"/>
          </a:p>
        </p:txBody>
      </p:sp>
      <p:sp>
        <p:nvSpPr>
          <p:cNvPr id="12" name="Text 10"/>
          <p:cNvSpPr/>
          <p:nvPr/>
        </p:nvSpPr>
        <p:spPr>
          <a:xfrm>
            <a:off x="713232" y="2862072"/>
            <a:ext cx="3148584" cy="969264"/>
          </a:xfrm>
          <a:prstGeom prst="rect">
            <a:avLst/>
          </a:prstGeom>
          <a:noFill/>
          <a:ln/>
        </p:spPr>
        <p:txBody>
          <a:bodyPr wrap="square" lIns="0" tIns="0" rIns="0" bIns="0" rtlCol="0" anchor="t"/>
          <a:lstStyle/>
          <a:p>
            <a:pPr indent="0" marL="0">
              <a:lnSpc>
                <a:spcPts val="1900"/>
              </a:lnSpc>
              <a:buNone/>
            </a:pPr>
            <a:r>
              <a:rPr lang="en-US" sz="1450" dirty="0">
                <a:solidFill>
                  <a:srgbClr val="6C7078"/>
                </a:solidFill>
                <a:latin typeface="IBM Plex Sans KR" pitchFamily="34" charset="0"/>
                <a:ea typeface="IBM Plex Sans KR" pitchFamily="34" charset="-122"/>
                <a:cs typeface="IBM Plex Sans KR" pitchFamily="34" charset="-120"/>
              </a:rPr>
              <a:t>AI · docs를 읽고 설명</a:t>
            </a:r>
            <a:endParaRPr lang="en-US" sz="1450" dirty="0"/>
          </a:p>
          <a:p>
            <a:pPr indent="0" marL="0">
              <a:lnSpc>
                <a:spcPts val="1900"/>
              </a:lnSpc>
              <a:buNone/>
            </a:pPr>
            <a:r>
              <a:rPr lang="en-US" sz="1450" dirty="0">
                <a:solidFill>
                  <a:srgbClr val="6C7078"/>
                </a:solidFill>
                <a:latin typeface="IBM Plex Sans KR" pitchFamily="34" charset="0"/>
                <a:ea typeface="IBM Plex Sans KR" pitchFamily="34" charset="-122"/>
                <a:cs typeface="IBM Plex Sans KR" pitchFamily="34" charset="-120"/>
              </a:rPr>
              <a:t>나 · 약속표와 대 본다</a:t>
            </a:r>
            <a:endParaRPr lang="en-US" sz="1450" dirty="0"/>
          </a:p>
        </p:txBody>
      </p:sp>
      <p:sp>
        <p:nvSpPr>
          <p:cNvPr id="13" name="Text 11"/>
          <p:cNvSpPr/>
          <p:nvPr/>
        </p:nvSpPr>
        <p:spPr>
          <a:xfrm>
            <a:off x="401726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4" name="Shape 12"/>
          <p:cNvSpPr/>
          <p:nvPr/>
        </p:nvSpPr>
        <p:spPr>
          <a:xfrm>
            <a:off x="4337304" y="1783080"/>
            <a:ext cx="3514344" cy="2194560"/>
          </a:xfrm>
          <a:prstGeom prst="roundRect">
            <a:avLst>
              <a:gd name="adj" fmla="val 2292"/>
            </a:avLst>
          </a:prstGeom>
          <a:solidFill>
            <a:srgbClr val="F1F2F4"/>
          </a:solidFill>
          <a:ln w="12700">
            <a:solidFill>
              <a:srgbClr val="E0E3E7"/>
            </a:solidFill>
            <a:prstDash val="solid"/>
          </a:ln>
        </p:spPr>
      </p:sp>
      <p:sp>
        <p:nvSpPr>
          <p:cNvPr id="15" name="Text 13"/>
          <p:cNvSpPr/>
          <p:nvPr/>
        </p:nvSpPr>
        <p:spPr>
          <a:xfrm>
            <a:off x="4520184" y="1947672"/>
            <a:ext cx="314858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6" name="Text 14"/>
          <p:cNvSpPr/>
          <p:nvPr/>
        </p:nvSpPr>
        <p:spPr>
          <a:xfrm>
            <a:off x="4520184" y="236829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진행해</a:t>
            </a:r>
            <a:endParaRPr lang="en-US" sz="1650" dirty="0"/>
          </a:p>
        </p:txBody>
      </p:sp>
      <p:sp>
        <p:nvSpPr>
          <p:cNvPr id="17" name="Text 15"/>
          <p:cNvSpPr/>
          <p:nvPr/>
        </p:nvSpPr>
        <p:spPr>
          <a:xfrm>
            <a:off x="4520184" y="2862072"/>
            <a:ext cx="3148584" cy="969264"/>
          </a:xfrm>
          <a:prstGeom prst="rect">
            <a:avLst/>
          </a:prstGeom>
          <a:noFill/>
          <a:ln/>
        </p:spPr>
        <p:txBody>
          <a:bodyPr wrap="square" lIns="0" tIns="0" rIns="0" bIns="0" rtlCol="0" anchor="t"/>
          <a:lstStyle/>
          <a:p>
            <a:pPr indent="0" marL="0">
              <a:lnSpc>
                <a:spcPts val="1900"/>
              </a:lnSpc>
              <a:buNone/>
            </a:pPr>
            <a:r>
              <a:rPr lang="en-US" sz="1450" dirty="0">
                <a:solidFill>
                  <a:srgbClr val="6C7078"/>
                </a:solidFill>
                <a:latin typeface="IBM Plex Sans KR" pitchFamily="34" charset="0"/>
                <a:ea typeface="IBM Plex Sans KR" pitchFamily="34" charset="-122"/>
                <a:cs typeface="IBM Plex Sans KR" pitchFamily="34" charset="-120"/>
              </a:rPr>
              <a:t>AI · 코드를 고친다</a:t>
            </a:r>
            <a:endParaRPr lang="en-US" sz="1450" dirty="0"/>
          </a:p>
          <a:p>
            <a:pPr indent="0" marL="0">
              <a:lnSpc>
                <a:spcPts val="1900"/>
              </a:lnSpc>
              <a:buNone/>
            </a:pPr>
            <a:r>
              <a:rPr lang="en-US" sz="1450" dirty="0">
                <a:solidFill>
                  <a:srgbClr val="6C7078"/>
                </a:solidFill>
                <a:latin typeface="IBM Plex Sans KR" pitchFamily="34" charset="0"/>
                <a:ea typeface="IBM Plex Sans KR" pitchFamily="34" charset="-122"/>
                <a:cs typeface="IBM Plex Sans KR" pitchFamily="34" charset="-120"/>
              </a:rPr>
              <a:t>나 · 화면에서 눌러 본다</a:t>
            </a:r>
            <a:endParaRPr lang="en-US" sz="1450" dirty="0"/>
          </a:p>
        </p:txBody>
      </p:sp>
      <p:sp>
        <p:nvSpPr>
          <p:cNvPr id="18" name="Text 16"/>
          <p:cNvSpPr/>
          <p:nvPr/>
        </p:nvSpPr>
        <p:spPr>
          <a:xfrm>
            <a:off x="782421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9" name="Shape 17"/>
          <p:cNvSpPr/>
          <p:nvPr/>
        </p:nvSpPr>
        <p:spPr>
          <a:xfrm>
            <a:off x="8144256" y="1783080"/>
            <a:ext cx="3514344" cy="2194560"/>
          </a:xfrm>
          <a:prstGeom prst="roundRect">
            <a:avLst>
              <a:gd name="adj" fmla="val 2292"/>
            </a:avLst>
          </a:prstGeom>
          <a:solidFill>
            <a:srgbClr val="E7F2ED"/>
          </a:solidFill>
          <a:ln w="12700">
            <a:solidFill>
              <a:srgbClr val="0E7C86"/>
            </a:solidFill>
            <a:prstDash val="solid"/>
          </a:ln>
        </p:spPr>
      </p:sp>
      <p:sp>
        <p:nvSpPr>
          <p:cNvPr id="20" name="Text 18"/>
          <p:cNvSpPr/>
          <p:nvPr/>
        </p:nvSpPr>
        <p:spPr>
          <a:xfrm>
            <a:off x="8327136" y="1947672"/>
            <a:ext cx="3148584"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3</a:t>
            </a:r>
            <a:endParaRPr lang="en-US" sz="1800" dirty="0"/>
          </a:p>
        </p:txBody>
      </p:sp>
      <p:sp>
        <p:nvSpPr>
          <p:cNvPr id="21" name="Text 19"/>
          <p:cNvSpPr/>
          <p:nvPr/>
        </p:nvSpPr>
        <p:spPr>
          <a:xfrm>
            <a:off x="8327136" y="236829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다를 때</a:t>
            </a:r>
            <a:endParaRPr lang="en-US" sz="1650" dirty="0"/>
          </a:p>
        </p:txBody>
      </p:sp>
      <p:sp>
        <p:nvSpPr>
          <p:cNvPr id="22" name="Text 20"/>
          <p:cNvSpPr/>
          <p:nvPr/>
        </p:nvSpPr>
        <p:spPr>
          <a:xfrm>
            <a:off x="8327136" y="2862072"/>
            <a:ext cx="3148584" cy="969264"/>
          </a:xfrm>
          <a:prstGeom prst="rect">
            <a:avLst/>
          </a:prstGeom>
          <a:noFill/>
          <a:ln/>
        </p:spPr>
        <p:txBody>
          <a:bodyPr wrap="square" lIns="0" tIns="0" rIns="0" bIns="0" rtlCol="0" anchor="t"/>
          <a:lstStyle/>
          <a:p>
            <a:pPr indent="0" marL="0">
              <a:lnSpc>
                <a:spcPts val="1900"/>
              </a:lnSpc>
              <a:buNone/>
            </a:pPr>
            <a:r>
              <a:rPr lang="en-US" sz="1450" dirty="0">
                <a:solidFill>
                  <a:srgbClr val="34373D"/>
                </a:solidFill>
                <a:latin typeface="IBM Plex Sans KR" pitchFamily="34" charset="0"/>
                <a:ea typeface="IBM Plex Sans KR" pitchFamily="34" charset="-122"/>
                <a:cs typeface="IBM Plex Sans KR" pitchFamily="34" charset="-120"/>
              </a:rPr>
              <a:t>AI · 가장 작은 수정</a:t>
            </a:r>
            <a:endParaRPr lang="en-US" sz="1450" dirty="0"/>
          </a:p>
          <a:p>
            <a:pPr indent="0" marL="0">
              <a:lnSpc>
                <a:spcPts val="1900"/>
              </a:lnSpc>
              <a:buNone/>
            </a:pPr>
            <a:r>
              <a:rPr lang="en-US" sz="1450" dirty="0">
                <a:solidFill>
                  <a:srgbClr val="34373D"/>
                </a:solidFill>
                <a:latin typeface="IBM Plex Sans KR" pitchFamily="34" charset="0"/>
                <a:ea typeface="IBM Plex Sans KR" pitchFamily="34" charset="-122"/>
                <a:cs typeface="IBM Plex Sans KR" pitchFamily="34" charset="-120"/>
              </a:rPr>
              <a:t>나 · 같은 행동을 다시</a:t>
            </a:r>
            <a:endParaRPr lang="en-US" sz="1450" dirty="0"/>
          </a:p>
        </p:txBody>
      </p:sp>
      <p:sp>
        <p:nvSpPr>
          <p:cNvPr id="23" name="Shape 21"/>
          <p:cNvSpPr/>
          <p:nvPr/>
        </p:nvSpPr>
        <p:spPr>
          <a:xfrm>
            <a:off x="530352" y="4251960"/>
            <a:ext cx="11128248" cy="512064"/>
          </a:xfrm>
          <a:prstGeom prst="roundRect">
            <a:avLst>
              <a:gd name="adj" fmla="val 39286"/>
            </a:avLst>
          </a:prstGeom>
          <a:solidFill>
            <a:srgbClr val="FF5C00"/>
          </a:solidFill>
          <a:ln w="12700">
            <a:solidFill>
              <a:srgbClr val="FF5C00"/>
            </a:solidFill>
            <a:prstDash val="solid"/>
          </a:ln>
        </p:spPr>
      </p:sp>
      <p:sp>
        <p:nvSpPr>
          <p:cNvPr id="24" name="Text 22"/>
          <p:cNvSpPr/>
          <p:nvPr/>
        </p:nvSpPr>
        <p:spPr>
          <a:xfrm>
            <a:off x="731520" y="4251960"/>
            <a:ext cx="10725912"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AI가 약속과 다르게 만들면 · 알아챌 사람은 나뿐이다</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터미널 두 개 — 실행용과 OpenCode용</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Shape 8"/>
          <p:cNvSpPr/>
          <p:nvPr/>
        </p:nvSpPr>
        <p:spPr>
          <a:xfrm>
            <a:off x="530352" y="1783080"/>
            <a:ext cx="5417820" cy="1188720"/>
          </a:xfrm>
          <a:prstGeom prst="roundRect">
            <a:avLst>
              <a:gd name="adj" fmla="val 3846"/>
            </a:avLst>
          </a:prstGeom>
          <a:solidFill>
            <a:srgbClr val="24272C"/>
          </a:solidFill>
          <a:ln/>
        </p:spPr>
      </p:sp>
      <p:sp>
        <p:nvSpPr>
          <p:cNvPr id="11" name="Text 9"/>
          <p:cNvSpPr/>
          <p:nvPr/>
        </p:nvSpPr>
        <p:spPr>
          <a:xfrm>
            <a:off x="768096" y="1911096"/>
            <a:ext cx="494233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터미널 ① · 켜 두기만 한다</a:t>
            </a:r>
            <a:endParaRPr lang="en-US" sz="950" dirty="0"/>
          </a:p>
        </p:txBody>
      </p:sp>
      <p:sp>
        <p:nvSpPr>
          <p:cNvPr id="12" name="Text 10"/>
          <p:cNvSpPr/>
          <p:nvPr/>
        </p:nvSpPr>
        <p:spPr>
          <a:xfrm>
            <a:off x="768096" y="2185416"/>
            <a:ext cx="4942332" cy="640080"/>
          </a:xfrm>
          <a:prstGeom prst="rect">
            <a:avLst/>
          </a:prstGeom>
          <a:noFill/>
          <a:ln/>
        </p:spPr>
        <p:txBody>
          <a:bodyPr wrap="square" lIns="0" tIns="0" rIns="0" bIns="0" rtlCol="0" anchor="t"/>
          <a:lstStyle/>
          <a:p>
            <a:pPr indent="0" marL="0">
              <a:lnSpc>
                <a:spcPts val="3400"/>
              </a:lnSpc>
              <a:buNone/>
            </a:pPr>
            <a:r>
              <a:rPr lang="en-US" sz="2000" b="1" dirty="0">
                <a:solidFill>
                  <a:srgbClr val="E8EAED"/>
                </a:solidFill>
                <a:latin typeface="IBM Plex Mono" pitchFamily="34" charset="0"/>
                <a:ea typeface="IBM Plex Mono" pitchFamily="34" charset="-122"/>
                <a:cs typeface="IBM Plex Mono" pitchFamily="34" charset="-120"/>
              </a:rPr>
              <a:t>npm run dev</a:t>
            </a:r>
            <a:endParaRPr lang="en-US" sz="2000" dirty="0"/>
          </a:p>
        </p:txBody>
      </p:sp>
      <p:sp>
        <p:nvSpPr>
          <p:cNvPr id="13" name="Shape 11"/>
          <p:cNvSpPr/>
          <p:nvPr/>
        </p:nvSpPr>
        <p:spPr>
          <a:xfrm>
            <a:off x="6240780" y="1783080"/>
            <a:ext cx="5417820" cy="1188720"/>
          </a:xfrm>
          <a:prstGeom prst="roundRect">
            <a:avLst>
              <a:gd name="adj" fmla="val 3846"/>
            </a:avLst>
          </a:prstGeom>
          <a:solidFill>
            <a:srgbClr val="24272C"/>
          </a:solidFill>
          <a:ln/>
        </p:spPr>
      </p:sp>
      <p:sp>
        <p:nvSpPr>
          <p:cNvPr id="14" name="Text 12"/>
          <p:cNvSpPr/>
          <p:nvPr/>
        </p:nvSpPr>
        <p:spPr>
          <a:xfrm>
            <a:off x="6478524" y="1911096"/>
            <a:ext cx="494233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터미널 ② · 오른쪽 위 + 로 하나 더</a:t>
            </a:r>
            <a:endParaRPr lang="en-US" sz="950" dirty="0"/>
          </a:p>
        </p:txBody>
      </p:sp>
      <p:sp>
        <p:nvSpPr>
          <p:cNvPr id="15" name="Text 13"/>
          <p:cNvSpPr/>
          <p:nvPr/>
        </p:nvSpPr>
        <p:spPr>
          <a:xfrm>
            <a:off x="6478524" y="2185416"/>
            <a:ext cx="4942332" cy="640080"/>
          </a:xfrm>
          <a:prstGeom prst="rect">
            <a:avLst/>
          </a:prstGeom>
          <a:noFill/>
          <a:ln/>
        </p:spPr>
        <p:txBody>
          <a:bodyPr wrap="square" lIns="0" tIns="0" rIns="0" bIns="0" rtlCol="0" anchor="t"/>
          <a:lstStyle/>
          <a:p>
            <a:pPr indent="0" marL="0">
              <a:lnSpc>
                <a:spcPts val="3400"/>
              </a:lnSpc>
              <a:buNone/>
            </a:pPr>
            <a:r>
              <a:rPr lang="en-US" sz="2000" b="1" dirty="0">
                <a:solidFill>
                  <a:srgbClr val="E8EAED"/>
                </a:solidFill>
                <a:latin typeface="IBM Plex Mono" pitchFamily="34" charset="0"/>
                <a:ea typeface="IBM Plex Mono" pitchFamily="34" charset="-122"/>
                <a:cs typeface="IBM Plex Mono" pitchFamily="34" charset="-120"/>
              </a:rPr>
              <a:t>opencode</a:t>
            </a:r>
            <a:endParaRPr lang="en-US" sz="2000" dirty="0"/>
          </a:p>
        </p:txBody>
      </p:sp>
      <p:sp>
        <p:nvSpPr>
          <p:cNvPr id="16" name="Shape 14"/>
          <p:cNvSpPr/>
          <p:nvPr/>
        </p:nvSpPr>
        <p:spPr>
          <a:xfrm>
            <a:off x="530352" y="3200400"/>
            <a:ext cx="11128248" cy="1417320"/>
          </a:xfrm>
          <a:prstGeom prst="roundRect">
            <a:avLst>
              <a:gd name="adj" fmla="val 3548"/>
            </a:avLst>
          </a:prstGeom>
          <a:solidFill>
            <a:srgbClr val="F1F2F4"/>
          </a:solidFill>
          <a:ln w="12700">
            <a:solidFill>
              <a:srgbClr val="E0E3E7"/>
            </a:solidFill>
            <a:prstDash val="solid"/>
          </a:ln>
        </p:spPr>
      </p:sp>
      <p:sp>
        <p:nvSpPr>
          <p:cNvPr id="17" name="Text 15"/>
          <p:cNvSpPr/>
          <p:nvPr/>
        </p:nvSpPr>
        <p:spPr>
          <a:xfrm>
            <a:off x="713232" y="3364992"/>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시작 전에 확인</a:t>
            </a:r>
            <a:endParaRPr lang="en-US" sz="1650" dirty="0"/>
          </a:p>
        </p:txBody>
      </p:sp>
      <p:sp>
        <p:nvSpPr>
          <p:cNvPr id="18" name="Text 16"/>
          <p:cNvSpPr/>
          <p:nvPr/>
        </p:nvSpPr>
        <p:spPr>
          <a:xfrm>
            <a:off x="713232" y="3858768"/>
            <a:ext cx="10762488" cy="612648"/>
          </a:xfrm>
          <a:prstGeom prst="rect">
            <a:avLst/>
          </a:prstGeom>
          <a:noFill/>
          <a:ln/>
        </p:spPr>
        <p:txBody>
          <a:bodyPr wrap="square" lIns="0" tIns="0" rIns="0" bIns="0" rtlCol="0" anchor="t"/>
          <a:lstStyle/>
          <a:p>
            <a:pPr indent="0" marL="0">
              <a:lnSpc>
                <a:spcPts val="1900"/>
              </a:lnSpc>
              <a:buNone/>
            </a:pPr>
            <a:r>
              <a:rPr lang="en-US" sz="1450" dirty="0">
                <a:solidFill>
                  <a:srgbClr val="6C7078"/>
                </a:solidFill>
                <a:latin typeface="IBM Plex Sans KR" pitchFamily="34" charset="0"/>
                <a:ea typeface="IBM Plex Sans KR" pitchFamily="34" charset="-122"/>
                <a:cs typeface="IBM Plex Sans KR" pitchFamily="34" charset="-120"/>
              </a:rPr>
              <a:t>탐색기 맨 위에 10 · docs 안에 파일 다섯 개 · 브라우저 localhost:3000에 예시 화면</a:t>
            </a:r>
            <a:endParaRPr lang="en-US" sz="1450" dirty="0"/>
          </a:p>
        </p:txBody>
      </p:sp>
      <p:sp>
        <p:nvSpPr>
          <p:cNvPr id="19" name="Shape 17"/>
          <p:cNvSpPr/>
          <p:nvPr/>
        </p:nvSpPr>
        <p:spPr>
          <a:xfrm>
            <a:off x="530352" y="4846320"/>
            <a:ext cx="11128248" cy="512064"/>
          </a:xfrm>
          <a:prstGeom prst="roundRect">
            <a:avLst>
              <a:gd name="adj" fmla="val 39286"/>
            </a:avLst>
          </a:prstGeom>
          <a:solidFill>
            <a:srgbClr val="FF5C00"/>
          </a:solidFill>
          <a:ln w="12700">
            <a:solidFill>
              <a:srgbClr val="FF5C00"/>
            </a:solidFill>
            <a:prstDash val="solid"/>
          </a:ln>
        </p:spPr>
      </p:sp>
      <p:sp>
        <p:nvSpPr>
          <p:cNvPr id="20" name="Text 18"/>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예시 화면이 안 열리면 코드를 고치지 않는다 · 손을 든다</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요청 ① 코드보다 약속을 먼저 설명하게 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Shape 8"/>
          <p:cNvSpPr/>
          <p:nvPr/>
        </p:nvSpPr>
        <p:spPr>
          <a:xfrm>
            <a:off x="530352" y="1783080"/>
            <a:ext cx="11128248" cy="1417320"/>
          </a:xfrm>
          <a:prstGeom prst="roundRect">
            <a:avLst>
              <a:gd name="adj" fmla="val 3226"/>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요청 ①의 빈칸 · docs\10_api_promise.md 약속표에서</a:t>
            </a:r>
            <a:endParaRPr lang="en-US" sz="950" dirty="0"/>
          </a:p>
        </p:txBody>
      </p:sp>
      <p:sp>
        <p:nvSpPr>
          <p:cNvPr id="12" name="Text 10"/>
          <p:cNvSpPr/>
          <p:nvPr/>
        </p:nvSpPr>
        <p:spPr>
          <a:xfrm>
            <a:off x="768096" y="2185416"/>
            <a:ext cx="10652760" cy="868680"/>
          </a:xfrm>
          <a:prstGeom prst="rect">
            <a:avLst/>
          </a:prstGeom>
          <a:noFill/>
          <a:ln/>
        </p:spPr>
        <p:txBody>
          <a:bodyPr wrap="square" lIns="0" tIns="0" rIns="0" bIns="0" rtlCol="0" anchor="t"/>
          <a:lstStyle/>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핵심 행동: ___</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성공하면 화면에 보여야 할 결과: ___</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 잘못된 입력이면 보여야 할 안내: ___</a:t>
            </a:r>
            <a:endParaRPr lang="en-US" sz="1500" dirty="0"/>
          </a:p>
        </p:txBody>
      </p:sp>
      <p:sp>
        <p:nvSpPr>
          <p:cNvPr id="13" name="Shape 11"/>
          <p:cNvSpPr/>
          <p:nvPr/>
        </p:nvSpPr>
        <p:spPr>
          <a:xfrm>
            <a:off x="530352" y="3429000"/>
            <a:ext cx="1702308" cy="1600200"/>
          </a:xfrm>
          <a:prstGeom prst="roundRect">
            <a:avLst>
              <a:gd name="adj" fmla="val 3143"/>
            </a:avLst>
          </a:prstGeom>
          <a:solidFill>
            <a:srgbClr val="F1F2F4"/>
          </a:solidFill>
          <a:ln w="12700">
            <a:solidFill>
              <a:srgbClr val="E0E3E7"/>
            </a:solidFill>
            <a:prstDash val="solid"/>
          </a:ln>
        </p:spPr>
      </p:sp>
      <p:sp>
        <p:nvSpPr>
          <p:cNvPr id="14" name="Text 12"/>
          <p:cNvSpPr/>
          <p:nvPr/>
        </p:nvSpPr>
        <p:spPr>
          <a:xfrm>
            <a:off x="713232" y="3593592"/>
            <a:ext cx="1336548"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5" name="Text 13"/>
          <p:cNvSpPr/>
          <p:nvPr/>
        </p:nvSpPr>
        <p:spPr>
          <a:xfrm>
            <a:off x="713232" y="4014216"/>
            <a:ext cx="133654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행동</a:t>
            </a:r>
            <a:endParaRPr lang="en-US" sz="1650" dirty="0"/>
          </a:p>
        </p:txBody>
      </p:sp>
      <p:sp>
        <p:nvSpPr>
          <p:cNvPr id="16" name="Text 14"/>
          <p:cNvSpPr/>
          <p:nvPr/>
        </p:nvSpPr>
        <p:spPr>
          <a:xfrm>
            <a:off x="713232" y="4507992"/>
            <a:ext cx="1336548" cy="374904"/>
          </a:xfrm>
          <a:prstGeom prst="rect">
            <a:avLst/>
          </a:prstGeom>
          <a:noFill/>
          <a:ln/>
        </p:spPr>
        <p:txBody>
          <a:bodyPr wrap="square" lIns="0" tIns="0" rIns="0" bIns="0" rtlCol="0" anchor="t"/>
          <a:lstStyle/>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어떤 화면 행동이</a:t>
            </a:r>
            <a:endParaRPr lang="en-US" sz="1200" dirty="0"/>
          </a:p>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요청을 보내나</a:t>
            </a:r>
            <a:endParaRPr lang="en-US" sz="1200" dirty="0"/>
          </a:p>
        </p:txBody>
      </p:sp>
      <p:sp>
        <p:nvSpPr>
          <p:cNvPr id="17" name="Shape 15"/>
          <p:cNvSpPr/>
          <p:nvPr/>
        </p:nvSpPr>
        <p:spPr>
          <a:xfrm>
            <a:off x="2415540" y="3429000"/>
            <a:ext cx="1702308" cy="1600200"/>
          </a:xfrm>
          <a:prstGeom prst="roundRect">
            <a:avLst>
              <a:gd name="adj" fmla="val 3143"/>
            </a:avLst>
          </a:prstGeom>
          <a:solidFill>
            <a:srgbClr val="F1F2F4"/>
          </a:solidFill>
          <a:ln w="12700">
            <a:solidFill>
              <a:srgbClr val="E0E3E7"/>
            </a:solidFill>
            <a:prstDash val="solid"/>
          </a:ln>
        </p:spPr>
      </p:sp>
      <p:sp>
        <p:nvSpPr>
          <p:cNvPr id="18" name="Text 16"/>
          <p:cNvSpPr/>
          <p:nvPr/>
        </p:nvSpPr>
        <p:spPr>
          <a:xfrm>
            <a:off x="2598420" y="3593592"/>
            <a:ext cx="1336548"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9" name="Text 17"/>
          <p:cNvSpPr/>
          <p:nvPr/>
        </p:nvSpPr>
        <p:spPr>
          <a:xfrm>
            <a:off x="2598420" y="4014216"/>
            <a:ext cx="133654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주소·방법</a:t>
            </a:r>
            <a:endParaRPr lang="en-US" sz="1650" dirty="0"/>
          </a:p>
        </p:txBody>
      </p:sp>
      <p:sp>
        <p:nvSpPr>
          <p:cNvPr id="20" name="Text 18"/>
          <p:cNvSpPr/>
          <p:nvPr/>
        </p:nvSpPr>
        <p:spPr>
          <a:xfrm>
            <a:off x="2598420" y="4507992"/>
            <a:ext cx="1336548" cy="374904"/>
          </a:xfrm>
          <a:prstGeom prst="rect">
            <a:avLst/>
          </a:prstGeom>
          <a:noFill/>
          <a:ln/>
        </p:spPr>
        <p:txBody>
          <a:bodyPr wrap="square" lIns="0" tIns="0" rIns="0" bIns="0" rtlCol="0" anchor="t"/>
          <a:lstStyle/>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요청 주소</a:t>
            </a:r>
            <a:endParaRPr lang="en-US" sz="1200" dirty="0"/>
          </a:p>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GET/POST</a:t>
            </a:r>
            <a:endParaRPr lang="en-US" sz="1200" dirty="0"/>
          </a:p>
        </p:txBody>
      </p:sp>
      <p:sp>
        <p:nvSpPr>
          <p:cNvPr id="21" name="Shape 19"/>
          <p:cNvSpPr/>
          <p:nvPr/>
        </p:nvSpPr>
        <p:spPr>
          <a:xfrm>
            <a:off x="4300728" y="3429000"/>
            <a:ext cx="1702308" cy="1600200"/>
          </a:xfrm>
          <a:prstGeom prst="roundRect">
            <a:avLst>
              <a:gd name="adj" fmla="val 3143"/>
            </a:avLst>
          </a:prstGeom>
          <a:solidFill>
            <a:srgbClr val="F1F2F4"/>
          </a:solidFill>
          <a:ln w="12700">
            <a:solidFill>
              <a:srgbClr val="E0E3E7"/>
            </a:solidFill>
            <a:prstDash val="solid"/>
          </a:ln>
        </p:spPr>
      </p:sp>
      <p:sp>
        <p:nvSpPr>
          <p:cNvPr id="22" name="Text 20"/>
          <p:cNvSpPr/>
          <p:nvPr/>
        </p:nvSpPr>
        <p:spPr>
          <a:xfrm>
            <a:off x="4483608" y="3593592"/>
            <a:ext cx="1336548"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3" name="Text 21"/>
          <p:cNvSpPr/>
          <p:nvPr/>
        </p:nvSpPr>
        <p:spPr>
          <a:xfrm>
            <a:off x="4483608" y="4014216"/>
            <a:ext cx="133654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보낼 것</a:t>
            </a:r>
            <a:endParaRPr lang="en-US" sz="1650" dirty="0"/>
          </a:p>
        </p:txBody>
      </p:sp>
      <p:sp>
        <p:nvSpPr>
          <p:cNvPr id="24" name="Text 22"/>
          <p:cNvSpPr/>
          <p:nvPr/>
        </p:nvSpPr>
        <p:spPr>
          <a:xfrm>
            <a:off x="4483608" y="4507992"/>
            <a:ext cx="1336548" cy="374904"/>
          </a:xfrm>
          <a:prstGeom prst="rect">
            <a:avLst/>
          </a:prstGeom>
          <a:noFill/>
          <a:ln/>
        </p:spPr>
        <p:txBody>
          <a:bodyPr wrap="square" lIns="0" tIns="0" rIns="0" bIns="0" rtlCol="0" anchor="t"/>
          <a:lstStyle/>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요청 데이터</a:t>
            </a:r>
            <a:endParaRPr lang="en-US" sz="1200" dirty="0"/>
          </a:p>
        </p:txBody>
      </p:sp>
      <p:sp>
        <p:nvSpPr>
          <p:cNvPr id="25" name="Shape 23"/>
          <p:cNvSpPr/>
          <p:nvPr/>
        </p:nvSpPr>
        <p:spPr>
          <a:xfrm>
            <a:off x="6185916" y="3429000"/>
            <a:ext cx="1702308" cy="1600200"/>
          </a:xfrm>
          <a:prstGeom prst="roundRect">
            <a:avLst>
              <a:gd name="adj" fmla="val 3143"/>
            </a:avLst>
          </a:prstGeom>
          <a:solidFill>
            <a:srgbClr val="F1F2F4"/>
          </a:solidFill>
          <a:ln w="12700">
            <a:solidFill>
              <a:srgbClr val="E0E3E7"/>
            </a:solidFill>
            <a:prstDash val="solid"/>
          </a:ln>
        </p:spPr>
      </p:sp>
      <p:sp>
        <p:nvSpPr>
          <p:cNvPr id="26" name="Text 24"/>
          <p:cNvSpPr/>
          <p:nvPr/>
        </p:nvSpPr>
        <p:spPr>
          <a:xfrm>
            <a:off x="6368796" y="3593592"/>
            <a:ext cx="1336548"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6368796" y="4014216"/>
            <a:ext cx="133654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받을 것</a:t>
            </a:r>
            <a:endParaRPr lang="en-US" sz="1650" dirty="0"/>
          </a:p>
        </p:txBody>
      </p:sp>
      <p:sp>
        <p:nvSpPr>
          <p:cNvPr id="28" name="Text 26"/>
          <p:cNvSpPr/>
          <p:nvPr/>
        </p:nvSpPr>
        <p:spPr>
          <a:xfrm>
            <a:off x="6368796" y="4507992"/>
            <a:ext cx="1336548" cy="374904"/>
          </a:xfrm>
          <a:prstGeom prst="rect">
            <a:avLst/>
          </a:prstGeom>
          <a:noFill/>
          <a:ln/>
        </p:spPr>
        <p:txBody>
          <a:bodyPr wrap="square" lIns="0" tIns="0" rIns="0" bIns="0" rtlCol="0" anchor="t"/>
          <a:lstStyle/>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성공·실패</a:t>
            </a:r>
            <a:endParaRPr lang="en-US" sz="1200" dirty="0"/>
          </a:p>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응답</a:t>
            </a:r>
            <a:endParaRPr lang="en-US" sz="1200" dirty="0"/>
          </a:p>
        </p:txBody>
      </p:sp>
      <p:sp>
        <p:nvSpPr>
          <p:cNvPr id="29" name="Shape 27"/>
          <p:cNvSpPr/>
          <p:nvPr/>
        </p:nvSpPr>
        <p:spPr>
          <a:xfrm>
            <a:off x="8071104" y="3429000"/>
            <a:ext cx="1702308" cy="1600200"/>
          </a:xfrm>
          <a:prstGeom prst="roundRect">
            <a:avLst>
              <a:gd name="adj" fmla="val 3143"/>
            </a:avLst>
          </a:prstGeom>
          <a:solidFill>
            <a:srgbClr val="F1F2F4"/>
          </a:solidFill>
          <a:ln w="12700">
            <a:solidFill>
              <a:srgbClr val="E0E3E7"/>
            </a:solidFill>
            <a:prstDash val="solid"/>
          </a:ln>
        </p:spPr>
      </p:sp>
      <p:sp>
        <p:nvSpPr>
          <p:cNvPr id="30" name="Text 28"/>
          <p:cNvSpPr/>
          <p:nvPr/>
        </p:nvSpPr>
        <p:spPr>
          <a:xfrm>
            <a:off x="8253984" y="3593592"/>
            <a:ext cx="1336548"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5</a:t>
            </a:r>
            <a:endParaRPr lang="en-US" sz="1800" dirty="0"/>
          </a:p>
        </p:txBody>
      </p:sp>
      <p:sp>
        <p:nvSpPr>
          <p:cNvPr id="31" name="Text 29"/>
          <p:cNvSpPr/>
          <p:nvPr/>
        </p:nvSpPr>
        <p:spPr>
          <a:xfrm>
            <a:off x="8253984" y="4014216"/>
            <a:ext cx="133654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a:t>
            </a:r>
            <a:endParaRPr lang="en-US" sz="1650" dirty="0"/>
          </a:p>
        </p:txBody>
      </p:sp>
      <p:sp>
        <p:nvSpPr>
          <p:cNvPr id="32" name="Text 30"/>
          <p:cNvSpPr/>
          <p:nvPr/>
        </p:nvSpPr>
        <p:spPr>
          <a:xfrm>
            <a:off x="8253984" y="4507992"/>
            <a:ext cx="1336548" cy="374904"/>
          </a:xfrm>
          <a:prstGeom prst="rect">
            <a:avLst/>
          </a:prstGeom>
          <a:noFill/>
          <a:ln/>
        </p:spPr>
        <p:txBody>
          <a:bodyPr wrap="square" lIns="0" tIns="0" rIns="0" bIns="0" rtlCol="0" anchor="t"/>
          <a:lstStyle/>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응답 뒤</a:t>
            </a:r>
            <a:endParaRPr lang="en-US" sz="1200" dirty="0"/>
          </a:p>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바뀌는 것</a:t>
            </a:r>
            <a:endParaRPr lang="en-US" sz="1200" dirty="0"/>
          </a:p>
        </p:txBody>
      </p:sp>
      <p:sp>
        <p:nvSpPr>
          <p:cNvPr id="33" name="Shape 31"/>
          <p:cNvSpPr/>
          <p:nvPr/>
        </p:nvSpPr>
        <p:spPr>
          <a:xfrm>
            <a:off x="9956292" y="3429000"/>
            <a:ext cx="1702308" cy="1600200"/>
          </a:xfrm>
          <a:prstGeom prst="roundRect">
            <a:avLst>
              <a:gd name="adj" fmla="val 3143"/>
            </a:avLst>
          </a:prstGeom>
          <a:solidFill>
            <a:srgbClr val="F1F2F4"/>
          </a:solidFill>
          <a:ln w="12700">
            <a:solidFill>
              <a:srgbClr val="E0E3E7"/>
            </a:solidFill>
            <a:prstDash val="solid"/>
          </a:ln>
        </p:spPr>
      </p:sp>
      <p:sp>
        <p:nvSpPr>
          <p:cNvPr id="34" name="Text 32"/>
          <p:cNvSpPr/>
          <p:nvPr/>
        </p:nvSpPr>
        <p:spPr>
          <a:xfrm>
            <a:off x="10139172" y="3593592"/>
            <a:ext cx="1336548"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6</a:t>
            </a:r>
            <a:endParaRPr lang="en-US" sz="1800" dirty="0"/>
          </a:p>
        </p:txBody>
      </p:sp>
      <p:sp>
        <p:nvSpPr>
          <p:cNvPr id="35" name="Text 33"/>
          <p:cNvSpPr/>
          <p:nvPr/>
        </p:nvSpPr>
        <p:spPr>
          <a:xfrm>
            <a:off x="10139172" y="4014216"/>
            <a:ext cx="133654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파일</a:t>
            </a:r>
            <a:endParaRPr lang="en-US" sz="1650" dirty="0"/>
          </a:p>
        </p:txBody>
      </p:sp>
      <p:sp>
        <p:nvSpPr>
          <p:cNvPr id="36" name="Text 34"/>
          <p:cNvSpPr/>
          <p:nvPr/>
        </p:nvSpPr>
        <p:spPr>
          <a:xfrm>
            <a:off x="10139172" y="4507992"/>
            <a:ext cx="1336548" cy="374904"/>
          </a:xfrm>
          <a:prstGeom prst="rect">
            <a:avLst/>
          </a:prstGeom>
          <a:noFill/>
          <a:ln/>
        </p:spPr>
        <p:txBody>
          <a:bodyPr wrap="square" lIns="0" tIns="0" rIns="0" bIns="0" rtlCol="0" anchor="t"/>
          <a:lstStyle/>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고칠 파일과</a:t>
            </a:r>
            <a:endParaRPr lang="en-US" sz="1200" dirty="0"/>
          </a:p>
          <a:p>
            <a:pPr indent="0" marL="0">
              <a:lnSpc>
                <a:spcPts val="1900"/>
              </a:lnSpc>
              <a:buNone/>
            </a:pPr>
            <a:r>
              <a:rPr lang="en-US" sz="1200" dirty="0">
                <a:solidFill>
                  <a:srgbClr val="6C7078"/>
                </a:solidFill>
                <a:latin typeface="IBM Plex Sans KR" pitchFamily="34" charset="0"/>
                <a:ea typeface="IBM Plex Sans KR" pitchFamily="34" charset="-122"/>
                <a:cs typeface="IBM Plex Sans KR" pitchFamily="34" charset="-120"/>
              </a:rPr>
              <a:t>역할</a:t>
            </a:r>
            <a:endParaRPr lang="en-US" sz="1200" dirty="0"/>
          </a:p>
        </p:txBody>
      </p:sp>
      <p:sp>
        <p:nvSpPr>
          <p:cNvPr id="37" name="Shape 35"/>
          <p:cNvSpPr/>
          <p:nvPr/>
        </p:nvSpPr>
        <p:spPr>
          <a:xfrm>
            <a:off x="530352" y="5257800"/>
            <a:ext cx="11128248" cy="512064"/>
          </a:xfrm>
          <a:prstGeom prst="roundRect">
            <a:avLst>
              <a:gd name="adj" fmla="val 39286"/>
            </a:avLst>
          </a:prstGeom>
          <a:solidFill>
            <a:srgbClr val="FF5C00"/>
          </a:solidFill>
          <a:ln w="12700">
            <a:solidFill>
              <a:srgbClr val="FF5C00"/>
            </a:solidFill>
            <a:prstDash val="solid"/>
          </a:ln>
        </p:spPr>
      </p:sp>
      <p:sp>
        <p:nvSpPr>
          <p:cNvPr id="38" name="Text 36"/>
          <p:cNvSpPr/>
          <p:nvPr/>
        </p:nvSpPr>
        <p:spPr>
          <a:xfrm>
            <a:off x="731520" y="52578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요청문은 교과서 4쪽에서 복사 · 아직 어떤 파일도 고치지 않게</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AI의 계획을 약속표와 한 줄씩 대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783080"/>
            <a:ext cx="6231819" cy="402336"/>
          </a:xfrm>
          <a:prstGeom prst="rect">
            <a:avLst/>
          </a:prstGeom>
          <a:solidFill>
            <a:srgbClr val="1B1D21"/>
          </a:solidFill>
          <a:ln/>
        </p:spPr>
      </p:sp>
      <p:sp>
        <p:nvSpPr>
          <p:cNvPr id="11" name="Text 9"/>
          <p:cNvSpPr/>
          <p:nvPr/>
        </p:nvSpPr>
        <p:spPr>
          <a:xfrm>
            <a:off x="658368" y="1783080"/>
            <a:ext cx="597578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확인할 것</a:t>
            </a:r>
            <a:endParaRPr lang="en-US" sz="1050" dirty="0"/>
          </a:p>
        </p:txBody>
      </p:sp>
      <p:sp>
        <p:nvSpPr>
          <p:cNvPr id="12" name="Shape 10"/>
          <p:cNvSpPr/>
          <p:nvPr/>
        </p:nvSpPr>
        <p:spPr>
          <a:xfrm>
            <a:off x="6762171" y="1783080"/>
            <a:ext cx="4896429" cy="402336"/>
          </a:xfrm>
          <a:prstGeom prst="rect">
            <a:avLst/>
          </a:prstGeom>
          <a:solidFill>
            <a:srgbClr val="1B1D21"/>
          </a:solidFill>
          <a:ln/>
        </p:spPr>
      </p:sp>
      <p:sp>
        <p:nvSpPr>
          <p:cNvPr id="13" name="Text 11"/>
          <p:cNvSpPr/>
          <p:nvPr/>
        </p:nvSpPr>
        <p:spPr>
          <a:xfrm>
            <a:off x="6890187" y="1783080"/>
            <a:ext cx="464039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아니요라면</a:t>
            </a:r>
            <a:endParaRPr lang="en-US" sz="1050" dirty="0"/>
          </a:p>
        </p:txBody>
      </p:sp>
      <p:sp>
        <p:nvSpPr>
          <p:cNvPr id="14" name="Shape 12"/>
          <p:cNvSpPr/>
          <p:nvPr/>
        </p:nvSpPr>
        <p:spPr>
          <a:xfrm>
            <a:off x="530352" y="2185416"/>
            <a:ext cx="11128248" cy="512064"/>
          </a:xfrm>
          <a:prstGeom prst="rect">
            <a:avLst/>
          </a:prstGeom>
          <a:solidFill>
            <a:srgbClr val="F1F2F4"/>
          </a:solidFill>
          <a:ln w="9525">
            <a:solidFill>
              <a:srgbClr val="E0E3E7"/>
            </a:solidFill>
            <a:prstDash val="solid"/>
          </a:ln>
        </p:spPr>
      </p:sp>
      <p:sp>
        <p:nvSpPr>
          <p:cNvPr id="15" name="Text 13"/>
          <p:cNvSpPr/>
          <p:nvPr/>
        </p:nvSpPr>
        <p:spPr>
          <a:xfrm>
            <a:off x="658368" y="2185416"/>
            <a:ext cx="597578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요청을 보내는 행동이 9회 흐름의 그 단계인가</a:t>
            </a:r>
            <a:endParaRPr lang="en-US" sz="1350" dirty="0"/>
          </a:p>
        </p:txBody>
      </p:sp>
      <p:sp>
        <p:nvSpPr>
          <p:cNvPr id="16" name="Text 14"/>
          <p:cNvSpPr/>
          <p:nvPr/>
        </p:nvSpPr>
        <p:spPr>
          <a:xfrm>
            <a:off x="6890187" y="2185416"/>
            <a:ext cx="464039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「핵심 행동은 ___이야」</a:t>
            </a:r>
            <a:endParaRPr lang="en-US" sz="1350" dirty="0"/>
          </a:p>
        </p:txBody>
      </p:sp>
      <p:sp>
        <p:nvSpPr>
          <p:cNvPr id="17" name="Shape 15"/>
          <p:cNvSpPr/>
          <p:nvPr/>
        </p:nvSpPr>
        <p:spPr>
          <a:xfrm>
            <a:off x="530352" y="2697480"/>
            <a:ext cx="11128248" cy="512064"/>
          </a:xfrm>
          <a:prstGeom prst="rect">
            <a:avLst/>
          </a:prstGeom>
          <a:solidFill>
            <a:srgbClr val="FFFFFF"/>
          </a:solidFill>
          <a:ln w="9525">
            <a:solidFill>
              <a:srgbClr val="E0E3E7"/>
            </a:solidFill>
            <a:prstDash val="solid"/>
          </a:ln>
        </p:spPr>
      </p:sp>
      <p:sp>
        <p:nvSpPr>
          <p:cNvPr id="18" name="Text 16"/>
          <p:cNvSpPr/>
          <p:nvPr/>
        </p:nvSpPr>
        <p:spPr>
          <a:xfrm>
            <a:off x="658368" y="2697480"/>
            <a:ext cx="597578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보내는 데이터가 꼭 필요한 것뿐인가</a:t>
            </a:r>
            <a:endParaRPr lang="en-US" sz="1350" dirty="0"/>
          </a:p>
        </p:txBody>
      </p:sp>
      <p:sp>
        <p:nvSpPr>
          <p:cNvPr id="19" name="Text 17"/>
          <p:cNvSpPr/>
          <p:nvPr/>
        </p:nvSpPr>
        <p:spPr>
          <a:xfrm>
            <a:off x="6890187" y="2697480"/>
            <a:ext cx="464039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「___은 빼고 다시 설명해 줘」</a:t>
            </a:r>
            <a:endParaRPr lang="en-US" sz="1350" dirty="0"/>
          </a:p>
        </p:txBody>
      </p:sp>
      <p:sp>
        <p:nvSpPr>
          <p:cNvPr id="20" name="Shape 18"/>
          <p:cNvSpPr/>
          <p:nvPr/>
        </p:nvSpPr>
        <p:spPr>
          <a:xfrm>
            <a:off x="530352" y="3209544"/>
            <a:ext cx="11128248" cy="512064"/>
          </a:xfrm>
          <a:prstGeom prst="rect">
            <a:avLst/>
          </a:prstGeom>
          <a:solidFill>
            <a:srgbClr val="F1F2F4"/>
          </a:solidFill>
          <a:ln w="9525">
            <a:solidFill>
              <a:srgbClr val="E0E3E7"/>
            </a:solidFill>
            <a:prstDash val="solid"/>
          </a:ln>
        </p:spPr>
      </p:sp>
      <p:sp>
        <p:nvSpPr>
          <p:cNvPr id="21" name="Text 19"/>
          <p:cNvSpPr/>
          <p:nvPr/>
        </p:nvSpPr>
        <p:spPr>
          <a:xfrm>
            <a:off x="658368" y="3209544"/>
            <a:ext cx="597578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실패 응답이 고칠 것을 알려 주는가</a:t>
            </a:r>
            <a:endParaRPr lang="en-US" sz="1350" dirty="0"/>
          </a:p>
        </p:txBody>
      </p:sp>
      <p:sp>
        <p:nvSpPr>
          <p:cNvPr id="22" name="Text 20"/>
          <p:cNvSpPr/>
          <p:nvPr/>
        </p:nvSpPr>
        <p:spPr>
          <a:xfrm>
            <a:off x="6890187" y="3209544"/>
            <a:ext cx="464039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「실패하면 ___라고 안내하게」</a:t>
            </a:r>
            <a:endParaRPr lang="en-US" sz="1350" dirty="0"/>
          </a:p>
        </p:txBody>
      </p:sp>
      <p:sp>
        <p:nvSpPr>
          <p:cNvPr id="23" name="Shape 21"/>
          <p:cNvSpPr/>
          <p:nvPr/>
        </p:nvSpPr>
        <p:spPr>
          <a:xfrm>
            <a:off x="530352" y="3721608"/>
            <a:ext cx="11128248" cy="512064"/>
          </a:xfrm>
          <a:prstGeom prst="rect">
            <a:avLst/>
          </a:prstGeom>
          <a:solidFill>
            <a:srgbClr val="FFFFFF"/>
          </a:solidFill>
          <a:ln w="9525">
            <a:solidFill>
              <a:srgbClr val="E0E3E7"/>
            </a:solidFill>
            <a:prstDash val="solid"/>
          </a:ln>
        </p:spPr>
      </p:sp>
      <p:sp>
        <p:nvSpPr>
          <p:cNvPr id="24" name="Text 22"/>
          <p:cNvSpPr/>
          <p:nvPr/>
        </p:nvSpPr>
        <p:spPr>
          <a:xfrm>
            <a:off x="658368" y="3721608"/>
            <a:ext cx="597578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저장·로그인·새 패키지가 없는가</a:t>
            </a:r>
            <a:endParaRPr lang="en-US" sz="1350" dirty="0"/>
          </a:p>
        </p:txBody>
      </p:sp>
      <p:sp>
        <p:nvSpPr>
          <p:cNvPr id="25" name="Text 23"/>
          <p:cNvSpPr/>
          <p:nvPr/>
        </p:nvSpPr>
        <p:spPr>
          <a:xfrm>
            <a:off x="6890187" y="3721608"/>
            <a:ext cx="464039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「저장은 11회에 해」</a:t>
            </a:r>
            <a:endParaRPr lang="en-US" sz="1350" dirty="0"/>
          </a:p>
        </p:txBody>
      </p:sp>
      <p:sp>
        <p:nvSpPr>
          <p:cNvPr id="26" name="Shape 24"/>
          <p:cNvSpPr/>
          <p:nvPr/>
        </p:nvSpPr>
        <p:spPr>
          <a:xfrm>
            <a:off x="530352" y="4233672"/>
            <a:ext cx="11128248" cy="512064"/>
          </a:xfrm>
          <a:prstGeom prst="rect">
            <a:avLst/>
          </a:prstGeom>
          <a:solidFill>
            <a:srgbClr val="F1F2F4"/>
          </a:solidFill>
          <a:ln w="9525">
            <a:solidFill>
              <a:srgbClr val="E0E3E7"/>
            </a:solidFill>
            <a:prstDash val="solid"/>
          </a:ln>
        </p:spPr>
      </p:sp>
      <p:sp>
        <p:nvSpPr>
          <p:cNvPr id="27" name="Text 25"/>
          <p:cNvSpPr/>
          <p:nvPr/>
        </p:nvSpPr>
        <p:spPr>
          <a:xfrm>
            <a:off x="658368" y="4233672"/>
            <a:ext cx="597578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고칠 파일이 app 안의 화면과 API뿐인가</a:t>
            </a:r>
            <a:endParaRPr lang="en-US" sz="1350" dirty="0"/>
          </a:p>
        </p:txBody>
      </p:sp>
      <p:sp>
        <p:nvSpPr>
          <p:cNvPr id="28" name="Text 26"/>
          <p:cNvSpPr/>
          <p:nvPr/>
        </p:nvSpPr>
        <p:spPr>
          <a:xfrm>
            <a:off x="6890187" y="4233672"/>
            <a:ext cx="464039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「package.json은 고치지 마」</a:t>
            </a:r>
            <a:endParaRPr lang="en-US" sz="1350" dirty="0"/>
          </a:p>
        </p:txBody>
      </p:sp>
      <p:sp>
        <p:nvSpPr>
          <p:cNvPr id="29" name="Shape 27"/>
          <p:cNvSpPr/>
          <p:nvPr/>
        </p:nvSpPr>
        <p:spPr>
          <a:xfrm>
            <a:off x="530352" y="489204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89204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모두 예 → 주소와 방법을 약속표에 내가 적는다 → 짝에게 내 말로 설명</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요청 ② 「진행해」 — 그리고 직접 눌러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6–7쪽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783080"/>
            <a:ext cx="11128248" cy="960120"/>
          </a:xfrm>
          <a:prstGeom prst="roundRect">
            <a:avLst>
              <a:gd name="adj" fmla="val 4762"/>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요청 ② · 교과서 6쪽</a:t>
            </a:r>
            <a:endParaRPr lang="en-US" sz="950" dirty="0"/>
          </a:p>
        </p:txBody>
      </p:sp>
      <p:sp>
        <p:nvSpPr>
          <p:cNvPr id="12" name="Text 10"/>
          <p:cNvSpPr/>
          <p:nvPr/>
        </p:nvSpPr>
        <p:spPr>
          <a:xfrm>
            <a:off x="768096" y="2185416"/>
            <a:ext cx="10652760" cy="411480"/>
          </a:xfrm>
          <a:prstGeom prst="rect">
            <a:avLst/>
          </a:prstGeom>
          <a:noFill/>
          <a:ln/>
        </p:spPr>
        <p:txBody>
          <a:bodyPr wrap="square" lIns="0" tIns="0" rIns="0" bIns="0" rtlCol="0" anchor="t"/>
          <a:lstStyle/>
          <a:p>
            <a:pPr indent="0" marL="0">
              <a:lnSpc>
                <a:spcPts val="2890"/>
              </a:lnSpc>
              <a:buNone/>
            </a:pPr>
            <a:r>
              <a:rPr lang="en-US" sz="1700" b="1" dirty="0">
                <a:solidFill>
                  <a:srgbClr val="E8EAED"/>
                </a:solidFill>
                <a:latin typeface="IBM Plex Mono" pitchFamily="34" charset="0"/>
                <a:ea typeface="IBM Plex Mono" pitchFamily="34" charset="-122"/>
                <a:cs typeface="IBM Plex Mono" pitchFamily="34" charset="-120"/>
              </a:rPr>
              <a:t>설명한 계획대로 진행해.</a:t>
            </a:r>
            <a:endParaRPr lang="en-US" sz="1700" dirty="0"/>
          </a:p>
        </p:txBody>
      </p:sp>
      <p:sp>
        <p:nvSpPr>
          <p:cNvPr id="13" name="Shape 11"/>
          <p:cNvSpPr/>
          <p:nvPr/>
        </p:nvSpPr>
        <p:spPr>
          <a:xfrm>
            <a:off x="530352" y="2971800"/>
            <a:ext cx="3514344" cy="1554480"/>
          </a:xfrm>
          <a:prstGeom prst="roundRect">
            <a:avLst>
              <a:gd name="adj" fmla="val 3235"/>
            </a:avLst>
          </a:prstGeom>
          <a:solidFill>
            <a:srgbClr val="F1F2F4"/>
          </a:solidFill>
          <a:ln w="12700">
            <a:solidFill>
              <a:srgbClr val="E0E3E7"/>
            </a:solidFill>
            <a:prstDash val="solid"/>
          </a:ln>
        </p:spPr>
      </p:sp>
      <p:sp>
        <p:nvSpPr>
          <p:cNvPr id="14" name="Text 12"/>
          <p:cNvSpPr/>
          <p:nvPr/>
        </p:nvSpPr>
        <p:spPr>
          <a:xfrm>
            <a:off x="713232" y="313639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새로고침</a:t>
            </a:r>
            <a:endParaRPr lang="en-US" sz="1650" dirty="0"/>
          </a:p>
        </p:txBody>
      </p:sp>
      <p:sp>
        <p:nvSpPr>
          <p:cNvPr id="15" name="Text 13"/>
          <p:cNvSpPr/>
          <p:nvPr/>
        </p:nvSpPr>
        <p:spPr>
          <a:xfrm>
            <a:off x="713232" y="3630168"/>
            <a:ext cx="3148584" cy="749808"/>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localhost:3000</a:t>
            </a:r>
            <a:endParaRPr lang="en-US" sz="1400" dirty="0"/>
          </a:p>
        </p:txBody>
      </p:sp>
      <p:sp>
        <p:nvSpPr>
          <p:cNvPr id="16" name="Shape 14"/>
          <p:cNvSpPr/>
          <p:nvPr/>
        </p:nvSpPr>
        <p:spPr>
          <a:xfrm>
            <a:off x="4337304" y="2971800"/>
            <a:ext cx="3514344" cy="1554480"/>
          </a:xfrm>
          <a:prstGeom prst="roundRect">
            <a:avLst>
              <a:gd name="adj" fmla="val 3235"/>
            </a:avLst>
          </a:prstGeom>
          <a:solidFill>
            <a:srgbClr val="E7F2ED"/>
          </a:solidFill>
          <a:ln w="12700">
            <a:solidFill>
              <a:srgbClr val="0E7C86"/>
            </a:solidFill>
            <a:prstDash val="solid"/>
          </a:ln>
        </p:spPr>
      </p:sp>
      <p:sp>
        <p:nvSpPr>
          <p:cNvPr id="17" name="Text 15"/>
          <p:cNvSpPr/>
          <p:nvPr/>
        </p:nvSpPr>
        <p:spPr>
          <a:xfrm>
            <a:off x="4520184" y="313639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정상 입력</a:t>
            </a:r>
            <a:endParaRPr lang="en-US" sz="1650" dirty="0"/>
          </a:p>
        </p:txBody>
      </p:sp>
      <p:sp>
        <p:nvSpPr>
          <p:cNvPr id="18" name="Text 16"/>
          <p:cNvSpPr/>
          <p:nvPr/>
        </p:nvSpPr>
        <p:spPr>
          <a:xfrm>
            <a:off x="4520184" y="3630168"/>
            <a:ext cx="3148584" cy="749808"/>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9회 흐름의 다음 단계</a:t>
            </a:r>
            <a:endParaRPr lang="en-US" sz="1400" dirty="0"/>
          </a:p>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화면이 나오는가</a:t>
            </a:r>
            <a:endParaRPr lang="en-US" sz="1400" dirty="0"/>
          </a:p>
        </p:txBody>
      </p:sp>
      <p:sp>
        <p:nvSpPr>
          <p:cNvPr id="19" name="Shape 17"/>
          <p:cNvSpPr/>
          <p:nvPr/>
        </p:nvSpPr>
        <p:spPr>
          <a:xfrm>
            <a:off x="8144256" y="2971800"/>
            <a:ext cx="3514344" cy="1554480"/>
          </a:xfrm>
          <a:prstGeom prst="roundRect">
            <a:avLst>
              <a:gd name="adj" fmla="val 3235"/>
            </a:avLst>
          </a:prstGeom>
          <a:solidFill>
            <a:srgbClr val="FFF1E8"/>
          </a:solidFill>
          <a:ln w="12700">
            <a:solidFill>
              <a:srgbClr val="C24A00"/>
            </a:solidFill>
            <a:prstDash val="solid"/>
          </a:ln>
        </p:spPr>
      </p:sp>
      <p:sp>
        <p:nvSpPr>
          <p:cNvPr id="20" name="Text 18"/>
          <p:cNvSpPr/>
          <p:nvPr/>
        </p:nvSpPr>
        <p:spPr>
          <a:xfrm>
            <a:off x="8327136" y="3136392"/>
            <a:ext cx="3148584"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잘못된 입력</a:t>
            </a:r>
            <a:endParaRPr lang="en-US" sz="1650" dirty="0"/>
          </a:p>
        </p:txBody>
      </p:sp>
      <p:sp>
        <p:nvSpPr>
          <p:cNvPr id="21" name="Text 19"/>
          <p:cNvSpPr/>
          <p:nvPr/>
        </p:nvSpPr>
        <p:spPr>
          <a:xfrm>
            <a:off x="8327136" y="3630168"/>
            <a:ext cx="3148584" cy="749808"/>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예외 흐름의</a:t>
            </a:r>
            <a:endParaRPr lang="en-US" sz="1400" dirty="0"/>
          </a:p>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안내가 나오는가</a:t>
            </a:r>
            <a:endParaRPr lang="en-US" sz="1400" dirty="0"/>
          </a:p>
        </p:txBody>
      </p:sp>
      <p:sp>
        <p:nvSpPr>
          <p:cNvPr id="22" name="Shape 20"/>
          <p:cNvSpPr/>
          <p:nvPr/>
        </p:nvSpPr>
        <p:spPr>
          <a:xfrm>
            <a:off x="530352" y="4754880"/>
            <a:ext cx="11128248" cy="512064"/>
          </a:xfrm>
          <a:prstGeom prst="roundRect">
            <a:avLst>
              <a:gd name="adj" fmla="val 39286"/>
            </a:avLst>
          </a:prstGeom>
          <a:solidFill>
            <a:srgbClr val="EAF5FB"/>
          </a:solidFill>
          <a:ln w="12700">
            <a:solidFill>
              <a:srgbClr val="3D8DFF"/>
            </a:solidFill>
            <a:prstDash val="solid"/>
          </a:ln>
        </p:spPr>
      </p:sp>
      <p:sp>
        <p:nvSpPr>
          <p:cNvPr id="23" name="Text 21"/>
          <p:cNvSpPr/>
          <p:nvPr/>
        </p:nvSpPr>
        <p:spPr>
          <a:xfrm>
            <a:off x="731520" y="475488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본 것을 약속표 2. 실행해 본 결과에 · 보인 대로 적는다</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약속과 다르면 처음 달라진 한 단계만 고친다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783080"/>
            <a:ext cx="11128248" cy="1371600"/>
          </a:xfrm>
          <a:prstGeom prst="roundRect">
            <a:avLst>
              <a:gd name="adj" fmla="val 3333"/>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요청 ③의 빈칸 · 교과서 8쪽</a:t>
            </a:r>
            <a:endParaRPr lang="en-US" sz="950" dirty="0"/>
          </a:p>
        </p:txBody>
      </p:sp>
      <p:sp>
        <p:nvSpPr>
          <p:cNvPr id="12" name="Text 10"/>
          <p:cNvSpPr/>
          <p:nvPr/>
        </p:nvSpPr>
        <p:spPr>
          <a:xfrm>
            <a:off x="768096" y="2185416"/>
            <a:ext cx="10652760" cy="822960"/>
          </a:xfrm>
          <a:prstGeom prst="rect">
            <a:avLst/>
          </a:prstGeom>
          <a:noFill/>
          <a:ln/>
        </p:spPr>
        <p:txBody>
          <a:bodyPr wrap="square" lIns="0" tIns="0" rIns="0" bIns="0" rtlCol="0" anchor="t"/>
          <a:lstStyle/>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원래 약속은 ___을 보내고 ___을 받는 거야.</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지금은 ___을 했을 때 화면에 ___이 보여.</a:t>
            </a:r>
            <a:endParaRPr lang="en-US" sz="1500" dirty="0"/>
          </a:p>
        </p:txBody>
      </p:sp>
      <p:sp>
        <p:nvSpPr>
          <p:cNvPr id="13" name="Shape 11"/>
          <p:cNvSpPr/>
          <p:nvPr/>
        </p:nvSpPr>
        <p:spPr>
          <a:xfrm>
            <a:off x="530352" y="3383280"/>
            <a:ext cx="1991563" cy="960120"/>
          </a:xfrm>
          <a:prstGeom prst="roundRect">
            <a:avLst>
              <a:gd name="adj" fmla="val 5238"/>
            </a:avLst>
          </a:prstGeom>
          <a:solidFill>
            <a:srgbClr val="F1F2F4"/>
          </a:solidFill>
          <a:ln w="12700">
            <a:solidFill>
              <a:srgbClr val="E0E3E7"/>
            </a:solidFill>
            <a:prstDash val="solid"/>
          </a:ln>
        </p:spPr>
      </p:sp>
      <p:sp>
        <p:nvSpPr>
          <p:cNvPr id="14" name="Text 12"/>
          <p:cNvSpPr/>
          <p:nvPr/>
        </p:nvSpPr>
        <p:spPr>
          <a:xfrm>
            <a:off x="713232" y="35478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5" name="Text 13"/>
          <p:cNvSpPr/>
          <p:nvPr/>
        </p:nvSpPr>
        <p:spPr>
          <a:xfrm>
            <a:off x="713232" y="39684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 행동</a:t>
            </a:r>
            <a:endParaRPr lang="en-US" sz="1650" dirty="0"/>
          </a:p>
        </p:txBody>
      </p:sp>
      <p:sp>
        <p:nvSpPr>
          <p:cNvPr id="16" name="Text 14"/>
          <p:cNvSpPr/>
          <p:nvPr/>
        </p:nvSpPr>
        <p:spPr>
          <a:xfrm>
            <a:off x="2494483" y="41148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7" name="Shape 15"/>
          <p:cNvSpPr/>
          <p:nvPr/>
        </p:nvSpPr>
        <p:spPr>
          <a:xfrm>
            <a:off x="2814523" y="3383280"/>
            <a:ext cx="1991563" cy="960120"/>
          </a:xfrm>
          <a:prstGeom prst="roundRect">
            <a:avLst>
              <a:gd name="adj" fmla="val 5238"/>
            </a:avLst>
          </a:prstGeom>
          <a:solidFill>
            <a:srgbClr val="F1F2F4"/>
          </a:solidFill>
          <a:ln w="12700">
            <a:solidFill>
              <a:srgbClr val="E0E3E7"/>
            </a:solidFill>
            <a:prstDash val="solid"/>
          </a:ln>
        </p:spPr>
      </p:sp>
      <p:sp>
        <p:nvSpPr>
          <p:cNvPr id="18" name="Text 16"/>
          <p:cNvSpPr/>
          <p:nvPr/>
        </p:nvSpPr>
        <p:spPr>
          <a:xfrm>
            <a:off x="2997403" y="35478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9" name="Text 17"/>
          <p:cNvSpPr/>
          <p:nvPr/>
        </p:nvSpPr>
        <p:spPr>
          <a:xfrm>
            <a:off x="2997403" y="39684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요청 데이터</a:t>
            </a:r>
            <a:endParaRPr lang="en-US" sz="1650" dirty="0"/>
          </a:p>
        </p:txBody>
      </p:sp>
      <p:sp>
        <p:nvSpPr>
          <p:cNvPr id="20" name="Text 18"/>
          <p:cNvSpPr/>
          <p:nvPr/>
        </p:nvSpPr>
        <p:spPr>
          <a:xfrm>
            <a:off x="4778654" y="41148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1" name="Shape 19"/>
          <p:cNvSpPr/>
          <p:nvPr/>
        </p:nvSpPr>
        <p:spPr>
          <a:xfrm>
            <a:off x="5098694" y="3383280"/>
            <a:ext cx="1991563" cy="960120"/>
          </a:xfrm>
          <a:prstGeom prst="roundRect">
            <a:avLst>
              <a:gd name="adj" fmla="val 5238"/>
            </a:avLst>
          </a:prstGeom>
          <a:solidFill>
            <a:srgbClr val="F1F2F4"/>
          </a:solidFill>
          <a:ln w="12700">
            <a:solidFill>
              <a:srgbClr val="E0E3E7"/>
            </a:solidFill>
            <a:prstDash val="solid"/>
          </a:ln>
        </p:spPr>
      </p:sp>
      <p:sp>
        <p:nvSpPr>
          <p:cNvPr id="22" name="Text 20"/>
          <p:cNvSpPr/>
          <p:nvPr/>
        </p:nvSpPr>
        <p:spPr>
          <a:xfrm>
            <a:off x="5281574" y="35478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3" name="Text 21"/>
          <p:cNvSpPr/>
          <p:nvPr/>
        </p:nvSpPr>
        <p:spPr>
          <a:xfrm>
            <a:off x="5281574" y="39684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API 처리</a:t>
            </a:r>
            <a:endParaRPr lang="en-US" sz="1650" dirty="0"/>
          </a:p>
        </p:txBody>
      </p:sp>
      <p:sp>
        <p:nvSpPr>
          <p:cNvPr id="24" name="Text 22"/>
          <p:cNvSpPr/>
          <p:nvPr/>
        </p:nvSpPr>
        <p:spPr>
          <a:xfrm>
            <a:off x="7062826" y="41148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7382866" y="3383280"/>
            <a:ext cx="1991563" cy="960120"/>
          </a:xfrm>
          <a:prstGeom prst="roundRect">
            <a:avLst>
              <a:gd name="adj" fmla="val 5238"/>
            </a:avLst>
          </a:prstGeom>
          <a:solidFill>
            <a:srgbClr val="F1F2F4"/>
          </a:solidFill>
          <a:ln w="12700">
            <a:solidFill>
              <a:srgbClr val="E0E3E7"/>
            </a:solidFill>
            <a:prstDash val="solid"/>
          </a:ln>
        </p:spPr>
      </p:sp>
      <p:sp>
        <p:nvSpPr>
          <p:cNvPr id="26" name="Text 24"/>
          <p:cNvSpPr/>
          <p:nvPr/>
        </p:nvSpPr>
        <p:spPr>
          <a:xfrm>
            <a:off x="7565746" y="35478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7565746" y="39684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응답</a:t>
            </a:r>
            <a:endParaRPr lang="en-US" sz="1650" dirty="0"/>
          </a:p>
        </p:txBody>
      </p:sp>
      <p:sp>
        <p:nvSpPr>
          <p:cNvPr id="28" name="Text 26"/>
          <p:cNvSpPr/>
          <p:nvPr/>
        </p:nvSpPr>
        <p:spPr>
          <a:xfrm>
            <a:off x="9346997" y="41148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9" name="Shape 27"/>
          <p:cNvSpPr/>
          <p:nvPr/>
        </p:nvSpPr>
        <p:spPr>
          <a:xfrm>
            <a:off x="9667037" y="3383280"/>
            <a:ext cx="1991563" cy="960120"/>
          </a:xfrm>
          <a:prstGeom prst="roundRect">
            <a:avLst>
              <a:gd name="adj" fmla="val 5238"/>
            </a:avLst>
          </a:prstGeom>
          <a:solidFill>
            <a:srgbClr val="F1F2F4"/>
          </a:solidFill>
          <a:ln w="12700">
            <a:solidFill>
              <a:srgbClr val="E0E3E7"/>
            </a:solidFill>
            <a:prstDash val="solid"/>
          </a:ln>
        </p:spPr>
      </p:sp>
      <p:sp>
        <p:nvSpPr>
          <p:cNvPr id="30" name="Text 28"/>
          <p:cNvSpPr/>
          <p:nvPr/>
        </p:nvSpPr>
        <p:spPr>
          <a:xfrm>
            <a:off x="9849917" y="35478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5</a:t>
            </a:r>
            <a:endParaRPr lang="en-US" sz="1800" dirty="0"/>
          </a:p>
        </p:txBody>
      </p:sp>
      <p:sp>
        <p:nvSpPr>
          <p:cNvPr id="31" name="Text 29"/>
          <p:cNvSpPr/>
          <p:nvPr/>
        </p:nvSpPr>
        <p:spPr>
          <a:xfrm>
            <a:off x="9849917" y="39684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 표시</a:t>
            </a:r>
            <a:endParaRPr lang="en-US" sz="1650" dirty="0"/>
          </a:p>
        </p:txBody>
      </p:sp>
      <p:sp>
        <p:nvSpPr>
          <p:cNvPr id="32" name="Shape 30"/>
          <p:cNvSpPr/>
          <p:nvPr/>
        </p:nvSpPr>
        <p:spPr>
          <a:xfrm>
            <a:off x="530352" y="4617720"/>
            <a:ext cx="11128248" cy="512064"/>
          </a:xfrm>
          <a:prstGeom prst="roundRect">
            <a:avLst>
              <a:gd name="adj" fmla="val 39286"/>
            </a:avLst>
          </a:prstGeom>
          <a:solidFill>
            <a:srgbClr val="FF5C00"/>
          </a:solidFill>
          <a:ln w="12700">
            <a:solidFill>
              <a:srgbClr val="FF5C00"/>
            </a:solidFill>
            <a:prstDash val="solid"/>
          </a:ln>
        </p:spPr>
      </p:sp>
      <p:sp>
        <p:nvSpPr>
          <p:cNvPr id="33" name="Text 31"/>
          <p:cNvSpPr/>
          <p:nvPr/>
        </p:nvSpPr>
        <p:spPr>
          <a:xfrm>
            <a:off x="731520" y="4617720"/>
            <a:ext cx="10725912" cy="512064"/>
          </a:xfrm>
          <a:prstGeom prst="rect">
            <a:avLst/>
          </a:prstGeom>
          <a:noFill/>
          <a:ln/>
        </p:spPr>
        <p:txBody>
          <a:bodyPr wrap="square" lIns="0" tIns="0" rIns="0" bIns="0" rtlCol="0" anchor="ctr"/>
          <a:lstStyle/>
          <a:p>
            <a:pPr algn="ctr" indent="0" marL="0">
              <a:buNone/>
            </a:pPr>
            <a:r>
              <a:rPr lang="en-US" sz="1550" b="1" dirty="0">
                <a:solidFill>
                  <a:srgbClr val="FFFFFF"/>
                </a:solidFill>
                <a:latin typeface="IBM Plex Sans KR" pitchFamily="34" charset="0"/>
                <a:ea typeface="IBM Plex Sans KR" pitchFamily="34" charset="-122"/>
                <a:cs typeface="IBM Plex Sans KR" pitchFamily="34" charset="-120"/>
              </a:rPr>
              <a:t>「안 돼, 다시 해 줘」 대신 · 이 중 처음 달라진 한 칸만</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서비스를 다시 켜면 무엇이 사라지나</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783080"/>
            <a:ext cx="3514344" cy="1828800"/>
          </a:xfrm>
          <a:prstGeom prst="roundRect">
            <a:avLst>
              <a:gd name="adj" fmla="val 2750"/>
            </a:avLst>
          </a:prstGeom>
          <a:solidFill>
            <a:srgbClr val="F1F2F4"/>
          </a:solidFill>
          <a:ln w="12700">
            <a:solidFill>
              <a:srgbClr val="E0E3E7"/>
            </a:solidFill>
            <a:prstDash val="solid"/>
          </a:ln>
        </p:spPr>
      </p:sp>
      <p:sp>
        <p:nvSpPr>
          <p:cNvPr id="11" name="Text 9"/>
          <p:cNvSpPr/>
          <p:nvPr/>
        </p:nvSpPr>
        <p:spPr>
          <a:xfrm>
            <a:off x="713232" y="1947672"/>
            <a:ext cx="314858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Ctrl+C</a:t>
            </a:r>
            <a:endParaRPr lang="en-US" sz="1650" dirty="0"/>
          </a:p>
        </p:txBody>
      </p:sp>
      <p:sp>
        <p:nvSpPr>
          <p:cNvPr id="13" name="Text 11"/>
          <p:cNvSpPr/>
          <p:nvPr/>
        </p:nvSpPr>
        <p:spPr>
          <a:xfrm>
            <a:off x="713232" y="2862072"/>
            <a:ext cx="3148584" cy="603504"/>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터미널 ①에서</a:t>
            </a:r>
            <a:endParaRPr lang="en-US" sz="1400" dirty="0"/>
          </a:p>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멈춘다</a:t>
            </a:r>
            <a:endParaRPr lang="en-US" sz="1400" dirty="0"/>
          </a:p>
        </p:txBody>
      </p:sp>
      <p:sp>
        <p:nvSpPr>
          <p:cNvPr id="14" name="Text 12"/>
          <p:cNvSpPr/>
          <p:nvPr/>
        </p:nvSpPr>
        <p:spPr>
          <a:xfrm>
            <a:off x="401726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4337304" y="1783080"/>
            <a:ext cx="3514344" cy="1828800"/>
          </a:xfrm>
          <a:prstGeom prst="roundRect">
            <a:avLst>
              <a:gd name="adj" fmla="val 2750"/>
            </a:avLst>
          </a:prstGeom>
          <a:solidFill>
            <a:srgbClr val="F1F2F4"/>
          </a:solidFill>
          <a:ln w="12700">
            <a:solidFill>
              <a:srgbClr val="E0E3E7"/>
            </a:solidFill>
            <a:prstDash val="solid"/>
          </a:ln>
        </p:spPr>
      </p:sp>
      <p:sp>
        <p:nvSpPr>
          <p:cNvPr id="16" name="Text 14"/>
          <p:cNvSpPr/>
          <p:nvPr/>
        </p:nvSpPr>
        <p:spPr>
          <a:xfrm>
            <a:off x="4520184" y="1947672"/>
            <a:ext cx="314858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4520184" y="236829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npm run dev</a:t>
            </a:r>
            <a:endParaRPr lang="en-US" sz="1650" dirty="0"/>
          </a:p>
        </p:txBody>
      </p:sp>
      <p:sp>
        <p:nvSpPr>
          <p:cNvPr id="18" name="Text 16"/>
          <p:cNvSpPr/>
          <p:nvPr/>
        </p:nvSpPr>
        <p:spPr>
          <a:xfrm>
            <a:off x="4520184" y="2862072"/>
            <a:ext cx="3148584" cy="603504"/>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다시 켠다</a:t>
            </a:r>
            <a:endParaRPr lang="en-US" sz="1400" dirty="0"/>
          </a:p>
        </p:txBody>
      </p:sp>
      <p:sp>
        <p:nvSpPr>
          <p:cNvPr id="19" name="Text 17"/>
          <p:cNvSpPr/>
          <p:nvPr/>
        </p:nvSpPr>
        <p:spPr>
          <a:xfrm>
            <a:off x="782421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8144256" y="1783080"/>
            <a:ext cx="3514344" cy="1828800"/>
          </a:xfrm>
          <a:prstGeom prst="roundRect">
            <a:avLst>
              <a:gd name="adj" fmla="val 2750"/>
            </a:avLst>
          </a:prstGeom>
          <a:solidFill>
            <a:srgbClr val="F1F2F4"/>
          </a:solidFill>
          <a:ln w="12700">
            <a:solidFill>
              <a:srgbClr val="E0E3E7"/>
            </a:solidFill>
            <a:prstDash val="solid"/>
          </a:ln>
        </p:spPr>
      </p:sp>
      <p:sp>
        <p:nvSpPr>
          <p:cNvPr id="21" name="Text 19"/>
          <p:cNvSpPr/>
          <p:nvPr/>
        </p:nvSpPr>
        <p:spPr>
          <a:xfrm>
            <a:off x="8327136" y="1947672"/>
            <a:ext cx="314858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8327136" y="236829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새로고침</a:t>
            </a:r>
            <a:endParaRPr lang="en-US" sz="1650" dirty="0"/>
          </a:p>
        </p:txBody>
      </p:sp>
      <p:sp>
        <p:nvSpPr>
          <p:cNvPr id="23" name="Text 21"/>
          <p:cNvSpPr/>
          <p:nvPr/>
        </p:nvSpPr>
        <p:spPr>
          <a:xfrm>
            <a:off x="8327136" y="2862072"/>
            <a:ext cx="3148584" cy="603504"/>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방금 입력한</a:t>
            </a:r>
            <a:endParaRPr lang="en-US" sz="1400" dirty="0"/>
          </a:p>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결과가 남았나?</a:t>
            </a:r>
            <a:endParaRPr lang="en-US" sz="1400" dirty="0"/>
          </a:p>
        </p:txBody>
      </p:sp>
      <p:sp>
        <p:nvSpPr>
          <p:cNvPr id="24" name="Shape 22"/>
          <p:cNvSpPr/>
          <p:nvPr/>
        </p:nvSpPr>
        <p:spPr>
          <a:xfrm>
            <a:off x="530352" y="3840480"/>
            <a:ext cx="4673864" cy="402336"/>
          </a:xfrm>
          <a:prstGeom prst="rect">
            <a:avLst/>
          </a:prstGeom>
          <a:solidFill>
            <a:srgbClr val="1B1D21"/>
          </a:solidFill>
          <a:ln/>
        </p:spPr>
      </p:sp>
      <p:sp>
        <p:nvSpPr>
          <p:cNvPr id="25" name="Text 23"/>
          <p:cNvSpPr/>
          <p:nvPr/>
        </p:nvSpPr>
        <p:spPr>
          <a:xfrm>
            <a:off x="658368" y="384048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약속표 3. 아직 기억하지 못하는 것</a:t>
            </a:r>
            <a:endParaRPr lang="en-US" sz="1050" dirty="0"/>
          </a:p>
        </p:txBody>
      </p:sp>
      <p:sp>
        <p:nvSpPr>
          <p:cNvPr id="26" name="Shape 24"/>
          <p:cNvSpPr/>
          <p:nvPr/>
        </p:nvSpPr>
        <p:spPr>
          <a:xfrm>
            <a:off x="5204216" y="3840480"/>
            <a:ext cx="6454384" cy="402336"/>
          </a:xfrm>
          <a:prstGeom prst="rect">
            <a:avLst/>
          </a:prstGeom>
          <a:solidFill>
            <a:srgbClr val="1B1D21"/>
          </a:solidFill>
          <a:ln/>
        </p:spPr>
      </p:sp>
      <p:sp>
        <p:nvSpPr>
          <p:cNvPr id="27" name="Text 25"/>
          <p:cNvSpPr/>
          <p:nvPr/>
        </p:nvSpPr>
        <p:spPr>
          <a:xfrm>
            <a:off x="5332232" y="3840480"/>
            <a:ext cx="619835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예 · 할 일 정리</a:t>
            </a:r>
            <a:endParaRPr lang="en-US" sz="1050" dirty="0"/>
          </a:p>
        </p:txBody>
      </p:sp>
      <p:sp>
        <p:nvSpPr>
          <p:cNvPr id="28" name="Shape 26"/>
          <p:cNvSpPr/>
          <p:nvPr/>
        </p:nvSpPr>
        <p:spPr>
          <a:xfrm>
            <a:off x="530352" y="4242816"/>
            <a:ext cx="11128248" cy="420624"/>
          </a:xfrm>
          <a:prstGeom prst="rect">
            <a:avLst/>
          </a:prstGeom>
          <a:solidFill>
            <a:srgbClr val="F1F2F4"/>
          </a:solidFill>
          <a:ln w="9525">
            <a:solidFill>
              <a:srgbClr val="E0E3E7"/>
            </a:solidFill>
            <a:prstDash val="solid"/>
          </a:ln>
        </p:spPr>
      </p:sp>
      <p:sp>
        <p:nvSpPr>
          <p:cNvPr id="29" name="Text 27"/>
          <p:cNvSpPr/>
          <p:nvPr/>
        </p:nvSpPr>
        <p:spPr>
          <a:xfrm>
            <a:off x="658368" y="4242816"/>
            <a:ext cx="4417832" cy="42062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다시 켜면 사라지는 것</a:t>
            </a:r>
            <a:endParaRPr lang="en-US" sz="1350" dirty="0"/>
          </a:p>
        </p:txBody>
      </p:sp>
      <p:sp>
        <p:nvSpPr>
          <p:cNvPr id="30" name="Text 28"/>
          <p:cNvSpPr/>
          <p:nvPr/>
        </p:nvSpPr>
        <p:spPr>
          <a:xfrm>
            <a:off x="5332232" y="4242816"/>
            <a:ext cx="6198352" cy="42062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추가한 할 일 목록</a:t>
            </a:r>
            <a:endParaRPr lang="en-US" sz="1350" dirty="0"/>
          </a:p>
        </p:txBody>
      </p:sp>
      <p:sp>
        <p:nvSpPr>
          <p:cNvPr id="31" name="Shape 29"/>
          <p:cNvSpPr/>
          <p:nvPr/>
        </p:nvSpPr>
        <p:spPr>
          <a:xfrm>
            <a:off x="530352" y="4663440"/>
            <a:ext cx="11128248" cy="420624"/>
          </a:xfrm>
          <a:prstGeom prst="rect">
            <a:avLst/>
          </a:prstGeom>
          <a:solidFill>
            <a:srgbClr val="FFFFFF"/>
          </a:solidFill>
          <a:ln w="9525">
            <a:solidFill>
              <a:srgbClr val="E0E3E7"/>
            </a:solidFill>
            <a:prstDash val="solid"/>
          </a:ln>
        </p:spPr>
      </p:sp>
      <p:sp>
        <p:nvSpPr>
          <p:cNvPr id="32" name="Text 30"/>
          <p:cNvSpPr/>
          <p:nvPr/>
        </p:nvSpPr>
        <p:spPr>
          <a:xfrm>
            <a:off x="658368" y="4663440"/>
            <a:ext cx="4417832" cy="42062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11회에 SQLite에 저장할 핵심 기록</a:t>
            </a:r>
            <a:endParaRPr lang="en-US" sz="1350" dirty="0"/>
          </a:p>
        </p:txBody>
      </p:sp>
      <p:sp>
        <p:nvSpPr>
          <p:cNvPr id="33" name="Text 31"/>
          <p:cNvSpPr/>
          <p:nvPr/>
        </p:nvSpPr>
        <p:spPr>
          <a:xfrm>
            <a:off x="5332232" y="4663440"/>
            <a:ext cx="6198352" cy="42062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할 일 = 내용 · 시각 · 완료 여부</a:t>
            </a:r>
            <a:endParaRPr lang="en-US" sz="1350" dirty="0"/>
          </a:p>
        </p:txBody>
      </p:sp>
      <p:sp>
        <p:nvSpPr>
          <p:cNvPr id="34" name="Shape 32"/>
          <p:cNvSpPr/>
          <p:nvPr/>
        </p:nvSpPr>
        <p:spPr>
          <a:xfrm>
            <a:off x="530352" y="5084064"/>
            <a:ext cx="11128248" cy="420624"/>
          </a:xfrm>
          <a:prstGeom prst="rect">
            <a:avLst/>
          </a:prstGeom>
          <a:solidFill>
            <a:srgbClr val="F1F2F4"/>
          </a:solidFill>
          <a:ln w="9525">
            <a:solidFill>
              <a:srgbClr val="E0E3E7"/>
            </a:solidFill>
            <a:prstDash val="solid"/>
          </a:ln>
        </p:spPr>
      </p:sp>
      <p:sp>
        <p:nvSpPr>
          <p:cNvPr id="35" name="Text 33"/>
          <p:cNvSpPr/>
          <p:nvPr/>
        </p:nvSpPr>
        <p:spPr>
          <a:xfrm>
            <a:off x="658368" y="5084064"/>
            <a:ext cx="4417832" cy="42062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저장된 기록을 다시 보는 순간</a:t>
            </a:r>
            <a:endParaRPr lang="en-US" sz="1350" dirty="0"/>
          </a:p>
        </p:txBody>
      </p:sp>
      <p:sp>
        <p:nvSpPr>
          <p:cNvPr id="36" name="Text 34"/>
          <p:cNvSpPr/>
          <p:nvPr/>
        </p:nvSpPr>
        <p:spPr>
          <a:xfrm>
            <a:off x="5332232" y="5084064"/>
            <a:ext cx="6198352" cy="42062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다음 날 열었을 때 목록</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오늘 끝에 확인할 다섯 가지</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Shape 8"/>
          <p:cNvSpPr/>
          <p:nvPr/>
        </p:nvSpPr>
        <p:spPr>
          <a:xfrm>
            <a:off x="530352" y="1783080"/>
            <a:ext cx="11128248" cy="2834640"/>
          </a:xfrm>
          <a:prstGeom prst="roundRect">
            <a:avLst>
              <a:gd name="adj" fmla="val 1774"/>
            </a:avLst>
          </a:prstGeom>
          <a:solidFill>
            <a:srgbClr val="F1F2F4"/>
          </a:solidFill>
          <a:ln w="12700">
            <a:solidFill>
              <a:srgbClr val="E0E3E7"/>
            </a:solidFill>
            <a:prstDash val="solid"/>
          </a:ln>
        </p:spPr>
      </p:sp>
      <p:sp>
        <p:nvSpPr>
          <p:cNvPr id="11" name="Text 9"/>
          <p:cNvSpPr/>
          <p:nvPr/>
        </p:nvSpPr>
        <p:spPr>
          <a:xfrm>
            <a:off x="713232" y="1947672"/>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다섯 줄 모두 예</a:t>
            </a:r>
            <a:endParaRPr lang="en-US" sz="1650" dirty="0"/>
          </a:p>
        </p:txBody>
      </p:sp>
      <p:sp>
        <p:nvSpPr>
          <p:cNvPr id="12" name="Text 10"/>
          <p:cNvSpPr/>
          <p:nvPr/>
        </p:nvSpPr>
        <p:spPr>
          <a:xfrm>
            <a:off x="713232" y="2331720"/>
            <a:ext cx="10762488" cy="2194560"/>
          </a:xfrm>
          <a:prstGeom prst="rect">
            <a:avLst/>
          </a:prstGeom>
          <a:noFill/>
          <a:ln/>
        </p:spPr>
        <p:txBody>
          <a:bodyPr wrap="square" lIns="0" tIns="0" rIns="0" bIns="0" rtlCol="0" anchor="t"/>
          <a:lstStyle/>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정상 입력 → 핵심 결과가 화면에</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잘못된 입력 → 고칠 방법을 알려 주는 안내</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docs\10_api_promise.md 1~3항이 모두 차 있다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AI대화기록.md에 오늘 요청이 남아 있다</a:t>
            </a:r>
            <a:endParaRPr lang="en-US" sz="1500" dirty="0"/>
          </a:p>
          <a:p>
            <a:pPr marL="203200" indent="-203200">
              <a:lnSpc>
                <a:spcPts val="27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package.json이 그대로다 · 저장·로그인·새 패키지 없음</a:t>
            </a:r>
            <a:endParaRPr lang="en-US" sz="1500" dirty="0"/>
          </a:p>
        </p:txBody>
      </p:sp>
      <p:sp>
        <p:nvSpPr>
          <p:cNvPr id="13" name="Shape 11"/>
          <p:cNvSpPr/>
          <p:nvPr/>
        </p:nvSpPr>
        <p:spPr>
          <a:xfrm>
            <a:off x="530352" y="4846320"/>
            <a:ext cx="11128248" cy="512064"/>
          </a:xfrm>
          <a:prstGeom prst="roundRect">
            <a:avLst>
              <a:gd name="adj" fmla="val 39286"/>
            </a:avLst>
          </a:prstGeom>
          <a:solidFill>
            <a:srgbClr val="EAF5FB"/>
          </a:solidFill>
          <a:ln w="12700">
            <a:solidFill>
              <a:srgbClr val="3D8DFF"/>
            </a:solidFill>
            <a:prstDash val="solid"/>
          </a:ln>
        </p:spPr>
      </p:sp>
      <p:sp>
        <p:nvSpPr>
          <p:cNvPr id="14" name="Text 12"/>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끝나면 터미널 ①에서 Ctrl+C · 다음 시간에 같은 10 폴더에서</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10-2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막히면 이 표에서 내 줄을 찾는다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12쪽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9" name="Shape 7"/>
          <p:cNvSpPr/>
          <p:nvPr/>
        </p:nvSpPr>
        <p:spPr>
          <a:xfrm>
            <a:off x="530352" y="1783080"/>
            <a:ext cx="4451299" cy="402336"/>
          </a:xfrm>
          <a:prstGeom prst="rect">
            <a:avLst/>
          </a:prstGeom>
          <a:solidFill>
            <a:srgbClr val="1B1D21"/>
          </a:solidFill>
          <a:ln/>
        </p:spPr>
      </p:sp>
      <p:sp>
        <p:nvSpPr>
          <p:cNvPr id="10" name="Text 8"/>
          <p:cNvSpPr/>
          <p:nvPr/>
        </p:nvSpPr>
        <p:spPr>
          <a:xfrm>
            <a:off x="658368" y="1783080"/>
            <a:ext cx="419526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상황이라면</a:t>
            </a:r>
            <a:endParaRPr lang="en-US" sz="1050" dirty="0"/>
          </a:p>
        </p:txBody>
      </p:sp>
      <p:sp>
        <p:nvSpPr>
          <p:cNvPr id="11" name="Shape 9"/>
          <p:cNvSpPr/>
          <p:nvPr/>
        </p:nvSpPr>
        <p:spPr>
          <a:xfrm>
            <a:off x="4981651" y="1783080"/>
            <a:ext cx="6676949" cy="402336"/>
          </a:xfrm>
          <a:prstGeom prst="rect">
            <a:avLst/>
          </a:prstGeom>
          <a:solidFill>
            <a:srgbClr val="1B1D21"/>
          </a:solidFill>
          <a:ln/>
        </p:spPr>
      </p:sp>
      <p:sp>
        <p:nvSpPr>
          <p:cNvPr id="12" name="Text 10"/>
          <p:cNvSpPr/>
          <p:nvPr/>
        </p:nvSpPr>
        <p:spPr>
          <a:xfrm>
            <a:off x="5109667" y="1783080"/>
            <a:ext cx="642091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한다</a:t>
            </a:r>
            <a:endParaRPr lang="en-US" sz="1050" dirty="0"/>
          </a:p>
        </p:txBody>
      </p:sp>
      <p:sp>
        <p:nvSpPr>
          <p:cNvPr id="13" name="Shape 11"/>
          <p:cNvSpPr/>
          <p:nvPr/>
        </p:nvSpPr>
        <p:spPr>
          <a:xfrm>
            <a:off x="530352" y="2185416"/>
            <a:ext cx="11128248" cy="512064"/>
          </a:xfrm>
          <a:prstGeom prst="rect">
            <a:avLst/>
          </a:prstGeom>
          <a:solidFill>
            <a:srgbClr val="F1F2F4"/>
          </a:solidFill>
          <a:ln w="9525">
            <a:solidFill>
              <a:srgbClr val="E0E3E7"/>
            </a:solidFill>
            <a:prstDash val="solid"/>
          </a:ln>
        </p:spPr>
      </p:sp>
      <p:sp>
        <p:nvSpPr>
          <p:cNvPr id="14" name="Text 12"/>
          <p:cNvSpPr/>
          <p:nvPr/>
        </p:nvSpPr>
        <p:spPr>
          <a:xfrm>
            <a:off x="658368" y="2185416"/>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빨간 오류 화면</a:t>
            </a:r>
            <a:endParaRPr lang="en-US" sz="1350" dirty="0"/>
          </a:p>
        </p:txBody>
      </p:sp>
      <p:sp>
        <p:nvSpPr>
          <p:cNvPr id="15" name="Text 13"/>
          <p:cNvSpPr/>
          <p:nvPr/>
        </p:nvSpPr>
        <p:spPr>
          <a:xfrm>
            <a:off x="5109667" y="2185416"/>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맨 위 두 줄을 복사해 요청 ③ 틀로 보낸다</a:t>
            </a:r>
            <a:endParaRPr lang="en-US" sz="1350" dirty="0"/>
          </a:p>
        </p:txBody>
      </p:sp>
      <p:sp>
        <p:nvSpPr>
          <p:cNvPr id="16" name="Shape 14"/>
          <p:cNvSpPr/>
          <p:nvPr/>
        </p:nvSpPr>
        <p:spPr>
          <a:xfrm>
            <a:off x="530352" y="2697480"/>
            <a:ext cx="11128248" cy="512064"/>
          </a:xfrm>
          <a:prstGeom prst="rect">
            <a:avLst/>
          </a:prstGeom>
          <a:solidFill>
            <a:srgbClr val="FFFFFF"/>
          </a:solidFill>
          <a:ln w="9525">
            <a:solidFill>
              <a:srgbClr val="E0E3E7"/>
            </a:solidFill>
            <a:prstDash val="solid"/>
          </a:ln>
        </p:spPr>
      </p:sp>
      <p:sp>
        <p:nvSpPr>
          <p:cNvPr id="17" name="Text 15"/>
          <p:cNvSpPr/>
          <p:nvPr/>
        </p:nvSpPr>
        <p:spPr>
          <a:xfrm>
            <a:off x="658368" y="2697480"/>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「다 했다」는데 화면이 그대로</a:t>
            </a:r>
            <a:endParaRPr lang="en-US" sz="1350" dirty="0"/>
          </a:p>
        </p:txBody>
      </p:sp>
      <p:sp>
        <p:nvSpPr>
          <p:cNvPr id="18" name="Text 16"/>
          <p:cNvSpPr/>
          <p:nvPr/>
        </p:nvSpPr>
        <p:spPr>
          <a:xfrm>
            <a:off x="5109667" y="2697480"/>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새로고침 → 안 되면 Ctrl+C 후 npm run dev</a:t>
            </a:r>
            <a:endParaRPr lang="en-US" sz="1350" dirty="0"/>
          </a:p>
        </p:txBody>
      </p:sp>
      <p:sp>
        <p:nvSpPr>
          <p:cNvPr id="19" name="Shape 17"/>
          <p:cNvSpPr/>
          <p:nvPr/>
        </p:nvSpPr>
        <p:spPr>
          <a:xfrm>
            <a:off x="530352" y="3209544"/>
            <a:ext cx="11128248" cy="512064"/>
          </a:xfrm>
          <a:prstGeom prst="rect">
            <a:avLst/>
          </a:prstGeom>
          <a:solidFill>
            <a:srgbClr val="F1F2F4"/>
          </a:solidFill>
          <a:ln w="9525">
            <a:solidFill>
              <a:srgbClr val="E0E3E7"/>
            </a:solidFill>
            <a:prstDash val="solid"/>
          </a:ln>
        </p:spPr>
      </p:sp>
      <p:sp>
        <p:nvSpPr>
          <p:cNvPr id="20" name="Text 18"/>
          <p:cNvSpPr/>
          <p:nvPr/>
        </p:nvSpPr>
        <p:spPr>
          <a:xfrm>
            <a:off x="658368" y="3209544"/>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npm install 무엇을 하자고 한다</a:t>
            </a:r>
            <a:endParaRPr lang="en-US" sz="1350" dirty="0"/>
          </a:p>
        </p:txBody>
      </p:sp>
      <p:sp>
        <p:nvSpPr>
          <p:cNvPr id="21" name="Text 19"/>
          <p:cNvSpPr/>
          <p:nvPr/>
        </p:nvSpPr>
        <p:spPr>
          <a:xfrm>
            <a:off x="5109667" y="3209544"/>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「새 패키지 없이 하는 방법으로」</a:t>
            </a:r>
            <a:endParaRPr lang="en-US" sz="1350" dirty="0"/>
          </a:p>
        </p:txBody>
      </p:sp>
      <p:sp>
        <p:nvSpPr>
          <p:cNvPr id="22" name="Shape 20"/>
          <p:cNvSpPr/>
          <p:nvPr/>
        </p:nvSpPr>
        <p:spPr>
          <a:xfrm>
            <a:off x="530352" y="3721608"/>
            <a:ext cx="11128248" cy="512064"/>
          </a:xfrm>
          <a:prstGeom prst="rect">
            <a:avLst/>
          </a:prstGeom>
          <a:solidFill>
            <a:srgbClr val="FFFFFF"/>
          </a:solidFill>
          <a:ln w="9525">
            <a:solidFill>
              <a:srgbClr val="E0E3E7"/>
            </a:solidFill>
            <a:prstDash val="solid"/>
          </a:ln>
        </p:spPr>
      </p:sp>
      <p:sp>
        <p:nvSpPr>
          <p:cNvPr id="23" name="Text 21"/>
          <p:cNvSpPr/>
          <p:nvPr/>
        </p:nvSpPr>
        <p:spPr>
          <a:xfrm>
            <a:off x="658368" y="3721608"/>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TypeScript·새 구조로 바꾸자고 한다</a:t>
            </a:r>
            <a:endParaRPr lang="en-US" sz="1350" dirty="0"/>
          </a:p>
        </p:txBody>
      </p:sp>
      <p:sp>
        <p:nvSpPr>
          <p:cNvPr id="24" name="Text 22"/>
          <p:cNvSpPr/>
          <p:nvPr/>
        </p:nvSpPr>
        <p:spPr>
          <a:xfrm>
            <a:off x="5109667" y="3721608"/>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「AGENTS.md를 다시 읽어 줘」</a:t>
            </a:r>
            <a:endParaRPr lang="en-US" sz="1350" dirty="0"/>
          </a:p>
        </p:txBody>
      </p:sp>
      <p:sp>
        <p:nvSpPr>
          <p:cNvPr id="25" name="Shape 23"/>
          <p:cNvSpPr/>
          <p:nvPr/>
        </p:nvSpPr>
        <p:spPr>
          <a:xfrm>
            <a:off x="530352" y="4233672"/>
            <a:ext cx="11128248" cy="512064"/>
          </a:xfrm>
          <a:prstGeom prst="rect">
            <a:avLst/>
          </a:prstGeom>
          <a:solidFill>
            <a:srgbClr val="F1F2F4"/>
          </a:solidFill>
          <a:ln w="9525">
            <a:solidFill>
              <a:srgbClr val="E0E3E7"/>
            </a:solidFill>
            <a:prstDash val="solid"/>
          </a:ln>
        </p:spPr>
      </p:sp>
      <p:sp>
        <p:nvSpPr>
          <p:cNvPr id="26" name="Text 24"/>
          <p:cNvSpPr/>
          <p:nvPr/>
        </p:nvSpPr>
        <p:spPr>
          <a:xfrm>
            <a:off x="658368" y="4233672"/>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FreeUsageLimitError · 429</a:t>
            </a:r>
            <a:endParaRPr lang="en-US" sz="1350" dirty="0"/>
          </a:p>
        </p:txBody>
      </p:sp>
      <p:sp>
        <p:nvSpPr>
          <p:cNvPr id="27" name="Text 25"/>
          <p:cNvSpPr/>
          <p:nvPr/>
        </p:nvSpPr>
        <p:spPr>
          <a:xfrm>
            <a:off x="5109667" y="4233672"/>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1~2분 뒤 같은 요청 · 그동안 약속표</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다음 차시 · 11-1</a:t>
            </a:r>
            <a:endParaRPr lang="en-US" sz="1200" dirty="0"/>
          </a:p>
        </p:txBody>
      </p:sp>
      <p:sp>
        <p:nvSpPr>
          <p:cNvPr id="4" name="Text 2"/>
          <p:cNvSpPr/>
          <p:nvPr/>
        </p:nvSpPr>
        <p:spPr>
          <a:xfrm>
            <a:off x="530352" y="1828800"/>
            <a:ext cx="10424160" cy="1920240"/>
          </a:xfrm>
          <a:prstGeom prst="rect">
            <a:avLst/>
          </a:prstGeom>
          <a:noFill/>
          <a:ln/>
        </p:spPr>
        <p:txBody>
          <a:bodyPr wrap="square" lIns="0" tIns="0" rIns="0" bIns="0" rtlCol="0" anchor="ctr"/>
          <a:lstStyle/>
          <a:p>
            <a:pPr indent="0" marL="0">
              <a:buNone/>
            </a:pPr>
            <a:r>
              <a:rPr lang="en-US" sz="3600" b="1" dirty="0">
                <a:solidFill>
                  <a:srgbClr val="FFFFFF"/>
                </a:solidFill>
                <a:latin typeface="IBM Plex Sans KR" pitchFamily="34" charset="0"/>
                <a:ea typeface="IBM Plex Sans KR" pitchFamily="34" charset="-122"/>
                <a:cs typeface="IBM Plex Sans KR" pitchFamily="34" charset="-120"/>
              </a:rPr>
              <a:t>내 버튼 하나가</a:t>
            </a:r>
            <a:endParaRPr lang="en-US" sz="3600" dirty="0"/>
          </a:p>
          <a:p>
            <a:pPr indent="0" marL="0">
              <a:buNone/>
            </a:pPr>
            <a:r>
              <a:rPr lang="en-US" sz="3600" b="1" dirty="0">
                <a:solidFill>
                  <a:srgbClr val="FFFFFF"/>
                </a:solidFill>
                <a:latin typeface="IBM Plex Sans KR" pitchFamily="34" charset="0"/>
                <a:ea typeface="IBM Plex Sans KR" pitchFamily="34" charset="-122"/>
                <a:cs typeface="IBM Plex Sans KR" pitchFamily="34" charset="-120"/>
              </a:rPr>
              <a:t>요청과 응답으로 이어졌다</a:t>
            </a:r>
            <a:endParaRPr lang="en-US" sz="3600" dirty="0"/>
          </a:p>
        </p:txBody>
      </p:sp>
      <p:sp>
        <p:nvSpPr>
          <p:cNvPr id="5" name="Text 3"/>
          <p:cNvSpPr/>
          <p:nvPr/>
        </p:nvSpPr>
        <p:spPr>
          <a:xfrm>
            <a:off x="530352" y="37947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다음 시간에는 서비스가 기록을 기억하게 합니다.</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다시 켜도 남는 서비스가 11회의 목표입니다.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10-2 · 11쪽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2026-10-29T07:02:45Z</dcterms:created>
  <dcterms:modified xsi:type="dcterms:W3CDTF">2026-10-29T07:02:45Z</dcterms:modified>
</cp:coreProperties>
</file>