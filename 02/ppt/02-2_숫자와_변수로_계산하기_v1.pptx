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0b4325455046f1" /><Relationship Type="http://schemas.openxmlformats.org/officeDocument/2006/relationships/extended-properties" Target="/docProps/app.xml" Id="R90d6048231f84da5" /><Relationship Type="http://schemas.openxmlformats.org/officeDocument/2006/relationships/officeDocument" Target="/ppt/presentation.xml" Id="R701190bdfd874d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affe681e424b59"/>
  </p:sldMasterIdLst>
  <p:notesMasterIdLst>
    <p:notesMasterId xmlns:r="http://schemas.openxmlformats.org/officeDocument/2006/relationships" r:id="R397677d00db34435"/>
  </p:notesMasterIdLst>
  <p:sldIdLst>
    <p:sldId xmlns:r="http://schemas.openxmlformats.org/officeDocument/2006/relationships" id="256" r:id="R72b42f28fb2b4fc8"/>
    <p:sldId xmlns:r="http://schemas.openxmlformats.org/officeDocument/2006/relationships" id="257" r:id="Rdd075d6b9b124c25"/>
    <p:sldId xmlns:r="http://schemas.openxmlformats.org/officeDocument/2006/relationships" id="258" r:id="R4c2ddee105c248e1"/>
    <p:sldId xmlns:r="http://schemas.openxmlformats.org/officeDocument/2006/relationships" id="259" r:id="R58b501704d424cdc"/>
    <p:sldId xmlns:r="http://schemas.openxmlformats.org/officeDocument/2006/relationships" id="260" r:id="Rd15badc1275b467b"/>
    <p:sldId xmlns:r="http://schemas.openxmlformats.org/officeDocument/2006/relationships" id="261" r:id="Rf9787a87a5a54581"/>
    <p:sldId xmlns:r="http://schemas.openxmlformats.org/officeDocument/2006/relationships" id="262" r:id="Rb95ffd19e9944d3f"/>
    <p:sldId xmlns:r="http://schemas.openxmlformats.org/officeDocument/2006/relationships" id="263" r:id="R7aa294d9587c41a6"/>
    <p:sldId xmlns:r="http://schemas.openxmlformats.org/officeDocument/2006/relationships" id="264" r:id="R5d4272d3b6554a5c"/>
    <p:sldId xmlns:r="http://schemas.openxmlformats.org/officeDocument/2006/relationships" id="265" r:id="R67e66282259a483d"/>
    <p:sldId xmlns:r="http://schemas.openxmlformats.org/officeDocument/2006/relationships" id="266" r:id="R7eda13488dbb4b9c"/>
    <p:sldId xmlns:r="http://schemas.openxmlformats.org/officeDocument/2006/relationships" id="267" r:id="R7a1e8c64d34a4da6"/>
    <p:sldId xmlns:r="http://schemas.openxmlformats.org/officeDocument/2006/relationships" id="268" r:id="R302b7f68a90945e0"/>
    <p:sldId xmlns:r="http://schemas.openxmlformats.org/officeDocument/2006/relationships" id="269" r:id="R80eace3ec8684958"/>
    <p:sldId xmlns:r="http://schemas.openxmlformats.org/officeDocument/2006/relationships" id="270" r:id="R334bed3c5a164fdd"/>
    <p:sldId xmlns:r="http://schemas.openxmlformats.org/officeDocument/2006/relationships" id="271" r:id="R8ea7f5c8efe049e1"/>
    <p:sldId xmlns:r="http://schemas.openxmlformats.org/officeDocument/2006/relationships" id="272" r:id="R46b3758575c74ef5"/>
    <p:sldId xmlns:r="http://schemas.openxmlformats.org/officeDocument/2006/relationships" id="273" r:id="Rd211a3ae023542c2"/>
    <p:sldId xmlns:r="http://schemas.openxmlformats.org/officeDocument/2006/relationships" id="274" r:id="R213b3cdb46a94289"/>
    <p:sldId xmlns:r="http://schemas.openxmlformats.org/officeDocument/2006/relationships" id="275" r:id="Rb7319e26e9324fd6"/>
    <p:sldId xmlns:r="http://schemas.openxmlformats.org/officeDocument/2006/relationships" id="276" r:id="R1fba0d44c53844d1"/>
    <p:sldId xmlns:r="http://schemas.openxmlformats.org/officeDocument/2006/relationships" id="277" r:id="Rf0af450cc9584b3e"/>
    <p:sldId xmlns:r="http://schemas.openxmlformats.org/officeDocument/2006/relationships" id="278" r:id="R005bd3e72b5d4171"/>
    <p:sldId xmlns:r="http://schemas.openxmlformats.org/officeDocument/2006/relationships" id="279" r:id="R1dec22c887e047c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b3d53a33ce4d21" /><Relationship Type="http://schemas.openxmlformats.org/officeDocument/2006/relationships/slideMaster" Target="/ppt/slideMasters/slideMaster1.xml" Id="R7baffe681e424b59" /><Relationship Type="http://schemas.openxmlformats.org/officeDocument/2006/relationships/notesMaster" Target="/ppt/notesMasters/notesMaster1.xml" Id="R397677d00db34435" /><Relationship Type="http://schemas.openxmlformats.org/officeDocument/2006/relationships/presProps" Target="/ppt/presProps.xml" Id="R26849e0e3a3046d3" /><Relationship Type="http://schemas.openxmlformats.org/officeDocument/2006/relationships/tableStyles" Target="/ppt/tableStyles.xml" Id="Rd471eaaee55b4448" /><Relationship Type="http://schemas.openxmlformats.org/officeDocument/2006/relationships/slide" Target="/ppt/slides/slide1.xml" Id="R72b42f28fb2b4fc8" /><Relationship Type="http://schemas.openxmlformats.org/officeDocument/2006/relationships/slide" Target="/ppt/slides/slide2.xml" Id="Rdd075d6b9b124c25" /><Relationship Type="http://schemas.openxmlformats.org/officeDocument/2006/relationships/slide" Target="/ppt/slides/slide3.xml" Id="R4c2ddee105c248e1" /><Relationship Type="http://schemas.openxmlformats.org/officeDocument/2006/relationships/slide" Target="/ppt/slides/slide4.xml" Id="R58b501704d424cdc" /><Relationship Type="http://schemas.openxmlformats.org/officeDocument/2006/relationships/slide" Target="/ppt/slides/slide5.xml" Id="Rd15badc1275b467b" /><Relationship Type="http://schemas.openxmlformats.org/officeDocument/2006/relationships/slide" Target="/ppt/slides/slide6.xml" Id="Rf9787a87a5a54581" /><Relationship Type="http://schemas.openxmlformats.org/officeDocument/2006/relationships/slide" Target="/ppt/slides/slide7.xml" Id="Rb95ffd19e9944d3f" /><Relationship Type="http://schemas.openxmlformats.org/officeDocument/2006/relationships/slide" Target="/ppt/slides/slide8.xml" Id="R7aa294d9587c41a6" /><Relationship Type="http://schemas.openxmlformats.org/officeDocument/2006/relationships/slide" Target="/ppt/slides/slide9.xml" Id="R5d4272d3b6554a5c" /><Relationship Type="http://schemas.openxmlformats.org/officeDocument/2006/relationships/slide" Target="/ppt/slides/slide10.xml" Id="R67e66282259a483d" /><Relationship Type="http://schemas.openxmlformats.org/officeDocument/2006/relationships/slide" Target="/ppt/slides/slide11.xml" Id="R7eda13488dbb4b9c" /><Relationship Type="http://schemas.openxmlformats.org/officeDocument/2006/relationships/slide" Target="/ppt/slides/slide12.xml" Id="R7a1e8c64d34a4da6" /><Relationship Type="http://schemas.openxmlformats.org/officeDocument/2006/relationships/slide" Target="/ppt/slides/slide13.xml" Id="R302b7f68a90945e0" /><Relationship Type="http://schemas.openxmlformats.org/officeDocument/2006/relationships/slide" Target="/ppt/slides/slide14.xml" Id="R80eace3ec8684958" /><Relationship Type="http://schemas.openxmlformats.org/officeDocument/2006/relationships/slide" Target="/ppt/slides/slide15.xml" Id="R334bed3c5a164fdd" /><Relationship Type="http://schemas.openxmlformats.org/officeDocument/2006/relationships/slide" Target="/ppt/slides/slide16.xml" Id="R8ea7f5c8efe049e1" /><Relationship Type="http://schemas.openxmlformats.org/officeDocument/2006/relationships/slide" Target="/ppt/slides/slide17.xml" Id="R46b3758575c74ef5" /><Relationship Type="http://schemas.openxmlformats.org/officeDocument/2006/relationships/slide" Target="/ppt/slides/slide18.xml" Id="Rd211a3ae023542c2" /><Relationship Type="http://schemas.openxmlformats.org/officeDocument/2006/relationships/slide" Target="/ppt/slides/slide19.xml" Id="R213b3cdb46a94289" /><Relationship Type="http://schemas.openxmlformats.org/officeDocument/2006/relationships/slide" Target="/ppt/slides/slide20.xml" Id="Rb7319e26e9324fd6" /><Relationship Type="http://schemas.openxmlformats.org/officeDocument/2006/relationships/slide" Target="/ppt/slides/slide21.xml" Id="R1fba0d44c53844d1" /><Relationship Type="http://schemas.openxmlformats.org/officeDocument/2006/relationships/slide" Target="/ppt/slides/slide22.xml" Id="Rf0af450cc9584b3e" /><Relationship Type="http://schemas.openxmlformats.org/officeDocument/2006/relationships/slide" Target="/ppt/slides/slide23.xml" Id="R005bd3e72b5d4171" /><Relationship Type="http://schemas.openxmlformats.org/officeDocument/2006/relationships/slide" Target="/ppt/slides/slide24.xml" Id="R1dec22c887e047c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8b69de2cb040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cba91f063f4c6e" /><Relationship Type="http://schemas.openxmlformats.org/officeDocument/2006/relationships/notesMaster" Target="/ppt/notesMasters/notesMaster1.xml" Id="R25fc568d28e043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99ef6124dd4075" /><Relationship Type="http://schemas.openxmlformats.org/officeDocument/2006/relationships/notesMaster" Target="/ppt/notesMasters/notesMaster1.xml" Id="R8c9c10ddcc6b4e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7560c1791ea4c23" /><Relationship Type="http://schemas.openxmlformats.org/officeDocument/2006/relationships/notesMaster" Target="/ppt/notesMasters/notesMaster1.xml" Id="Rec5905e699274c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04e7c8e4854100" /><Relationship Type="http://schemas.openxmlformats.org/officeDocument/2006/relationships/notesMaster" Target="/ppt/notesMasters/notesMaster1.xml" Id="R1c1bb4a9cf1b48a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d347a7e6864910" /><Relationship Type="http://schemas.openxmlformats.org/officeDocument/2006/relationships/notesMaster" Target="/ppt/notesMasters/notesMaster1.xml" Id="Ref23706c102f4e9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96bb053f8834aa6" /><Relationship Type="http://schemas.openxmlformats.org/officeDocument/2006/relationships/notesMaster" Target="/ppt/notesMasters/notesMaster1.xml" Id="Rbc074f1aaa524d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ac2e8598df489d" /><Relationship Type="http://schemas.openxmlformats.org/officeDocument/2006/relationships/notesMaster" Target="/ppt/notesMasters/notesMaster1.xml" Id="Reabcf7e225534af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6dc411f563e4136" /><Relationship Type="http://schemas.openxmlformats.org/officeDocument/2006/relationships/notesMaster" Target="/ppt/notesMasters/notesMaster1.xml" Id="Rdf53dbc62e41474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d4bff3257614e18" /><Relationship Type="http://schemas.openxmlformats.org/officeDocument/2006/relationships/notesMaster" Target="/ppt/notesMasters/notesMaster1.xml" Id="R5ce4b7a468044c7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0bcca02ba3f4c62" /><Relationship Type="http://schemas.openxmlformats.org/officeDocument/2006/relationships/notesMaster" Target="/ppt/notesMasters/notesMaster1.xml" Id="R48fbbc7ec6e6423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f73dd73ea24e1f" /><Relationship Type="http://schemas.openxmlformats.org/officeDocument/2006/relationships/notesMaster" Target="/ppt/notesMasters/notesMaster1.xml" Id="R3855b1bffa2e49c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02f51627e594039" /><Relationship Type="http://schemas.openxmlformats.org/officeDocument/2006/relationships/notesMaster" Target="/ppt/notesMasters/notesMaster1.xml" Id="R166f69594f834cf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c7272d7f5694959" /><Relationship Type="http://schemas.openxmlformats.org/officeDocument/2006/relationships/notesMaster" Target="/ppt/notesMasters/notesMaster1.xml" Id="R1d06d3063a0548c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4e705454dc642f9" /><Relationship Type="http://schemas.openxmlformats.org/officeDocument/2006/relationships/notesMaster" Target="/ppt/notesMasters/notesMaster1.xml" Id="R82878a14ffa4439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67c102303154a38" /><Relationship Type="http://schemas.openxmlformats.org/officeDocument/2006/relationships/notesMaster" Target="/ppt/notesMasters/notesMaster1.xml" Id="Rdb624b130109406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d615a485d7f4f48" /><Relationship Type="http://schemas.openxmlformats.org/officeDocument/2006/relationships/notesMaster" Target="/ppt/notesMasters/notesMaster1.xml" Id="Rf8e003f5b2e94ea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aef8e4dbd044be5" /><Relationship Type="http://schemas.openxmlformats.org/officeDocument/2006/relationships/notesMaster" Target="/ppt/notesMasters/notesMaster1.xml" Id="R0476a350ff2d478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6f321979be34312" /><Relationship Type="http://schemas.openxmlformats.org/officeDocument/2006/relationships/notesMaster" Target="/ppt/notesMasters/notesMaster1.xml" Id="Ra0991b07a6d6406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b2b758726dd4e91" /><Relationship Type="http://schemas.openxmlformats.org/officeDocument/2006/relationships/notesMaster" Target="/ppt/notesMasters/notesMaster1.xml" Id="R6c7b7ba0c71a4bf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e419f1bdf8a4b9c" /><Relationship Type="http://schemas.openxmlformats.org/officeDocument/2006/relationships/notesMaster" Target="/ppt/notesMasters/notesMaster1.xml" Id="Rd37952e0dac3413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aef0a35de884db9" /><Relationship Type="http://schemas.openxmlformats.org/officeDocument/2006/relationships/notesMaster" Target="/ppt/notesMasters/notesMaster1.xml" Id="R69543a3f73c747e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c78b4db29754e1b" /><Relationship Type="http://schemas.openxmlformats.org/officeDocument/2006/relationships/notesMaster" Target="/ppt/notesMasters/notesMaster1.xml" Id="R55eae06821494cc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eeab65dbb1440e2" /><Relationship Type="http://schemas.openxmlformats.org/officeDocument/2006/relationships/notesMaster" Target="/ppt/notesMasters/notesMaster1.xml" Id="R2ff707b33cd748f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4cee187fde047b2" /><Relationship Type="http://schemas.openxmlformats.org/officeDocument/2006/relationships/notesMaster" Target="/ppt/notesMasters/notesMaster1.xml" Id="Re99babf86a7847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[45분 운영] 0~5분 성적표와 질문, 5~12분 첫 실행, 12~22분 네 연산, 22~30분 숫자와 문자열, 30~38분 변수·합계·평균, 38~44분 OpenCode 요청과 파일 확인, 44~45분 정리.</a:t>
            </a:r>
          </a:p>
          <a:p xmlns:a="http://schemas.openxmlformats.org/drawingml/2006/main">
            <a:r>
              <a:t>설명과 실행을 짧게 번갈아 한다. 학생이 처음부터 코드를 입력하거나 숫자를 임의로 바꾸게 하지 않는다.</a:t>
            </a:r>
          </a:p>
          <a:p xmlns:a="http://schemas.openxmlformats.org/drawingml/2006/main">
            <a:r>
              <a:t>첫 문장: 오늘은 Python 전체를 배우지 않습니다. 짧은 코드를 읽고 결과를 확인하는 가장 작은 연습부터 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교과서의 주황색 버튼으로 02_student_files.zip을 먼저 내려받게 한다.</a:t>
            </a:r>
          </a:p>
          <a:p xmlns:a="http://schemas.openxmlformats.org/drawingml/2006/main">
            <a:r>
              <a:t>압축을 푼 뒤 학생별 폴더를 만들고 02 폴더를 안에 넣는다.</a:t>
            </a:r>
          </a:p>
          <a:p xmlns:a="http://schemas.openxmlformats.org/drawingml/2006/main">
            <a:r>
              <a:t>자기이름 자리에는 학생 본인의 이름을 넣는다. 예: JDH_VibeCoding_홍길동.</a:t>
            </a:r>
          </a:p>
          <a:p xmlns:a="http://schemas.openxmlformats.org/drawingml/2006/main">
            <a:r>
              <a:t>PPT에는 구조를 보여 주고, 실제 자료 받기 버튼은 교과서에서 누른다.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course asset: 교과서_배포/assets/img/02-2-00-course-folder-structure.png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 A의 82, 91, 76을 가리키고 각각 무슨 점수인지 묻는다. 표의 제목을 읽어야 숫자의 뜻을 알 수 있음을 확인한다.</a:t>
            </a:r>
          </a:p>
          <a:p xmlns:a="http://schemas.openxmlformats.org/drawingml/2006/main">
            <a:r>
              <a:t>대본: 코드에서도 숫자만 놓으면 뜻을 잃습니다. 오늘은 숫자에 국어 점수, 영어 점수 같은 이름을 붙입니다.</a:t>
            </a:r>
          </a:p>
          <a:p xmlns:a="http://schemas.openxmlformats.org/drawingml/2006/main">
            <a:r>
              <a:t>이 표는 화면 설명용 가상 자료다. 오늘 CSV를 읽거나 pandas를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course asset: 교과서_배포/02/sample/output/02_subject_scores_table.png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 A의 82, 91, 76을 가리키고 각각 무슨 점수인지 묻는다. 표의 제목을 읽어야 숫자의 뜻을 알 수 있음을 확인한다.</a:t>
            </a:r>
          </a:p>
          <a:p xmlns:a="http://schemas.openxmlformats.org/drawingml/2006/main">
            <a:r>
              <a:t>대본: 코드에서도 숫자만 놓으면 뜻을 잃습니다. 오늘은 숫자에 국어 점수, 영어 점수 같은 이름을 붙입니다.</a:t>
            </a:r>
          </a:p>
          <a:p xmlns:a="http://schemas.openxmlformats.org/drawingml/2006/main">
            <a:r>
              <a:t>이 표는 화면 설명용 가상 자료다. 오늘 CSV를 읽거나 pandas를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course asset: 교과서_배포/02/sample/output/02_subject_scores_table.png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단계를 학생과 함께 읽는다. 숫자를 찾고, 이름과 연산을 보고, print로 결과를 확인한다.</a:t>
            </a:r>
          </a:p>
          <a:p xmlns:a="http://schemas.openxmlformats.org/drawingml/2006/main">
            <a:r>
              <a:t>직접 타이핑 능력이 목표가 아니라 코드의 의미를 읽고 AI 결과를 검증하는 준비라고 연결한다.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학생이 파일을 열면 바로 실행시키지 않는다. 숫자 3과 5, 더하기 기호, print를 먼저 찾게 한다.</a:t>
            </a:r>
          </a:p>
          <a:p xmlns:a="http://schemas.openxmlformats.org/drawingml/2006/main">
            <a:r>
              <a:t>질문: 결과는 무엇일까요? 답을 받은 다음에만 실행 슬라이드로 넘어간다.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학생이 제공된 파일에서 Run Python File 버튼을 누르게 한다. 버튼이 안 보이면 Python 확장 설치 여부와 파일 확장자 .py를 확인한다.</a:t>
            </a:r>
          </a:p>
          <a:p xmlns:a="http://schemas.openxmlformats.org/drawingml/2006/main">
            <a:r>
              <a:t>대본: 어제 터미널은 프로그램에 질문하는 곳이었고, 지금은 Python이 보여 주는 결과를 읽는 곳이기도 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course screenshot: VS Code Run Python File button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print를 함수라는 용어로 길게 설명하지 않는다. 괄호 안의 값을 화면에 보여 주는 기능이라고만 한다.</a:t>
            </a:r>
          </a:p>
          <a:p xmlns:a="http://schemas.openxmlformats.org/drawingml/2006/main">
            <a:r>
              <a:t>질문 예상: print는 인쇄하나요? 답: 여기서는 종이가 아니라 화면에 보여 준다는 뜻입니다.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학생이 8 + 2의 결과를 먼저 말한 뒤 준비된 파일을 실행하게 한다.</a:t>
            </a:r>
          </a:p>
          <a:p xmlns:a="http://schemas.openxmlformats.org/drawingml/2006/main">
            <a:r>
              <a:t>+ 기호의 키보드 위치를 짧게 가리키고 바로 실행한다.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학생이 8 - 2의 결과를 먼저 말한 뒤 준비된 파일을 실행하게 한다.</a:t>
            </a:r>
          </a:p>
          <a:p xmlns:a="http://schemas.openxmlformats.org/drawingml/2006/main">
            <a:r>
              <a:t>- 기호의 키보드 위치를 짧게 가리키고 바로 실행한다.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학생이 8 * 2의 결과를 먼저 말한 뒤 준비된 파일을 실행하게 한다.</a:t>
            </a:r>
          </a:p>
          <a:p xmlns:a="http://schemas.openxmlformats.org/drawingml/2006/main">
            <a:r>
              <a:t>* 기호의 키보드 위치를 짧게 가리키고 바로 실행한다.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학생이 8 / 2의 결과를 먼저 말한 뒤 준비된 파일을 실행하게 한다.</a:t>
            </a:r>
          </a:p>
          <a:p xmlns:a="http://schemas.openxmlformats.org/drawingml/2006/main">
            <a:r>
              <a:t>4.0은 4와 같은 크기의 값이지만 나누기 결과가 소수점 모양으로 표시된 것이다. 저장 원리까지 확장하지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결과를 먼저 보여 주지 말고 두 줄이 무엇이 다른지 묻는다. 따옴표를 학생이 발견하게 한다.</a:t>
            </a:r>
          </a:p>
          <a:p xmlns:a="http://schemas.openxmlformats.org/drawingml/2006/main">
            <a:r>
              <a:t>자료형은 값의 종류라고 설명한다. int와 str은 이름을 들려주되 암기시키지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03_number_text_cases.py를 실행해 숫자끼리, 글자끼리, 글자와 숫자를 더하는 세 경우를 순서대로 본다.</a:t>
            </a:r>
          </a:p>
          <a:p xmlns:a="http://schemas.openxmlformats.org/drawingml/2006/main">
            <a:r>
              <a:t>세 번째 줄의 '2' + 3에서 TypeError가 한 번 나타나는 것까지 확인한다.</a:t>
            </a:r>
          </a:p>
          <a:p xmlns:a="http://schemas.openxmlformats.org/drawingml/2006/main">
            <a:r>
              <a:t>오류 문장을 외우게 하지 않고, 값의 종류가 다르면 바로 더할 수 없다는 사실만 남긴다.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03_number_text_cases.py 한 파일을 실행한다.</a:t>
            </a:r>
          </a:p>
          <a:p xmlns:a="http://schemas.openxmlformats.org/drawingml/2006/main">
            <a:r>
              <a:t>첫 줄의 2 + 3은 5, 둘째 줄의 글자끼리 더하기는 23으로 표시되고, 마지막 글자와 숫자 더하기에서 TypeError가 한 번 나타난다.</a:t>
            </a:r>
          </a:p>
          <a:p xmlns:a="http://schemas.openxmlformats.org/drawingml/2006/main">
            <a:r>
              <a:t>오류 이름이나 긴 문장을 외우게 하지 않고, 값의 종류가 다르면 바로 더할 수 없다는 사실만 확인한다.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교과서 7쪽과 같은 04_variables.py 전체 내용을 보여 준다.</a:t>
            </a:r>
          </a:p>
          <a:p xmlns:a="http://schemas.openxmlformats.org/drawingml/2006/main">
            <a:r>
              <a:t>이 슬라이드에서는 값마다 뜻이 드러나는 이름을 붙였다는 점에 초점을 둔다.</a:t>
            </a:r>
          </a:p>
          <a:p xmlns:a="http://schemas.openxmlformats.org/drawingml/2006/main">
            <a:r>
              <a:t>앞뒤 슬라이드의 파일 내용이 같다는 점을 확인한다.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앞 슬라이드와 같은 04_variables.py 전체 내용을 그대로 보여 준다.</a:t>
            </a:r>
          </a:p>
          <a:p xmlns:a="http://schemas.openxmlformats.org/drawingml/2006/main">
            <a:r>
              <a:t>이번에는 오른쪽 값이 계산된 뒤 왼쪽 이름에 저장된다는 =의 방향을 설명한다.</a:t>
            </a:r>
          </a:p>
          <a:p xmlns:a="http://schemas.openxmlformats.org/drawingml/2006/main">
            <a:r>
              <a:t>같은 파일을 사용해 서로 다른 코드라고 오해하지 않게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05_numbers_and_variables.py를 열되 결과 영역은 가린 상태로 숫자, 변수 이름, 계산식을 찾는다.</a:t>
            </a:r>
          </a:p>
          <a:p xmlns:a="http://schemas.openxmlformats.org/drawingml/2006/main">
            <a:r>
              <a:t>학생들이 합계를 계산하게 하고 평균은 합계를 3으로 나눈다는 식을 확인한다. 실행 후 249와 83.0을 비교한다.</a:t>
            </a:r>
          </a:p>
          <a:p xmlns:a="http://schemas.openxmlformats.org/drawingml/2006/main">
            <a:r>
              <a:t>대본: 오류 없이 실행됐다는 것과 우리가 원한 계산을 했다는 것은 다릅니다.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여기서부터 준비된 예제를 실행하는 활동이 아니라 AI에 요청해 새 파일을 만드는 첫 실습이라고 알린다.</a:t>
            </a:r>
          </a:p>
          <a:p xmlns:a="http://schemas.openxmlformats.org/drawingml/2006/main">
            <a:r>
              <a:t>요청문을 그대로 사용해 code/student_scores.py를 만든다.</a:t>
            </a:r>
          </a:p>
          <a:p xmlns:a="http://schemas.openxmlformats.org/drawingml/2006/main">
            <a:r>
              <a:t>생성 후 채팅 답변에 머물지 않고 code 폴더에서 실제 파일을 열어 다음 슬라이드로 넘어간다.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검사 순서: 82·91·76 찾기 → 학생 A의 따옴표 찾기 → 변수 이름 찾기 → 합계·평균 식 확인 → 결과 예상.</a:t>
            </a:r>
          </a:p>
          <a:p xmlns:a="http://schemas.openxmlformats.org/drawingml/2006/main">
            <a:r>
              <a:t>AI가 완료했다고 말해도 끝난 것이 아니라는 책임 원칙을 다시 연결한다.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전원이 실행 결과를 봤는지 확인한다. 숫자를 임의로 바꾸는 활동으로 늘리지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학생에게 오늘 배운 네 낱말을 차례로 말하게 한다: 숫자, 변수, 연산, print.</a:t>
            </a:r>
          </a:p>
          <a:p xmlns:a="http://schemas.openxmlformats.org/drawingml/2006/main">
            <a:r>
              <a:t>마무리 문장: 오늘의 목표는 Python을 외운 것이 아니라, AI가 만든 짧은 계산 코드를 읽고 확인하는 첫 습관을 만든 것입니다.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학생들이 Python 자체가 검은 터미널 안에서만 돌아간다고 오해하지 않도록 정리한다.</a:t>
            </a:r>
          </a:p>
          <a:p xmlns:a="http://schemas.openxmlformats.org/drawingml/2006/main">
            <a:r>
              <a:t>터미널은 글자 결과와 오류를 확인하는 화면이고, Notebook·GUI·웹에서는 같은 Python 결과를 표·그래프·창·브라우저 화면으로 보여 줄 수 있다.</a:t>
            </a:r>
          </a:p>
          <a:p xmlns:a="http://schemas.openxmlformats.org/drawingml/2006/main">
            <a:r>
              <a:t>이번 시간에는 가장 단순한 확인 방법인 터미널을 사용했을 뿐이라고 설명한다.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Python File 버튼을 누르면 VS Code가 실행 명령을 준비하고, 운영체제가 Python 실행기를 시작한다.</a:t>
            </a:r>
          </a:p>
          <a:p xmlns:a="http://schemas.openxmlformats.org/drawingml/2006/main">
            <a:r>
              <a:t>Python 실행기는 파일을 위에서부터 읽으며 print를 만나면 결과를 터미널에 보낸다.</a:t>
            </a:r>
          </a:p>
          <a:p xmlns:a="http://schemas.openxmlformats.org/drawingml/2006/main">
            <a:r>
              <a:t>터미널이 Python 그 자체가 아니라 결과를 보여 주는 창이라는 점을 다시 확인한다.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d573a2a3ef40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0c08f0887245b8" /><Relationship Type="http://schemas.openxmlformats.org/officeDocument/2006/relationships/slideLayout" Target="/ppt/slideLayouts/slideLayout1.xml" Id="R077fffac183646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7fffac183646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c309c4af4b4cc0" /><Relationship Type="http://schemas.openxmlformats.org/officeDocument/2006/relationships/notesSlide" Target="/ppt/notesSlides/notesSlide1.xml" Id="R64da041e976746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fd7299a0c24b00" /><Relationship Type="http://schemas.openxmlformats.org/officeDocument/2006/relationships/image" Target="/ppt/media/image.png" Id="R35072d6f273d48ed" /><Relationship Type="http://schemas.openxmlformats.org/officeDocument/2006/relationships/notesSlide" Target="/ppt/notesSlides/notesSlide2.xml" Id="R8928d3d5367a41c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9db6c4295047f3" /><Relationship Type="http://schemas.openxmlformats.org/officeDocument/2006/relationships/image" Target="/ppt/media/image2.png" Id="R90f89081c229450e" /><Relationship Type="http://schemas.openxmlformats.org/officeDocument/2006/relationships/notesSlide" Target="/ppt/notesSlides/notesSlide3.xml" Id="R6689d6737e3949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d6490a9e5e410f" /><Relationship Type="http://schemas.openxmlformats.org/officeDocument/2006/relationships/image" Target="/ppt/media/image2.png" Id="R4a71a84b7e6c406d" /><Relationship Type="http://schemas.openxmlformats.org/officeDocument/2006/relationships/notesSlide" Target="/ppt/notesSlides/notesSlide4.xml" Id="R1724f4d50fbd47a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b38222787f4835" /><Relationship Type="http://schemas.openxmlformats.org/officeDocument/2006/relationships/notesSlide" Target="/ppt/notesSlides/notesSlide5.xml" Id="Rc000b2ede3de48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5c094862154ada" /><Relationship Type="http://schemas.openxmlformats.org/officeDocument/2006/relationships/image" Target="/ppt/media/image3.png" Id="Rcf6d9214b8be4433" /><Relationship Type="http://schemas.openxmlformats.org/officeDocument/2006/relationships/notesSlide" Target="/ppt/notesSlides/notesSlide6.xml" Id="Rd17b114aaefb4b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ae17ad50a4f64" /><Relationship Type="http://schemas.openxmlformats.org/officeDocument/2006/relationships/image" Target="/ppt/media/image4.png" Id="Rd85477c0e2ef46b7" /><Relationship Type="http://schemas.openxmlformats.org/officeDocument/2006/relationships/notesSlide" Target="/ppt/notesSlides/notesSlide7.xml" Id="R2629d0f5951042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6eac0026fe475c" /><Relationship Type="http://schemas.openxmlformats.org/officeDocument/2006/relationships/image" Target="/ppt/media/image5.png" Id="R069340c3c61e403c" /><Relationship Type="http://schemas.openxmlformats.org/officeDocument/2006/relationships/notesSlide" Target="/ppt/notesSlides/notesSlide8.xml" Id="R8756db1e7ec645b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27211541604d84" /><Relationship Type="http://schemas.openxmlformats.org/officeDocument/2006/relationships/image" Target="/ppt/media/image6.png" Id="R7f16b0484a49453d" /><Relationship Type="http://schemas.openxmlformats.org/officeDocument/2006/relationships/notesSlide" Target="/ppt/notesSlides/notesSlide9.xml" Id="R15e9936b699a4cf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a2ea584034bd7" /><Relationship Type="http://schemas.openxmlformats.org/officeDocument/2006/relationships/image" Target="/ppt/media/image7.png" Id="Rd4ba8855c5f04b47" /><Relationship Type="http://schemas.openxmlformats.org/officeDocument/2006/relationships/notesSlide" Target="/ppt/notesSlides/notesSlide10.xml" Id="R3cbfc860cfe3485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2d892e8f214932" /><Relationship Type="http://schemas.openxmlformats.org/officeDocument/2006/relationships/image" Target="/ppt/media/image8.png" Id="Rabc533bdeb0844e6" /><Relationship Type="http://schemas.openxmlformats.org/officeDocument/2006/relationships/notesSlide" Target="/ppt/notesSlides/notesSlide11.xml" Id="Rb1a816e2afbb4ef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9ab6913f5d453f" /><Relationship Type="http://schemas.openxmlformats.org/officeDocument/2006/relationships/image" Target="/ppt/media/image9.png" Id="R66666be523454804" /><Relationship Type="http://schemas.openxmlformats.org/officeDocument/2006/relationships/notesSlide" Target="/ppt/notesSlides/notesSlide12.xml" Id="R049274093e9b432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3247c25d7e4d35" /><Relationship Type="http://schemas.openxmlformats.org/officeDocument/2006/relationships/notesSlide" Target="/ppt/notesSlides/notesSlide13.xml" Id="R0f8551a5e46a499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d92a417f734421" /><Relationship Type="http://schemas.openxmlformats.org/officeDocument/2006/relationships/image" Target="/ppt/media/image10.png" Id="R73283cf2a47344bc" /><Relationship Type="http://schemas.openxmlformats.org/officeDocument/2006/relationships/notesSlide" Target="/ppt/notesSlides/notesSlide14.xml" Id="Rb0979c7275374ab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48f551074a43c1" /><Relationship Type="http://schemas.openxmlformats.org/officeDocument/2006/relationships/notesSlide" Target="/ppt/notesSlides/notesSlide15.xml" Id="Rdf638a7f3abd4f8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71885cf3494f01" /><Relationship Type="http://schemas.openxmlformats.org/officeDocument/2006/relationships/image" Target="/ppt/media/image11.png" Id="Race7c7db69034c60" /><Relationship Type="http://schemas.openxmlformats.org/officeDocument/2006/relationships/notesSlide" Target="/ppt/notesSlides/notesSlide16.xml" Id="R80dd13cc667d4f9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9174bbf94744ad" /><Relationship Type="http://schemas.openxmlformats.org/officeDocument/2006/relationships/image" Target="/ppt/media/image12.png" Id="R7c3175135a8d4887" /><Relationship Type="http://schemas.openxmlformats.org/officeDocument/2006/relationships/notesSlide" Target="/ppt/notesSlides/notesSlide17.xml" Id="R09d4f83c6c0b465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2b09e9f65f46a5" /><Relationship Type="http://schemas.openxmlformats.org/officeDocument/2006/relationships/image" Target="/ppt/media/image13.png" Id="Ra166bdb99bae4b7a" /><Relationship Type="http://schemas.openxmlformats.org/officeDocument/2006/relationships/notesSlide" Target="/ppt/notesSlides/notesSlide18.xml" Id="Re989574d42914c2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913071203e41e1" /><Relationship Type="http://schemas.openxmlformats.org/officeDocument/2006/relationships/image" Target="/ppt/media/image14.png" Id="Rd3931068110b49dc" /><Relationship Type="http://schemas.openxmlformats.org/officeDocument/2006/relationships/notesSlide" Target="/ppt/notesSlides/notesSlide19.xml" Id="R70e2f07c5c694bf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650712e02547be" /><Relationship Type="http://schemas.openxmlformats.org/officeDocument/2006/relationships/image" Target="/ppt/media/image15.png" Id="Ra308e934ae164a4e" /><Relationship Type="http://schemas.openxmlformats.org/officeDocument/2006/relationships/notesSlide" Target="/ppt/notesSlides/notesSlide20.xml" Id="R843a8b70f1524a2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8dc54ea36643d0" /><Relationship Type="http://schemas.openxmlformats.org/officeDocument/2006/relationships/notesSlide" Target="/ppt/notesSlides/notesSlide21.xml" Id="Ra543ad3bd82944a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6d13cfacd409e" /><Relationship Type="http://schemas.openxmlformats.org/officeDocument/2006/relationships/notesSlide" Target="/ppt/notesSlides/notesSlide22.xml" Id="R8b5b3ea4939444d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4b74e039c5481e" /><Relationship Type="http://schemas.openxmlformats.org/officeDocument/2006/relationships/notesSlide" Target="/ppt/notesSlides/notesSlide23.xml" Id="R1343bcdecf8b491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adaeb175a5417c" /><Relationship Type="http://schemas.openxmlformats.org/officeDocument/2006/relationships/notesSlide" Target="/ppt/notesSlides/notesSlide24.xml" Id="Rbb085be2a6444a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D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40DFF9-EC3C-4F5E-BF94-E8D0B83CD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E31AD-7223-4479-8594-5DE00CCE7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rPr>
              <a:t>장대현중고등학교 · 2026학년도 2학기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175CC8-30C9-492D-9F0E-E92B91B5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63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33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CE0391-B705-460B-B564-5014063D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71675"/>
            <a:ext cx="876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3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43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숫자와 변수로 계산하기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E4FEC6-DF96-4C6F-8644-9AC67434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704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B87E46-F76C-48F5-A953-2CAA0EBE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8953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875" b="0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0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rPr>
              <a:t>준비된 Python 파일을 읽고, 예상하고, 실행 결과를 비교합니다.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D87667-CD22-4E15-BC83-CF37074E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AEB3B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AEB3BA"/>
                </a:solidFill>
                <a:latin typeface="IBM Plex Sans KR"/>
                <a:ea typeface="IBM Plex Sans KR"/>
                <a:cs typeface="IBM Plex Sans KR"/>
              </a:rPr>
              <a:t>교과서 02-2</a:t>
            </a:r>
          </a:p>
        </p:txBody>
      </p:sp>
    </p:spTree>
    <p:extLst>
      <p:ext uri="{BB962C8B-B14F-4D97-AF65-F5344CB8AC3E}">
        <p14:creationId xmlns:p14="http://schemas.microsoft.com/office/powerpoint/2010/main" val="21188933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수업 자료를 먼저 내려받아 내 폴더에 정리합니다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준비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09750"/>
            <a:ext cx="3524250" cy="3905250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145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먼저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717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5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02_student_files.zip 내려받기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52775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3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그다음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862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43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압축 풀기 → JDH_VibeCoding_자기이름 안에 02 넣기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6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교과서의 주황색 버튼으로 자료를 받은 뒤 폴더 구조를 확인합니다.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준비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072d6f273d48e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1822847"/>
            <a:ext cx="6896100" cy="3879056"/>
          </a:xfrm>
          <a:prstGeom xmlns:a="http://schemas.openxmlformats.org/drawingml/2006/main" prst="roundRect">
            <a:avLst>
              <a:gd name="adj" fmla="val 2947"/>
            </a:avLst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82, 91, 76은 각각 무엇을 뜻할까요?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00" y="-17145000"/>
            <a:ext cx="9525" cy="9525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00" y="-17145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학생 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14625"/>
            <a:ext cx="7429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4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82 · 91 · 76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00" y="-171450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3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00" y="-17145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질문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00" y="-17145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숫자를 어떻게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구분할까?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860000" y="-17145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숫자에 뜻이 드러나는 이름을 붙이면 읽기 쉬워집니다.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2쪽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f89081c229450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-22860000" y="-17145000"/>
            <a:ext cx="9525" cy="9525"/>
          </a:xfrm>
          <a:prstGeom xmlns:a="http://schemas.openxmlformats.org/drawingml/2006/main" prst="roundRect">
            <a:avLst>
              <a:gd name="adj" fmla="val 2947"/>
            </a:avLst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82, 91, 76은 각각 무엇을 뜻할까요?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09750"/>
            <a:ext cx="3524250" cy="3905250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145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학생 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717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3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세 과목 점수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52775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3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질문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862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숫자를 어떻게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구분할까?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6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숫자에 뜻이 드러나는 이름을 붙이면 읽기 쉬워집니다.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2쪽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71a84b7e6c406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33400" y="1822847"/>
            <a:ext cx="6896100" cy="3879056"/>
          </a:xfrm>
          <a:prstGeom xmlns:a="http://schemas.openxmlformats.org/drawingml/2006/main" prst="roundRect">
            <a:avLst>
              <a:gd name="adj" fmla="val 2947"/>
            </a:avLst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숫자에 이름을 붙이고 계산한 뒤 결과를 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51F02F-29D9-4770-BF49-EEBDFBD8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2405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6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6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 전체 문법이 아니라, 코드를 읽는 세 단계를 익힙니다.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ACAE29-3AC3-4D6A-AB27-489EA446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0"/>
            <a:ext cx="97917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F34CA8-5A08-4A87-8B39-79419F48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7182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988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숫자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계산할 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78A8DB-4649-4FB1-B2CB-D3BB60F5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05175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CC1D3A-8637-45B7-B11B-6EF8F5CE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71825"/>
            <a:ext cx="2457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988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변수·연산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뜻을 붙이고 계산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F795E-0438-482A-9DD6-D03975B4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60268F-07AE-4D4E-8D33-63B9E942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71825"/>
            <a:ext cx="2838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988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print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결과를 화면에 표시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B2E1D5-2B69-4CDF-B097-FC103ACE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95750"/>
            <a:ext cx="895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AI가 만든 코드에서도 숫자·이름·계산을 먼저 찾습니다.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2쪽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준비된 첫 Python 파일을 먼저 읽습니다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09750"/>
            <a:ext cx="3524250" cy="3905250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145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717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3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01_first_result.py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52775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3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코드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862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print(3 + 5)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4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실행하기 전에 어떤 결과가 나올지 말해 봅니다.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3쪽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6d9214b8be443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33400" y="1822847"/>
            <a:ext cx="6896100" cy="3879056"/>
          </a:xfrm>
          <a:prstGeom xmlns:a="http://schemas.openxmlformats.org/drawingml/2006/main" prst="roundRect">
            <a:avLst>
              <a:gd name="adj" fmla="val 2947"/>
            </a:avLst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D97ADC-E02A-440A-9512-3D71EDAE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14525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72C"/>
          </a:solidFill>
          <a:ln xmlns:a="http://schemas.openxmlformats.org/drawingml/2006/main" w="0">
            <a:solidFill>
              <a:srgbClr val="24272C"/>
            </a:solidFill>
            <a:prstDash val="solid"/>
          </a:ln>
        </p:spPr>
        <p:txBody>
          <a:bodyPr xmlns:a="http://schemas.openxmlformats.org/drawingml/2006/main" lIns="95250" tIns="0" rIns="3810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01_first_result.py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오른쪽 위 Run Python File 버튼을 누릅니다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09750"/>
            <a:ext cx="3524250" cy="3905250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145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①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717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3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01_first_result.py 열기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52775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3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② 실행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862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오른쪽 위 ▶ 버튼 누르기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0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뒤 아래 터미널에서 결과를 확인합니다.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3쪽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5477c0e2ef46b7"/>
          <a:srcRect xmlns:a="http://schemas.openxmlformats.org/drawingml/2006/main" l="0" t="58" r="0" b="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33400" y="2352675"/>
            <a:ext cx="6896100" cy="2181225"/>
          </a:xfrm>
          <a:prstGeom xmlns:a="http://schemas.openxmlformats.org/drawingml/2006/main" prst="roundRect">
            <a:avLst>
              <a:gd name="adj" fmla="val 4367"/>
            </a:avLst>
          </a:prstGeom>
        </p:spPr>
      </p:pic>
      <p:sp>
        <p:nvSpPr>
          <p:cNvPr id="18" name="run-guide-marker-1">
            <a:extLst xmlns:a="http://schemas.openxmlformats.org/drawingml/2006/main">
              <a:ext uri="{FF2B5EF4-FFF2-40B4-BE49-F238E27FC236}">
                <a16:creationId xmlns:a16="http://schemas.microsoft.com/office/drawing/2014/main" id="{98FB3471-AF7B-47E1-AE73-46D34DFF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" name="run-guide-marker-2">
            <a:extLst xmlns:a="http://schemas.openxmlformats.org/drawingml/2006/main">
              <a:ext uri="{FF2B5EF4-FFF2-40B4-BE49-F238E27FC236}">
                <a16:creationId xmlns:a16="http://schemas.microsoft.com/office/drawing/2014/main" id="{DDFE40D8-1B8B-45B3-9A32-6472B8B9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476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print는 괄호 안의 값이나 계산 결과를 보여 줍니다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09750"/>
            <a:ext cx="3524250" cy="3905250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145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print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717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3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화면에 보여 주기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52775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3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괄호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862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무엇을 보여 줄지 넣는 자리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6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print가 없으면 계산했어도 화면에 결과가 보이지 않을 수 있습니다.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3쪽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9340c3c61e403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33400" y="1822847"/>
            <a:ext cx="6896100" cy="3879056"/>
          </a:xfrm>
          <a:prstGeom xmlns:a="http://schemas.openxmlformats.org/drawingml/2006/main" prst="roundRect">
            <a:avLst>
              <a:gd name="adj" fmla="val 2947"/>
            </a:avLst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0E8F24-31D6-4079-82B0-824BE6458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14525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72C"/>
          </a:solidFill>
          <a:ln xmlns:a="http://schemas.openxmlformats.org/drawingml/2006/main" w="0">
            <a:solidFill>
              <a:srgbClr val="24272C"/>
            </a:solidFill>
            <a:prstDash val="solid"/>
          </a:ln>
        </p:spPr>
        <p:txBody>
          <a:bodyPr xmlns:a="http://schemas.openxmlformats.org/drawingml/2006/main" lIns="95250" tIns="0" rIns="3810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01_first_result.py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더하기는 + 기호를 그대로 사용합니다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09750"/>
            <a:ext cx="3524250" cy="3905250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145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Python 기호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717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3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+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52775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3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예상할 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862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 + 2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결과 10 · 더하기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4쪽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16b0484a49453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33400" y="1822847"/>
            <a:ext cx="6896100" cy="3879056"/>
          </a:xfrm>
          <a:prstGeom xmlns:a="http://schemas.openxmlformats.org/drawingml/2006/main" prst="roundRect">
            <a:avLst>
              <a:gd name="adj" fmla="val 2947"/>
            </a:avLst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9D9D0-A65E-4F0F-BA6E-04E543CD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14525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72C"/>
          </a:solidFill>
          <a:ln xmlns:a="http://schemas.openxmlformats.org/drawingml/2006/main" w="0">
            <a:solidFill>
              <a:srgbClr val="24272C"/>
            </a:solidFill>
            <a:prstDash val="solid"/>
          </a:ln>
        </p:spPr>
        <p:txBody>
          <a:bodyPr xmlns:a="http://schemas.openxmlformats.org/drawingml/2006/main" lIns="95250" tIns="0" rIns="3810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02_four_calculations.py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빼기는 - 기호를 그대로 사용합니다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09750"/>
            <a:ext cx="3524250" cy="3905250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145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Python 기호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717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3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-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52775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3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예상할 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862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8 - 2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결과 6 · 빼기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4쪽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ba8855c5f04b4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33400" y="1822847"/>
            <a:ext cx="6896100" cy="3879056"/>
          </a:xfrm>
          <a:prstGeom xmlns:a="http://schemas.openxmlformats.org/drawingml/2006/main" prst="roundRect">
            <a:avLst>
              <a:gd name="adj" fmla="val 2947"/>
            </a:avLst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022C65-8AC3-4FC8-B211-32E4ECEC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14525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72C"/>
          </a:solidFill>
          <a:ln xmlns:a="http://schemas.openxmlformats.org/drawingml/2006/main" w="0">
            <a:solidFill>
              <a:srgbClr val="24272C"/>
            </a:solidFill>
            <a:prstDash val="solid"/>
          </a:ln>
        </p:spPr>
        <p:txBody>
          <a:bodyPr xmlns:a="http://schemas.openxmlformats.org/drawingml/2006/main" lIns="95250" tIns="0" rIns="3810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02_four_calculations.py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곱하기는 × 대신 * 기호를 사용합니다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09750"/>
            <a:ext cx="3524250" cy="3905250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145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Python 기호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717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3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*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52775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3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예상할 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862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 *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결과 16 · 곱하기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4쪽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c533bdeb0844e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33400" y="1822847"/>
            <a:ext cx="6896100" cy="3879056"/>
          </a:xfrm>
          <a:prstGeom xmlns:a="http://schemas.openxmlformats.org/drawingml/2006/main" prst="roundRect">
            <a:avLst>
              <a:gd name="adj" fmla="val 2947"/>
            </a:avLst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024CC2-D46D-4086-9499-67A9D4A0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14525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72C"/>
          </a:solidFill>
          <a:ln xmlns:a="http://schemas.openxmlformats.org/drawingml/2006/main" w="0">
            <a:solidFill>
              <a:srgbClr val="24272C"/>
            </a:solidFill>
            <a:prstDash val="solid"/>
          </a:ln>
        </p:spPr>
        <p:txBody>
          <a:bodyPr xmlns:a="http://schemas.openxmlformats.org/drawingml/2006/main" lIns="95250" tIns="0" rIns="3810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02_four_calculations.py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나누기는 ÷ 대신 / 기호를 사용합니다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09750"/>
            <a:ext cx="3524250" cy="3905250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145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Python 기호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717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3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52775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3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예상할 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862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 /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실행 결과 4.0 · 나누기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4쪽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666be52345480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33400" y="1822847"/>
            <a:ext cx="6896100" cy="3879056"/>
          </a:xfrm>
          <a:prstGeom xmlns:a="http://schemas.openxmlformats.org/drawingml/2006/main" prst="roundRect">
            <a:avLst>
              <a:gd name="adj" fmla="val 2947"/>
            </a:avLst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06C43A-7CE7-423F-8E37-731E060E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14525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72C"/>
          </a:solidFill>
          <a:ln xmlns:a="http://schemas.openxmlformats.org/drawingml/2006/main" w="0">
            <a:solidFill>
              <a:srgbClr val="24272C"/>
            </a:solidFill>
            <a:prstDash val="solid"/>
          </a:ln>
        </p:spPr>
        <p:txBody>
          <a:bodyPr xmlns:a="http://schemas.openxmlformats.org/drawingml/2006/main" lIns="95250" tIns="0" rIns="3810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02_four_calculations.py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630FD0-91C2-461A-A67E-CA35153B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B741E-D9B5-4C27-BAD6-2AD845A1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0F06DC-980E-4579-9F1B-EA9465A9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7D43B3-AB8A-4E7B-A72B-4331A4AC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같은 2와 3도 따옴표가 있으면 결과가 달라집니다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867449-9915-4DD9-96F0-D411849D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037A3F-767A-44D6-912E-4C4436DB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BD25C3-F908-4B9D-9836-D9525700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3333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88161-E2FF-4391-BFCE-A1A45ABE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BB7E7-8C3C-4AB6-969C-CBFE171C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62175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숫자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F7C6AF-ECAB-4CCD-93DD-D1657B88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29337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2 + 3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FFD94B-DEAB-4A71-BB7B-B0846D44F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29337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계산해서 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EF2E0F-2F55-467F-B0A0-1B2DE17A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952625"/>
            <a:ext cx="3333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1E8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B8F367-BE1D-4CA1-AD11-49C86095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152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8A0322-7BE8-434B-9972-737C4137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162175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글자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D7E949-0275-424B-A17B-F44BB591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667000"/>
            <a:ext cx="29337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'2' + '3'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80AD5B-4756-4D7C-ADB7-118D379B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448050"/>
            <a:ext cx="29337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이어 붙여서 23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EC9B57-5DEF-4FA7-A333-808A986AE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52625"/>
            <a:ext cx="3333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CF1800-CA1E-4B9C-AEA7-BB198289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52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F684C1-D98C-42AA-8B34-5AAA2477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62175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6DB609-8345-46BC-B54F-1567C416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67000"/>
            <a:ext cx="29337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따옴표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613D53-FB95-4807-9A99-F8499828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48050"/>
            <a:ext cx="29337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모양보다 값의 종류를 봅니다.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780D43-3E08-42E2-9849-813A4161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782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학생이 코드를 고치지 않고 준비된 두 줄을 차례로 실행해 비교합니다.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FD20AD-6134-4338-9212-664B0FED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5쪽</a:t>
            </a:r>
          </a:p>
        </p:txBody>
      </p:sp>
    </p:spTree>
    <p:extLst>
      <p:ext uri="{BB962C8B-B14F-4D97-AF65-F5344CB8AC3E}">
        <p14:creationId xmlns:p14="http://schemas.microsoft.com/office/powerpoint/2010/main" val="79777665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따옴표는 숫자처럼 보이는 값을 글자로 바꿉니다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5쪽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283cf2a47344b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1819275"/>
            <a:ext cx="1072515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630FD0-91C2-461A-A67E-CA35153B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B741E-D9B5-4C27-BAD6-2AD845A1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0F06DC-980E-4579-9F1B-EA9465A9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7D43B3-AB8A-4E7B-A72B-4331A4AC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같은 +라도 값의 종류에 따라 결과가 달라집니다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867449-9915-4DD9-96F0-D411849D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037A3F-767A-44D6-912E-4C4436DB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BD25C3-F908-4B9D-9836-D9525700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3333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88161-E2FF-4391-BFCE-A1A45ABE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BB7E7-8C3C-4AB6-969C-CBFE171C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62175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숫자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F7C6AF-ECAB-4CCD-93DD-D1657B88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29337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2 + 3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FFD94B-DEAB-4A71-BB7B-B0846D44F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29337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계산해서 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EF2E0F-2F55-467F-B0A0-1B2DE17A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952625"/>
            <a:ext cx="3333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1E8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B8F367-BE1D-4CA1-AD11-49C86095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152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8A0322-7BE8-434B-9972-737C4137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162175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글자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D7E949-0275-424B-A17B-F44BB591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667000"/>
            <a:ext cx="29337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'2' + '3'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80AD5B-4756-4D7C-ADB7-118D379B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448050"/>
            <a:ext cx="29337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이어 붙여서 23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EC9B57-5DEF-4FA7-A333-808A986AE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52625"/>
            <a:ext cx="3333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CF1800-CA1E-4B9C-AEA7-BB198289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52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F684C1-D98C-42AA-8B34-5AAA2477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62175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혼합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6DB609-8345-46BC-B54F-1567C416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67000"/>
            <a:ext cx="29337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'2' + 3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613D53-FB95-4807-9A99-F8499828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48050"/>
            <a:ext cx="29337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종류가 달라 TypeError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780D43-3E08-42E2-9849-813A4161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782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03_number_text_cases.py를 실행해 세 경우를 순서대로 확인합니다.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FD20AD-6134-4338-9212-664B0FED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5쪽</a:t>
            </a:r>
          </a:p>
        </p:txBody>
      </p:sp>
    </p:spTree>
    <p:extLst>
      <p:ext uri="{BB962C8B-B14F-4D97-AF65-F5344CB8AC3E}">
        <p14:creationId xmlns:p14="http://schemas.microsoft.com/office/powerpoint/2010/main" val="79777665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변수는 값의 뜻을 보여 주는 이름표입니다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7쪽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e7c7db69034c6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1819275"/>
            <a:ext cx="1072515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Python의 = 는 오른쪽 값을 왼쪽 이름에 저장합니다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7쪽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3175135a8d488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1819275"/>
            <a:ext cx="1072515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 전에 합계와 평균을 먼저 예상합니다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09750"/>
            <a:ext cx="3524250" cy="3905250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145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찾기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717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3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82 · 91 · 76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52775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3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예상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862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합계 249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평균 83.0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6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코드가 실행된다는 것과 계산이 맞다는 것은 다릅니다.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7–8쪽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66bdb99bae4b7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33400" y="1822847"/>
            <a:ext cx="6896100" cy="3879056"/>
          </a:xfrm>
          <a:prstGeom xmlns:a="http://schemas.openxmlformats.org/drawingml/2006/main" prst="roundRect">
            <a:avLst>
              <a:gd name="adj" fmla="val 2947"/>
            </a:avLst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95471B-0D93-4EE8-B5D3-48F6243C5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914525"/>
            <a:ext cx="3714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72C"/>
          </a:solidFill>
          <a:ln xmlns:a="http://schemas.openxmlformats.org/drawingml/2006/main" w="0">
            <a:solidFill>
              <a:srgbClr val="24272C"/>
            </a:solidFill>
            <a:prstDash val="solid"/>
          </a:ln>
        </p:spPr>
        <p:txBody>
          <a:bodyPr xmlns:a="http://schemas.openxmlformats.org/drawingml/2006/main" lIns="95250" tIns="0" rIns="3810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05_numbers_and_variables.py</a:t>
            </a:r>
          </a:p>
        </p:txBody>
      </p:sp>
    </p:spTree>
    <p:extLst>
      <p:ext uri="{BB962C8B-B14F-4D97-AF65-F5344CB8AC3E}">
        <p14:creationId xmlns:p14="http://schemas.microsoft.com/office/powerpoint/2010/main" val="138287180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630FD0-91C2-461A-A67E-CA35153B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B741E-D9B5-4C27-BAD6-2AD845A1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0F06DC-980E-4579-9F1B-EA9465A9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7D43B3-AB8A-4E7B-A72B-4331A4AC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OpenCode에 파일명과 조건을 함께 요청합니다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867449-9915-4DD9-96F0-D411849D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037A3F-767A-44D6-912E-4C4436DB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FD20AD-6134-4338-9212-664B0FED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9쪽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931068110b49d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1609725"/>
            <a:ext cx="10706100" cy="39719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77665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4D15D-8981-4337-BE99-1B4E9AC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36CD2-85D2-4E63-9024-BCB9A3F5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E1618-E5DC-48D3-980C-0389DB1D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31C33-F7FA-4D44-9E64-9CF89EED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AI의 답보다 실제 Python 파일을 먼저 확인합니다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266FE-AF0D-40BC-8DA5-6C0DF351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FA6554-F5E3-46B1-AA52-3E386EFA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6AA35-B656-4867-ABAA-1383287B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09750"/>
            <a:ext cx="3524250" cy="3905250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A2A258-4454-4D9C-B9CC-02E47119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145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숫자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0A666-D1B7-4FB6-A0CA-D962BA93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717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3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82 · 91 · 76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DECB4-6EC6-4151-BE72-AEE07E26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52775"/>
            <a:ext cx="266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3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B86D0-9626-4B94-8977-EEE0EF05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이름과 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02551-D203-43C6-B7F4-638AFF11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862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변수·합계·평균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49E3F-5628-4DF7-9B16-16F7C266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0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13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따옴표·숫자·계산식을 확인한 뒤 실행합니다.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8AB2E-E505-4BFB-95F4-E46B7FD1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9쪽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08e934ae164a4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33400" y="1822847"/>
            <a:ext cx="6896100" cy="3879056"/>
          </a:xfrm>
          <a:prstGeom xmlns:a="http://schemas.openxmlformats.org/drawingml/2006/main" prst="roundRect">
            <a:avLst>
              <a:gd name="adj" fmla="val 2947"/>
            </a:avLst>
          </a:prstGeom>
        </p:spPr>
      </p:pic>
    </p:spTree>
    <p:extLst>
      <p:ext uri="{BB962C8B-B14F-4D97-AF65-F5344CB8AC3E}">
        <p14:creationId xmlns:p14="http://schemas.microsoft.com/office/powerpoint/2010/main" val="138287180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630FD0-91C2-461A-A67E-CA35153B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B741E-D9B5-4C27-BAD6-2AD845A1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0F06DC-980E-4579-9F1B-EA9465A9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7D43B3-AB8A-4E7B-A72B-4331A4AC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예상과 실행 결과를 비교해야 확인이 끝납니다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867449-9915-4DD9-96F0-D411849D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037A3F-767A-44D6-912E-4C4436DB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BD25C3-F908-4B9D-9836-D9525700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3333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88161-E2FF-4391-BFCE-A1A45ABE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BB7E7-8C3C-4AB6-969C-CBFE171C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62175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F7C6AF-ECAB-4CCD-93DD-D1657B88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29337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예상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FFD94B-DEAB-4A71-BB7B-B0846D44F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29337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코드를 읽고 합계·평균을 먼저 말합니다.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EF2E0F-2F55-467F-B0A0-1B2DE17A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952625"/>
            <a:ext cx="3333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1E8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B8F367-BE1D-4CA1-AD11-49C86095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152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8A0322-7BE8-434B-9972-737C4137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162175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D7E949-0275-424B-A17B-F44BB591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667000"/>
            <a:ext cx="29337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80AD5B-4756-4D7C-ADB7-118D379B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448050"/>
            <a:ext cx="29337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Run Python File로 실제 결과를 봅니다.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EC9B57-5DEF-4FA7-A333-808A986AE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52625"/>
            <a:ext cx="3333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CF1800-CA1E-4B9C-AEA7-BB198289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52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F684C1-D98C-42AA-8B34-5AAA2477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62175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6DB609-8345-46BC-B54F-1567C416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67000"/>
            <a:ext cx="29337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비교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613D53-FB95-4807-9A99-F8499828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48050"/>
            <a:ext cx="29337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249와 83.0이 맞는지 확인합니다.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FD20AD-6134-4338-9212-664B0FED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9쪽</a:t>
            </a:r>
          </a:p>
        </p:txBody>
      </p:sp>
    </p:spTree>
    <p:extLst>
      <p:ext uri="{BB962C8B-B14F-4D97-AF65-F5344CB8AC3E}">
        <p14:creationId xmlns:p14="http://schemas.microsoft.com/office/powerpoint/2010/main" val="79777665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3D84A4-768F-472D-9848-F5AB664A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C66864-8A40-45AF-9B4C-98FC1B8A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BFBD8F-39FD-442E-8878-DE6416D5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FE2401-6019-4F48-A131-23C632F5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숫자·이름·계산을 읽고 결과를 확인했습니다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D3612F-9EF3-486E-8E80-CC954EF3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FBC44F-BF50-4A05-96DE-150B9C87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5A9CDE-9344-4424-824E-46171BD6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5950"/>
            <a:ext cx="104394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2F6555-3F47-4856-A3A9-EA18FFBD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19325"/>
            <a:ext cx="9867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2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직접 코드를 길게 쓰는 것보다 먼저 읽고 판단합니다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1DF65-3627-41F2-A074-6910C1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990850"/>
            <a:ext cx="247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숫자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9734E0-D545-4AC4-8C0C-13AB0F51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57525"/>
            <a:ext cx="552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99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B7861F-72F7-46EB-8A6D-7A84361D6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9908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변수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2B180A-8939-46E1-AA66-C6CE2A3C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057525"/>
            <a:ext cx="552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99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08B9CC-8A07-4804-BB79-691A20A9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9908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연산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B319C8-991F-4849-9638-58791227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057525"/>
            <a:ext cx="552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99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951057-987C-4730-A3B5-24BA4758D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90850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9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print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B1EA09-0954-4D6C-8A82-74650CD0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81450"/>
            <a:ext cx="914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0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rPr>
              <a:t>값 찾기 → 결과 예상 → 실행 → 실제 결과 비교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2D0CFB-923C-4C1E-9DE2-01DCC0E9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673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다음 차시: 계산한 값을 기준과 비교해 True·False를 확인합니다.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DF9A22-2C31-41EA-B269-AD14C918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10쪽</a:t>
            </a:r>
          </a:p>
        </p:txBody>
      </p:sp>
    </p:spTree>
    <p:extLst>
      <p:ext uri="{BB962C8B-B14F-4D97-AF65-F5344CB8AC3E}">
        <p14:creationId xmlns:p14="http://schemas.microsoft.com/office/powerpoint/2010/main" val="187939254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630FD0-91C2-461A-A67E-CA35153B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B741E-D9B5-4C27-BAD6-2AD845A1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0F06DC-980E-4579-9F1B-EA9465A9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7D43B3-AB8A-4E7B-A72B-4331A4AC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Python은 CLI에서만 실행되는 것이 아닙니다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867449-9915-4DD9-96F0-D411849D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037A3F-767A-44D6-912E-4C4436DB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BD25C3-F908-4B9D-9836-D9525700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3333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88161-E2FF-4391-BFCE-A1A45ABE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BB7E7-8C3C-4AB6-969C-CBFE171C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62175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터미널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F7C6AF-ECAB-4CCD-93DD-D1657B88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29337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글자 결과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FFD94B-DEAB-4A71-BB7B-B0846D44F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29337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print 결과와 오류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EF2E0F-2F55-467F-B0A0-1B2DE17A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952625"/>
            <a:ext cx="3333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1E8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B8F367-BE1D-4CA1-AD11-49C86095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152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8A0322-7BE8-434B-9972-737C4137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162175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화면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D7E949-0275-424B-A17B-F44BB591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667000"/>
            <a:ext cx="29337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Notebook·GUI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80AD5B-4756-4D7C-ADB7-118D379B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448050"/>
            <a:ext cx="29337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표·그래프·창으로 표시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EC9B57-5DEF-4FA7-A333-808A986AE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52625"/>
            <a:ext cx="3333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CF1800-CA1E-4B9C-AEA7-BB198289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52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F684C1-D98C-42AA-8B34-5AAA2477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62175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6DB609-8345-46BC-B54F-1567C416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67000"/>
            <a:ext cx="29337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브라우저 화면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613D53-FB95-4807-9A99-F8499828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48050"/>
            <a:ext cx="29337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34373D"/>
                </a:solidFill>
                <a:latin typeface="IBM Plex Sans KR"/>
                <a:ea typeface="IBM Plex Sans KR"/>
                <a:cs typeface="IBM Plex Sans KR"/>
              </a:rPr>
              <a:t>Python은 뒤에서 실행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780D43-3E08-42E2-9849-813A4161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782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CLI는 Python을 실행하고 결과를 보는 여러 방법 중 하나입니다.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FD20AD-6134-4338-9212-664B0FED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12쪽</a:t>
            </a:r>
          </a:p>
        </p:txBody>
      </p:sp>
    </p:spTree>
    <p:extLst>
      <p:ext uri="{BB962C8B-B14F-4D97-AF65-F5344CB8AC3E}">
        <p14:creationId xmlns:p14="http://schemas.microsoft.com/office/powerpoint/2010/main" val="79777665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Run Python File을 누르면 뒤에서 여러 단계가 이어집니다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51F02F-29D9-4770-BF49-EEBDFBD8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2405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2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6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6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버튼 한 번 뒤에서도 VS Code·운영체제·Python 실행기·터미널이 차례로 움직입니다.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ACAE29-3AC3-4D6A-AB27-489EA446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0"/>
            <a:ext cx="97917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F34CA8-5A08-4A87-8B39-79419F48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7182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988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VS Code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실행 명령 준비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78A8DB-4649-4FB1-B2CB-D3BB60F5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05175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CC1D3A-8637-45B7-B11B-6EF8F5CE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71825"/>
            <a:ext cx="2457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988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운영체제·Python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실행기를 시작해 코드 읽기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F795E-0438-482A-9DD6-D03975B4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60268F-07AE-4D4E-8D33-63B9E942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71825"/>
            <a:ext cx="2838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988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터미널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print 결과 표시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B2E1D5-2B69-4CDF-B097-FC103ACE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95750"/>
            <a:ext cx="895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05_numbers_and_variables.py도 같은 순서로 실행됩니다.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02-2 · 12쪽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2026-08-31T10:58:42.6310000Z</dcterms:created>
  <dcterms:modified xsi:type="dcterms:W3CDTF">2026-08-31T10:58:42.6310000Z</dcterms:modified>
</coreProperties>
</file>