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3ab4153fcb4621" /><Relationship Type="http://schemas.openxmlformats.org/officeDocument/2006/relationships/extended-properties" Target="/docProps/app.xml" Id="R38d59c50a9dd407b" /><Relationship Type="http://schemas.openxmlformats.org/officeDocument/2006/relationships/officeDocument" Target="/ppt/presentation.xml" Id="R9fb0d50a4c4749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94634de7b04c3a"/>
  </p:sldMasterIdLst>
  <p:notesMasterIdLst>
    <p:notesMasterId xmlns:r="http://schemas.openxmlformats.org/officeDocument/2006/relationships" r:id="R87cd7e940f724d46"/>
  </p:notesMasterIdLst>
  <p:sldIdLst>
    <p:sldId xmlns:r="http://schemas.openxmlformats.org/officeDocument/2006/relationships" id="256" r:id="Rbe5979f97ab6445b"/>
    <p:sldId xmlns:r="http://schemas.openxmlformats.org/officeDocument/2006/relationships" id="257" r:id="R7636814055d14552"/>
    <p:sldId xmlns:r="http://schemas.openxmlformats.org/officeDocument/2006/relationships" id="258" r:id="Rdb0b080981a944e0"/>
    <p:sldId xmlns:r="http://schemas.openxmlformats.org/officeDocument/2006/relationships" id="259" r:id="Rcbc448f7fc0b4269"/>
    <p:sldId xmlns:r="http://schemas.openxmlformats.org/officeDocument/2006/relationships" id="260" r:id="R03428e77ed744861"/>
    <p:sldId xmlns:r="http://schemas.openxmlformats.org/officeDocument/2006/relationships" id="261" r:id="R1da5c04a77d94927"/>
    <p:sldId xmlns:r="http://schemas.openxmlformats.org/officeDocument/2006/relationships" id="262" r:id="R7138ac2d985345a3"/>
    <p:sldId xmlns:r="http://schemas.openxmlformats.org/officeDocument/2006/relationships" id="263" r:id="R1cbc701caaaa4e7f"/>
    <p:sldId xmlns:r="http://schemas.openxmlformats.org/officeDocument/2006/relationships" id="264" r:id="Rf2da5678d9cc410b"/>
    <p:sldId xmlns:r="http://schemas.openxmlformats.org/officeDocument/2006/relationships" id="265" r:id="Rc9e81e175aae41ab"/>
    <p:sldId xmlns:r="http://schemas.openxmlformats.org/officeDocument/2006/relationships" id="266" r:id="R9f01c2f0a5af41c3"/>
    <p:sldId xmlns:r="http://schemas.openxmlformats.org/officeDocument/2006/relationships" id="267" r:id="Rad62337cd988475f"/>
    <p:sldId xmlns:r="http://schemas.openxmlformats.org/officeDocument/2006/relationships" id="268" r:id="Rb885b5a798064106"/>
    <p:sldId xmlns:r="http://schemas.openxmlformats.org/officeDocument/2006/relationships" id="269" r:id="R799ee6810d20461c"/>
    <p:sldId xmlns:r="http://schemas.openxmlformats.org/officeDocument/2006/relationships" id="270" r:id="R405eb578aa3e420a"/>
    <p:sldId xmlns:r="http://schemas.openxmlformats.org/officeDocument/2006/relationships" id="271" r:id="Ref58fe99d43248f2"/>
    <p:sldId xmlns:r="http://schemas.openxmlformats.org/officeDocument/2006/relationships" id="272" r:id="Re74cc5fa059a44c6"/>
    <p:sldId xmlns:r="http://schemas.openxmlformats.org/officeDocument/2006/relationships" id="273" r:id="R4e0926e1e4ab4511"/>
    <p:sldId xmlns:r="http://schemas.openxmlformats.org/officeDocument/2006/relationships" id="274" r:id="R2ad96a393aba4398"/>
    <p:sldId xmlns:r="http://schemas.openxmlformats.org/officeDocument/2006/relationships" id="275" r:id="Rdcdace50b4724f03"/>
    <p:sldId xmlns:r="http://schemas.openxmlformats.org/officeDocument/2006/relationships" id="276" r:id="Rfabfb22201a246cd"/>
    <p:sldId xmlns:r="http://schemas.openxmlformats.org/officeDocument/2006/relationships" id="277" r:id="Red954b644d5f44d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4d2587d68984f47" /><Relationship Type="http://schemas.openxmlformats.org/officeDocument/2006/relationships/slideMaster" Target="/ppt/slideMasters/slideMaster1.xml" Id="R3e94634de7b04c3a" /><Relationship Type="http://schemas.openxmlformats.org/officeDocument/2006/relationships/notesMaster" Target="/ppt/notesMasters/notesMaster1.xml" Id="R87cd7e940f724d46" /><Relationship Type="http://schemas.openxmlformats.org/officeDocument/2006/relationships/presProps" Target="/ppt/presProps.xml" Id="R69a5b4f019584936" /><Relationship Type="http://schemas.openxmlformats.org/officeDocument/2006/relationships/tableStyles" Target="/ppt/tableStyles.xml" Id="Rd3a7ae0448b7423e" /><Relationship Type="http://schemas.openxmlformats.org/officeDocument/2006/relationships/slide" Target="/ppt/slides/slide1.xml" Id="Rbe5979f97ab6445b" /><Relationship Type="http://schemas.openxmlformats.org/officeDocument/2006/relationships/slide" Target="/ppt/slides/slide2.xml" Id="R7636814055d14552" /><Relationship Type="http://schemas.openxmlformats.org/officeDocument/2006/relationships/slide" Target="/ppt/slides/slide3.xml" Id="Rdb0b080981a944e0" /><Relationship Type="http://schemas.openxmlformats.org/officeDocument/2006/relationships/slide" Target="/ppt/slides/slide4.xml" Id="Rcbc448f7fc0b4269" /><Relationship Type="http://schemas.openxmlformats.org/officeDocument/2006/relationships/slide" Target="/ppt/slides/slide5.xml" Id="R03428e77ed744861" /><Relationship Type="http://schemas.openxmlformats.org/officeDocument/2006/relationships/slide" Target="/ppt/slides/slide6.xml" Id="R1da5c04a77d94927" /><Relationship Type="http://schemas.openxmlformats.org/officeDocument/2006/relationships/slide" Target="/ppt/slides/slide7.xml" Id="R7138ac2d985345a3" /><Relationship Type="http://schemas.openxmlformats.org/officeDocument/2006/relationships/slide" Target="/ppt/slides/slide8.xml" Id="R1cbc701caaaa4e7f" /><Relationship Type="http://schemas.openxmlformats.org/officeDocument/2006/relationships/slide" Target="/ppt/slides/slide9.xml" Id="Rf2da5678d9cc410b" /><Relationship Type="http://schemas.openxmlformats.org/officeDocument/2006/relationships/slide" Target="/ppt/slides/slide10.xml" Id="Rc9e81e175aae41ab" /><Relationship Type="http://schemas.openxmlformats.org/officeDocument/2006/relationships/slide" Target="/ppt/slides/slide11.xml" Id="R9f01c2f0a5af41c3" /><Relationship Type="http://schemas.openxmlformats.org/officeDocument/2006/relationships/slide" Target="/ppt/slides/slide12.xml" Id="Rad62337cd988475f" /><Relationship Type="http://schemas.openxmlformats.org/officeDocument/2006/relationships/slide" Target="/ppt/slides/slide13.xml" Id="Rb885b5a798064106" /><Relationship Type="http://schemas.openxmlformats.org/officeDocument/2006/relationships/slide" Target="/ppt/slides/slide14.xml" Id="R799ee6810d20461c" /><Relationship Type="http://schemas.openxmlformats.org/officeDocument/2006/relationships/slide" Target="/ppt/slides/slide15.xml" Id="R405eb578aa3e420a" /><Relationship Type="http://schemas.openxmlformats.org/officeDocument/2006/relationships/slide" Target="/ppt/slides/slide16.xml" Id="Ref58fe99d43248f2" /><Relationship Type="http://schemas.openxmlformats.org/officeDocument/2006/relationships/slide" Target="/ppt/slides/slide17.xml" Id="Re74cc5fa059a44c6" /><Relationship Type="http://schemas.openxmlformats.org/officeDocument/2006/relationships/slide" Target="/ppt/slides/slide18.xml" Id="R4e0926e1e4ab4511" /><Relationship Type="http://schemas.openxmlformats.org/officeDocument/2006/relationships/slide" Target="/ppt/slides/slide19.xml" Id="R2ad96a393aba4398" /><Relationship Type="http://schemas.openxmlformats.org/officeDocument/2006/relationships/slide" Target="/ppt/slides/slide20.xml" Id="Rdcdace50b4724f03" /><Relationship Type="http://schemas.openxmlformats.org/officeDocument/2006/relationships/slide" Target="/ppt/slides/slide21.xml" Id="Rfabfb22201a246cd" /><Relationship Type="http://schemas.openxmlformats.org/officeDocument/2006/relationships/slide" Target="/ppt/slides/slide22.xml" Id="Red954b644d5f44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fe03a77b3bc47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1bf38fe4ef42fa" /><Relationship Type="http://schemas.openxmlformats.org/officeDocument/2006/relationships/notesMaster" Target="/ppt/notesMasters/notesMaster1.xml" Id="Rd3e54ef225cd4dc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ab4b8207e5143ec" /><Relationship Type="http://schemas.openxmlformats.org/officeDocument/2006/relationships/notesMaster" Target="/ppt/notesMasters/notesMaster1.xml" Id="Ra4dc54fa59dc40e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3b8375439a4deb" /><Relationship Type="http://schemas.openxmlformats.org/officeDocument/2006/relationships/notesMaster" Target="/ppt/notesMasters/notesMaster1.xml" Id="R62ea95d94c194b1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737ad5759644f1d" /><Relationship Type="http://schemas.openxmlformats.org/officeDocument/2006/relationships/notesMaster" Target="/ppt/notesMasters/notesMaster1.xml" Id="R6a7d462d2c23498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1c1115edd074ce4" /><Relationship Type="http://schemas.openxmlformats.org/officeDocument/2006/relationships/notesMaster" Target="/ppt/notesMasters/notesMaster1.xml" Id="Rce3f43e6f2e045a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bdd3a9e09c14a1b" /><Relationship Type="http://schemas.openxmlformats.org/officeDocument/2006/relationships/notesMaster" Target="/ppt/notesMasters/notesMaster1.xml" Id="R2b3af869b9444fc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519a8b7d2d741b1" /><Relationship Type="http://schemas.openxmlformats.org/officeDocument/2006/relationships/notesMaster" Target="/ppt/notesMasters/notesMaster1.xml" Id="R39832b22a4c84bb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de49eef57fc44af" /><Relationship Type="http://schemas.openxmlformats.org/officeDocument/2006/relationships/notesMaster" Target="/ppt/notesMasters/notesMaster1.xml" Id="R82c6686b3a7c46b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3fc4752c1a34ec0" /><Relationship Type="http://schemas.openxmlformats.org/officeDocument/2006/relationships/notesMaster" Target="/ppt/notesMasters/notesMaster1.xml" Id="R5233cbe68baa44c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9cfd4b5d7eb4198" /><Relationship Type="http://schemas.openxmlformats.org/officeDocument/2006/relationships/notesMaster" Target="/ppt/notesMasters/notesMaster1.xml" Id="R411d176f37e043b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605a1c32ab24770" /><Relationship Type="http://schemas.openxmlformats.org/officeDocument/2006/relationships/notesMaster" Target="/ppt/notesMasters/notesMaster1.xml" Id="Re270e1b2737c4d1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d25e94578e54d23" /><Relationship Type="http://schemas.openxmlformats.org/officeDocument/2006/relationships/notesMaster" Target="/ppt/notesMasters/notesMaster1.xml" Id="R0c45dd98ad8c4d2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c0291ed46e442d0" /><Relationship Type="http://schemas.openxmlformats.org/officeDocument/2006/relationships/notesMaster" Target="/ppt/notesMasters/notesMaster1.xml" Id="Raa9ee7654df14c5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37001fe2d5b4f44" /><Relationship Type="http://schemas.openxmlformats.org/officeDocument/2006/relationships/notesMaster" Target="/ppt/notesMasters/notesMaster1.xml" Id="R677668827292443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9c642e55eeb44ec" /><Relationship Type="http://schemas.openxmlformats.org/officeDocument/2006/relationships/notesMaster" Target="/ppt/notesMasters/notesMaster1.xml" Id="Rf2dc4ebb94b245f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285eb6b12c34d85" /><Relationship Type="http://schemas.openxmlformats.org/officeDocument/2006/relationships/notesMaster" Target="/ppt/notesMasters/notesMaster1.xml" Id="R01b4e1e7a2f1459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ac5c5f154c54f56" /><Relationship Type="http://schemas.openxmlformats.org/officeDocument/2006/relationships/notesMaster" Target="/ppt/notesMasters/notesMaster1.xml" Id="R5f026ad1310e455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91e107ecf514973" /><Relationship Type="http://schemas.openxmlformats.org/officeDocument/2006/relationships/notesMaster" Target="/ppt/notesMasters/notesMaster1.xml" Id="R0a43e40b77e4426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43e6efdb8dc42c3" /><Relationship Type="http://schemas.openxmlformats.org/officeDocument/2006/relationships/notesMaster" Target="/ppt/notesMasters/notesMaster1.xml" Id="R76cfb8c4f28f421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0b96934eef44d67" /><Relationship Type="http://schemas.openxmlformats.org/officeDocument/2006/relationships/notesMaster" Target="/ppt/notesMasters/notesMaster1.xml" Id="Rcb2b0dfa034d482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09600f3076a4af8" /><Relationship Type="http://schemas.openxmlformats.org/officeDocument/2006/relationships/notesMaster" Target="/ppt/notesMasters/notesMaster1.xml" Id="R451c08e383024cb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b86a8473f4a42c5" /><Relationship Type="http://schemas.openxmlformats.org/officeDocument/2006/relationships/notesMaster" Target="/ppt/notesMasters/notesMaster1.xml" Id="Rf206f71f7e264cb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[45분 운영] 0~5분 완성 예시와 수행평가 흐름, 5~10분 도구 관계, 10~20분 Python, 20~28분 Node.js, 28~35분 OpenCode, 35~43분 VS Code와 첫 요청, 43~45분 완료 확인.</a:t>
            </a:r>
          </a:p>
          <a:p xmlns:a="http://schemas.openxmlformats.org/drawingml/2006/main">
            <a:r>
              <a:t>설치된 학생은 재설치하지 않는다. 설치 오류는 공동강사가 개별 처리하고 전체 설명은 다음 슬라이드로 진행한다.</a:t>
            </a:r>
          </a:p>
          <a:p xmlns:a="http://schemas.openxmlformats.org/drawingml/2006/main">
            <a:r>
              <a:t>첫 문장: 오늘은 설치 목록부터 외우지 않습니다. 먼저 우리가 이 도구로 무엇을 할 수 있는지 보겠습니다.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대시보드를 20~30초 동안 먼저 보여 주고 학생이 보이는 요소를 말하게 한다. 방문자 수, 막대그래프, 시간 변화 중 무엇을 먼저 찾는지 본다.</a:t>
            </a:r>
          </a:p>
          <a:p xmlns:a="http://schemas.openxmlformats.org/drawingml/2006/main">
            <a:r>
              <a:t>대본: 이 화면 전체를 똑같이 만들라는 뜻은 아닙니다. 수행평가에서는 더 단순한 표와 지정된 그래프 한 개로 같은 흐름을 경험합니다.</a:t>
            </a:r>
          </a:p>
          <a:p xmlns:a="http://schemas.openxmlformats.org/drawingml/2006/main">
            <a:r>
              <a:t>Jupyter 사용법은 설명하지 않는다. 이 화면은 교사가 결과와 작업 기록을 보여 주는 미리보기일 뿐이다.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course asset: 교과서_배포/02/sample/output/01_festival_dashboard.png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학생에게 다섯 동작을 한 번 같이 읽게 한다. 이 수업에서 반복할 기본 습관임을 강조한다.</a:t>
            </a:r>
          </a:p>
          <a:p xmlns:a="http://schemas.openxmlformats.org/drawingml/2006/main">
            <a:r>
              <a:t>대본: AI가 그리는 일을 도울 수 있지만, 요구한 결과인지 판단하고 제출하는 책임은 여러분에게 있습니다.</a:t>
            </a:r>
          </a:p>
          <a:p xmlns:a="http://schemas.openxmlformats.org/drawingml/2006/main">
            <a:r>
              <a:t>파일명·배점·실제 CSV는 수행평가 차시에 다시 안내한다. 오늘은 흐름만 기억하게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도구 이름을 외우게 하지 말고 역할만 묻는다. OpenCode는 조수, VS Code는 책상, Python은 코드를 읽고 실행하는 사람이라는 비유를 쓴다.</a:t>
            </a:r>
          </a:p>
          <a:p xmlns:a="http://schemas.openxmlformats.org/drawingml/2006/main">
            <a:r>
              <a:t>Node.js는 OpenCode를 설치하고 실행하게 돕는 받침이라고만 말한다. JavaScript 설명으로 넓히지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학생이 주소창의 python.org를 먼저 확인하게 한다. 설치 버튼보다 공식 사이트 식별이 먼저다.</a:t>
            </a:r>
          </a:p>
          <a:p xmlns:a="http://schemas.openxmlformats.org/drawingml/2006/main">
            <a:r>
              <a:t>학교 PC가 64비트 Windows라는 전제로 교과서와 같은 항목을 찾는다. 화면이 달라졌다면 버전을 임의로 고르지 말고 손을 들게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https://www.python.org/downloads/windows/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학교 Windows 화면을 확보하지 못한 경우 설치 창을 길게 설명하지 않는다. 현재 학생 화면과 교과서 순서를 맞추고, 다른 화면은 공동강사가 확인한다.</a:t>
            </a:r>
          </a:p>
          <a:p xmlns:a="http://schemas.openxmlformats.org/drawingml/2006/main">
            <a:r>
              <a:t>왜 새 PowerShell을 여는가: 새로 설치된 프로그램 위치를 새 창이 다시 읽게 하기 위해서라고 간단히 설명한다.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학생이 명령을 외워서 치게 하지 않는다. 교과서나 PPT를 보고 정확히 입력하게 한다.</a:t>
            </a:r>
          </a:p>
          <a:p xmlns:a="http://schemas.openxmlformats.org/drawingml/2006/main">
            <a:r>
              <a:t>대본: --version은 설치된 너의 판 번호를 알려 달라는 뜻입니다. 번호가 보이면 Python이 우리 질문에 답한 겁니다.</a:t>
            </a:r>
          </a:p>
          <a:p xmlns:a="http://schemas.openxmlformats.org/drawingml/2006/main">
            <a:r>
              <a:t>명령을 찾지 못하면 오타를 한 번 확인하고, PowerShell을 완전히 닫아 새로 연 뒤 다시 시도한다.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 정의를 먼저 암기시키지 않는다. 방금 한 행동에 이름을 붙이는 순서로 설명한다.</a:t>
            </a:r>
          </a:p>
          <a:p xmlns:a="http://schemas.openxmlformats.org/drawingml/2006/main">
            <a:r>
              <a:t>질문 예상: 왜 버튼으로 하면 안 되나요? 답: 버튼이 편한 일도 있고 글자가 빠르고 정확한 일도 있습니다. 오늘은 설치 확인과 AI 실행에만 씁니다.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이전 특강에서 설치했을 수 있으므로 확인부터 한다. 두 버전이 모두 보이는 학생은 재설치하지 않는다.</a:t>
            </a:r>
          </a:p>
          <a:p xmlns:a="http://schemas.openxmlformats.org/drawingml/2006/main">
            <a:r>
              <a:t>npm은 Node.js와 함께 오는 프로그램 설치 도구라고만 말한다. 사용법을 따로 외우게 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이미 버전 번호가 보인 학생은 옆 사람 컴퓨터를 대신 조작하지 않는다. 교과서 3쪽의 도구 관계를 다시 읽게 한다.</a:t>
            </a:r>
          </a:p>
          <a:p xmlns:a="http://schemas.openxmlformats.org/drawingml/2006/main">
            <a:r>
              <a:t>설치가 필요한 학생만 nodejs.org의 LTS와 Windows x64 설치 파일을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https://nodejs.org/en/download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버전 번호 끝자리는 학생마다 달라도 된다. 오류 문구가 아니라 두 개의 번호가 보이는지만 확인한다.</a:t>
            </a:r>
          </a:p>
          <a:p xmlns:a="http://schemas.openxmlformats.org/drawingml/2006/main">
            <a:r>
              <a:t>한 학생의 설치가 오래 걸리면 공동강사가 이어서 돕고, 전체는 OpenCode 역할 설명으로 넘어간다.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OpenCode는 허용한 프로젝트 폴더 안의 파일을 읽고 만들거나 고치는 AI 도구라고 설명한다.</a:t>
            </a:r>
          </a:p>
          <a:p xmlns:a="http://schemas.openxmlformats.org/drawingml/2006/main">
            <a:r>
              <a:t>설치 명령은 공식 안내 또는 교과서에서 복사한다. 학생이 검색 결과의 임의 블로그 명령을 사용하지 않게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https://opencode.ai/docs/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명령을 실행한 직후 화면이 빠르게 움직여도 정상이라고 미리 말한다. 끝났는지는 다시 입력할 수 있는 줄이 나타나는지로 본다.</a:t>
            </a:r>
          </a:p>
          <a:p xmlns:a="http://schemas.openxmlformats.org/drawingml/2006/main">
            <a:r>
              <a:t>빨간 오류가 보이면 연속해서 명령을 다시 실행하지 말고 손을 들게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OpenCode 실행 전에 버전 확인까지만 한다. 여기서 로그인이나 모델 선택으로 새지 않는다.</a:t>
            </a:r>
          </a:p>
          <a:p xmlns:a="http://schemas.openxmlformats.org/drawingml/2006/main">
            <a:r>
              <a:t>질문 예상: 버전 번호가 선생님과 달라요. 답: 번호가 보이면 설치는 된 것입니다. 수업에서 문제가 생길 때만 버전을 다시 확인합니다.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VS Code는 이전 특강에서 설치되어 있을 가능성이 높다. Windows 시작 메뉴에서 먼저 찾는다.</a:t>
            </a:r>
          </a:p>
          <a:p xmlns:a="http://schemas.openxmlformats.org/drawingml/2006/main">
            <a:r>
              <a:t>없는 학생만 code.visualstudio.com의 Windows User Installer x64를 사용한다.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https://code.visualstudio.com/download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확장은 VS Code에 기능을 더하는 작은 도구라고 설명한다. 이번에는 Python 파일 실행 버튼을 쓰기 위해 설치한다.</a:t>
            </a:r>
          </a:p>
          <a:p xmlns:a="http://schemas.openxmlformats.org/drawingml/2006/main">
            <a:r>
              <a:t>학생이 확장 검색 결과에서 Microsoft 게시자를 확인하게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https://marketplace.visualstudio.com/items?itemName=ms-python.python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전체 메뉴를 설명하지 않는다. 탐색기, 편집기, 터미널 세 곳만 손으로 가리키며 이름을 말한다.</a:t>
            </a:r>
          </a:p>
          <a:p xmlns:a="http://schemas.openxmlformats.org/drawingml/2006/main">
            <a:r>
              <a:t>이 화면은 구조를 보여 주는 예시이며 학교 Windows의 색상이나 아이콘 모양이 달라도 역할은 같다.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학생이 파일 하나를 더블클릭해 연 경우 폴더 구조가 보이지 않는다. 파일 메뉴에서 교사가 지정한 week02 폴더 전체를 열게 한다.</a:t>
            </a:r>
          </a:p>
          <a:p xmlns:a="http://schemas.openxmlformats.org/drawingml/2006/main">
            <a:r>
              <a:t>대본: AI가 어디까지 볼 수 있는지는 우리가 연 폴더로 정합니다. 엉뚱한 개인 폴더를 열지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학생들이 모두 같은 폴더에 들어왔는지 확인한 뒤 opencode를 실행한다. 실행 후 나타나는 초기 안내는 교사가 같은 선택을 지시한다.</a:t>
            </a:r>
          </a:p>
          <a:p xmlns:a="http://schemas.openxmlformats.org/drawingml/2006/main">
            <a:r>
              <a:t>CLI 공포를 줄이는 핵심 문장: 지금부터는 명령을 계속 외우는 시간이 아니라, 이 창에서 AI에게 말을 거는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학생이 다음 문장을 그대로 전달하게 한다: 현재 폴더의 이름과 보이는 파일 수만 알려 줘. 아직 파일을 만들거나 수정하지 마.</a:t>
            </a:r>
          </a:p>
          <a:p xmlns:a="http://schemas.openxmlformats.org/drawingml/2006/main">
            <a:r>
              <a:t>답을 받은 뒤 채팅만 보지 말고 탐색기의 파일이 그대로인지 같이 확인한다.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경고를 길게 겁주듯 말하지 않는다. 수업에서 바로 지킬 세 가지만 짧게 확인한다.</a:t>
            </a:r>
          </a:p>
          <a:p xmlns:a="http://schemas.openxmlformats.org/drawingml/2006/main">
            <a:r>
              <a:t>질문 예상: 이름도 쓰면 안 돼요? 답: 수업 예시에서는 학생 A처럼 가상의 이름을 씁니다. 실제 개인정보는 넣지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마무리 질문: OpenCode, VS Code, Python은 각각 무엇을 돕나요? 완전한 정의보다 역할 연결을 듣는다.</a:t>
            </a:r>
          </a:p>
          <a:p xmlns:a="http://schemas.openxmlformats.org/drawingml/2006/main">
            <a:r>
              <a:t>남은 시간이 없으면 첫 요청은 다음 수업 시작으로 넘길 수 있다. 다만 Python/Node/OpenCode/VS Code의 역할 설명은 생략하지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07fa3cc9db486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329020063954dbd" /><Relationship Type="http://schemas.openxmlformats.org/officeDocument/2006/relationships/slideLayout" Target="/ppt/slideLayouts/slideLayout1.xml" Id="R9a1073e2655e450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a1073e2655e450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4bd54d841c45aa" /><Relationship Type="http://schemas.openxmlformats.org/officeDocument/2006/relationships/notesSlide" Target="/ppt/notesSlides/notesSlide1.xml" Id="R64a13a919b90405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88a2528a4f4d7c" /><Relationship Type="http://schemas.openxmlformats.org/officeDocument/2006/relationships/image" Target="/ppt/media/image.png" Id="R6c7b974941f24606" /><Relationship Type="http://schemas.openxmlformats.org/officeDocument/2006/relationships/notesSlide" Target="/ppt/notesSlides/notesSlide2.xml" Id="Rb18c6032414543c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5fb410335c49be" /><Relationship Type="http://schemas.openxmlformats.org/officeDocument/2006/relationships/notesSlide" Target="/ppt/notesSlides/notesSlide3.xml" Id="Rd9fbd73577814d4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91e1be08a240ca" /><Relationship Type="http://schemas.openxmlformats.org/officeDocument/2006/relationships/notesSlide" Target="/ppt/notesSlides/notesSlide4.xml" Id="Rd84a0698353244f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8e674aee9d4386" /><Relationship Type="http://schemas.openxmlformats.org/officeDocument/2006/relationships/image" Target="/ppt/media/image.jpeg" Id="R66e2018c07994064" /><Relationship Type="http://schemas.openxmlformats.org/officeDocument/2006/relationships/notesSlide" Target="/ppt/notesSlides/notesSlide5.xml" Id="R93051ffe0a69453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9e47bed2c6427e" /><Relationship Type="http://schemas.openxmlformats.org/officeDocument/2006/relationships/notesSlide" Target="/ppt/notesSlides/notesSlide6.xml" Id="R8acd13d5dc96471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28e2d839e342c3" /><Relationship Type="http://schemas.openxmlformats.org/officeDocument/2006/relationships/image" Target="/ppt/media/image2.png" Id="Ra30c151407fa4eee" /><Relationship Type="http://schemas.openxmlformats.org/officeDocument/2006/relationships/notesSlide" Target="/ppt/notesSlides/notesSlide7.xml" Id="R2fee87e44e8d494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c6e04923ba4f01" /><Relationship Type="http://schemas.openxmlformats.org/officeDocument/2006/relationships/notesSlide" Target="/ppt/notesSlides/notesSlide8.xml" Id="R8fbabf0792544b5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0c6ed31a5346c7" /><Relationship Type="http://schemas.openxmlformats.org/officeDocument/2006/relationships/image" Target="/ppt/media/image3.png" Id="R065765268a344b48" /><Relationship Type="http://schemas.openxmlformats.org/officeDocument/2006/relationships/notesSlide" Target="/ppt/notesSlides/notesSlide9.xml" Id="Rdaa0cb1692474c3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3bcceed2b948e0" /><Relationship Type="http://schemas.openxmlformats.org/officeDocument/2006/relationships/image" Target="/ppt/media/image2.jpeg" Id="Rb5f14f008c044848" /><Relationship Type="http://schemas.openxmlformats.org/officeDocument/2006/relationships/notesSlide" Target="/ppt/notesSlides/notesSlide10.xml" Id="Rb0598d6f37604d7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df167ac40548eb" /><Relationship Type="http://schemas.openxmlformats.org/officeDocument/2006/relationships/image" Target="/ppt/media/image4.png" Id="Re45a9b4b11cc4937" /><Relationship Type="http://schemas.openxmlformats.org/officeDocument/2006/relationships/notesSlide" Target="/ppt/notesSlides/notesSlide11.xml" Id="Rc0d8dceaca56486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f3247e0c794975" /><Relationship Type="http://schemas.openxmlformats.org/officeDocument/2006/relationships/image" Target="/ppt/media/image3.jpeg" Id="R9da5dc278fad4c58" /><Relationship Type="http://schemas.openxmlformats.org/officeDocument/2006/relationships/notesSlide" Target="/ppt/notesSlides/notesSlide12.xml" Id="R47f1249d006c4a6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78862753e9478a" /><Relationship Type="http://schemas.openxmlformats.org/officeDocument/2006/relationships/image" Target="/ppt/media/image5.png" Id="Rdb6e45934ca0423f" /><Relationship Type="http://schemas.openxmlformats.org/officeDocument/2006/relationships/notesSlide" Target="/ppt/notesSlides/notesSlide13.xml" Id="Rf9344974d90f444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0ef29b4d9d495d" /><Relationship Type="http://schemas.openxmlformats.org/officeDocument/2006/relationships/image" Target="/ppt/media/image6.png" Id="R3ca01d18ca604247" /><Relationship Type="http://schemas.openxmlformats.org/officeDocument/2006/relationships/notesSlide" Target="/ppt/notesSlides/notesSlide14.xml" Id="R2ad5a9990b9a4d0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06aceb49404f79" /><Relationship Type="http://schemas.openxmlformats.org/officeDocument/2006/relationships/image" Target="/ppt/media/image4.jpeg" Id="Rb40455eb877a40d6" /><Relationship Type="http://schemas.openxmlformats.org/officeDocument/2006/relationships/notesSlide" Target="/ppt/notesSlides/notesSlide15.xml" Id="R2d37f9b1bc714aa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c8971e59134b5e" /><Relationship Type="http://schemas.openxmlformats.org/officeDocument/2006/relationships/image" Target="/ppt/media/image5.jpeg" Id="R6f01aa2bada74366" /><Relationship Type="http://schemas.openxmlformats.org/officeDocument/2006/relationships/notesSlide" Target="/ppt/notesSlides/notesSlide16.xml" Id="Rd86c59cb26114c1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2cc61c35004e8b" /><Relationship Type="http://schemas.openxmlformats.org/officeDocument/2006/relationships/image" Target="/ppt/media/image7.png" Id="Raf39aaa282924b84" /><Relationship Type="http://schemas.openxmlformats.org/officeDocument/2006/relationships/notesSlide" Target="/ppt/notesSlides/notesSlide17.xml" Id="R6490a6c9050740e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86b2f118974db5" /><Relationship Type="http://schemas.openxmlformats.org/officeDocument/2006/relationships/image" Target="/ppt/media/image8.png" Id="R5954d43966994907" /><Relationship Type="http://schemas.openxmlformats.org/officeDocument/2006/relationships/notesSlide" Target="/ppt/notesSlides/notesSlide18.xml" Id="Re4ab9c282e09466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f92e6484a84255" /><Relationship Type="http://schemas.openxmlformats.org/officeDocument/2006/relationships/notesSlide" Target="/ppt/notesSlides/notesSlide19.xml" Id="Re97f1c1e763f4f5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ee312df1f14698" /><Relationship Type="http://schemas.openxmlformats.org/officeDocument/2006/relationships/image" Target="/ppt/media/image9.png" Id="Rca2683e9a01f43de" /><Relationship Type="http://schemas.openxmlformats.org/officeDocument/2006/relationships/notesSlide" Target="/ppt/notesSlides/notesSlide20.xml" Id="Rf098fac95afd427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14ad5a8f474bf6" /><Relationship Type="http://schemas.openxmlformats.org/officeDocument/2006/relationships/notesSlide" Target="/ppt/notesSlides/notesSlide21.xml" Id="R2b0488da9a4a43e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20c091ad2840c8" /><Relationship Type="http://schemas.openxmlformats.org/officeDocument/2006/relationships/notesSlide" Target="/ppt/notesSlides/notesSlide22.xml" Id="Rd2a36ffe531e4b3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B1D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40DFF9-EC3C-4F5E-BF94-E8D0B83C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3E31AD-7223-4479-8594-5DE00CCE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C9CDD2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25" b="1">
                <a:solidFill>
                  <a:srgbClr val="C9CDD2"/>
                </a:solidFill>
                <a:latin typeface="IBM Plex Sans KR"/>
                <a:ea typeface="IBM Plex Sans KR"/>
                <a:cs typeface="IBM Plex Sans KR"/>
              </a:rPr>
              <a:t>장대현중고등학교 · 2026학년도 2학기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175CC8-30C9-492D-9F0E-E92B91B5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7635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4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33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02-1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CE0391-B705-460B-B564-5014063D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71675"/>
            <a:ext cx="876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3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43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개발 도구 설치와 확인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E4FEC6-DF96-4C6F-8644-9AC67434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704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B87E46-F76C-48F5-A953-2CAA0EBE0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8953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875" b="0">
                <a:solidFill>
                  <a:srgbClr val="C9CDD2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75" b="0">
                <a:solidFill>
                  <a:srgbClr val="C9CDD2"/>
                </a:solidFill>
                <a:latin typeface="IBM Plex Sans KR"/>
                <a:ea typeface="IBM Plex Sans KR"/>
                <a:cs typeface="IBM Plex Sans KR"/>
              </a:rPr>
              <a:t>먼저 결과를 보고, 코딩에 필요한 도구를 하나씩 준비합니다.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D87667-CD22-4E15-BC83-CF37074E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AEB3BA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AEB3BA"/>
                </a:solidFill>
                <a:latin typeface="IBM Plex Sans KR"/>
                <a:ea typeface="IBM Plex Sans KR"/>
                <a:cs typeface="IBM Plex Sans KR"/>
              </a:rPr>
              <a:t>교과서 02-1</a:t>
            </a:r>
          </a:p>
        </p:txBody>
      </p:sp>
    </p:spTree>
    <p:extLst>
      <p:ext uri="{BB962C8B-B14F-4D97-AF65-F5344CB8AC3E}">
        <p14:creationId xmlns:p14="http://schemas.microsoft.com/office/powerpoint/2010/main" val="21188933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24D15D-8981-4337-BE99-1B4E9AC7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36CD2-85D2-4E63-9024-BCB9A3F5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E1618-E5DC-48D3-980C-0389DB1D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31C33-F7FA-4D44-9E64-9CF89EED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코딩으로 데이터를 다루면 이런 결과가 나옵니다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A266FE-AF0D-40BC-8DA5-6C0DF351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A6554-F5E3-46B1-AA52-3E386EFA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6AA35-B656-4867-ABAA-1383287B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9750"/>
            <a:ext cx="3524250" cy="3905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2A258-4454-4D9C-B9CC-02E47119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완성 예시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0A666-D1B7-4FB6-A0CA-D962BA93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가상 축제 데이터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FDECB4-6EC6-4151-BE72-AEE07E26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52775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3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B86D0-9626-4B94-8977-EEE0EF05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290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수행평가는 더 단순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A02551-D203-43C6-B7F4-638AFF11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862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지정 그래프 1개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49E3F-5628-4DF7-9B16-16F7C266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101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직접 코드를 외워 쓰는 시험이 아닙니다.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F8AB2E-E505-4BFB-95F4-E46B7FD1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02-1 · 2쪽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7b974941f2460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33400" y="1822847"/>
            <a:ext cx="6896100" cy="3879056"/>
          </a:xfrm>
          <a:prstGeom xmlns:a="http://schemas.openxmlformats.org/drawingml/2006/main" prst="roundRect">
            <a:avLst>
              <a:gd name="adj" fmla="val 2947"/>
            </a:avLst>
          </a:prstGeom>
        </p:spPr>
      </p:pic>
    </p:spTree>
    <p:extLst>
      <p:ext uri="{BB962C8B-B14F-4D97-AF65-F5344CB8AC3E}">
        <p14:creationId xmlns:p14="http://schemas.microsoft.com/office/powerpoint/2010/main" val="13828718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8E71833-949F-473B-AA98-6414C491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F7CE97-F21C-45F4-B764-3ADA0830C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E39F5A-0AA1-4A92-9FB0-4FC1A07F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7FEBD6-82E5-489A-A4AF-97113A5F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수행평가 1에서는 이 다섯 동작을 반복합니다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2E1FD4-BC3A-4018-B2F0-6E550F77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DFFF27-4FC7-4A7B-8C31-E51F4593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1532B0-9B57-46EC-89A0-66E04E610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43075"/>
            <a:ext cx="64770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1D87A3-D06C-466A-9406-1CCCF1E22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6690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77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FFFFFF"/>
                </a:solidFill>
                <a:latin typeface="IBM Plex Mono"/>
                <a:ea typeface="IBM Plex Mono"/>
                <a:cs typeface="IBM Plex Mono"/>
              </a:defRPr>
            </a:pPr>
            <a:r>
              <a:rPr sz="2025" b="1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표 확인 → AI 요청 → 실행 → 원본 비교 → 기록·제출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1517D5-ADCB-4B17-BAF8-12AB825E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86050"/>
            <a:ext cx="2000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9A06EB-FCE1-4684-9552-3E42E177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1575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0198BD-3458-49A6-B7AC-D219E71CC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8025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표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9BD13C-84A7-43D3-9F76-E7A838CC4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695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항목과 숫자를 본다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5B9C01-9C5B-4EEB-ADF2-95C09BDB8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276600"/>
            <a:ext cx="19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33C842-E501-4C8A-ADDD-1B813DDA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686050"/>
            <a:ext cx="2000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F01508-E42F-4EBA-903B-6D05A9F2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575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1575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FF8B4C-B8B2-449F-82FB-E726B54D7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248025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AI 요청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3E7079-60D6-4B7B-B4E5-12E45E64A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714750"/>
            <a:ext cx="1695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필요한 그래프를 말한다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FC3E6B-E4CD-4BB8-8D48-8E6BF4A0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276600"/>
            <a:ext cx="19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05AE95-3707-4923-AC32-E4FC41B9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686050"/>
            <a:ext cx="2000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E9B20C-0DCD-445D-A9F0-55339211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575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1575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70A81C-BD9B-4E12-8336-08784EC0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248025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실행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C1B2A4-F835-4286-B9C1-50C505C6D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714750"/>
            <a:ext cx="1695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AI가 만든 코드를 돌린다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4C7B88-AC02-4263-AE8F-3E7621DCB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276600"/>
            <a:ext cx="19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8540F2-8C0C-462D-ABA5-680539292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686050"/>
            <a:ext cx="2000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BE9BA3-01CB-47C1-ACB0-3CD425E30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575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1575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E4DDE7-77B0-42A9-8E9E-7D56C9F25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248025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원본 비교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BC0C1A-75F8-4502-99F2-04B37E19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714750"/>
            <a:ext cx="1695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숫자·제목·축을 확인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CE90E5-FE88-4EB8-B8FA-E24264BDA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276600"/>
            <a:ext cx="19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77A8F4-9866-4F26-B01B-996895135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686050"/>
            <a:ext cx="2000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9525">
            <a:solidFill>
              <a:srgbClr val="0E7C8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5D5881-A257-4755-905F-AF933162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8575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0E7C86"/>
                </a:solidFill>
                <a:latin typeface="Archivo"/>
                <a:ea typeface="Archivo"/>
                <a:cs typeface="Archivo"/>
              </a:defRPr>
            </a:pPr>
            <a:r>
              <a:rPr sz="1575" b="1">
                <a:solidFill>
                  <a:srgbClr val="0E7C86"/>
                </a:solidFill>
                <a:latin typeface="Archivo"/>
                <a:ea typeface="Archivo"/>
                <a:cs typeface="Archivo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F37F3A-E964-4A0E-B61C-9D139D6E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248025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기록·제출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AB8C2D-C2E8-4073-8D23-18C62627F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714750"/>
            <a:ext cx="1695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과정을 Notebook에 남긴다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DC38BC-E6D1-456C-B0A5-C1A08BFE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대시보드 전체가 아니라, 교사가 지정한 그래프 한 개를 완성합니다.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65D98E-4C16-4900-978D-0E44CD71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02-1 · 2쪽</a:t>
            </a:r>
          </a:p>
        </p:txBody>
      </p:sp>
    </p:spTree>
    <p:extLst>
      <p:ext uri="{BB962C8B-B14F-4D97-AF65-F5344CB8AC3E}">
        <p14:creationId xmlns:p14="http://schemas.microsoft.com/office/powerpoint/2010/main" val="16854851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46CE8A-4F6C-4413-AE7E-7EB0536F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85AB99-487D-4A39-BF64-C3363820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85ACD2-B3B4-4D07-9198-C016A642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AA1E21-E13B-466F-8F1E-188B1432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코딩 도구는 서로 다른 일을 나누어 맡습니다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E424B4-D138-4388-990B-86ECBA70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041F88-F8C9-4E35-B364-B2E333FA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51F02F-29D9-4770-BF49-EEBDFBD82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6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6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이름보다 역할을 연결해 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ACAE29-3AC3-4D6A-AB27-489EA446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97917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F34CA8-5A08-4A87-8B39-79419F48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171825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988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OpenCode + Node.js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자연어 요청과 AI 도구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78A8DB-4649-4FB1-B2CB-D3BB60F5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305175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250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250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CC1D3A-8637-45B7-B11B-6EF8F5CE1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71825"/>
            <a:ext cx="245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978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VS Code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파일·코드·대화를 보는 책상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4F795E-0438-482A-9DD6-D03975B4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305175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250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250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60268F-07AE-4D4E-8D33-63B9E9425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71825"/>
            <a:ext cx="2838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988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Python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코드를 실행해 결과 만들기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B2E1D5-2B69-4CDF-B097-FC103ACE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9575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내 요청 → AI → 코드 파일 → 실행 → 결과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89A2B6-FF5A-4FCC-83B8-A46912E0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02-1 · 3쪽</a:t>
            </a:r>
          </a:p>
        </p:txBody>
      </p:sp>
    </p:spTree>
    <p:extLst>
      <p:ext uri="{BB962C8B-B14F-4D97-AF65-F5344CB8AC3E}">
        <p14:creationId xmlns:p14="http://schemas.microsoft.com/office/powerpoint/2010/main" val="12759259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24D15D-8981-4337-BE99-1B4E9AC7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36CD2-85D2-4E63-9024-BCB9A3F5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E1618-E5DC-48D3-980C-0389DB1D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31C33-F7FA-4D44-9E64-9CF89EED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Python 공식 사이트에서 Windows 설치 파일을 받습니다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A266FE-AF0D-40BC-8DA5-6C0DF351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A6554-F5E3-46B1-AA52-3E386EFA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6AA35-B656-4867-ABAA-1383287B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9750"/>
            <a:ext cx="3524250" cy="3905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2A258-4454-4D9C-B9CC-02E47119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지금 할 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0A666-D1B7-4FB6-A0CA-D962BA93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Python 3.13 찾기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FDECB4-6EC6-4151-BE72-AEE07E26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52775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3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B86D0-9626-4B94-8977-EEE0EF05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290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누를 항목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A02551-D203-43C6-B7F4-638AFF11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862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Windows installer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(64-bit)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49E3F-5628-4DF7-9B16-16F7C266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101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73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검색 결과가 아니라 python.org인지 확인합니다.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F8AB2E-E505-4BFB-95F4-E46B7FD1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02-1 · 4쪽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e2018c07994064"/>
          <a:srcRect xmlns:a="http://schemas.openxmlformats.org/drawingml/2006/main" l="0" t="31" r="0" b="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33400" y="1822847"/>
            <a:ext cx="6896100" cy="3879056"/>
          </a:xfrm>
          <a:prstGeom xmlns:a="http://schemas.openxmlformats.org/drawingml/2006/main" prst="roundRect">
            <a:avLst>
              <a:gd name="adj" fmla="val 2947"/>
            </a:avLst>
          </a:prstGeom>
        </p:spPr>
      </p:pic>
    </p:spTree>
    <p:extLst>
      <p:ext uri="{BB962C8B-B14F-4D97-AF65-F5344CB8AC3E}">
        <p14:creationId xmlns:p14="http://schemas.microsoft.com/office/powerpoint/2010/main" val="13828718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630FD0-91C2-461A-A67E-CA35153B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BB741E-D9B5-4C27-BAD6-2AD845A1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0F06DC-980E-4579-9F1B-EA9465A9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7D43B3-AB8A-4E7B-A72B-4331A4AC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Python 설치는 세 단계만 확인합니다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867449-9915-4DD9-96F0-D411849D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037A3F-767A-44D6-912E-4C4436DB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BD25C3-F908-4B9D-9836-D9525700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A88161-E2FF-4391-BFCE-A1A45ABE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DBB7E7-8C3C-4AB6-969C-CBFE171C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F7C6AF-ECAB-4CCD-93DD-D1657B88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설치 파일 열기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FFD94B-DEAB-4A71-BB7B-B0846D44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브라우저 다운로드 목록에서 실행합니다.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EF2E0F-2F55-467F-B0A0-1B2DE17A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9525">
            <a:solidFill>
              <a:srgbClr val="FF5C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B8F367-BE1D-4CA1-AD11-49C86095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5C00"/>
          </a:solidFill>
          <a:ln xmlns:a="http://schemas.openxmlformats.org/drawingml/2006/main" w="9525">
            <a:solidFill>
              <a:srgbClr val="FF5C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8A0322-7BE8-434B-9972-737C4137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D7E949-0275-424B-A17B-F44BB591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기본 설치 진행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80AD5B-4756-4D7C-ADB7-118D379B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교사가 안내한 항목만 확인합니다.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EC9B57-5DEF-4FA7-A333-808A986A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CF1800-CA1E-4B9C-AEA7-BB198289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F684C1-D98C-42AA-8B34-5AAA2477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6DB609-8345-46BC-B54F-1567C416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새 PowerShell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613D53-FB95-4807-9A99-F8499828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설치 뒤 창을 닫고 다시 엽니다.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780D43-3E08-42E2-9849-813A4161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10782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0E7C86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0E7C86"/>
                </a:solidFill>
                <a:latin typeface="IBM Plex Sans KR"/>
                <a:ea typeface="IBM Plex Sans KR"/>
                <a:cs typeface="IBM Plex Sans KR"/>
              </a:rPr>
              <a:t>설치 화면이 다르면 임의로 누르지 말고, 현재 화면을 그대로 보여 주세요.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FD20AD-6134-4338-9212-664B0FED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02-1 · 4쪽</a:t>
            </a:r>
          </a:p>
        </p:txBody>
      </p:sp>
    </p:spTree>
    <p:extLst>
      <p:ext uri="{BB962C8B-B14F-4D97-AF65-F5344CB8AC3E}">
        <p14:creationId xmlns:p14="http://schemas.microsoft.com/office/powerpoint/2010/main" val="7977766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24D15D-8981-4337-BE99-1B4E9AC7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36CD2-85D2-4E63-9024-BCB9A3F5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E1618-E5DC-48D3-980C-0389DB1D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31C33-F7FA-4D44-9E64-9CF89EED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Python에게 설치된 버전을 물어봅니다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A266FE-AF0D-40BC-8DA5-6C0DF351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A6554-F5E3-46B1-AA52-3E386EFA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6AA35-B656-4867-ABAA-1383287B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9750"/>
            <a:ext cx="3524250" cy="3905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2A258-4454-4D9C-B9CC-02E47119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입력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0A666-D1B7-4FB6-A0CA-D962BA93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python --version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FDECB4-6EC6-4151-BE72-AEE07E26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52775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3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B86D0-9626-4B94-8977-EEE0EF05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290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응답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A02551-D203-43C6-B7F4-638AFF11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862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Python 3.13.x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49E3F-5628-4DF7-9B16-16F7C266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101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6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정확한 끝자리보다 Python 3.13으로 시작하는지 봅니다.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F8AB2E-E505-4BFB-95F4-E46B7FD1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02-1 · 4쪽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0c151407fa4ee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33400" y="1822847"/>
            <a:ext cx="6896100" cy="3879056"/>
          </a:xfrm>
          <a:prstGeom xmlns:a="http://schemas.openxmlformats.org/drawingml/2006/main" prst="roundRect">
            <a:avLst>
              <a:gd name="adj" fmla="val 2947"/>
            </a:avLst>
          </a:prstGeom>
        </p:spPr>
      </p:pic>
    </p:spTree>
    <p:extLst>
      <p:ext uri="{BB962C8B-B14F-4D97-AF65-F5344CB8AC3E}">
        <p14:creationId xmlns:p14="http://schemas.microsoft.com/office/powerpoint/2010/main" val="13828718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630FD0-91C2-461A-A67E-CA35153B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BB741E-D9B5-4C27-BAD6-2AD845A1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0F06DC-980E-4579-9F1B-EA9465A9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7D43B3-AB8A-4E7B-A72B-4331A4AC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방금 한 행동이 CLI입니다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867449-9915-4DD9-96F0-D411849D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037A3F-767A-44D6-912E-4C4436DB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BD25C3-F908-4B9D-9836-D9525700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A88161-E2FF-4391-BFCE-A1A45ABE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DBB7E7-8C3C-4AB6-969C-CBFE171C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GUI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F7C6AF-ECAB-4CCD-93DD-D1657B88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버튼으로 조작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FFD94B-DEAB-4A71-BB7B-B0846D44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사이트에서 설치 파일을 받고, 화면의 버튼을 눌렀습니다.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EF2E0F-2F55-467F-B0A0-1B2DE17A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9525">
            <a:solidFill>
              <a:srgbClr val="FF5C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B8F367-BE1D-4CA1-AD11-49C86095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5C00"/>
          </a:solidFill>
          <a:ln xmlns:a="http://schemas.openxmlformats.org/drawingml/2006/main" w="9525">
            <a:solidFill>
              <a:srgbClr val="FF5C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8A0322-7BE8-434B-9972-737C4137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CLI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D7E949-0275-424B-A17B-F44BB591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글자로 질문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80AD5B-4756-4D7C-ADB7-118D379B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python --version을 적고, 프로그램의 응답을 읽었습니다.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EC9B57-5DEF-4FA7-A333-808A986A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CF1800-CA1E-4B9C-AEA7-BB198289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F684C1-D98C-42AA-8B34-5AAA2477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CLI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6DB609-8345-46BC-B54F-1567C416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AI와 대화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613D53-FB95-4807-9A99-F8499828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잠시 뒤 같은 자리에서 OpenCode와 자연어로 대화합니다.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780D43-3E08-42E2-9849-813A4161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10782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0E7C86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0E7C86"/>
                </a:solidFill>
                <a:latin typeface="IBM Plex Sans KR"/>
                <a:ea typeface="IBM Plex Sans KR"/>
                <a:cs typeface="IBM Plex Sans KR"/>
              </a:rPr>
              <a:t>CLI는 검은 화면 시험장이 아니라, 프로그램에 글자로 요청하고 답을 읽는 방식입니다.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FD20AD-6134-4338-9212-664B0FED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02-1 · 5쪽</a:t>
            </a:r>
          </a:p>
        </p:txBody>
      </p:sp>
    </p:spTree>
    <p:extLst>
      <p:ext uri="{BB962C8B-B14F-4D97-AF65-F5344CB8AC3E}">
        <p14:creationId xmlns:p14="http://schemas.microsoft.com/office/powerpoint/2010/main" val="7977766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24D15D-8981-4337-BE99-1B4E9AC7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36CD2-85D2-4E63-9024-BCB9A3F5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E1618-E5DC-48D3-980C-0389DB1D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31C33-F7FA-4D44-9E64-9CF89EED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Node.js는 다시 설치하기 전에 먼저 확인합니다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A266FE-AF0D-40BC-8DA5-6C0DF351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A6554-F5E3-46B1-AA52-3E386EFA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6AA35-B656-4867-ABAA-1383287B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9750"/>
            <a:ext cx="3524250" cy="3905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2A258-4454-4D9C-B9CC-02E47119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첫 질문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0A666-D1B7-4FB6-A0CA-D962BA93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node --version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FDECB4-6EC6-4151-BE72-AEE07E26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52775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3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B86D0-9626-4B94-8977-EEE0EF05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290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두 번째 질문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A02551-D203-43C6-B7F4-638AFF11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862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npm --version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49E3F-5628-4DF7-9B16-16F7C266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101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6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두 번호가 보이면 설치 슬라이드는 빠르게 넘깁니다.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F8AB2E-E505-4BFB-95F4-E46B7FD1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02-1 · 6쪽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5765268a344b4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33400" y="1822847"/>
            <a:ext cx="6896100" cy="3879056"/>
          </a:xfrm>
          <a:prstGeom xmlns:a="http://schemas.openxmlformats.org/drawingml/2006/main" prst="roundRect">
            <a:avLst>
              <a:gd name="adj" fmla="val 2947"/>
            </a:avLst>
          </a:prstGeom>
        </p:spPr>
      </p:pic>
    </p:spTree>
    <p:extLst>
      <p:ext uri="{BB962C8B-B14F-4D97-AF65-F5344CB8AC3E}">
        <p14:creationId xmlns:p14="http://schemas.microsoft.com/office/powerpoint/2010/main" val="13828718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24D15D-8981-4337-BE99-1B4E9AC7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36CD2-85D2-4E63-9024-BCB9A3F5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E1618-E5DC-48D3-980C-0389DB1D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31C33-F7FA-4D44-9E64-9CF89EED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번호가 보이지 않는 학생만 Node.js를 설치합니다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A266FE-AF0D-40BC-8DA5-6C0DF351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A6554-F5E3-46B1-AA52-3E386EFA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6AA35-B656-4867-ABAA-1383287B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9750"/>
            <a:ext cx="3524250" cy="3905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2A258-4454-4D9C-B9CC-02E47119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지금 할 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0A666-D1B7-4FB6-A0CA-D962BA93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LTS 선택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FDECB4-6EC6-4151-BE72-AEE07E26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52775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3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B86D0-9626-4B94-8977-EEE0EF05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290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Windows 항목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A02551-D203-43C6-B7F4-638AFF11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862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x64 · .msi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49E3F-5628-4DF7-9B16-16F7C266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101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2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설치가 끝나면 PowerShell을 새로 엽니다.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F8AB2E-E505-4BFB-95F4-E46B7FD1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02-1 · 6쪽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f14f008c044848"/>
          <a:srcRect xmlns:a="http://schemas.openxmlformats.org/drawingml/2006/main" l="0" t="31" r="0" b="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33400" y="1822847"/>
            <a:ext cx="6896100" cy="3879056"/>
          </a:xfrm>
          <a:prstGeom xmlns:a="http://schemas.openxmlformats.org/drawingml/2006/main" prst="roundRect">
            <a:avLst>
              <a:gd name="adj" fmla="val 2947"/>
            </a:avLst>
          </a:prstGeom>
        </p:spPr>
      </p:pic>
    </p:spTree>
    <p:extLst>
      <p:ext uri="{BB962C8B-B14F-4D97-AF65-F5344CB8AC3E}">
        <p14:creationId xmlns:p14="http://schemas.microsoft.com/office/powerpoint/2010/main" val="13828718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24D15D-8981-4337-BE99-1B4E9AC7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36CD2-85D2-4E63-9024-BCB9A3F5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E1618-E5DC-48D3-980C-0389DB1D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31C33-F7FA-4D44-9E64-9CF89EED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새 PowerShell에서 두 버전을 다시 확인합니다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A266FE-AF0D-40BC-8DA5-6C0DF351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A6554-F5E3-46B1-AA52-3E386EFA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6AA35-B656-4867-ABAA-1383287B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9750"/>
            <a:ext cx="3524250" cy="3905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2A258-4454-4D9C-B9CC-02E47119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node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0A666-D1B7-4FB6-A0CA-D962BA93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버전 번호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FDECB4-6EC6-4151-BE72-AEE07E26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52775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3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B86D0-9626-4B94-8977-EEE0EF05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290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npm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A02551-D203-43C6-B7F4-638AFF11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862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버전 번호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49E3F-5628-4DF7-9B16-16F7C266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101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6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두 줄 모두 번호가 보이면 OpenCode를 설치할 준비가 됐습니다.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F8AB2E-E505-4BFB-95F4-E46B7FD1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02-1 · 6쪽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5a9b4b11cc493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33400" y="1822847"/>
            <a:ext cx="6896100" cy="3879056"/>
          </a:xfrm>
          <a:prstGeom xmlns:a="http://schemas.openxmlformats.org/drawingml/2006/main" prst="roundRect">
            <a:avLst>
              <a:gd name="adj" fmla="val 2947"/>
            </a:avLst>
          </a:prstGeom>
        </p:spPr>
      </p:pic>
    </p:spTree>
    <p:extLst>
      <p:ext uri="{BB962C8B-B14F-4D97-AF65-F5344CB8AC3E}">
        <p14:creationId xmlns:p14="http://schemas.microsoft.com/office/powerpoint/2010/main" val="138287180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24D15D-8981-4337-BE99-1B4E9AC7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36CD2-85D2-4E63-9024-BCB9A3F5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E1618-E5DC-48D3-980C-0389DB1D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31C33-F7FA-4D44-9E64-9CF89EED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OpenCode 공식 안내에서 설치 명령을 확인합니다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A266FE-AF0D-40BC-8DA5-6C0DF351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A6554-F5E3-46B1-AA52-3E386EFA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6AA35-B656-4867-ABAA-1383287B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9750"/>
            <a:ext cx="3524250" cy="3905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2A258-4454-4D9C-B9CC-02E47119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OpenCode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0A666-D1B7-4FB6-A0CA-D962BA93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바이브코딩 AI 도구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FDECB4-6EC6-4151-BE72-AEE07E26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52775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3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B86D0-9626-4B94-8977-EEE0EF05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290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설치 방식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A02551-D203-43C6-B7F4-638AFF11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862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npm 명령 사용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49E3F-5628-4DF7-9B16-16F7C266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101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56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명령은 외우지 않고 공식 문서에서 확인합니다.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F8AB2E-E505-4BFB-95F4-E46B7FD1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02-1 · 7쪽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a5dc278fad4c58"/>
          <a:srcRect xmlns:a="http://schemas.openxmlformats.org/drawingml/2006/main" l="0" t="31" r="0" b="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33400" y="1822847"/>
            <a:ext cx="6896100" cy="3879056"/>
          </a:xfrm>
          <a:prstGeom xmlns:a="http://schemas.openxmlformats.org/drawingml/2006/main" prst="roundRect">
            <a:avLst>
              <a:gd name="adj" fmla="val 2947"/>
            </a:avLst>
          </a:prstGeom>
        </p:spPr>
      </p:pic>
    </p:spTree>
    <p:extLst>
      <p:ext uri="{BB962C8B-B14F-4D97-AF65-F5344CB8AC3E}">
        <p14:creationId xmlns:p14="http://schemas.microsoft.com/office/powerpoint/2010/main" val="138287180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24D15D-8981-4337-BE99-1B4E9AC7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36CD2-85D2-4E63-9024-BCB9A3F5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E1618-E5DC-48D3-980C-0389DB1D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31C33-F7FA-4D44-9E64-9CF89EED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설치 로그가 멈추고 입력 줄이 돌아오면 끝입니다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A266FE-AF0D-40BC-8DA5-6C0DF351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A6554-F5E3-46B1-AA52-3E386EFA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6AA35-B656-4867-ABAA-1383287B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9750"/>
            <a:ext cx="3524250" cy="3905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2A258-4454-4D9C-B9CC-02E47119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입력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0A666-D1B7-4FB6-A0CA-D962BA93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91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npm install -g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opencode-ai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FDECB4-6EC6-4151-BE72-AEE07E26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52775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3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B86D0-9626-4B94-8977-EEE0EF05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290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진행 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A02551-D203-43C6-B7F4-638AFF11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862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글자가 지나갑니다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49E3F-5628-4DF7-9B16-16F7C266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101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모든 로그를 읽거나 외울 필요는 없습니다.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F8AB2E-E505-4BFB-95F4-E46B7FD1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02-1 · 7쪽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6e45934ca0423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33400" y="1822847"/>
            <a:ext cx="6896100" cy="3879056"/>
          </a:xfrm>
          <a:prstGeom xmlns:a="http://schemas.openxmlformats.org/drawingml/2006/main" prst="roundRect">
            <a:avLst>
              <a:gd name="adj" fmla="val 2947"/>
            </a:avLst>
          </a:prstGeom>
        </p:spPr>
      </p:pic>
    </p:spTree>
    <p:extLst>
      <p:ext uri="{BB962C8B-B14F-4D97-AF65-F5344CB8AC3E}">
        <p14:creationId xmlns:p14="http://schemas.microsoft.com/office/powerpoint/2010/main" val="138287180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24D15D-8981-4337-BE99-1B4E9AC7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36CD2-85D2-4E63-9024-BCB9A3F5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E1618-E5DC-48D3-980C-0389DB1D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31C33-F7FA-4D44-9E64-9CF89EED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OpenCode도 버전 번호로 설치를 확인합니다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A266FE-AF0D-40BC-8DA5-6C0DF351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A6554-F5E3-46B1-AA52-3E386EFA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6AA35-B656-4867-ABAA-1383287B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9750"/>
            <a:ext cx="3524250" cy="3905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2A258-4454-4D9C-B9CC-02E47119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입력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0A666-D1B7-4FB6-A0CA-D962BA93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opencode --version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FDECB4-6EC6-4151-BE72-AEE07E26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52775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3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B86D0-9626-4B94-8977-EEE0EF05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290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성공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A02551-D203-43C6-B7F4-638AFF11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862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버전 번호가 보임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49E3F-5628-4DF7-9B16-16F7C266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101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6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명령을 찾지 못하면 PowerShell을 새로 열고 다시 확인합니다.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F8AB2E-E505-4BFB-95F4-E46B7FD1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02-1 · 7쪽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a01d18ca60424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33400" y="1822847"/>
            <a:ext cx="6896100" cy="3879056"/>
          </a:xfrm>
          <a:prstGeom xmlns:a="http://schemas.openxmlformats.org/drawingml/2006/main" prst="roundRect">
            <a:avLst>
              <a:gd name="adj" fmla="val 2947"/>
            </a:avLst>
          </a:prstGeom>
        </p:spPr>
      </p:pic>
    </p:spTree>
    <p:extLst>
      <p:ext uri="{BB962C8B-B14F-4D97-AF65-F5344CB8AC3E}">
        <p14:creationId xmlns:p14="http://schemas.microsoft.com/office/powerpoint/2010/main" val="138287180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24D15D-8981-4337-BE99-1B4E9AC7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36CD2-85D2-4E63-9024-BCB9A3F5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E1618-E5DC-48D3-980C-0389DB1D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31C33-F7FA-4D44-9E64-9CF89EED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VS Code가 없다면 공식 Windows 설치 파일을 받습니다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A266FE-AF0D-40BC-8DA5-6C0DF351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A6554-F5E3-46B1-AA52-3E386EFA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6AA35-B656-4867-ABAA-1383287B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9750"/>
            <a:ext cx="3524250" cy="3905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2A258-4454-4D9C-B9CC-02E47119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먼저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0A666-D1B7-4FB6-A0CA-D962BA93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시작 메뉴 검색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FDECB4-6EC6-4151-BE72-AEE07E26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52775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3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B86D0-9626-4B94-8977-EEE0EF05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290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없을 때만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A02551-D203-43C6-B7F4-638AFF11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862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Windows x64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49E3F-5628-4DF7-9B16-16F7C266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101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56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이미 설치되어 있으면 다시 설치하지 않습니다.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F8AB2E-E505-4BFB-95F4-E46B7FD1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02-1 · 8쪽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0455eb877a40d6"/>
          <a:srcRect xmlns:a="http://schemas.openxmlformats.org/drawingml/2006/main" l="0" t="31" r="0" b="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33400" y="1822847"/>
            <a:ext cx="6896100" cy="3879056"/>
          </a:xfrm>
          <a:prstGeom xmlns:a="http://schemas.openxmlformats.org/drawingml/2006/main" prst="roundRect">
            <a:avLst>
              <a:gd name="adj" fmla="val 2947"/>
            </a:avLst>
          </a:prstGeom>
        </p:spPr>
      </p:pic>
    </p:spTree>
    <p:extLst>
      <p:ext uri="{BB962C8B-B14F-4D97-AF65-F5344CB8AC3E}">
        <p14:creationId xmlns:p14="http://schemas.microsoft.com/office/powerpoint/2010/main" val="138287180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24D15D-8981-4337-BE99-1B4E9AC7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36CD2-85D2-4E63-9024-BCB9A3F5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E1618-E5DC-48D3-980C-0389DB1D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31C33-F7FA-4D44-9E64-9CF89EED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Python 확장은 게시자까지 확인하고 설치합니다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A266FE-AF0D-40BC-8DA5-6C0DF351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A6554-F5E3-46B1-AA52-3E386EFA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6AA35-B656-4867-ABAA-1383287B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9750"/>
            <a:ext cx="3524250" cy="3905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2A258-4454-4D9C-B9CC-02E47119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검색어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0A666-D1B7-4FB6-A0CA-D962BA93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Python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FDECB4-6EC6-4151-BE72-AEE07E26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52775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3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B86D0-9626-4B94-8977-EEE0EF05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290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게시자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A02551-D203-43C6-B7F4-638AFF11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862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Microsoft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49E3F-5628-4DF7-9B16-16F7C266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101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6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이름이 같아도 게시자가 다르면 설치하지 않습니다.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F8AB2E-E505-4BFB-95F4-E46B7FD1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02-1 · 8쪽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01aa2bada74366"/>
          <a:srcRect xmlns:a="http://schemas.openxmlformats.org/drawingml/2006/main" l="0" t="31" r="0" b="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33400" y="1822847"/>
            <a:ext cx="6896100" cy="3879056"/>
          </a:xfrm>
          <a:prstGeom xmlns:a="http://schemas.openxmlformats.org/drawingml/2006/main" prst="roundRect">
            <a:avLst>
              <a:gd name="adj" fmla="val 2947"/>
            </a:avLst>
          </a:prstGeom>
        </p:spPr>
      </p:pic>
    </p:spTree>
    <p:extLst>
      <p:ext uri="{BB962C8B-B14F-4D97-AF65-F5344CB8AC3E}">
        <p14:creationId xmlns:p14="http://schemas.microsoft.com/office/powerpoint/2010/main" val="138287180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24D15D-8981-4337-BE99-1B4E9AC7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36CD2-85D2-4E63-9024-BCB9A3F5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E1618-E5DC-48D3-980C-0389DB1D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31C33-F7FA-4D44-9E64-9CF89EED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VS Code에서는 세 곳만 찾으면 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A266FE-AF0D-40BC-8DA5-6C0DF351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A6554-F5E3-46B1-AA52-3E386EFA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6AA35-B656-4867-ABAA-1383287B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9750"/>
            <a:ext cx="3524250" cy="3905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2A258-4454-4D9C-B9CC-02E47119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탐색기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0A666-D1B7-4FB6-A0CA-D962BA93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파일과 폴더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FDECB4-6EC6-4151-BE72-AEE07E26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52775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3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B86D0-9626-4B94-8977-EEE0EF05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290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편집기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A02551-D203-43C6-B7F4-638AFF11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862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AI가 만든 코드 읽기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49E3F-5628-4DF7-9B16-16F7C266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101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6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터미널에서는 OpenCode와 대화하고 실행 결과를 읽습니다.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F8AB2E-E505-4BFB-95F4-E46B7FD1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02-1 · 8쪽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39aaa282924b8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33400" y="1822847"/>
            <a:ext cx="6896100" cy="3879056"/>
          </a:xfrm>
          <a:prstGeom xmlns:a="http://schemas.openxmlformats.org/drawingml/2006/main" prst="roundRect">
            <a:avLst>
              <a:gd name="adj" fmla="val 2947"/>
            </a:avLst>
          </a:prstGeom>
        </p:spPr>
      </p:pic>
    </p:spTree>
    <p:extLst>
      <p:ext uri="{BB962C8B-B14F-4D97-AF65-F5344CB8AC3E}">
        <p14:creationId xmlns:p14="http://schemas.microsoft.com/office/powerpoint/2010/main" val="138287180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24D15D-8981-4337-BE99-1B4E9AC7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36CD2-85D2-4E63-9024-BCB9A3F5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E1618-E5DC-48D3-980C-0389DB1D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31C33-F7FA-4D44-9E64-9CF89EED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파일 하나가 아니라 연습 폴더 전체를 엽니다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A266FE-AF0D-40BC-8DA5-6C0DF351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A6554-F5E3-46B1-AA52-3E386EFA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6AA35-B656-4867-ABAA-1383287B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9750"/>
            <a:ext cx="3524250" cy="3905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2A258-4454-4D9C-B9CC-02E47119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메뉴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0A666-D1B7-4FB6-A0CA-D962BA93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파일 → 폴더 열기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FDECB4-6EC6-4151-BE72-AEE07E26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52775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3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B86D0-9626-4B94-8977-EEE0EF05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290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확인할 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A02551-D203-43C6-B7F4-638AFF11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862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왼쪽 탐색기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49E3F-5628-4DF7-9B16-16F7C266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101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6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OpenCode가 허용된 폴더 안의 파일을 함께 보게 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F8AB2E-E505-4BFB-95F4-E46B7FD1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02-1 · 9쪽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54d4396699490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33400" y="1822847"/>
            <a:ext cx="6896100" cy="3879056"/>
          </a:xfrm>
          <a:prstGeom xmlns:a="http://schemas.openxmlformats.org/drawingml/2006/main" prst="roundRect">
            <a:avLst>
              <a:gd name="adj" fmla="val 2947"/>
            </a:avLst>
          </a:prstGeom>
        </p:spPr>
      </p:pic>
    </p:spTree>
    <p:extLst>
      <p:ext uri="{BB962C8B-B14F-4D97-AF65-F5344CB8AC3E}">
        <p14:creationId xmlns:p14="http://schemas.microsoft.com/office/powerpoint/2010/main" val="138287180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630FD0-91C2-461A-A67E-CA35153B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BB741E-D9B5-4C27-BAD6-2AD845A1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0F06DC-980E-4579-9F1B-EA9465A9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7D43B3-AB8A-4E7B-A72B-4331A4AC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VS Code 안에서 OpenCode를 시작합니다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867449-9915-4DD9-96F0-D411849D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037A3F-767A-44D6-912E-4C4436DB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BD25C3-F908-4B9D-9836-D9525700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A88161-E2FF-4391-BFCE-A1A45ABE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DBB7E7-8C3C-4AB6-969C-CBFE171C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F7C6AF-ECAB-4CCD-93DD-D1657B88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폴더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FFD94B-DEAB-4A71-BB7B-B0846D44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탐색기에 week02가 보이는지 확인합니다.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EF2E0F-2F55-467F-B0A0-1B2DE17A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9525">
            <a:solidFill>
              <a:srgbClr val="FF5C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B8F367-BE1D-4CA1-AD11-49C86095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5C00"/>
          </a:solidFill>
          <a:ln xmlns:a="http://schemas.openxmlformats.org/drawingml/2006/main" w="9525">
            <a:solidFill>
              <a:srgbClr val="FF5C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8A0322-7BE8-434B-9972-737C4137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D7E949-0275-424B-A17B-F44BB591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터미널 열기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80AD5B-4756-4D7C-ADB7-118D379B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터미널 → 새 터미널을 누릅니다.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EC9B57-5DEF-4FA7-A333-808A986A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CF1800-CA1E-4B9C-AEA7-BB198289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F684C1-D98C-42AA-8B34-5AAA2477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6DB609-8345-46BC-B54F-1567C416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opencode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613D53-FB95-4807-9A99-F8499828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교과서를 보고 한 줄을 입력합니다.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780D43-3E08-42E2-9849-813A4161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10782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0E7C86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0E7C86"/>
                </a:solidFill>
                <a:latin typeface="IBM Plex Sans KR"/>
                <a:ea typeface="IBM Plex Sans KR"/>
                <a:cs typeface="IBM Plex Sans KR"/>
              </a:rPr>
              <a:t>검은 화면이지만, 이제부터는 AI 채팅처럼 자연어로 대화합니다.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FD20AD-6134-4338-9212-664B0FED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02-1 · 9쪽</a:t>
            </a:r>
          </a:p>
        </p:txBody>
      </p:sp>
    </p:spTree>
    <p:extLst>
      <p:ext uri="{BB962C8B-B14F-4D97-AF65-F5344CB8AC3E}">
        <p14:creationId xmlns:p14="http://schemas.microsoft.com/office/powerpoint/2010/main" val="79777665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24D15D-8981-4337-BE99-1B4E9AC7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36CD2-85D2-4E63-9024-BCB9A3F5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E1618-E5DC-48D3-980C-0389DB1D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31C33-F7FA-4D44-9E64-9CF89EED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첫 요청은 파일을 바꾸지 않고 읽기만 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A266FE-AF0D-40BC-8DA5-6C0DF351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A6554-F5E3-46B1-AA52-3E386EFA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6AA35-B656-4867-ABAA-1383287B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9750"/>
            <a:ext cx="3524250" cy="3905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2A258-4454-4D9C-B9CC-02E47119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요청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0A666-D1B7-4FB6-A0CA-D962BA93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91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폴더 이름과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파일 수만 알려 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FDECB4-6EC6-4151-BE72-AEE07E26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52775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3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B86D0-9626-4B94-8977-EEE0EF05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290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A02551-D203-43C6-B7F4-638AFF11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862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실제 파일은 그대로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49E3F-5628-4DF7-9B16-16F7C266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101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아래는 AI 대화, 위는 실제 파일입니다.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F8AB2E-E505-4BFB-95F4-E46B7FD1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02-1 · 9쪽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2683e9a01f43d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33400" y="1822847"/>
            <a:ext cx="6896100" cy="3879056"/>
          </a:xfrm>
          <a:prstGeom xmlns:a="http://schemas.openxmlformats.org/drawingml/2006/main" prst="roundRect">
            <a:avLst>
              <a:gd name="adj" fmla="val 2947"/>
            </a:avLst>
          </a:prstGeom>
        </p:spPr>
      </p:pic>
    </p:spTree>
    <p:extLst>
      <p:ext uri="{BB962C8B-B14F-4D97-AF65-F5344CB8AC3E}">
        <p14:creationId xmlns:p14="http://schemas.microsoft.com/office/powerpoint/2010/main" val="138287180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630FD0-91C2-461A-A67E-CA35153B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BB741E-D9B5-4C27-BAD6-2AD845A1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0F06DC-980E-4579-9F1B-EA9465A9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7D43B3-AB8A-4E7B-A72B-4331A4AC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첫 대화 전에 세 가지를 지킵니다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867449-9915-4DD9-96F0-D411849D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037A3F-767A-44D6-912E-4C4436DB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BD25C3-F908-4B9D-9836-D9525700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A88161-E2FF-4391-BFCE-A1A45ABE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DBB7E7-8C3C-4AB6-969C-CBFE171C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F7C6AF-ECAB-4CCD-93DD-D1657B88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개인정보 금지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FFD94B-DEAB-4A71-BB7B-B0846D44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이름·전화번호·주소 같은 정보를 넣지 않습니다.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EF2E0F-2F55-467F-B0A0-1B2DE17A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9525">
            <a:solidFill>
              <a:srgbClr val="FF5C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B8F367-BE1D-4CA1-AD11-49C86095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5C00"/>
          </a:solidFill>
          <a:ln xmlns:a="http://schemas.openxmlformats.org/drawingml/2006/main" w="9525">
            <a:solidFill>
              <a:srgbClr val="FF5C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8A0322-7BE8-434B-9972-737C4137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D7E949-0275-424B-A17B-F44BB591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비밀정보 금지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80AD5B-4756-4D7C-ADB7-118D379B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비밀번호·API 키·결제정보를 넣지 않습니다.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EC9B57-5DEF-4FA7-A333-808A986A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CF1800-CA1E-4B9C-AEA7-BB198289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F684C1-D98C-42AA-8B34-5AAA2477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6DB609-8345-46BC-B54F-1567C416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실제 파일 확인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613D53-FB95-4807-9A99-F8499828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AI 답보다 만들어진 파일과 결과를 봅니다.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780D43-3E08-42E2-9849-813A4161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10782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0E7C86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0E7C86"/>
                </a:solidFill>
                <a:latin typeface="IBM Plex Sans KR"/>
                <a:ea typeface="IBM Plex Sans KR"/>
                <a:cs typeface="IBM Plex Sans KR"/>
              </a:rPr>
              <a:t>AI가 도와도, 무엇을 요청하고 무엇을 제출할지는 사람이 책임집니다.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FD20AD-6134-4338-9212-664B0FED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02-1 · 9쪽</a:t>
            </a:r>
          </a:p>
        </p:txBody>
      </p:sp>
    </p:spTree>
    <p:extLst>
      <p:ext uri="{BB962C8B-B14F-4D97-AF65-F5344CB8AC3E}">
        <p14:creationId xmlns:p14="http://schemas.microsoft.com/office/powerpoint/2010/main" val="79777665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3D84A4-768F-472D-9848-F5AB664A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C66864-8A40-45AF-9B4C-98FC1B8A6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BFBD8F-39FD-442E-8878-DE6416D5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FE2401-6019-4F48-A131-23C632F5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도구 준비가 끝나면 다음 행동으로 넘어갑니다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D3612F-9EF3-486E-8E80-CC954EF3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FBC44F-BF50-4A05-96DE-150B9C87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5A9CDE-9344-4424-824E-46171BD6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85950"/>
            <a:ext cx="104394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2F6555-3F47-4856-A3A9-EA18FFBD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19325"/>
            <a:ext cx="986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2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설치 개수보다 역할과 다음 행동을 확인합니다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11DF65-3627-41F2-A074-6910C173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99085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표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9734E0-D545-4AC4-8C0C-13AB0F51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57525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9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B7861F-72F7-46EB-8A6D-7A84361D6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9908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AI 요청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2B180A-8939-46E1-AA66-C6CE2A3C7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057525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9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08B9CC-8A07-4804-BB79-691A20A9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9908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코드 실행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B319C8-991F-4849-9638-58791227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057525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9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951057-987C-4730-A3B5-24BA4758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9908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결과 비교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B1EA09-0954-4D6C-8A82-74650CD0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81450"/>
            <a:ext cx="914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C9CDD2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025" b="1">
                <a:solidFill>
                  <a:srgbClr val="C9CDD2"/>
                </a:solidFill>
                <a:latin typeface="IBM Plex Sans KR"/>
                <a:ea typeface="IBM Plex Sans KR"/>
                <a:cs typeface="IBM Plex Sans KR"/>
              </a:rPr>
              <a:t>도구 준비 → 숫자와 변수 → 비교와 자료구조 → 그래프 → 표 데이터 → 수행평가 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2D0CFB-923C-4C1E-9DE2-01DCC0E9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673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650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다음 차시: 준비된 Python 파일을 읽고 숫자·글자·변수·계산을 확인합니다.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DF9A22-2C31-41EA-B269-AD14C918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02-1 · 10쪽</a:t>
            </a:r>
          </a:p>
        </p:txBody>
      </p:sp>
    </p:spTree>
    <p:extLst>
      <p:ext uri="{BB962C8B-B14F-4D97-AF65-F5344CB8AC3E}">
        <p14:creationId xmlns:p14="http://schemas.microsoft.com/office/powerpoint/2010/main" val="18793925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2026-08-30T14:44:23.7620000Z</dcterms:created>
  <dcterms:modified xsi:type="dcterms:W3CDTF">2026-08-30T14:44:23.7620000Z</dcterms:modified>
</coreProperties>
</file>