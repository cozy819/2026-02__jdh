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8b197dcbba4504" /><Relationship Type="http://schemas.openxmlformats.org/officeDocument/2006/relationships/extended-properties" Target="/docProps/app.xml" Id="Rbf765ecb23434bf8" /><Relationship Type="http://schemas.openxmlformats.org/officeDocument/2006/relationships/officeDocument" Target="/ppt/presentation.xml" Id="R717894c9d63641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420f2d365842f4"/>
  </p:sldMasterIdLst>
  <p:notesMasterIdLst>
    <p:notesMasterId xmlns:r="http://schemas.openxmlformats.org/officeDocument/2006/relationships" r:id="R29730365aa524b5f"/>
  </p:notesMasterIdLst>
  <p:sldIdLst>
    <p:sldId xmlns:r="http://schemas.openxmlformats.org/officeDocument/2006/relationships" id="256" r:id="R87e65e747871463b"/>
    <p:sldId xmlns:r="http://schemas.openxmlformats.org/officeDocument/2006/relationships" id="257" r:id="Rb0c7d8efe3a7453a"/>
    <p:sldId xmlns:r="http://schemas.openxmlformats.org/officeDocument/2006/relationships" id="258" r:id="R3eb00db996ab4626"/>
    <p:sldId xmlns:r="http://schemas.openxmlformats.org/officeDocument/2006/relationships" id="259" r:id="Rd796c9202fd0434a"/>
    <p:sldId xmlns:r="http://schemas.openxmlformats.org/officeDocument/2006/relationships" id="260" r:id="Re29a13527e71451b"/>
    <p:sldId xmlns:r="http://schemas.openxmlformats.org/officeDocument/2006/relationships" id="261" r:id="Ra19e1ff31bc747e6"/>
    <p:sldId xmlns:r="http://schemas.openxmlformats.org/officeDocument/2006/relationships" id="262" r:id="R40e815b7c34e4238"/>
    <p:sldId xmlns:r="http://schemas.openxmlformats.org/officeDocument/2006/relationships" id="263" r:id="R71778ae0ef1445e8"/>
    <p:sldId xmlns:r="http://schemas.openxmlformats.org/officeDocument/2006/relationships" id="264" r:id="R3f7759d427d9416e"/>
    <p:sldId xmlns:r="http://schemas.openxmlformats.org/officeDocument/2006/relationships" id="265" r:id="Ra186aca53fd94e59"/>
    <p:sldId xmlns:r="http://schemas.openxmlformats.org/officeDocument/2006/relationships" id="266" r:id="Ra5ac3fbc7eec45da"/>
    <p:sldId xmlns:r="http://schemas.openxmlformats.org/officeDocument/2006/relationships" id="267" r:id="Ra9a0cbf46277419a"/>
    <p:sldId xmlns:r="http://schemas.openxmlformats.org/officeDocument/2006/relationships" id="268" r:id="Rdbfefcef08e24cb8"/>
    <p:sldId xmlns:r="http://schemas.openxmlformats.org/officeDocument/2006/relationships" id="269" r:id="Rcb1d5af7c32e42da"/>
    <p:sldId xmlns:r="http://schemas.openxmlformats.org/officeDocument/2006/relationships" id="270" r:id="Recebd7fb659044f6"/>
    <p:sldId xmlns:r="http://schemas.openxmlformats.org/officeDocument/2006/relationships" id="271" r:id="R8eea5283d5b34493"/>
    <p:sldId xmlns:r="http://schemas.openxmlformats.org/officeDocument/2006/relationships" id="272" r:id="R641402eb9ef1406a"/>
    <p:sldId xmlns:r="http://schemas.openxmlformats.org/officeDocument/2006/relationships" id="273" r:id="R2b25bd119bc84c59"/>
    <p:sldId xmlns:r="http://schemas.openxmlformats.org/officeDocument/2006/relationships" id="274" r:id="Rcdd8ef0151614c33"/>
    <p:sldId xmlns:r="http://schemas.openxmlformats.org/officeDocument/2006/relationships" id="275" r:id="R4a838e3bc6934d1c"/>
    <p:sldId xmlns:r="http://schemas.openxmlformats.org/officeDocument/2006/relationships" id="276" r:id="R368dde7fdd8a4591"/>
    <p:sldId xmlns:r="http://schemas.openxmlformats.org/officeDocument/2006/relationships" id="277" r:id="R1b4a86635f534096"/>
    <p:sldId xmlns:r="http://schemas.openxmlformats.org/officeDocument/2006/relationships" id="278" r:id="R283384de76894283"/>
    <p:sldId xmlns:r="http://schemas.openxmlformats.org/officeDocument/2006/relationships" id="279" r:id="R861edda3b21b463a"/>
    <p:sldId xmlns:r="http://schemas.openxmlformats.org/officeDocument/2006/relationships" id="280" r:id="R8c190be0479749c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640cfa5c0a4974" /><Relationship Type="http://schemas.openxmlformats.org/officeDocument/2006/relationships/slideMaster" Target="/ppt/slideMasters/slideMaster1.xml" Id="Rea420f2d365842f4" /><Relationship Type="http://schemas.openxmlformats.org/officeDocument/2006/relationships/notesMaster" Target="/ppt/notesMasters/notesMaster1.xml" Id="R29730365aa524b5f" /><Relationship Type="http://schemas.openxmlformats.org/officeDocument/2006/relationships/presProps" Target="/ppt/presProps.xml" Id="Re8a5c9dea5244353" /><Relationship Type="http://schemas.openxmlformats.org/officeDocument/2006/relationships/tableStyles" Target="/ppt/tableStyles.xml" Id="R298f18ed35e640f4" /><Relationship Type="http://schemas.openxmlformats.org/officeDocument/2006/relationships/slide" Target="/ppt/slides/slide1.xml" Id="R87e65e747871463b" /><Relationship Type="http://schemas.openxmlformats.org/officeDocument/2006/relationships/slide" Target="/ppt/slides/slide2.xml" Id="Rb0c7d8efe3a7453a" /><Relationship Type="http://schemas.openxmlformats.org/officeDocument/2006/relationships/slide" Target="/ppt/slides/slide3.xml" Id="R3eb00db996ab4626" /><Relationship Type="http://schemas.openxmlformats.org/officeDocument/2006/relationships/slide" Target="/ppt/slides/slide4.xml" Id="Rd796c9202fd0434a" /><Relationship Type="http://schemas.openxmlformats.org/officeDocument/2006/relationships/slide" Target="/ppt/slides/slide5.xml" Id="Re29a13527e71451b" /><Relationship Type="http://schemas.openxmlformats.org/officeDocument/2006/relationships/slide" Target="/ppt/slides/slide6.xml" Id="Ra19e1ff31bc747e6" /><Relationship Type="http://schemas.openxmlformats.org/officeDocument/2006/relationships/slide" Target="/ppt/slides/slide7.xml" Id="R40e815b7c34e4238" /><Relationship Type="http://schemas.openxmlformats.org/officeDocument/2006/relationships/slide" Target="/ppt/slides/slide8.xml" Id="R71778ae0ef1445e8" /><Relationship Type="http://schemas.openxmlformats.org/officeDocument/2006/relationships/slide" Target="/ppt/slides/slide9.xml" Id="R3f7759d427d9416e" /><Relationship Type="http://schemas.openxmlformats.org/officeDocument/2006/relationships/slide" Target="/ppt/slides/slide10.xml" Id="Ra186aca53fd94e59" /><Relationship Type="http://schemas.openxmlformats.org/officeDocument/2006/relationships/slide" Target="/ppt/slides/slide11.xml" Id="Ra5ac3fbc7eec45da" /><Relationship Type="http://schemas.openxmlformats.org/officeDocument/2006/relationships/slide" Target="/ppt/slides/slide12.xml" Id="Ra9a0cbf46277419a" /><Relationship Type="http://schemas.openxmlformats.org/officeDocument/2006/relationships/slide" Target="/ppt/slides/slide13.xml" Id="Rdbfefcef08e24cb8" /><Relationship Type="http://schemas.openxmlformats.org/officeDocument/2006/relationships/slide" Target="/ppt/slides/slide14.xml" Id="Rcb1d5af7c32e42da" /><Relationship Type="http://schemas.openxmlformats.org/officeDocument/2006/relationships/slide" Target="/ppt/slides/slide15.xml" Id="Recebd7fb659044f6" /><Relationship Type="http://schemas.openxmlformats.org/officeDocument/2006/relationships/slide" Target="/ppt/slides/slide16.xml" Id="R8eea5283d5b34493" /><Relationship Type="http://schemas.openxmlformats.org/officeDocument/2006/relationships/slide" Target="/ppt/slides/slide17.xml" Id="R641402eb9ef1406a" /><Relationship Type="http://schemas.openxmlformats.org/officeDocument/2006/relationships/slide" Target="/ppt/slides/slide18.xml" Id="R2b25bd119bc84c59" /><Relationship Type="http://schemas.openxmlformats.org/officeDocument/2006/relationships/slide" Target="/ppt/slides/slide19.xml" Id="Rcdd8ef0151614c33" /><Relationship Type="http://schemas.openxmlformats.org/officeDocument/2006/relationships/slide" Target="/ppt/slides/slide20.xml" Id="R4a838e3bc6934d1c" /><Relationship Type="http://schemas.openxmlformats.org/officeDocument/2006/relationships/slide" Target="/ppt/slides/slide21.xml" Id="R368dde7fdd8a4591" /><Relationship Type="http://schemas.openxmlformats.org/officeDocument/2006/relationships/slide" Target="/ppt/slides/slide22.xml" Id="R1b4a86635f534096" /><Relationship Type="http://schemas.openxmlformats.org/officeDocument/2006/relationships/slide" Target="/ppt/slides/slide23.xml" Id="R283384de76894283" /><Relationship Type="http://schemas.openxmlformats.org/officeDocument/2006/relationships/slide" Target="/ppt/slides/slide24.xml" Id="R861edda3b21b463a" /><Relationship Type="http://schemas.openxmlformats.org/officeDocument/2006/relationships/slide" Target="/ppt/slides/slide25.xml" Id="R8c190be0479749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6535f191b2d49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add1e0459748f1" /><Relationship Type="http://schemas.openxmlformats.org/officeDocument/2006/relationships/notesMaster" Target="/ppt/notesMasters/notesMaster1.xml" Id="R3878c443116e48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220c5c48ec447f" /><Relationship Type="http://schemas.openxmlformats.org/officeDocument/2006/relationships/notesMaster" Target="/ppt/notesMasters/notesMaster1.xml" Id="R0648327d1c8344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2269f38ee94c22" /><Relationship Type="http://schemas.openxmlformats.org/officeDocument/2006/relationships/notesMaster" Target="/ppt/notesMasters/notesMaster1.xml" Id="R795e3da293d743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69ef2da431482f" /><Relationship Type="http://schemas.openxmlformats.org/officeDocument/2006/relationships/notesMaster" Target="/ppt/notesMasters/notesMaster1.xml" Id="R0915fd1a2eff47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ad787eff794e39" /><Relationship Type="http://schemas.openxmlformats.org/officeDocument/2006/relationships/notesMaster" Target="/ppt/notesMasters/notesMaster1.xml" Id="R9c4cbe48ac5a4c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448ce76cb747eb" /><Relationship Type="http://schemas.openxmlformats.org/officeDocument/2006/relationships/notesMaster" Target="/ppt/notesMasters/notesMaster1.xml" Id="R563a3dd1e0c94b4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f9e7c816aa470b" /><Relationship Type="http://schemas.openxmlformats.org/officeDocument/2006/relationships/notesMaster" Target="/ppt/notesMasters/notesMaster1.xml" Id="Rcce63f5f55ee40b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9df5cfbe50e4007" /><Relationship Type="http://schemas.openxmlformats.org/officeDocument/2006/relationships/notesMaster" Target="/ppt/notesMasters/notesMaster1.xml" Id="Re3d059cbfa124ed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36205746b6f4e70" /><Relationship Type="http://schemas.openxmlformats.org/officeDocument/2006/relationships/notesMaster" Target="/ppt/notesMasters/notesMaster1.xml" Id="R9db5cafdecfa45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34d0e9ca33d451f" /><Relationship Type="http://schemas.openxmlformats.org/officeDocument/2006/relationships/notesMaster" Target="/ppt/notesMasters/notesMaster1.xml" Id="R2ee2a53d3be4479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b1d8e4b0c7f47a6" /><Relationship Type="http://schemas.openxmlformats.org/officeDocument/2006/relationships/notesMaster" Target="/ppt/notesMasters/notesMaster1.xml" Id="R94a557a33f2a435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dea29e372db4fe4" /><Relationship Type="http://schemas.openxmlformats.org/officeDocument/2006/relationships/notesMaster" Target="/ppt/notesMasters/notesMaster1.xml" Id="Red37ed1213a94ee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8ea8cc5fb0b48c8" /><Relationship Type="http://schemas.openxmlformats.org/officeDocument/2006/relationships/notesMaster" Target="/ppt/notesMasters/notesMaster1.xml" Id="R38282990f35547f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2256c7d52e94921" /><Relationship Type="http://schemas.openxmlformats.org/officeDocument/2006/relationships/notesMaster" Target="/ppt/notesMasters/notesMaster1.xml" Id="R18d16fa9448c4b8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48fc41b441f47b2" /><Relationship Type="http://schemas.openxmlformats.org/officeDocument/2006/relationships/notesMaster" Target="/ppt/notesMasters/notesMaster1.xml" Id="R69eb3132880246d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ad71355d21245b8" /><Relationship Type="http://schemas.openxmlformats.org/officeDocument/2006/relationships/notesMaster" Target="/ppt/notesMasters/notesMaster1.xml" Id="R3060d75733ba495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d7cec5880c74ee6" /><Relationship Type="http://schemas.openxmlformats.org/officeDocument/2006/relationships/notesMaster" Target="/ppt/notesMasters/notesMaster1.xml" Id="R60bf7b0569b2498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108354178d842ea" /><Relationship Type="http://schemas.openxmlformats.org/officeDocument/2006/relationships/notesMaster" Target="/ppt/notesMasters/notesMaster1.xml" Id="Rcbc60d643a4b452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6cd829026b44d55" /><Relationship Type="http://schemas.openxmlformats.org/officeDocument/2006/relationships/notesMaster" Target="/ppt/notesMasters/notesMaster1.xml" Id="Re98c8d92c2d44e2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64134cd933141f8" /><Relationship Type="http://schemas.openxmlformats.org/officeDocument/2006/relationships/notesMaster" Target="/ppt/notesMasters/notesMaster1.xml" Id="R3aaf1671d70745b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dabf659e043498e" /><Relationship Type="http://schemas.openxmlformats.org/officeDocument/2006/relationships/notesMaster" Target="/ppt/notesMasters/notesMaster1.xml" Id="R504593ed60e1414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e65b7b434534881" /><Relationship Type="http://schemas.openxmlformats.org/officeDocument/2006/relationships/notesMaster" Target="/ppt/notesMasters/notesMaster1.xml" Id="R8f835cb2013c428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c4ba836066c4ee7" /><Relationship Type="http://schemas.openxmlformats.org/officeDocument/2006/relationships/notesMaster" Target="/ppt/notesMasters/notesMaster1.xml" Id="Rfa8b629d10af4be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d90bfcdabb04598" /><Relationship Type="http://schemas.openxmlformats.org/officeDocument/2006/relationships/notesMaster" Target="/ppt/notesMasters/notesMaster1.xml" Id="Re2275f55aba24eb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409498f81eb4601" /><Relationship Type="http://schemas.openxmlformats.org/officeDocument/2006/relationships/notesMaster" Target="/ppt/notesMasters/notesMaster1.xml" Id="Ra6d0330d11a54c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[45분 운영] 0~5분 실제 10만 행 결과, 5~10분 수행평가 흐름과 도구 역할, 10~20분 Python, 20~30분 Node.js와 OpenCode, 30~41분 VS Code·연결, 41~45분 첫 읽기 요청과 확인.</a:t>
            </a:r>
          </a:p>
          <a:p xmlns:a="http://schemas.openxmlformats.org/drawingml/2006/main">
            <a:r>
              <a:t>설치된 학생은 재설치하지 않는다. 설치 오류는 공동강사가 개별 처리하고 전체 설명은 다음 슬라이드로 진행한다.</a:t>
            </a:r>
          </a:p>
          <a:p xmlns:a="http://schemas.openxmlformats.org/drawingml/2006/main">
            <a:r>
              <a:t>첫 문장: 오늘은 설치 목록부터 외우지 않습니다. 먼저 우리가 이 도구로 무엇을 할 수 있는지 보겠습니다.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아직 학생이 파일을 열거나 실행하는 단계가 아니다. Part 1에서 보게 될 결과를 먼저 예고한다.</a:t>
            </a:r>
          </a:p>
          <a:p xmlns:a="http://schemas.openxmlformats.org/drawingml/2006/main">
            <a:r>
              <a:t>왼쪽은 원본 CSV의 많은 행, 오른쪽은 같은 데이터를 코드로 확인한 화면이다.</a:t>
            </a:r>
          </a:p>
          <a:p xmlns:a="http://schemas.openxmlformats.org/drawingml/2006/main">
            <a:r>
              <a:t>원본을 모두 읽지 않아도 행·열 개수와 빈 값을 짧게 확인할 수 있다는 점만 짚는다.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교과서 02-1 2쪽의 ②와 ③을 나란히 보여 준다.</a:t>
            </a:r>
          </a:p>
          <a:p xmlns:a="http://schemas.openxmlformats.org/drawingml/2006/main">
            <a:r>
              <a:t>왼쪽은 Notebook 셀 아래에 바로 나온 그래프, 오른쪽은 같은 결과를 발표용 한 장으로 다듬은 모습이다.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AI가 그래프를 만들었다고 끝내지 않는다.</a:t>
            </a:r>
          </a:p>
          <a:p xmlns:a="http://schemas.openxmlformats.org/drawingml/2006/main">
            <a:r>
              <a:t>요구한 숫자, 제목, 축이 올바르게 표시되었는지를 확인하는 단계임을 강조한다.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OpenCode는 AI 자체가 아니다. 학생의 요청을 AI 모델에게 전달하고, 파일과 도구 사용을 연결하는 에이전트 프로그램이다.</a:t>
            </a:r>
          </a:p>
          <a:p xmlns:a="http://schemas.openxmlformats.org/drawingml/2006/main">
            <a:r>
              <a:t>에이전트라는 용어는 '요청을 받아 AI·파일·도구를 연결해 작업을 진행하는 프로그램'이라고 풀어 읽는다.</a:t>
            </a:r>
          </a:p>
          <a:p xmlns:a="http://schemas.openxmlformats.org/drawingml/2006/main">
            <a:r>
              <a:t>OpenCode와 AI 모델이 직접 연결되고, OpenCode가 Python 코드와도 연결되는 그림으로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학생이 주소창의 python.org를 먼저 확인하게 한다. 설치 버튼보다 공식 사이트 식별이 먼저다.</a:t>
            </a:r>
          </a:p>
          <a:p xmlns:a="http://schemas.openxmlformats.org/drawingml/2006/main">
            <a:r>
              <a:t>학교 PC가 64비트 Windows라는 전제로 교과서와 같은 항목을 찾는다. 화면이 달라졌다면 버전을 임의로 고르지 말고 손을 들게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https://www.python.org/downloads/windows/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학생이 명령을 외워서 치게 하지 않는다. 교과서나 PPT를 보고 정확히 입력하게 한다.</a:t>
            </a:r>
          </a:p>
          <a:p xmlns:a="http://schemas.openxmlformats.org/drawingml/2006/main">
            <a:r>
              <a:t>대본: --version은 설치된 너의 판 번호를 알려 달라는 뜻입니다. 번호가 보이면 Python이 우리 질문에 답한 겁니다.</a:t>
            </a:r>
          </a:p>
          <a:p xmlns:a="http://schemas.openxmlformats.org/drawingml/2006/main">
            <a:r>
              <a:t>명령을 찾지 못하면 오타를 한 번 확인하고, PowerShell을 완전히 닫아 새로 연 뒤 다시 시도한다.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GUI는 버튼과 메뉴, CLI는 글자로 명령하고 응답을 읽는 방식이라고만 구분한다.</a:t>
            </a:r>
          </a:p>
          <a:p xmlns:a="http://schemas.openxmlformats.org/drawingml/2006/main">
            <a:r>
              <a:t>OpenCode의 CLI 화면도 실제 사용에서는 채팅처럼 글로 요청하고 답을 읽는다는 점으로 부담을 낮춘다.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PowerShell에 node --version, npm --version, opencode --version을 차례로 입력한다.</a:t>
            </a:r>
          </a:p>
          <a:p xmlns:a="http://schemas.openxmlformats.org/drawingml/2006/main">
            <a:r>
              <a:t>세 버전이 모두 보이면 Node.js와 OpenCode 설치 슬라이드를 건너뛴다. node 또는 npm이 없으면 Node.js부터, opencode만 없으면 OpenCode만 설치한다.</a:t>
            </a:r>
          </a:p>
          <a:p xmlns:a="http://schemas.openxmlformats.org/drawingml/2006/main">
            <a:r>
              <a:t>npm은 Node.js와 함께 오는 설치 도구라고만 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asset: 교과서_배포/assets/img/02-1-terminal-three-checks.png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이미 버전 번호가 보인 학생은 옆 사람 컴퓨터를 대신 조작하지 않는다. 교과서 3쪽의 도구 관계를 다시 읽게 한다.</a:t>
            </a:r>
          </a:p>
          <a:p xmlns:a="http://schemas.openxmlformats.org/drawingml/2006/main">
            <a:r>
              <a:t>설치가 필요한 학생만 nodejs.org의 LTS와 Windows x64 설치 파일을 선택한다.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https://nodejs.org/en/download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Node.js 설치 중 PATH가 추가되어도 이미 열려 있던 PowerShell은 그 변경을 바로 읽지 못할 수 있다.</a:t>
            </a:r>
          </a:p>
          <a:p xmlns:a="http://schemas.openxmlformats.org/drawingml/2006/main">
            <a:r>
              <a:t>새 PowerShell을 여는 이유는 최신 경로를 다시 읽기 위해서다. 버전 번호 끝자리는 학생마다 달라도 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OpenCode는 허용한 프로젝트 폴더 안의 파일을 읽고 만들거나 고치는 AI 도구라고 설명한다.</a:t>
            </a:r>
          </a:p>
          <a:p xmlns:a="http://schemas.openxmlformats.org/drawingml/2006/main">
            <a:r>
              <a:t>설치 명령은 공식 안내 또는 교과서에서 복사한다. 학생이 검색 결과의 임의 블로그 명령을 사용하지 않게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https://opencode.ai/docs/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명령을 실행한 직후 화면이 빠르게 움직여도 정상이라고 미리 말한다. 끝났는지는 다시 입력할 수 있는 줄이 나타나는지로 본다.</a:t>
            </a:r>
          </a:p>
          <a:p xmlns:a="http://schemas.openxmlformats.org/drawingml/2006/main">
            <a:r>
              <a:t>빨간 오류가 보이면 연속해서 명령을 다시 실행하지 말고 손을 들게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OpenCode 실행 전에 버전 번호가 보이는지만 확인한다. 번호가 선생님과 완전히 같을 필요는 없다.</a:t>
            </a:r>
          </a:p>
          <a:p xmlns:a="http://schemas.openxmlformats.org/drawingml/2006/main">
            <a:r>
              <a:t>연결과 모델 선택은 sample 폴더를 VS Code로 연 뒤 진행한다. 명령을 찾지 못하면 PowerShell을 완전히 닫고 새로 열어 다시 확인한다.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정상 설치된 학생은 이 슬라이드를 바로 건너뛴다.</a:t>
            </a:r>
          </a:p>
          <a:p xmlns:a="http://schemas.openxmlformats.org/drawingml/2006/main">
            <a:r>
              <a:t>CurrentUser는 현재 사용자에게만 적용되고, RemoteSigned는 인터넷에서 받은 스크립트에는 서명을 요구하면서 로컬 스크립트 실행은 허용한다.</a:t>
            </a:r>
          </a:p>
          <a:p xmlns:a="http://schemas.openxmlformats.org/drawingml/2006/main">
            <a:r>
              <a:t>같은 오류가 계속되면 보안 설정을 더 낮추지 않고 교사가 화면을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https://learn.microsoft.com/en-us/powershell/module/microsoft.powershell.security/set-executionpolicy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Windows 시작 메뉴에서 Visual Studio Code를 먼저 찾는다. 실행되면 재설치하지 않는다.</a:t>
            </a:r>
          </a:p>
          <a:p xmlns:a="http://schemas.openxmlformats.org/drawingml/2006/main">
            <a:r>
              <a:t>없는 학생만 code.visualstudio.com의 Windows User Installer x64를 사용한다. Add to PATH가 보이면 체크한다.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https://code.visualstudio.com/download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sample 폴더가 열린 화면이다. 1. 탐색기는 폴더와 파일이 보이는 영역이고, 4. 확장은 왼쪽 활동 표시줄의 네모 네 개 아이콘이다.</a:t>
            </a:r>
          </a:p>
          <a:p xmlns:a="http://schemas.openxmlformats.org/drawingml/2006/main">
            <a:r>
              <a:t>두 위치를 혼동하지 않도록 화면 속 번호와 오른쪽 범례를 함께 가리킨다.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course asset: 교과서_배포/assets/img/02-1-vscode-anatomy-focus.png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검색 결과 중 Python을 선택해 상세 화면을 연 상태에서 Microsoft 게시자와 설치 버튼을 함께 확인한다.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검색 결과만 보여 주지 않는다. Korean Language Pack 상세 페이지를 선택한 상태에서 이름, Microsoft 게시자, Install 버튼을 함께 확인한다.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VS Code의 상단 메뉴에서 터미널 → 새 터미널을 눌러 입력 창을 여는 방법을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터미널이 열린 뒤 opencode를 실행하고, OpenCode 화면에서 /connect를 입력한다.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특강에서 사용한 것과 같은 OpenCode Zen 연결 절차다. opencode.ai/zen에 로그인한 뒤 왼쪽 API 키 메뉴에서 API 키 생성을 누르고 새 키를 복사한다.</a:t>
            </a:r>
          </a:p>
          <a:p xmlns:a="http://schemas.openxmlformats.org/drawingml/2006/main">
            <a:r>
              <a:t>OpenCode로 돌아와 API key라고 표시된 전용 입력칸에만 붙여넣는다. 실제 키는 화면 공유·캡처·교과서·제출물에 남기지 않는다. 카드나 결제정보가 나오면 학생은 진행하지 않고 교사에게 알린다.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special-lecture asset: imgs/12b_copy_opencode_apikey.png</a:t>
            </a:r>
          </a:p>
          <a:p xmlns:a="http://schemas.openxmlformats.org/drawingml/2006/main">
            <a:r>
              <a:t>- Local special-lecture asset: imgs/13_paste_opencode_apikey.png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특강에서 사용한 것과 같은 DeepSeek V4 Flash Free를 선택한다. /models를 입력하고 free를 검색한 뒤 이름 끝에 Free가 붙은 DeepSeek 항목을 고른다.</a:t>
            </a:r>
          </a:p>
          <a:p xmlns:a="http://schemas.openxmlformats.org/drawingml/2006/main">
            <a:r>
              <a:t>무료 모델 목록과 세부 이름은 바뀔 수 있으므로 수업 직전에 교사가 실제 목록을 확인한다. 카드나 결제정보가 필요한 항목은 선택하지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special-lecture asset: imgs/16_select_model_second.png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첫 요청 문장을 복사해 OpenCode에 붙여넣고 Enter를 누른다. 응답이 왔고 세 가지 항목으로 나뉘었는지 확인한다.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마무리 질문: Python, OpenCode, VS Code는 각각 무엇을 돕나요? 설치 여부는 무엇으로 확인했나요?</a:t>
            </a:r>
          </a:p>
          <a:p xmlns:a="http://schemas.openxmlformats.org/drawingml/2006/main">
            <a:r>
              <a:t>완전한 정의보다 역할 연결과 확인 행동을 듣는다. 남은 시간이 없으면 첫 요청은 다음 수업 시작으로 넘길 수 있지만, 제공자 연결과 결제 중단 기준은 반드시 확인한다.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69cc692d404b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102d83d6b64e5f" /><Relationship Type="http://schemas.openxmlformats.org/officeDocument/2006/relationships/slideLayout" Target="/ppt/slideLayouts/slideLayout1.xml" Id="Re8ea8fa622a242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ea8fa622a242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15bb5dabc24825" /><Relationship Type="http://schemas.openxmlformats.org/officeDocument/2006/relationships/notesSlide" Target="/ppt/notesSlides/notesSlide1.xml" Id="R47a61befdc1444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177ce49ef44c45" /><Relationship Type="http://schemas.openxmlformats.org/officeDocument/2006/relationships/image" Target="/ppt/media/image.png" Id="R4e00b03c13e5467e" /><Relationship Type="http://schemas.openxmlformats.org/officeDocument/2006/relationships/image" Target="/ppt/media/image2.png" Id="Re20f492cd8474940" /><Relationship Type="http://schemas.openxmlformats.org/officeDocument/2006/relationships/notesSlide" Target="/ppt/notesSlides/notesSlide2.xml" Id="Rb13e55268e6848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437a7f88864692" /><Relationship Type="http://schemas.openxmlformats.org/officeDocument/2006/relationships/image" Target="/ppt/media/image.jpeg" Id="R7f1b246cd3184d15" /><Relationship Type="http://schemas.openxmlformats.org/officeDocument/2006/relationships/image" Target="/ppt/media/image3.png" Id="R0573e48952be4f62" /><Relationship Type="http://schemas.openxmlformats.org/officeDocument/2006/relationships/notesSlide" Target="/ppt/notesSlides/notesSlide3.xml" Id="R171452ee1b6245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69051e7ffd4f19" /><Relationship Type="http://schemas.openxmlformats.org/officeDocument/2006/relationships/notesSlide" Target="/ppt/notesSlides/notesSlide4.xml" Id="Rc4cea4e3cc1b4a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4aef2cbbbe4626" /><Relationship Type="http://schemas.openxmlformats.org/officeDocument/2006/relationships/notesSlide" Target="/ppt/notesSlides/notesSlide5.xml" Id="R2dd60503964444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57e624892a4a3c" /><Relationship Type="http://schemas.openxmlformats.org/officeDocument/2006/relationships/image" Target="/ppt/media/image2.jpeg" Id="R073bf49189ce4d9e" /><Relationship Type="http://schemas.openxmlformats.org/officeDocument/2006/relationships/notesSlide" Target="/ppt/notesSlides/notesSlide6.xml" Id="R9a7623a135324f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88388ea40840ff" /><Relationship Type="http://schemas.openxmlformats.org/officeDocument/2006/relationships/image" Target="/ppt/media/image4.png" Id="R89c1e3d2981e4398" /><Relationship Type="http://schemas.openxmlformats.org/officeDocument/2006/relationships/notesSlide" Target="/ppt/notesSlides/notesSlide7.xml" Id="Ra259bdbd057d455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59eeb827d44488" /><Relationship Type="http://schemas.openxmlformats.org/officeDocument/2006/relationships/notesSlide" Target="/ppt/notesSlides/notesSlide8.xml" Id="R8bea35802c5943d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f00739e4b448da" /><Relationship Type="http://schemas.openxmlformats.org/officeDocument/2006/relationships/image" Target="/ppt/media/image5.png" Id="R501e5c7722e4435f" /><Relationship Type="http://schemas.openxmlformats.org/officeDocument/2006/relationships/notesSlide" Target="/ppt/notesSlides/notesSlide9.xml" Id="R3ff15e875e21457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e709959364acb" /><Relationship Type="http://schemas.openxmlformats.org/officeDocument/2006/relationships/image" Target="/ppt/media/image3.jpeg" Id="R4d1900b458454b95" /><Relationship Type="http://schemas.openxmlformats.org/officeDocument/2006/relationships/notesSlide" Target="/ppt/notesSlides/notesSlide10.xml" Id="R31a5b5c85f9d467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a2d61b8c3e49db" /><Relationship Type="http://schemas.openxmlformats.org/officeDocument/2006/relationships/image" Target="/ppt/media/image6.png" Id="R2afd25d4d0984ed7" /><Relationship Type="http://schemas.openxmlformats.org/officeDocument/2006/relationships/notesSlide" Target="/ppt/notesSlides/notesSlide11.xml" Id="R1f1e6fb0e3324d9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2d7b6c1a474964" /><Relationship Type="http://schemas.openxmlformats.org/officeDocument/2006/relationships/image" Target="/ppt/media/image4.jpeg" Id="Ra6a35c0b10194a4b" /><Relationship Type="http://schemas.openxmlformats.org/officeDocument/2006/relationships/notesSlide" Target="/ppt/notesSlides/notesSlide12.xml" Id="Rf41cc797c67041f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1971b2a4ed4734" /><Relationship Type="http://schemas.openxmlformats.org/officeDocument/2006/relationships/image" Target="/ppt/media/image7.png" Id="Rbea99bf4ff53472e" /><Relationship Type="http://schemas.openxmlformats.org/officeDocument/2006/relationships/notesSlide" Target="/ppt/notesSlides/notesSlide13.xml" Id="Ra3ed247f3b7a4fb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6010494ed742df" /><Relationship Type="http://schemas.openxmlformats.org/officeDocument/2006/relationships/image" Target="/ppt/media/image8.png" Id="Rd5ef64f499654230" /><Relationship Type="http://schemas.openxmlformats.org/officeDocument/2006/relationships/notesSlide" Target="/ppt/notesSlides/notesSlide14.xml" Id="R7c8850efa558466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3b59915e2645c1" /><Relationship Type="http://schemas.openxmlformats.org/officeDocument/2006/relationships/notesSlide" Target="/ppt/notesSlides/notesSlide15.xml" Id="R10d7b61eb72b412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f1ec82546348f0" /><Relationship Type="http://schemas.openxmlformats.org/officeDocument/2006/relationships/image" Target="/ppt/media/image5.jpeg" Id="Rad24269de43c4d0b" /><Relationship Type="http://schemas.openxmlformats.org/officeDocument/2006/relationships/notesSlide" Target="/ppt/notesSlides/notesSlide16.xml" Id="Rc6917a21b2eb4f4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939d26905e452f" /><Relationship Type="http://schemas.openxmlformats.org/officeDocument/2006/relationships/image" Target="/ppt/media/image9.png" Id="R3df082942dbe42c6" /><Relationship Type="http://schemas.openxmlformats.org/officeDocument/2006/relationships/notesSlide" Target="/ppt/notesSlides/notesSlide17.xml" Id="R0a5d28fa46394d0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191329a5814fd4" /><Relationship Type="http://schemas.openxmlformats.org/officeDocument/2006/relationships/image" Target="/ppt/media/image10.png" Id="R055e30f1a26d4bf8" /><Relationship Type="http://schemas.openxmlformats.org/officeDocument/2006/relationships/notesSlide" Target="/ppt/notesSlides/notesSlide18.xml" Id="Rca81f5d749fd425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d135c74c9d4b55" /><Relationship Type="http://schemas.openxmlformats.org/officeDocument/2006/relationships/image" Target="/ppt/media/image6.jpeg" Id="Rd6041cd4417c4089" /><Relationship Type="http://schemas.openxmlformats.org/officeDocument/2006/relationships/notesSlide" Target="/ppt/notesSlides/notesSlide19.xml" Id="Raad6c5e0700e48d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9444e1364d4f45" /><Relationship Type="http://schemas.openxmlformats.org/officeDocument/2006/relationships/notesSlide" Target="/ppt/notesSlides/notesSlide20.xml" Id="Rc12db3ac58ee45e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b7366988a64d8b" /><Relationship Type="http://schemas.openxmlformats.org/officeDocument/2006/relationships/image" Target="/ppt/media/image11.png" Id="R3cd7fa9e0d1e4228" /><Relationship Type="http://schemas.openxmlformats.org/officeDocument/2006/relationships/notesSlide" Target="/ppt/notesSlides/notesSlide21.xml" Id="R8f2cfb14681a464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720d353f684892" /><Relationship Type="http://schemas.openxmlformats.org/officeDocument/2006/relationships/image" Target="/ppt/media/image12.png" Id="R31c6a594b93241e5" /><Relationship Type="http://schemas.openxmlformats.org/officeDocument/2006/relationships/image" Target="/ppt/media/image13.png" Id="Rbac341cf01484f2f" /><Relationship Type="http://schemas.openxmlformats.org/officeDocument/2006/relationships/notesSlide" Target="/ppt/notesSlides/notesSlide22.xml" Id="R6fe6491927d541c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d4a97421ad47ed" /><Relationship Type="http://schemas.openxmlformats.org/officeDocument/2006/relationships/image" Target="/ppt/media/image14.png" Id="Rd03d433f4e9c4d7e" /><Relationship Type="http://schemas.openxmlformats.org/officeDocument/2006/relationships/notesSlide" Target="/ppt/notesSlides/notesSlide23.xml" Id="R8837cfc2c95c4f9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17c31fd4904def" /><Relationship Type="http://schemas.openxmlformats.org/officeDocument/2006/relationships/notesSlide" Target="/ppt/notesSlides/notesSlide24.xml" Id="Red59d658dcf24e8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9877449a634fc5" /><Relationship Type="http://schemas.openxmlformats.org/officeDocument/2006/relationships/notesSlide" Target="/ppt/notesSlides/notesSlide25.xml" Id="R6fac7d0c3cff454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1D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40DFF9-EC3C-4F5E-BF94-E8D0B83C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3E31AD-7223-4479-8594-5DE00CCE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25" b="1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rPr>
              <a:t>장대현중고등학교 · 2026학년도 2학기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175CC8-30C9-492D-9F0E-E92B91B5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763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4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33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CE0391-B705-460B-B564-5014063D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71675"/>
            <a:ext cx="876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3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43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개발 도구 설치와 확인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E4FEC6-DF96-4C6F-8644-9AC67434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70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B87E46-F76C-48F5-A953-2CAA0EBE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8953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0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rPr>
              <a:t>먼저 결과를 보고, 코딩에 필요한 도구를 하나씩 준비합니다.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D87667-CD22-4E15-BC83-CF37074E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AEB3BA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AEB3BA"/>
                </a:solidFill>
                <a:latin typeface="IBM Plex Sans KR"/>
                <a:ea typeface="IBM Plex Sans KR"/>
                <a:cs typeface="IBM Plex Sans KR"/>
              </a:rPr>
              <a:t>교과서 02-1</a:t>
            </a:r>
          </a:p>
        </p:txBody>
      </p:sp>
    </p:spTree>
    <p:extLst>
      <p:ext uri="{BB962C8B-B14F-4D97-AF65-F5344CB8AC3E}">
        <p14:creationId xmlns:p14="http://schemas.microsoft.com/office/powerpoint/2010/main" val="21188933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D15D-8981-4337-BE99-1B4E9AC7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6CD2-85D2-4E63-9024-BCB9A3F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1618-E5DC-48D3-980C-0389DB1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1C33-F7FA-4D44-9E64-9CF89EE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Part 1에서는 많은 기록을 코드로 확인합니다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66FE-AF0D-40BC-8DA5-6C0DF35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6554-F5E3-46B1-AA52-3E386EF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AB2E-E505-4BFB-95F4-E46B7FD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2쪽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00b03c13e5467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33400" y="1809750"/>
            <a:ext cx="5191125" cy="2924175"/>
          </a:xfrm>
          <a:prstGeom xmlns:a="http://schemas.openxmlformats.org/drawingml/2006/main" prst="roundRect">
            <a:avLst>
              <a:gd name="adj" fmla="val 3909"/>
            </a:avLst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0f492cd8474940"/>
          <a:srcRect xmlns:a="http://schemas.openxmlformats.org/drawingml/2006/main" l="62" t="0" r="6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48375" y="1809750"/>
            <a:ext cx="5191125" cy="2924175"/>
          </a:xfrm>
          <a:prstGeom xmlns:a="http://schemas.openxmlformats.org/drawingml/2006/main" prst="roundRect">
            <a:avLst>
              <a:gd name="adj" fmla="val 3909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EFC961-A9A1-4FF3-9DE1-702093B3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519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5282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50" b="1">
                <a:solidFill>
                  <a:srgbClr val="25282D"/>
                </a:solidFill>
                <a:latin typeface="IBM Plex Sans KR"/>
                <a:ea typeface="IBM Plex Sans KR"/>
                <a:cs typeface="IBM Plex Sans KR"/>
              </a:rPr>
              <a:t>① 원본 CSV — 많은 기록이 줄마다 이어집니다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D31D7C-E54A-4B96-B595-FA90B3B1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914900"/>
            <a:ext cx="519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5282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50" b="1">
                <a:solidFill>
                  <a:srgbClr val="25282D"/>
                </a:solidFill>
                <a:latin typeface="IBM Plex Sans KR"/>
                <a:ea typeface="IBM Plex Sans KR"/>
                <a:cs typeface="IBM Plex Sans KR"/>
              </a:rPr>
              <a:t>② 코드로 확인 — 100,000행 · 9열 · 빈 값 0개</a:t>
            </a:r>
          </a:p>
        </p:txBody>
      </p:sp>
    </p:spTree>
    <p:extLst>
      <p:ext uri="{BB962C8B-B14F-4D97-AF65-F5344CB8AC3E}">
        <p14:creationId xmlns:p14="http://schemas.microsoft.com/office/powerpoint/2010/main" val="13828718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D15D-8981-4337-BE99-1B4E9AC7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6CD2-85D2-4E63-9024-BCB9A3F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1618-E5DC-48D3-980C-0389DB1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1C33-F7FA-4D44-9E64-9CF89EE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많은 기록을 그래프로 바꾸면 한눈에 보입니다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66FE-AF0D-40BC-8DA5-6C0DF35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6554-F5E3-46B1-AA52-3E386EF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AB2E-E505-4BFB-95F4-E46B7FD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2쪽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1b246cd3184d1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33400" y="1809750"/>
            <a:ext cx="5191125" cy="2924175"/>
          </a:xfrm>
          <a:prstGeom xmlns:a="http://schemas.openxmlformats.org/drawingml/2006/main" prst="roundRect">
            <a:avLst>
              <a:gd name="adj" fmla="val 3909"/>
            </a:avLst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73e48952be4f62"/>
          <a:srcRect xmlns:a="http://schemas.openxmlformats.org/drawingml/2006/main" l="71" t="0" r="7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48375" y="1809750"/>
            <a:ext cx="5191125" cy="2924175"/>
          </a:xfrm>
          <a:prstGeom xmlns:a="http://schemas.openxmlformats.org/drawingml/2006/main" prst="roundRect">
            <a:avLst>
              <a:gd name="adj" fmla="val 3909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EB0C59-D47D-4BB4-AA3F-BE6CFC0E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519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5282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50" b="1">
                <a:solidFill>
                  <a:srgbClr val="25282D"/>
                </a:solidFill>
                <a:latin typeface="IBM Plex Sans KR"/>
                <a:ea typeface="IBM Plex Sans KR"/>
                <a:cs typeface="IBM Plex Sans KR"/>
              </a:rPr>
              <a:t>② 그래프 확인 — 실행한 셀 아래에서 바로 봅니다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951B61-C793-4879-8D5E-212BAAC8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914900"/>
            <a:ext cx="519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5282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50" b="1">
                <a:solidFill>
                  <a:srgbClr val="25282D"/>
                </a:solidFill>
                <a:latin typeface="IBM Plex Sans KR"/>
                <a:ea typeface="IBM Plex Sans KR"/>
                <a:cs typeface="IBM Plex Sans KR"/>
              </a:rPr>
              <a:t>③ 다듬은 결과 — 제목·색상·배치를 정리합니다</a:t>
            </a:r>
          </a:p>
        </p:txBody>
      </p:sp>
    </p:spTree>
    <p:extLst>
      <p:ext uri="{BB962C8B-B14F-4D97-AF65-F5344CB8AC3E}">
        <p14:creationId xmlns:p14="http://schemas.microsoft.com/office/powerpoint/2010/main" val="13828718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E71833-949F-473B-AA98-6414C491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F7CE97-F21C-45F4-B764-3ADA0830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E39F5A-0AA1-4A92-9FB0-4FC1A07F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7FEBD6-82E5-489A-A4AF-97113A5F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수행평가 1에서는 이 다섯 동작을 반복합니다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2E1FD4-BC3A-4018-B2F0-6E550F77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DFFF27-4FC7-4A7B-8C31-E51F4593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1532B0-9B57-46EC-89A0-66E04E61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43075"/>
            <a:ext cx="6477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1D87A3-D06C-466A-9406-1CCCF1E2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669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77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2025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표 확인 → AI 요청 → 실행 → 표시 확인 → 기록·제출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1517D5-ADCB-4B17-BAF8-12AB825E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8605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9A06EB-FCE1-4684-9552-3E42E177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1575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198BD-3458-49A6-B7AC-D219E71C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표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9BD13C-84A7-43D3-9F76-E7A838CC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항목과 숫자를 본다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5B9C01-9C5B-4EEB-ADF2-95C09BDB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2766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33C842-E501-4C8A-ADDD-1B813DDA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8605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F01508-E42F-4EBA-903B-6D05A9F2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575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1575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FF8B4C-B8B2-449F-82FB-E726B54D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480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AI 요청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3E7079-60D6-4B7B-B4E5-12E45E64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71475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필요한 그래프를 말한다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FC3E6B-E4CD-4BB8-8D48-8E6BF4A0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766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05AE95-3707-4923-AC32-E4FC41B9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8605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E9B20C-0DCD-445D-A9F0-55339211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575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1575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70A81C-BD9B-4E12-8336-08784EC0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480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실행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C1B2A4-F835-4286-B9C1-50C505C6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71475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AI가 만든 코드를 돌린다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4C7B88-AC02-4263-AE8F-3E7621DC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2766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8540F2-8C0C-462D-ABA5-68053929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8605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BE9BA3-01CB-47C1-ACB0-3CD425E3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575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1575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E4DDE7-77B0-42A9-8E9E-7D56C9F2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480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표시 확인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BC0C1A-75F8-4502-99F2-04B37E19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71475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숫자·제목·축이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올바르게 표시됐는가?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CE90E5-FE88-4EB8-B8FA-E24264BD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766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77A8F4-9866-4F26-B01B-99689513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8605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9525">
            <a:solidFill>
              <a:srgbClr val="0E7C8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5D5881-A257-4755-905F-AF933162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575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0E7C86"/>
                </a:solidFill>
                <a:latin typeface="Archivo"/>
                <a:ea typeface="Archivo"/>
                <a:cs typeface="Archivo"/>
              </a:defRPr>
            </a:pPr>
            <a:r>
              <a:rPr sz="1575" b="1">
                <a:solidFill>
                  <a:srgbClr val="0E7C86"/>
                </a:solidFill>
                <a:latin typeface="Archivo"/>
                <a:ea typeface="Archivo"/>
                <a:cs typeface="Archivo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F37F3A-E964-4A0E-B61C-9D139D6E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2480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기록·제출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AB8C2D-C2E8-4073-8D23-18C62627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71475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과정을 Notebook에 남긴다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DC38BC-E6D1-456C-B0A5-C1A08BFE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대시보드 전체가 아니라, 교사가 지정한 그래프 한 개를 완성합니다.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65D98E-4C16-4900-978D-0E44CD71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2쪽</a:t>
            </a:r>
          </a:p>
        </p:txBody>
      </p:sp>
    </p:spTree>
    <p:extLst>
      <p:ext uri="{BB962C8B-B14F-4D97-AF65-F5344CB8AC3E}">
        <p14:creationId xmlns:p14="http://schemas.microsoft.com/office/powerpoint/2010/main" val="16854851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46CE8A-4F6C-4413-AE7E-7EB0536F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5AB99-487D-4A39-BF64-C3363820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5ACD2-B3B4-4D07-9198-C016A642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AA1E21-E13B-466F-8F1E-188B1432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OpenCode는 학생의 요청을 AI에게 전달합니다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E424B4-D138-4388-990B-86ECBA70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041F88-F8C9-4E35-B364-B2E333FA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89A2B6-FF5A-4FCC-83B8-A46912E0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3쪽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BE43F8-79BD-41D0-B68B-819EB7055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10629900" cy="3219450"/>
          </a:xfrm>
          <a:prstGeom xmlns:a="http://schemas.openxmlformats.org/drawingml/2006/main" prst="roundRect">
            <a:avLst>
              <a:gd name="adj" fmla="val 2367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CF6CBE-DB6F-4EFF-B6CC-78C7A898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383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475569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00" b="1">
                <a:solidFill>
                  <a:srgbClr val="475569"/>
                </a:solidFill>
                <a:latin typeface="IBM Plex Sans KR"/>
                <a:ea typeface="IBM Plex Sans KR"/>
                <a:cs typeface="IBM Plex Sans KR"/>
              </a:rPr>
              <a:t>VS Code 작업 공간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00FD3A-DD10-44EC-935D-94612457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8575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25282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025" b="1">
                <a:solidFill>
                  <a:srgbClr val="25282D"/>
                </a:solidFill>
                <a:latin typeface="IBM Plex Sans KR"/>
                <a:ea typeface="IBM Plex Sans KR"/>
                <a:cs typeface="IBM Plex Sans KR"/>
              </a:rPr>
              <a:t>학생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177D5A-1AC0-4867-9B5B-436190B9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3718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64748B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275">
                <a:solidFill>
                  <a:srgbClr val="64748B"/>
                </a:solidFill>
                <a:latin typeface="IBM Plex Sans KR"/>
                <a:ea typeface="IBM Plex Sans KR"/>
                <a:cs typeface="IBM Plex Sans KR"/>
              </a:rPr>
              <a:t>요청하고 결과를 읽음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8AE17F-B52C-4081-93F0-F9B1E31C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02895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97316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250" b="1">
                <a:solidFill>
                  <a:srgbClr val="F97316"/>
                </a:solidFill>
                <a:latin typeface="IBM Plex Sans KR"/>
                <a:ea typeface="IBM Plex Sans KR"/>
                <a:cs typeface="IBM Plex Sans KR"/>
              </a:rPr>
              <a:t>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BFD4C6-7EFB-4323-85FE-ED8B5661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0985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FB923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3614A0-1969-49A3-8963-C73AEE48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575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C2410C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C2410C"/>
                </a:solidFill>
                <a:latin typeface="IBM Plex Sans KR"/>
                <a:ea typeface="IBM Plex Sans KR"/>
                <a:cs typeface="IBM Plex Sans KR"/>
              </a:rPr>
              <a:t>OpenCode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60F2E1-21D3-4F90-8B46-326DB296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314700"/>
            <a:ext cx="243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7C2D1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200">
                <a:solidFill>
                  <a:srgbClr val="7C2D12"/>
                </a:solidFill>
                <a:latin typeface="IBM Plex Sans KR"/>
                <a:ea typeface="IBM Plex Sans KR"/>
                <a:cs typeface="IBM Plex Sans KR"/>
              </a:rPr>
              <a:t>요청을 AI에게 전달하고 파일·도구를 연결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7E198D-4B02-4207-8641-1A4775F2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02895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97316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250" b="1">
                <a:solidFill>
                  <a:srgbClr val="F97316"/>
                </a:solidFill>
                <a:latin typeface="IBM Plex Sans KR"/>
                <a:ea typeface="IBM Plex Sans KR"/>
                <a:cs typeface="IBM Plex Sans KR"/>
              </a:rPr>
              <a:t>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20F658-91ED-4E56-846C-73B349B8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25282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025" b="1">
                <a:solidFill>
                  <a:srgbClr val="25282D"/>
                </a:solidFill>
                <a:latin typeface="IBM Plex Sans KR"/>
                <a:ea typeface="IBM Plex Sans KR"/>
                <a:cs typeface="IBM Plex Sans KR"/>
              </a:rPr>
              <a:t>Python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340F57-2B6C-4879-B42B-50BFCBE0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7185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64748B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275">
                <a:solidFill>
                  <a:srgbClr val="64748B"/>
                </a:solidFill>
                <a:latin typeface="IBM Plex Sans KR"/>
                <a:ea typeface="IBM Plex Sans KR"/>
                <a:cs typeface="IBM Plex Sans KR"/>
              </a:rPr>
              <a:t>컴퓨터가 실행할 코드의 언어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F5E1D8-ED1D-496B-96B0-FFEF75EF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210050"/>
            <a:ext cx="8096250" cy="628650"/>
          </a:xfrm>
          <a:prstGeom xmlns:a="http://schemas.openxmlformats.org/drawingml/2006/main" prst="roundRect">
            <a:avLst>
              <a:gd name="adj" fmla="val 1212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A5B4F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271931-7D7A-4889-AC15-BCB79F58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343400"/>
            <a:ext cx="7486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3730A3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3730A3"/>
                </a:solidFill>
                <a:latin typeface="IBM Plex Sans KR"/>
                <a:ea typeface="IBM Plex Sans KR"/>
                <a:cs typeface="IBM Plex Sans KR"/>
              </a:rPr>
              <a:t>AI 모델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BCE74E-51A6-4BDB-AF2A-06B2B798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334000"/>
            <a:ext cx="925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475569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50">
                <a:solidFill>
                  <a:srgbClr val="475569"/>
                </a:solidFill>
                <a:latin typeface="IBM Plex Sans KR"/>
                <a:ea typeface="IBM Plex Sans KR"/>
                <a:cs typeface="IBM Plex Sans KR"/>
              </a:rPr>
              <a:t>에이전트: 사용자의 요청을 받아 AI·파일·도구를 연결해 작업을 진행하는 프로그램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C1F17B-5861-4A26-9B57-3C50339D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8481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97316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F97316"/>
                </a:solidFill>
                <a:latin typeface="IBM Plex Sans KR"/>
                <a:ea typeface="IBM Plex Sans KR"/>
                <a:cs typeface="IBM Plex Sans KR"/>
              </a:rPr>
              <a:t>⇅</a:t>
            </a:r>
          </a:p>
        </p:txBody>
      </p:sp>
    </p:spTree>
    <p:extLst>
      <p:ext uri="{BB962C8B-B14F-4D97-AF65-F5344CB8AC3E}">
        <p14:creationId xmlns:p14="http://schemas.microsoft.com/office/powerpoint/2010/main" val="12759259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D15D-8981-4337-BE99-1B4E9AC7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6CD2-85D2-4E63-9024-BCB9A3F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1618-E5DC-48D3-980C-0389DB1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1C33-F7FA-4D44-9E64-9CF89EE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Python 공식 사이트에서 Windows 설치 파일을 받습니다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66FE-AF0D-40BC-8DA5-6C0DF35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6554-F5E3-46B1-AA52-3E386EF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AA35-B656-4867-ABAA-1383287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524250" cy="3905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A258-4454-4D9C-B9CC-02E4711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지금 할 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0A666-D1B7-4FB6-A0CA-D962BA9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Python 3.13 찾기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DECB4-6EC6-4151-BE72-AEE07E26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86D0-9626-4B94-8977-EEE0EF0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누를 항목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02551-D203-43C6-B7F4-638AFF1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Windows installer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(64-bit)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49E3F-5628-4DF7-9B16-16F7C26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7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검색 결과가 아니라 python.org인지 확인합니다.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AB2E-E505-4BFB-95F4-E46B7FD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4쪽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3bf49189ce4d9e"/>
          <a:srcRect xmlns:a="http://schemas.openxmlformats.org/drawingml/2006/main" l="0" t="31" r="0" b="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33400" y="1822847"/>
            <a:ext cx="6896100" cy="3879056"/>
          </a:xfrm>
          <a:prstGeom xmlns:a="http://schemas.openxmlformats.org/drawingml/2006/main" prst="roundRect">
            <a:avLst>
              <a:gd name="adj" fmla="val 2947"/>
            </a:avLst>
          </a:prstGeom>
        </p:spPr>
      </p:pic>
    </p:spTree>
    <p:extLst>
      <p:ext uri="{BB962C8B-B14F-4D97-AF65-F5344CB8AC3E}">
        <p14:creationId xmlns:p14="http://schemas.microsoft.com/office/powerpoint/2010/main" val="13828718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D15D-8981-4337-BE99-1B4E9AC7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6CD2-85D2-4E63-9024-BCB9A3F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1618-E5DC-48D3-980C-0389DB1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1C33-F7FA-4D44-9E64-9CF89EE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Python에게 설치된 버전을 물어봅니다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66FE-AF0D-40BC-8DA5-6C0DF35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6554-F5E3-46B1-AA52-3E386EF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AA35-B656-4867-ABAA-1383287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524250" cy="3905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A258-4454-4D9C-B9CC-02E4711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입력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0A666-D1B7-4FB6-A0CA-D962BA9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python --version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DECB4-6EC6-4151-BE72-AEE07E26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86D0-9626-4B94-8977-EEE0EF0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응답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02551-D203-43C6-B7F4-638AFF1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Python 3.13.x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49E3F-5628-4DF7-9B16-16F7C26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6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정확한 끝자리보다 Python 3.13으로 시작하는지 봅니다.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AB2E-E505-4BFB-95F4-E46B7FD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5쪽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c1e3d2981e439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33400" y="1822847"/>
            <a:ext cx="6896100" cy="3879056"/>
          </a:xfrm>
          <a:prstGeom xmlns:a="http://schemas.openxmlformats.org/drawingml/2006/main" prst="roundRect">
            <a:avLst>
              <a:gd name="adj" fmla="val 2947"/>
            </a:avLst>
          </a:prstGeom>
        </p:spPr>
      </p:pic>
    </p:spTree>
    <p:extLst>
      <p:ext uri="{BB962C8B-B14F-4D97-AF65-F5344CB8AC3E}">
        <p14:creationId xmlns:p14="http://schemas.microsoft.com/office/powerpoint/2010/main" val="13828718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630FD0-91C2-461A-A67E-CA35153B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B741E-D9B5-4C27-BAD6-2AD845A1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F06DC-980E-4579-9F1B-EA9465A9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D43B3-AB8A-4E7B-A72B-4331A4AC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컴퓨터를 조작하는 방법은 GUI와 CLI로 나뉩니다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67449-9915-4DD9-96F0-D411849D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37A3F-767A-44D6-912E-4C4436DB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780D43-3E08-42E2-9849-813A4161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0782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rPr>
              <a:t>OpenCode도 CLI 화면에서 사용하지만, 글로 요청하고 답을 읽는 방식은 우리가 쓰는 채팅과 같습니다.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FD20AD-6134-4338-9212-664B0FED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5쪽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BFDEC2-C1E4-4345-890E-9AEC21F0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4953000" cy="3009900"/>
          </a:xfrm>
          <a:prstGeom xmlns:a="http://schemas.openxmlformats.org/drawingml/2006/main" prst="roundRect">
            <a:avLst>
              <a:gd name="adj" fmla="val 2532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C56BE2-C076-45D7-A9FC-8BAF9480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431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563EB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2563EB"/>
                </a:solidFill>
                <a:latin typeface="IBM Plex Sans KR"/>
                <a:ea typeface="IBM Plex Sans KR"/>
                <a:cs typeface="IBM Plex Sans KR"/>
              </a:rPr>
              <a:t>GUI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2E4D42-DC7C-47D8-95CA-7366BEA4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95600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25282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75" b="1">
                <a:solidFill>
                  <a:srgbClr val="25282D"/>
                </a:solidFill>
                <a:latin typeface="IBM Plex Sans KR"/>
                <a:ea typeface="IBM Plex Sans KR"/>
                <a:cs typeface="IBM Plex Sans KR"/>
              </a:rPr>
              <a:t>버튼과 메뉴로 조작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2A948A-D0B1-45D1-8ABE-A0524B1E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38550"/>
            <a:ext cx="4000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475569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>
                <a:solidFill>
                  <a:srgbClr val="475569"/>
                </a:solidFill>
                <a:latin typeface="IBM Plex Sans KR"/>
                <a:ea typeface="IBM Plex Sans KR"/>
                <a:cs typeface="IBM Plex Sans KR"/>
              </a:rPr>
              <a:t>설치 파일을 내려받고</a:t>
            </a:r>
          </a:p>
          <a:p xmlns:a="http://schemas.openxmlformats.org/drawingml/2006/main">
            <a:pPr>
              <a:buNone/>
              <a:defRPr sz="1575">
                <a:solidFill>
                  <a:srgbClr val="475569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>
                <a:solidFill>
                  <a:srgbClr val="475569"/>
                </a:solidFill>
                <a:latin typeface="IBM Plex Sans KR"/>
                <a:ea typeface="IBM Plex Sans KR"/>
                <a:cs typeface="IBM Plex Sans KR"/>
              </a:rPr>
              <a:t>화면의 버튼을 누릅니다.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E943AD-D1F2-4987-B7E4-9F0B1E6E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4953000" cy="3009900"/>
          </a:xfrm>
          <a:prstGeom xmlns:a="http://schemas.openxmlformats.org/drawingml/2006/main" prst="roundRect">
            <a:avLst>
              <a:gd name="adj" fmla="val 2532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FB923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5C79B2-5DEE-4F59-A711-BE64284C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431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C2410C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C2410C"/>
                </a:solidFill>
                <a:latin typeface="IBM Plex Sans KR"/>
                <a:ea typeface="IBM Plex Sans KR"/>
                <a:cs typeface="IBM Plex Sans KR"/>
              </a:rPr>
              <a:t>CLI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1A8551-93D4-4414-ADF8-2E893BD5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956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5282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25282D"/>
                </a:solidFill>
                <a:latin typeface="IBM Plex Sans KR"/>
                <a:ea typeface="IBM Plex Sans KR"/>
                <a:cs typeface="IBM Plex Sans KR"/>
              </a:rPr>
              <a:t>글자로 명령하고 응답 읽기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2F3CA3-E754-4D7F-8E11-80D12AF8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38550"/>
            <a:ext cx="4095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7C2D1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>
                <a:solidFill>
                  <a:srgbClr val="7C2D12"/>
                </a:solidFill>
                <a:latin typeface="JetBrains Mono"/>
                <a:ea typeface="JetBrains Mono"/>
                <a:cs typeface="JetBrains Mono"/>
              </a:rPr>
              <a:t>python --version</a:t>
            </a:r>
          </a:p>
          <a:p xmlns:a="http://schemas.openxmlformats.org/drawingml/2006/main">
            <a:pPr>
              <a:buNone/>
              <a:defRPr sz="1575">
                <a:solidFill>
                  <a:srgbClr val="7C2D12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>
                <a:solidFill>
                  <a:srgbClr val="7C2D12"/>
                </a:solidFill>
                <a:latin typeface="JetBrains Mono"/>
                <a:ea typeface="JetBrains Mono"/>
                <a:cs typeface="JetBrains Mono"/>
              </a:rPr>
              <a:t>명령을 입력하고 결과를 읽습니다.</a:t>
            </a:r>
          </a:p>
        </p:txBody>
      </p:sp>
    </p:spTree>
    <p:extLst>
      <p:ext uri="{BB962C8B-B14F-4D97-AF65-F5344CB8AC3E}">
        <p14:creationId xmlns:p14="http://schemas.microsoft.com/office/powerpoint/2010/main" val="7977766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D15D-8981-4337-BE99-1B4E9AC7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6CD2-85D2-4E63-9024-BCB9A3F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1618-E5DC-48D3-980C-0389DB1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1C33-F7FA-4D44-9E64-9CF89EE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Node.js와 OpenCode가 있는지 먼저 확인합니다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66FE-AF0D-40BC-8DA5-6C0DF35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6554-F5E3-46B1-AA52-3E386EF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AA35-B656-4867-ABAA-1383287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524250" cy="3905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A258-4454-4D9C-B9CC-02E4711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PowerShell에 입력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0A666-D1B7-4FB6-A0CA-D962BA9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52700"/>
            <a:ext cx="295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282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1">
                <a:solidFill>
                  <a:srgbClr val="25282D"/>
                </a:solidFill>
                <a:latin typeface="JetBrains Mono"/>
                <a:ea typeface="JetBrains Mono"/>
                <a:cs typeface="JetBrains Mono"/>
              </a:rPr>
              <a:t>node --version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282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1">
                <a:solidFill>
                  <a:srgbClr val="25282D"/>
                </a:solidFill>
                <a:latin typeface="JetBrains Mono"/>
                <a:ea typeface="JetBrains Mono"/>
                <a:cs typeface="JetBrains Mono"/>
              </a:rPr>
              <a:t>npm --version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282D"/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1">
                <a:solidFill>
                  <a:srgbClr val="25282D"/>
                </a:solidFill>
                <a:latin typeface="JetBrains Mono"/>
                <a:ea typeface="JetBrains Mono"/>
                <a:cs typeface="JetBrains Mono"/>
              </a:rPr>
              <a:t>opencode --version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DECB4-6EC6-4151-BE72-AEE07E26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1475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86D0-9626-4B94-8977-EEE0EF0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052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결과로 판단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02551-D203-43C6-B7F4-638AFF1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434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버전 번호가 없는 항목만 설치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49E3F-5628-4DF7-9B16-16F7C26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482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6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세 줄 모두 버전 번호가 보이면 설치 단계를 건너뜁니다.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AB2E-E505-4BFB-95F4-E46B7FD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6쪽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1e5c7722e4435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33400" y="1822847"/>
            <a:ext cx="6896100" cy="3879056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3828718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D15D-8981-4337-BE99-1B4E9AC7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6CD2-85D2-4E63-9024-BCB9A3F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1618-E5DC-48D3-980C-0389DB1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1C33-F7FA-4D44-9E64-9CF89EE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번호가 보이지 않는 학생만 Node.js를 설치합니다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66FE-AF0D-40BC-8DA5-6C0DF35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6554-F5E3-46B1-AA52-3E386EF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AA35-B656-4867-ABAA-1383287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524250" cy="3905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A258-4454-4D9C-B9CC-02E4711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지금 할 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0A666-D1B7-4FB6-A0CA-D962BA9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LTS 선택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DECB4-6EC6-4151-BE72-AEE07E26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86D0-9626-4B94-8977-EEE0EF0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Windows 항목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02551-D203-43C6-B7F4-638AFF1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x64 · .msi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49E3F-5628-4DF7-9B16-16F7C26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2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설치가 끝나면 PowerShell을 새로 엽니다.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AB2E-E505-4BFB-95F4-E46B7FD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7쪽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1900b458454b95"/>
          <a:srcRect xmlns:a="http://schemas.openxmlformats.org/drawingml/2006/main" l="0" t="31" r="0" b="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33400" y="1822847"/>
            <a:ext cx="6896100" cy="3879056"/>
          </a:xfrm>
          <a:prstGeom xmlns:a="http://schemas.openxmlformats.org/drawingml/2006/main" prst="roundRect">
            <a:avLst>
              <a:gd name="adj" fmla="val 2947"/>
            </a:avLst>
          </a:prstGeom>
        </p:spPr>
      </p:pic>
    </p:spTree>
    <p:extLst>
      <p:ext uri="{BB962C8B-B14F-4D97-AF65-F5344CB8AC3E}">
        <p14:creationId xmlns:p14="http://schemas.microsoft.com/office/powerpoint/2010/main" val="13828718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D15D-8981-4337-BE99-1B4E9AC7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6CD2-85D2-4E63-9024-BCB9A3F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1618-E5DC-48D3-980C-0389DB1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1C33-F7FA-4D44-9E64-9CF89EE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새 PowerShell에서 두 버전을 다시 확인합니다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66FE-AF0D-40BC-8DA5-6C0DF35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6554-F5E3-46B1-AA52-3E386EF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AA35-B656-4867-ABAA-1383287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524250" cy="3905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A258-4454-4D9C-B9CC-02E4711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node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0A666-D1B7-4FB6-A0CA-D962BA9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버전 번호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DECB4-6EC6-4151-BE72-AEE07E26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86D0-9626-4B94-8977-EEE0EF0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npm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02551-D203-43C6-B7F4-638AFF1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버전 번호 확인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49E3F-5628-4DF7-9B16-16F7C26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6725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74777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0">
                <a:solidFill>
                  <a:srgbClr val="74777D"/>
                </a:solidFill>
                <a:latin typeface="IBM Plex Sans KR"/>
                <a:ea typeface="IBM Plex Sans KR"/>
                <a:cs typeface="IBM Plex Sans KR"/>
              </a:rPr>
              <a:t>설치 중 추가된 경로는 이미 열린 창에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74777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0">
                <a:solidFill>
                  <a:srgbClr val="74777D"/>
                </a:solidFill>
                <a:latin typeface="IBM Plex Sans KR"/>
                <a:ea typeface="IBM Plex Sans KR"/>
                <a:cs typeface="IBM Plex Sans KR"/>
              </a:rPr>
              <a:t>바로 반영되지 않을 수 있습니다.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74777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0">
                <a:solidFill>
                  <a:srgbClr val="74777D"/>
                </a:solidFill>
                <a:latin typeface="IBM Plex Sans KR"/>
                <a:ea typeface="IBM Plex Sans KR"/>
                <a:cs typeface="IBM Plex Sans KR"/>
              </a:rPr>
              <a:t>새 PowerShell은 최신 경로를 다시 읽습니다.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AB2E-E505-4BFB-95F4-E46B7FD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7쪽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fd25d4d0984ed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33400" y="1822847"/>
            <a:ext cx="6896100" cy="3879056"/>
          </a:xfrm>
          <a:prstGeom xmlns:a="http://schemas.openxmlformats.org/drawingml/2006/main" prst="roundRect">
            <a:avLst>
              <a:gd name="adj" fmla="val 2947"/>
            </a:avLst>
          </a:prstGeom>
        </p:spPr>
      </p:pic>
    </p:spTree>
    <p:extLst>
      <p:ext uri="{BB962C8B-B14F-4D97-AF65-F5344CB8AC3E}">
        <p14:creationId xmlns:p14="http://schemas.microsoft.com/office/powerpoint/2010/main" val="13828718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D15D-8981-4337-BE99-1B4E9AC7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6CD2-85D2-4E63-9024-BCB9A3F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1618-E5DC-48D3-980C-0389DB1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1C33-F7FA-4D44-9E64-9CF89EE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OpenCode 공식 안내에서 설치 명령을 확인합니다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66FE-AF0D-40BC-8DA5-6C0DF35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6554-F5E3-46B1-AA52-3E386EF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AA35-B656-4867-ABAA-1383287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524250" cy="3905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A258-4454-4D9C-B9CC-02E4711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OpenCode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0A666-D1B7-4FB6-A0CA-D962BA9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바이브코딩 AI 도구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DECB4-6EC6-4151-BE72-AEE07E26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86D0-9626-4B94-8977-EEE0EF0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설치 방식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02551-D203-43C6-B7F4-638AFF1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npm 명령 사용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49E3F-5628-4DF7-9B16-16F7C26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5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명령은 외우지 않고 공식 문서에서 확인합니다.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AB2E-E505-4BFB-95F4-E46B7FD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8쪽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a35c0b10194a4b"/>
          <a:srcRect xmlns:a="http://schemas.openxmlformats.org/drawingml/2006/main" l="0" t="31" r="0" b="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33400" y="1822847"/>
            <a:ext cx="6896100" cy="3879056"/>
          </a:xfrm>
          <a:prstGeom xmlns:a="http://schemas.openxmlformats.org/drawingml/2006/main" prst="roundRect">
            <a:avLst>
              <a:gd name="adj" fmla="val 2947"/>
            </a:avLst>
          </a:prstGeom>
        </p:spPr>
      </p:pic>
    </p:spTree>
    <p:extLst>
      <p:ext uri="{BB962C8B-B14F-4D97-AF65-F5344CB8AC3E}">
        <p14:creationId xmlns:p14="http://schemas.microsoft.com/office/powerpoint/2010/main" val="138287180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D15D-8981-4337-BE99-1B4E9AC7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6CD2-85D2-4E63-9024-BCB9A3F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1618-E5DC-48D3-980C-0389DB1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1C33-F7FA-4D44-9E64-9CF89EE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설치 로그가 멈추고 입력 줄이 돌아오면 끝입니다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66FE-AF0D-40BC-8DA5-6C0DF35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6554-F5E3-46B1-AA52-3E386EF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AA35-B656-4867-ABAA-1383287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524250" cy="3905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A258-4454-4D9C-B9CC-02E4711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입력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0A666-D1B7-4FB6-A0CA-D962BA9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91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npm install -g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opencode-ai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DECB4-6EC6-4151-BE72-AEE07E26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86D0-9626-4B94-8977-EEE0EF0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진행 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02551-D203-43C6-B7F4-638AFF1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글자가 지나갑니다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49E3F-5628-4DF7-9B16-16F7C26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모든 로그를 읽거나 외울 필요는 없습니다.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AB2E-E505-4BFB-95F4-E46B7FD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8쪽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a99bf4ff53472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33400" y="1822847"/>
            <a:ext cx="6896100" cy="3879056"/>
          </a:xfrm>
          <a:prstGeom xmlns:a="http://schemas.openxmlformats.org/drawingml/2006/main" prst="roundRect">
            <a:avLst>
              <a:gd name="adj" fmla="val 2947"/>
            </a:avLst>
          </a:prstGeom>
        </p:spPr>
      </p:pic>
    </p:spTree>
    <p:extLst>
      <p:ext uri="{BB962C8B-B14F-4D97-AF65-F5344CB8AC3E}">
        <p14:creationId xmlns:p14="http://schemas.microsoft.com/office/powerpoint/2010/main" val="138287180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D15D-8981-4337-BE99-1B4E9AC7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6CD2-85D2-4E63-9024-BCB9A3F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1618-E5DC-48D3-980C-0389DB1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1C33-F7FA-4D44-9E64-9CF89EE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OpenCode도 버전 번호로 설치를 확인합니다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66FE-AF0D-40BC-8DA5-6C0DF35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6554-F5E3-46B1-AA52-3E386EF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AA35-B656-4867-ABAA-1383287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524250" cy="3905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A258-4454-4D9C-B9CC-02E4711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입력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0A666-D1B7-4FB6-A0CA-D962BA9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opencode --version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DECB4-6EC6-4151-BE72-AEE07E26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86D0-9626-4B94-8977-EEE0EF0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성공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02551-D203-43C6-B7F4-638AFF1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버전 번호가 보임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49E3F-5628-4DF7-9B16-16F7C26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6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명령을 찾지 못하면 PowerShell을 새로 열고 다시 확인합니다.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AB2E-E505-4BFB-95F4-E46B7FD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8쪽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ef64f49965423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33400" y="1822847"/>
            <a:ext cx="6896100" cy="3879056"/>
          </a:xfrm>
          <a:prstGeom xmlns:a="http://schemas.openxmlformats.org/drawingml/2006/main" prst="roundRect">
            <a:avLst>
              <a:gd name="adj" fmla="val 2947"/>
            </a:avLst>
          </a:prstGeom>
        </p:spPr>
      </p:pic>
    </p:spTree>
    <p:extLst>
      <p:ext uri="{BB962C8B-B14F-4D97-AF65-F5344CB8AC3E}">
        <p14:creationId xmlns:p14="http://schemas.microsoft.com/office/powerpoint/2010/main" val="138287180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630FD0-91C2-461A-A67E-CA35153B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B741E-D9B5-4C27-BAD6-2AD845A1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F06DC-980E-4579-9F1B-EA9465A9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D43B3-AB8A-4E7B-A72B-4331A4AC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이 오류가 나온 학생만 확인합니다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67449-9915-4DD9-96F0-D411849D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37A3F-767A-44D6-912E-4C4436DB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BD25C3-F908-4B9D-9836-D9525700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88161-E2FF-4391-BFCE-A1A45ABE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BB7E7-8C3C-4AB6-969C-CBFE171C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7C6AF-ECAB-4CCD-93DD-D1657B88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정확한 오류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FFD94B-DEAB-4A71-BB7B-B0846D44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running scripts is disabled 문구인지 봅니다.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EF2E0F-2F55-467F-B0A0-1B2DE17A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B8F367-BE1D-4CA1-AD11-49C86095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C00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A0322-7BE8-434B-9972-737C4137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D7E949-0275-424B-A17B-F44BB591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명령 한 번 실행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80AD5B-4756-4D7C-ADB7-118D379B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5F636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050" b="0">
                <a:solidFill>
                  <a:srgbClr val="5F6368"/>
                </a:solidFill>
                <a:latin typeface="IBM Plex Sans KR"/>
                <a:ea typeface="IBM Plex Sans KR"/>
                <a:cs typeface="IBM Plex Sans KR"/>
              </a:rPr>
              <a:t>현재 사용자에게만 적용합니다.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5F636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050" b="0">
                <a:solidFill>
                  <a:srgbClr val="5F6368"/>
                </a:solidFill>
                <a:latin typeface="IBM Plex Sans KR"/>
                <a:ea typeface="IBM Plex Sans KR"/>
                <a:cs typeface="IBM Plex Sans KR"/>
              </a:rPr>
              <a:t>인터넷에서 받은 스크립트에는 서명을 요구하고,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5F636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050" b="0">
                <a:solidFill>
                  <a:srgbClr val="5F6368"/>
                </a:solidFill>
                <a:latin typeface="IBM Plex Sans KR"/>
                <a:ea typeface="IBM Plex Sans KR"/>
                <a:cs typeface="IBM Plex Sans KR"/>
              </a:rPr>
              <a:t>내 컴퓨터에서 만든 스크립트 실행은 허용합니다.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EC9B57-5DEF-4FA7-A333-808A986A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CF1800-CA1E-4B9C-AEA7-BB198289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684C1-D98C-42AA-8B34-5AAA2477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6DB609-8345-46BC-B54F-1567C416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다시 막히면 중단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613D53-FB95-4807-9A99-F8499828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보안을 더 낮추지 말고 교사에게 화면을 보여 줍니다.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780D43-3E08-42E2-9849-813A4161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0782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rPr>
              <a:t>Set-ExecutionPolicy -Scope CurrentUser -ExecutionPolicy RemoteSigned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FD20AD-6134-4338-9212-664B0FED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9쪽</a:t>
            </a:r>
          </a:p>
        </p:txBody>
      </p:sp>
    </p:spTree>
    <p:extLst>
      <p:ext uri="{BB962C8B-B14F-4D97-AF65-F5344CB8AC3E}">
        <p14:creationId xmlns:p14="http://schemas.microsoft.com/office/powerpoint/2010/main" val="79777665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D15D-8981-4337-BE99-1B4E9AC7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6CD2-85D2-4E63-9024-BCB9A3F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1618-E5DC-48D3-980C-0389DB1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1C33-F7FA-4D44-9E64-9CF89EE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공식 설치 파일로 VS Code를 최신 상태로 맞춥니다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66FE-AF0D-40BC-8DA5-6C0DF35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6554-F5E3-46B1-AA52-3E386EF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AA35-B656-4867-ABAA-1383287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524250" cy="3905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A258-4454-4D9C-B9CC-02E4711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공식 다운로드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0A666-D1B7-4FB6-A0CA-D962BA9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8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Windows User Installer x64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DECB4-6EC6-4151-BE72-AEE07E26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86D0-9626-4B94-8977-EEE0EF0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설치·업데이트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02551-D203-43C6-B7F4-638AFF1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기존 설치가 있어도 진행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49E3F-5628-4DF7-9B16-16F7C26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6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오래된 버전을 남기지 않도록 공식 설치 파일을 실행합니다.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AB2E-E505-4BFB-95F4-E46B7FD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10쪽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24269de43c4d0b"/>
          <a:srcRect xmlns:a="http://schemas.openxmlformats.org/drawingml/2006/main" l="0" t="31" r="0" b="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33400" y="1822847"/>
            <a:ext cx="6896100" cy="3879056"/>
          </a:xfrm>
          <a:prstGeom xmlns:a="http://schemas.openxmlformats.org/drawingml/2006/main" prst="roundRect">
            <a:avLst>
              <a:gd name="adj" fmla="val 2947"/>
            </a:avLst>
          </a:prstGeom>
        </p:spPr>
      </p:pic>
    </p:spTree>
    <p:extLst>
      <p:ext uri="{BB962C8B-B14F-4D97-AF65-F5344CB8AC3E}">
        <p14:creationId xmlns:p14="http://schemas.microsoft.com/office/powerpoint/2010/main" val="138287180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D15D-8981-4337-BE99-1B4E9AC7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6CD2-85D2-4E63-9024-BCB9A3F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1618-E5DC-48D3-980C-0389DB1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1C33-F7FA-4D44-9E64-9CF89EE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실제 VS Code 화면에서 네 부분을 찾습니다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66FE-AF0D-40BC-8DA5-6C0DF35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6554-F5E3-46B1-AA52-3E386EF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AA35-B656-4867-ABAA-1383287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24025"/>
            <a:ext cx="2400300" cy="4552950"/>
          </a:xfrm>
          <a:prstGeom xmlns:a="http://schemas.openxmlformats.org/drawingml/2006/main" prst="roundRect">
            <a:avLst>
              <a:gd name="adj" fmla="val 32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A258-4454-4D9C-B9CC-02E4711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764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F97316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F97316"/>
                </a:solidFill>
                <a:latin typeface="IBM Plex Sans KR"/>
                <a:ea typeface="IBM Plex Sans KR"/>
                <a:cs typeface="IBM Plex Sans KR"/>
              </a:rPr>
              <a:t>1. 탐색기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0A666-D1B7-4FB6-A0CA-D962BA9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52700"/>
            <a:ext cx="190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282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50" b="1">
                <a:solidFill>
                  <a:srgbClr val="25282D"/>
                </a:solidFill>
                <a:latin typeface="IBM Plex Sans KR"/>
                <a:ea typeface="IBM Plex Sans KR"/>
                <a:cs typeface="IBM Plex Sans KR"/>
              </a:rPr>
              <a:t>폴더와 파일이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5282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50" b="1">
                <a:solidFill>
                  <a:srgbClr val="25282D"/>
                </a:solidFill>
                <a:latin typeface="IBM Plex Sans KR"/>
                <a:ea typeface="IBM Plex Sans KR"/>
                <a:cs typeface="IBM Plex Sans KR"/>
              </a:rPr>
              <a:t>보이는 넓은 영역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DECB4-6EC6-4151-BE72-AEE07E26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476625"/>
            <a:ext cx="1866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86D0-9626-4B94-8977-EEE0EF0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719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F97316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F97316"/>
                </a:solidFill>
                <a:latin typeface="IBM Plex Sans KR"/>
                <a:ea typeface="IBM Plex Sans KR"/>
                <a:cs typeface="IBM Plex Sans KR"/>
              </a:rPr>
              <a:t>4. 확장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02551-D203-43C6-B7F4-638AFF1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248150"/>
            <a:ext cx="190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5282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50" b="1">
                <a:solidFill>
                  <a:srgbClr val="25282D"/>
                </a:solidFill>
                <a:latin typeface="IBM Plex Sans KR"/>
                <a:ea typeface="IBM Plex Sans KR"/>
                <a:cs typeface="IBM Plex Sans KR"/>
              </a:rPr>
              <a:t>왼쪽 세로줄의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5282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50" b="1">
                <a:solidFill>
                  <a:srgbClr val="25282D"/>
                </a:solidFill>
                <a:latin typeface="IBM Plex Sans KR"/>
                <a:ea typeface="IBM Plex Sans KR"/>
                <a:cs typeface="IBM Plex Sans KR"/>
              </a:rPr>
              <a:t>네모 네 개 아이콘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49E3F-5628-4DF7-9B16-16F7C26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572125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74777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0">
                <a:solidFill>
                  <a:srgbClr val="74777D"/>
                </a:solidFill>
                <a:latin typeface="IBM Plex Sans KR"/>
                <a:ea typeface="IBM Plex Sans KR"/>
                <a:cs typeface="IBM Plex Sans KR"/>
              </a:rPr>
              <a:t>둘은 서로 다른 곳입니다.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AB2E-E505-4BFB-95F4-E46B7FD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11쪽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f082942dbe42c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33400" y="1724025"/>
            <a:ext cx="8096250" cy="4552950"/>
          </a:xfrm>
          <a:prstGeom xmlns:a="http://schemas.openxmlformats.org/drawingml/2006/main" prst="roundRect">
            <a:avLst>
              <a:gd name="adj" fmla="val 2510"/>
            </a:avLst>
          </a:prstGeom>
        </p:spPr>
      </p:pic>
    </p:spTree>
    <p:extLst>
      <p:ext uri="{BB962C8B-B14F-4D97-AF65-F5344CB8AC3E}">
        <p14:creationId xmlns:p14="http://schemas.microsoft.com/office/powerpoint/2010/main" val="138287180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D15D-8981-4337-BE99-1B4E9AC7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6CD2-85D2-4E63-9024-BCB9A3F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1618-E5DC-48D3-980C-0389DB1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1C33-F7FA-4D44-9E64-9CF89EE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Python 확장은 게시자까지 확인하고 설치합니다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66FE-AF0D-40BC-8DA5-6C0DF35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6554-F5E3-46B1-AA52-3E386EF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AA35-B656-4867-ABAA-1383287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524250" cy="3905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A258-4454-4D9C-B9CC-02E4711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검색어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0A666-D1B7-4FB6-A0CA-D962BA9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Python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DECB4-6EC6-4151-BE72-AEE07E26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86D0-9626-4B94-8977-EEE0EF0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게시자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02551-D203-43C6-B7F4-638AFF1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Microsoft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49E3F-5628-4DF7-9B16-16F7C26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6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이름이 같아도 게시자가 다르면 설치하지 않습니다.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AB2E-E505-4BFB-95F4-E46B7FD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12쪽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5e30f1a26d4bf8"/>
          <a:srcRect xmlns:a="http://schemas.openxmlformats.org/drawingml/2006/main" l="0" t="31" r="0" b="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33400" y="1822847"/>
            <a:ext cx="6896100" cy="3879056"/>
          </a:xfrm>
          <a:prstGeom xmlns:a="http://schemas.openxmlformats.org/drawingml/2006/main" prst="roundRect">
            <a:avLst>
              <a:gd name="adj" fmla="val 491"/>
            </a:avLst>
          </a:prstGeom>
        </p:spPr>
      </p:pic>
    </p:spTree>
    <p:extLst>
      <p:ext uri="{BB962C8B-B14F-4D97-AF65-F5344CB8AC3E}">
        <p14:creationId xmlns:p14="http://schemas.microsoft.com/office/powerpoint/2010/main" val="138287180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D15D-8981-4337-BE99-1B4E9AC7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6CD2-85D2-4E63-9024-BCB9A3F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1618-E5DC-48D3-980C-0389DB1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1C33-F7FA-4D44-9E64-9CF89EE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Korean Language Pack은 Microsoft 항목을 선택합니다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66FE-AF0D-40BC-8DA5-6C0DF35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6554-F5E3-46B1-AA52-3E386EF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AA35-B656-4867-ABAA-1383287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524250" cy="3905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A258-4454-4D9C-B9CC-02E4711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검색어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0A666-D1B7-4FB6-A0CA-D962BA9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Korean Language Pack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DECB4-6EC6-4151-BE72-AEE07E26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86D0-9626-4B94-8977-EEE0EF0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게시자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02551-D203-43C6-B7F4-638AFF1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Microsoft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49E3F-5628-4DF7-9B16-16F7C26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6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Install을 누른 뒤 재시작 안내가 보이면 적용합니다.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AB2E-E505-4BFB-95F4-E46B7FD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12쪽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041cd4417c408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33400" y="1822847"/>
            <a:ext cx="6896100" cy="3879056"/>
          </a:xfrm>
          <a:prstGeom xmlns:a="http://schemas.openxmlformats.org/drawingml/2006/main" prst="roundRect">
            <a:avLst>
              <a:gd name="adj" fmla="val 491"/>
            </a:avLst>
          </a:prstGeom>
        </p:spPr>
      </p:pic>
    </p:spTree>
    <p:extLst>
      <p:ext uri="{BB962C8B-B14F-4D97-AF65-F5344CB8AC3E}">
        <p14:creationId xmlns:p14="http://schemas.microsoft.com/office/powerpoint/2010/main" val="138287180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630FD0-91C2-461A-A67E-CA35153B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B741E-D9B5-4C27-BAD6-2AD845A1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F06DC-980E-4579-9F1B-EA9465A9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D43B3-AB8A-4E7B-A72B-4331A4AC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VS Code에서 터미널을 여는 방법을 확인합니다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67449-9915-4DD9-96F0-D411849D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37A3F-767A-44D6-912E-4C4436DB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BD25C3-F908-4B9D-9836-D9525700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88161-E2FF-4391-BFCE-A1A45ABE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BB7E7-8C3C-4AB6-969C-CBFE171C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7C6AF-ECAB-4CCD-93DD-D1657B88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상단 메뉴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FFD94B-DEAB-4A71-BB7B-B0846D44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터미널을 누릅니다.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EF2E0F-2F55-467F-B0A0-1B2DE17A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B8F367-BE1D-4CA1-AD11-49C86095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C00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A0322-7BE8-434B-9972-737C4137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D7E949-0275-424B-A17B-F44BB591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새 터미널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80AD5B-4756-4D7C-ADB7-118D379B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아래쪽에 입력 창이 열립니다.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EC9B57-5DEF-4FA7-A333-808A986A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CF1800-CA1E-4B9C-AEA7-BB198289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684C1-D98C-42AA-8B34-5AAA2477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6DB609-8345-46BC-B54F-1567C416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입력 위치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613D53-FB95-4807-9A99-F8499828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커서가 깜빡이면 준비가 끝났습니다.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FD20AD-6134-4338-9212-664B0FED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13쪽</a:t>
            </a:r>
          </a:p>
        </p:txBody>
      </p:sp>
    </p:spTree>
    <p:extLst>
      <p:ext uri="{BB962C8B-B14F-4D97-AF65-F5344CB8AC3E}">
        <p14:creationId xmlns:p14="http://schemas.microsoft.com/office/powerpoint/2010/main" val="79777665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630FD0-91C2-461A-A67E-CA35153B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B741E-D9B5-4C27-BAD6-2AD845A1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F06DC-980E-4579-9F1B-EA9465A9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D43B3-AB8A-4E7B-A72B-4331A4AC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터미널에서 OpenCode를 실행하고 연결을 시작합니다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67449-9915-4DD9-96F0-D411849D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37A3F-767A-44D6-912E-4C4436DB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21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FD20AD-6134-4338-9212-664B0FED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13쪽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d7fa9e0d1e4228"/>
          <a:stretch xmlns:a="http://schemas.openxmlformats.org/drawingml/2006/main"/>
        </p:blipFill>
        <p:spPr>
          <a:xfrm xmlns:a="http://schemas.openxmlformats.org/drawingml/2006/main">
            <a:off x="535517" y="1819275"/>
            <a:ext cx="6891867" cy="3876675"/>
          </a:xfrm>
          <a:prstGeom xmlns:a="http://schemas.openxmlformats.org/drawingml/2006/main" prst="roundRect">
            <a:avLst>
              <a:gd name="adj" fmla="val 2948"/>
            </a:avLst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6CB4CD-DD68-4D1C-B95F-F604FBB4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524250" cy="3905250"/>
          </a:xfrm>
          <a:prstGeom xmlns:a="http://schemas.openxmlformats.org/drawingml/2006/main" prst="roundRect">
            <a:avLst>
              <a:gd name="adj" fmla="val 2948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B79744-2C3E-4740-86FB-F9374347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5A1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5A1F"/>
                </a:solidFill>
                <a:latin typeface="Pretendard"/>
                <a:ea typeface="Pretendard"/>
                <a:cs typeface="Pretendard"/>
              </a:rPr>
              <a:t>opencode</a:t>
            </a:r>
          </a:p>
          <a:p xmlns:a="http://schemas.openxmlformats.org/drawingml/2006/main">
            <a:pPr>
              <a:buNone/>
              <a:defRPr sz="1650" b="1">
                <a:solidFill>
                  <a:srgbClr val="FF5A1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5A1F"/>
                </a:solidFill>
                <a:latin typeface="Pretendard"/>
                <a:ea typeface="Pretendard"/>
                <a:cs typeface="Pretendard"/>
              </a:rPr>
              <a:t>/connect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FCAB7D-7585-4C1E-A491-4B383EA8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86050"/>
            <a:ext cx="285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350">
                <a:solidFill>
                  <a:srgbClr val="25282D"/>
                </a:solidFill>
                <a:latin typeface="Pretendard"/>
                <a:ea typeface="Pretendard"/>
                <a:cs typeface="Pretendard"/>
              </a:defRPr>
            </a:pPr>
            <a:r>
              <a:rPr sz="1350">
                <a:solidFill>
                  <a:srgbClr val="25282D"/>
                </a:solidFill>
                <a:latin typeface="Pretendard"/>
                <a:ea typeface="Pretendard"/>
                <a:cs typeface="Pretendard"/>
              </a:rPr>
              <a:t>1. 터미널에 opencode를 입력합니다.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350">
                <a:solidFill>
                  <a:srgbClr val="25282D"/>
                </a:solidFill>
                <a:latin typeface="Pretendard"/>
                <a:ea typeface="Pretendard"/>
                <a:cs typeface="Pretendard"/>
              </a:defRPr>
            </a:pPr>
            <a:r>
              <a:rPr sz="1350">
                <a:solidFill>
                  <a:srgbClr val="25282D"/>
                </a:solidFill>
                <a:latin typeface="Pretendard"/>
                <a:ea typeface="Pretendard"/>
                <a:cs typeface="Pretendard"/>
              </a:rPr>
              <a:t>2. OpenCode 화면에서 /connect를 입력합니다.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350">
                <a:solidFill>
                  <a:srgbClr val="25282D"/>
                </a:solidFill>
                <a:latin typeface="Pretendard"/>
                <a:ea typeface="Pretendard"/>
                <a:cs typeface="Pretendard"/>
              </a:defRPr>
            </a:pPr>
            <a:r>
              <a:rPr sz="1350">
                <a:solidFill>
                  <a:srgbClr val="25282D"/>
                </a:solidFill>
                <a:latin typeface="Pretendard"/>
                <a:ea typeface="Pretendard"/>
                <a:cs typeface="Pretendard"/>
              </a:rPr>
              <a:t>3. 교사가 지정한 제공자를 선택합니다.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196871-F0C4-4CBC-8106-C34395F6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6250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pPr>
            <a:r>
              <a:rPr sz="105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연결 화면은 업데이트될 수 있습니다. 수업 당일 교사가 지정한 항목을 선택합니다.</a:t>
            </a:r>
          </a:p>
        </p:txBody>
      </p:sp>
    </p:spTree>
    <p:extLst>
      <p:ext uri="{BB962C8B-B14F-4D97-AF65-F5344CB8AC3E}">
        <p14:creationId xmlns:p14="http://schemas.microsoft.com/office/powerpoint/2010/main" val="79777665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630FD0-91C2-461A-A67E-CA35153B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B741E-D9B5-4C27-BAD6-2AD845A1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F06DC-980E-4579-9F1B-EA9465A9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D43B3-AB8A-4E7B-A72B-4331A4AC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Zen에서 API 키를 만들고 OpenCode에 붙여넣습니다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67449-9915-4DD9-96F0-D411849D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37A3F-767A-44D6-912E-4C4436DB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22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FD20AD-6134-4338-9212-664B0FED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14쪽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c6a594b93241e5"/>
          <a:stretch xmlns:a="http://schemas.openxmlformats.org/drawingml/2006/main"/>
        </p:blipFill>
        <p:spPr>
          <a:xfrm xmlns:a="http://schemas.openxmlformats.org/drawingml/2006/main">
            <a:off x="533400" y="1794363"/>
            <a:ext cx="7143750" cy="2659673"/>
          </a:xfrm>
          <a:prstGeom xmlns:a="http://schemas.openxmlformats.org/drawingml/2006/main" prst="roundRect">
            <a:avLst>
              <a:gd name="adj" fmla="val 4286"/>
            </a:avLst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c341cf01484f2f"/>
          <a:stretch xmlns:a="http://schemas.openxmlformats.org/drawingml/2006/main"/>
        </p:blipFill>
        <p:spPr>
          <a:xfrm xmlns:a="http://schemas.openxmlformats.org/drawingml/2006/main">
            <a:off x="8040546" y="1790700"/>
            <a:ext cx="3540408" cy="2190750"/>
          </a:xfrm>
          <a:prstGeom xmlns:a="http://schemas.openxmlformats.org/drawingml/2006/main" prst="roundRect">
            <a:avLst>
              <a:gd name="adj" fmla="val 5217"/>
            </a:avLst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B03B8F-D46B-4AB6-9E81-BC42605D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695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5A1F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F5A1F"/>
                </a:solidFill>
                <a:latin typeface="Pretendard"/>
                <a:ea typeface="Pretendard"/>
                <a:cs typeface="Pretendard"/>
              </a:rPr>
              <a:t>1. OpenCode Zen → API 키 → API 키 생성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3DEC89-39EA-4096-9D88-48708F3D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695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75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새 키를 만든 뒤 Copy로 한 번 복사합니다.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75ED83-296E-4E36-8D6E-B8E25E1A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338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5A1F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F5A1F"/>
                </a:solidFill>
                <a:latin typeface="Pretendard"/>
                <a:ea typeface="Pretendard"/>
                <a:cs typeface="Pretendard"/>
              </a:rPr>
              <a:t>2. 전용 입력칸에 붙여넣기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C524FC-9C58-4B2A-B735-3B2A0BAB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29150"/>
            <a:ext cx="35433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4EE"/>
          </a:solidFill>
          <a:ln xmlns:a="http://schemas.openxmlformats.org/drawingml/2006/main" w="9525">
            <a:solidFill>
              <a:srgbClr val="FFB38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98CAAE-A9B3-4662-83A7-1B128904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196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200" b="1">
                <a:solidFill>
                  <a:srgbClr val="7C2D1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7C2D12"/>
                </a:solidFill>
                <a:latin typeface="Pretendard"/>
                <a:ea typeface="Pretendard"/>
                <a:cs typeface="Pretendard"/>
              </a:rPr>
              <a:t>키가 보이는 화면은 캡처하지 않습니다.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200" b="1">
                <a:solidFill>
                  <a:srgbClr val="7C2D1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7C2D12"/>
                </a:solidFill>
                <a:latin typeface="Pretendard"/>
                <a:ea typeface="Pretendard"/>
                <a:cs typeface="Pretendard"/>
              </a:rPr>
              <a:t>카드·결제정보가 나오면 멈춥니다.</a:t>
            </a:r>
          </a:p>
        </p:txBody>
      </p:sp>
    </p:spTree>
    <p:extLst>
      <p:ext uri="{BB962C8B-B14F-4D97-AF65-F5344CB8AC3E}">
        <p14:creationId xmlns:p14="http://schemas.microsoft.com/office/powerpoint/2010/main" val="79777665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630FD0-91C2-461A-A67E-CA35153B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B741E-D9B5-4C27-BAD6-2AD845A1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F06DC-980E-4579-9F1B-EA9465A9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D43B3-AB8A-4E7B-A72B-4331A4AC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무료 모델 DeepSeek V4 Flash를 선택합니다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67449-9915-4DD9-96F0-D411849D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37A3F-767A-44D6-912E-4C4436DB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23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FD20AD-6134-4338-9212-664B0FED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14쪽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3d433f4e9c4d7e"/>
          <a:stretch xmlns:a="http://schemas.openxmlformats.org/drawingml/2006/main"/>
        </p:blipFill>
        <p:spPr>
          <a:xfrm xmlns:a="http://schemas.openxmlformats.org/drawingml/2006/main" flipH="0" flipV="0">
            <a:off x="535517" y="1819275"/>
            <a:ext cx="6891867" cy="3876675"/>
          </a:xfrm>
          <a:prstGeom xmlns:a="http://schemas.openxmlformats.org/drawingml/2006/main" prst="round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687A52-A13E-414D-B5C2-07CCE8DA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524250" cy="3905250"/>
          </a:xfrm>
          <a:prstGeom xmlns:a="http://schemas.openxmlformats.org/drawingml/2006/main" prst="roundRect">
            <a:avLst>
              <a:gd name="adj" fmla="val 2948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A7769F-663E-4851-927E-952CBB43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5A1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5A1F"/>
                </a:solidFill>
                <a:latin typeface="Pretendard"/>
                <a:ea typeface="Pretendard"/>
                <a:cs typeface="Pretendard"/>
              </a:rPr>
              <a:t>/models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AA0EBC-CD47-4873-96ED-AC06CEE7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86050"/>
            <a:ext cx="285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350">
                <a:solidFill>
                  <a:srgbClr val="25282D"/>
                </a:solidFill>
                <a:latin typeface="Pretendard"/>
                <a:ea typeface="Pretendard"/>
                <a:cs typeface="Pretendard"/>
              </a:defRPr>
            </a:pPr>
            <a:r>
              <a:rPr sz="1350">
                <a:solidFill>
                  <a:srgbClr val="25282D"/>
                </a:solidFill>
                <a:latin typeface="Pretendard"/>
                <a:ea typeface="Pretendard"/>
                <a:cs typeface="Pretendard"/>
              </a:rPr>
              <a:t>1. free를 검색합니다.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350">
                <a:solidFill>
                  <a:srgbClr val="25282D"/>
                </a:solidFill>
                <a:latin typeface="Pretendard"/>
                <a:ea typeface="Pretendard"/>
                <a:cs typeface="Pretendard"/>
              </a:defRPr>
            </a:pPr>
            <a:r>
              <a:rPr sz="1350">
                <a:solidFill>
                  <a:srgbClr val="25282D"/>
                </a:solidFill>
                <a:latin typeface="Pretendard"/>
                <a:ea typeface="Pretendard"/>
                <a:cs typeface="Pretendard"/>
              </a:rPr>
              <a:t>2. DeepSeek V4 Flash Free를 고릅니다.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350">
                <a:solidFill>
                  <a:srgbClr val="25282D"/>
                </a:solidFill>
                <a:latin typeface="Pretendard"/>
                <a:ea typeface="Pretendard"/>
                <a:cs typeface="Pretendard"/>
              </a:defRPr>
            </a:pPr>
            <a:r>
              <a:rPr sz="1350">
                <a:solidFill>
                  <a:srgbClr val="25282D"/>
                </a:solidFill>
                <a:latin typeface="Pretendard"/>
                <a:ea typeface="Pretendard"/>
                <a:cs typeface="Pretendard"/>
              </a:rPr>
              <a:t>3. 이름 끝의 Free를 확인합니다.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FC32AC-CE1A-4C4B-9B3A-7A4D3BB8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6250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6B7280"/>
                </a:solidFill>
                <a:latin typeface="Pretendard"/>
                <a:ea typeface="Pretendard"/>
                <a:cs typeface="Pretendard"/>
              </a:defRPr>
            </a:pPr>
            <a:r>
              <a:rPr sz="105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특강과 같은 모델입니다. 목록이 바뀌면 교사가 확인한 Free DeepSeek를 선택합니다.</a:t>
            </a:r>
          </a:p>
        </p:txBody>
      </p:sp>
    </p:spTree>
    <p:extLst>
      <p:ext uri="{BB962C8B-B14F-4D97-AF65-F5344CB8AC3E}">
        <p14:creationId xmlns:p14="http://schemas.microsoft.com/office/powerpoint/2010/main" val="79777665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630FD0-91C2-461A-A67E-CA35153B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B741E-D9B5-4C27-BAD6-2AD845A1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F06DC-980E-4579-9F1B-EA9465A9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D43B3-AB8A-4E7B-A72B-4331A4AC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첫 요청을 보내고 응답을 확인합니다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67449-9915-4DD9-96F0-D411849D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37A3F-767A-44D6-912E-4C4436DB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BD25C3-F908-4B9D-9836-D9525700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88161-E2FF-4391-BFCE-A1A45ABE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BB7E7-8C3C-4AB6-969C-CBFE171C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7C6AF-ECAB-4CCD-93DD-D1657B88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요청 복사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FFD94B-DEAB-4A71-BB7B-B0846D44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이 수업에서 OpenCode가 도울 수 있는 일을 세 가지만 알려 줘.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EF2E0F-2F55-467F-B0A0-1B2DE17A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B8F367-BE1D-4CA1-AD11-49C86095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C00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A0322-7BE8-434B-9972-737C4137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D7E949-0275-424B-A17B-F44BB591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Enter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80AD5B-4756-4D7C-ADB7-118D379B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OpenCode에 붙여넣고 Enter를 누릅니다.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EC9B57-5DEF-4FA7-A333-808A986A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CF1800-CA1E-4B9C-AEA7-BB198289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684C1-D98C-42AA-8B34-5AAA2477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6DB609-8345-46BC-B54F-1567C416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응답 확인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613D53-FB95-4807-9A99-F8499828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세 가지 항목으로 답했는지 확인합니다.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780D43-3E08-42E2-9849-813A4161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0782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rPr>
              <a:t>첫 요청의 목적은 OpenCode의 연결 상태와 요청 형식을 확인하는 것입니다.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FD20AD-6134-4338-9212-664B0FED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15쪽</a:t>
            </a:r>
          </a:p>
        </p:txBody>
      </p:sp>
    </p:spTree>
    <p:extLst>
      <p:ext uri="{BB962C8B-B14F-4D97-AF65-F5344CB8AC3E}">
        <p14:creationId xmlns:p14="http://schemas.microsoft.com/office/powerpoint/2010/main" val="79777665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3D84A4-768F-472D-9848-F5AB664A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C66864-8A40-45AF-9B4C-98FC1B8A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BFBD8F-39FD-442E-8878-DE6416D5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02-1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FE2401-6019-4F48-A131-23C632F5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설치가 끝나면 다음 수업으로 이어집니다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D3612F-9EF3-486E-8E80-CC954EF3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BC44F-BF50-4A05-96DE-150B9C87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5A9CDE-9344-4424-824E-46171BD6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104394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2F6555-3F47-4856-A3A9-EA18FFBD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19325"/>
            <a:ext cx="986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2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이번 차시에서 확인한 네 가지 준비 상태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1DF65-3627-41F2-A074-6910C173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9908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Python 준비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9734E0-D545-4AC4-8C0C-13AB0F51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5752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9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B7861F-72F7-46EB-8A6D-7A84361D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9908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9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OpenCode 연결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2B180A-8939-46E1-AA66-C6CE2A3C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05752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9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08B9CC-8A07-4804-BB79-691A20A9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9908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VS Code 준비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B319C8-991F-4849-9638-58791227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05752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9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951057-987C-4730-A3B5-24BA4758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908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첫 요청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B1EA09-0954-4D6C-8A82-74650CD0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81450"/>
            <a:ext cx="914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025" b="1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rPr>
              <a:t>설치 확인 → 확장 설치 → 터미널 열기 → OpenCode 연결 → 첫 응답 확인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2D0CFB-923C-4C1E-9DE2-01DCC0E9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673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650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다음 차시: 준비된 Python 파일로 숫자·글자·변수·계산 결과를 읽습니다.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DF9A22-2C31-41EA-B269-AD14C918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교과서 02-1 · 16쪽</a:t>
            </a:r>
          </a:p>
        </p:txBody>
      </p:sp>
    </p:spTree>
    <p:extLst>
      <p:ext uri="{BB962C8B-B14F-4D97-AF65-F5344CB8AC3E}">
        <p14:creationId xmlns:p14="http://schemas.microsoft.com/office/powerpoint/2010/main" val="18793925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2026-08-31T08:39:29.7620000Z</dcterms:created>
  <dcterms:modified xsi:type="dcterms:W3CDTF">2026-08-31T08:39:29.7620000Z</dcterms:modified>
</coreProperties>
</file>