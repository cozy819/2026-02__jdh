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73d76a489c4aba" /><Relationship Type="http://schemas.openxmlformats.org/officeDocument/2006/relationships/extended-properties" Target="/docProps/app.xml" Id="R0b152fb80b164895" /><Relationship Type="http://schemas.openxmlformats.org/officeDocument/2006/relationships/officeDocument" Target="/ppt/presentation.xml" Id="Ra12dac8cc9f845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7ac664d17e4db8"/>
  </p:sldMasterIdLst>
  <p:notesMasterIdLst>
    <p:notesMasterId xmlns:r="http://schemas.openxmlformats.org/officeDocument/2006/relationships" r:id="Ra2610f0f38dc4f1d"/>
  </p:notesMasterIdLst>
  <p:sldIdLst>
    <p:sldId xmlns:r="http://schemas.openxmlformats.org/officeDocument/2006/relationships" id="256" r:id="R74e56aed7ea94fca"/>
    <p:sldId xmlns:r="http://schemas.openxmlformats.org/officeDocument/2006/relationships" id="257" r:id="R1c62d5fbbe53477d"/>
    <p:sldId xmlns:r="http://schemas.openxmlformats.org/officeDocument/2006/relationships" id="258" r:id="Re747386cc6c2430b"/>
    <p:sldId xmlns:r="http://schemas.openxmlformats.org/officeDocument/2006/relationships" id="259" r:id="Rdc892bced36843c1"/>
    <p:sldId xmlns:r="http://schemas.openxmlformats.org/officeDocument/2006/relationships" id="260" r:id="R8eb1d164e1ce456c"/>
    <p:sldId xmlns:r="http://schemas.openxmlformats.org/officeDocument/2006/relationships" id="261" r:id="R4d6ffbef6bab4820"/>
    <p:sldId xmlns:r="http://schemas.openxmlformats.org/officeDocument/2006/relationships" id="262" r:id="R132a3bb204584c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5f5392944d4a48" /><Relationship Type="http://schemas.openxmlformats.org/officeDocument/2006/relationships/slideMaster" Target="/ppt/slideMasters/slideMaster1.xml" Id="R217ac664d17e4db8" /><Relationship Type="http://schemas.openxmlformats.org/officeDocument/2006/relationships/notesMaster" Target="/ppt/notesMasters/notesMaster1.xml" Id="Ra2610f0f38dc4f1d" /><Relationship Type="http://schemas.openxmlformats.org/officeDocument/2006/relationships/presProps" Target="/ppt/presProps.xml" Id="R2df96b55baa24fbb" /><Relationship Type="http://schemas.openxmlformats.org/officeDocument/2006/relationships/tableStyles" Target="/ppt/tableStyles.xml" Id="Rbc4aba4c0e64470f" /><Relationship Type="http://schemas.openxmlformats.org/officeDocument/2006/relationships/slide" Target="/ppt/slides/slide1.xml" Id="R74e56aed7ea94fca" /><Relationship Type="http://schemas.openxmlformats.org/officeDocument/2006/relationships/slide" Target="/ppt/slides/slide2.xml" Id="R1c62d5fbbe53477d" /><Relationship Type="http://schemas.openxmlformats.org/officeDocument/2006/relationships/slide" Target="/ppt/slides/slide3.xml" Id="Re747386cc6c2430b" /><Relationship Type="http://schemas.openxmlformats.org/officeDocument/2006/relationships/slide" Target="/ppt/slides/slide4.xml" Id="Rdc892bced36843c1" /><Relationship Type="http://schemas.openxmlformats.org/officeDocument/2006/relationships/slide" Target="/ppt/slides/slide5.xml" Id="R8eb1d164e1ce456c" /><Relationship Type="http://schemas.openxmlformats.org/officeDocument/2006/relationships/slide" Target="/ppt/slides/slide6.xml" Id="R4d6ffbef6bab4820" /><Relationship Type="http://schemas.openxmlformats.org/officeDocument/2006/relationships/slide" Target="/ppt/slides/slide7.xml" Id="R132a3bb204584c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740cb8d78d4d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81f778f37a42ad" /><Relationship Type="http://schemas.openxmlformats.org/officeDocument/2006/relationships/notesMaster" Target="/ppt/notesMasters/notesMaster1.xml" Id="R21f250a16a5a48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d3076d7f4249d9" /><Relationship Type="http://schemas.openxmlformats.org/officeDocument/2006/relationships/notesMaster" Target="/ppt/notesMasters/notesMaster1.xml" Id="R7aa5e9cb81cd47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697ef821944fc9" /><Relationship Type="http://schemas.openxmlformats.org/officeDocument/2006/relationships/notesMaster" Target="/ppt/notesMasters/notesMaster1.xml" Id="R651a7c5720494a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c3ed8bb0fe449b" /><Relationship Type="http://schemas.openxmlformats.org/officeDocument/2006/relationships/notesMaster" Target="/ppt/notesMasters/notesMaster1.xml" Id="R0813f4321f0f42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18f49af48f4a01" /><Relationship Type="http://schemas.openxmlformats.org/officeDocument/2006/relationships/notesMaster" Target="/ppt/notesMasters/notesMaster1.xml" Id="R811a6e7eefa44e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ec2d168ade4c19" /><Relationship Type="http://schemas.openxmlformats.org/officeDocument/2006/relationships/notesMaster" Target="/ppt/notesMasters/notesMaster1.xml" Id="R42c530172fb042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73b17e36dc44bf" /><Relationship Type="http://schemas.openxmlformats.org/officeDocument/2006/relationships/notesMaster" Target="/ppt/notesMasters/notesMaster1.xml" Id="R48599de3a70248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[수업 시간 구성]</a:t>
            </a:r>
          </a:p>
          <a:p xmlns:a="http://schemas.openxmlformats.org/drawingml/2006/main">
            <a:r>
              <a:t>0–10분 · 라이브러리와 Matplotlib</a:t>
            </a:r>
          </a:p>
          <a:p xmlns:a="http://schemas.openxmlformats.org/drawingml/2006/main">
            <a:r>
              <a:t>10–20분 · 같은 데이터의 표·그래프 비교</a:t>
            </a:r>
          </a:p>
          <a:p xmlns:a="http://schemas.openxmlformats.org/drawingml/2006/main">
            <a:r>
              <a:t>20–30분 · 질문별 그래프 종류</a:t>
            </a:r>
          </a:p>
          <a:p xmlns:a="http://schemas.openxmlformats.org/drawingml/2006/main">
            <a:r>
              <a:t>30–40분 · AI 요청과 원본 대조</a:t>
            </a:r>
          </a:p>
          <a:p xmlns:a="http://schemas.openxmlformats.org/drawingml/2006/main">
            <a:r>
              <a:t>40–45분 · 축에 따른 오해와 정리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그래프의 축과 선을 직접 만들지 않아도 되는 이유가 라이브러리입니다. import는 설치가 아니라 설치된 기능을 현재 코드에서 쓰겠다는 뜻입니다.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막대는 항목 비교, 선은 시간 변화, 산점도는 두 수치 관계라는 질문부터 연결합니다. 정의를 외우게 하지 않습니다. 수행평가에서는 그래프 종류를 교사가 지정합니다.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AI 요청에서 데이터, 그래프 종류, 축, y축 시작점, 제목과 단위를 완료 조건으로 전달합니다. 학생은 Matplotlib 함수 이름 대신 이 조건이 코드와 결과에 반영됐는지 찾습니다.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네 그래프 모양을 보고 어떤 질문에 알맞은지 말하게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교과서 배포 자산 · 그래프 종류 도식 · 2026-08-29 수업용 재사용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그래프가 뜨면 바로 완성이라고 하지 않습니다. 막대 수, 높이, 최댓값, 제목, 축, 단위를 원본과 차례로 대조합니다.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[마무리]</a:t>
            </a:r>
          </a:p>
          <a:p xmlns:a="http://schemas.openxmlformats.org/drawingml/2006/main">
            <a:r>
              <a:t>이 과목은 수학이나 데이터 분석 과목이 아닙니다. 해석 점수를 크게 두지 않고 교사가 요구한 그래프를 정확히 만들고 확인하는 AI 활용을 우선합니다.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1de7ed4cde43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896c588781481d" /><Relationship Type="http://schemas.openxmlformats.org/officeDocument/2006/relationships/slideLayout" Target="/ppt/slideLayouts/slideLayout1.xml" Id="Rad4c00aef53a4d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4c00aef53a4d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6e2a21bd94aa9" /><Relationship Type="http://schemas.openxmlformats.org/officeDocument/2006/relationships/notesSlide" Target="/ppt/notesSlides/notesSlide1.xml" Id="R72f1f4177edb43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d46e25c6d4aea" /><Relationship Type="http://schemas.openxmlformats.org/officeDocument/2006/relationships/notesSlide" Target="/ppt/notesSlides/notesSlide2.xml" Id="R37ab89f50a9240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f04a227ce4ec6" /><Relationship Type="http://schemas.openxmlformats.org/officeDocument/2006/relationships/notesSlide" Target="/ppt/notesSlides/notesSlide3.xml" Id="Raf49dbc6bfdd4c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47141b65643d1" /><Relationship Type="http://schemas.openxmlformats.org/officeDocument/2006/relationships/notesSlide" Target="/ppt/notesSlides/notesSlide4.xml" Id="R85c08114f1fc4d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1ee56f3f94d65" /><Relationship Type="http://schemas.openxmlformats.org/officeDocument/2006/relationships/image" Target="/ppt/media/image.png" Id="R83d2a02b228c45e1" /><Relationship Type="http://schemas.openxmlformats.org/officeDocument/2006/relationships/notesSlide" Target="/ppt/notesSlides/notesSlide5.xml" Id="R523a161d729e4a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45b440a1942ee" /><Relationship Type="http://schemas.openxmlformats.org/officeDocument/2006/relationships/notesSlide" Target="/ppt/notesSlides/notesSlide6.xml" Id="R31cdaa6ce3d141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e3e27f1f94d39" /><Relationship Type="http://schemas.openxmlformats.org/officeDocument/2006/relationships/notesSlide" Target="/ppt/notesSlides/notesSlide7.xml" Id="R7b195100a58a44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D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0DFF9-EC3C-4F5E-BF94-E8D0B83C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E31AD-7223-4479-8594-5DE00CCE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장대현중고등학교 · 2026학년도 2학기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75CC8-30C9-492D-9F0E-E92B91B5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33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04-1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E0391-B705-460B-B564-5014063D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Matplotlib으로 그래프 이해하기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FEC6-DF96-4C6F-8644-9AC6743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87E46-F76C-48F5-A953-2CAA0EBE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그래프 함수를 외우지 않고 데이터·조건·원본과의 일치를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87667-CD22-4E15-BC83-CF37074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rPr>
              <a:t>수업자료 4-1</a:t>
            </a:r>
          </a:p>
        </p:txBody>
      </p:sp>
    </p:spTree>
    <p:extLst>
      <p:ext uri="{BB962C8B-B14F-4D97-AF65-F5344CB8AC3E}">
        <p14:creationId xmlns:p14="http://schemas.microsoft.com/office/powerpoint/2010/main" val="211889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6CE8A-4F6C-4413-AE7E-7EB0536F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5AB99-487D-4A39-BF64-C336382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ACD2-B3B4-4D07-9198-C016A64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A1E21-E13B-466F-8F1E-188B143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여러 숫자를 그래프로 바꾸면 무엇이 쉬워질까요?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424B4-D138-4388-990B-86ECBA7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41F88-F8C9-4E35-B364-B2E333F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1F02F-29D9-4770-BF49-EEBDFBD8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표는 정확한 값을, 그래프는 크기와 변화 형태를 한눈에 보기 좋습니다.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CAE29-3AC3-4D6A-AB27-489EA446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97917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34CA8-5A08-4A87-8B39-79419F48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718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표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정확한 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8A8DB-4649-4FB1-B2CB-D3BB60F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C1D3A-8637-45B7-B11B-6EF8F5CE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71825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그래프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관계와 변화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F795E-0438-482A-9DD6-D03975B4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0268F-07AE-4D4E-8D33-63B9E942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71825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사람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원본 대조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2E1D5-2B69-4CDF-B097-FC103AC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표와 그래프는 서로를 완전히 대신하지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9A2B6-FF5A-4FCC-83B8-A46912E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4-1</a:t>
            </a:r>
          </a:p>
        </p:txBody>
      </p:sp>
    </p:spTree>
    <p:extLst>
      <p:ext uri="{BB962C8B-B14F-4D97-AF65-F5344CB8AC3E}">
        <p14:creationId xmlns:p14="http://schemas.microsoft.com/office/powerpoint/2010/main" val="1275925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질문에 따라 그래프 모양이 달라집니다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막대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항목 비교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요일별 이용 인원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시간 변화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날짜별 기온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산점도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두 수치 관계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운동 시간과 심박수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수행평가에서는 교사가 그래프 종류와 표시 조건을 지정합니다.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4-1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71833-949F-473B-AA98-6414C49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7CE97-F21C-45F4-B764-3ADA083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39F5A-0AA1-4A92-9FB0-4FC1A07F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FEBD6-82E5-489A-A4AF-97113A5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 요청에는 완료 조건까지 담습니다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E1FD4-BC3A-4018-B2F0-6E550F77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FFF27-4FC7-4A7B-8C31-E51F459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532B0-9B57-46EC-89A0-66E04E61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43075"/>
            <a:ext cx="6477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D87A3-D06C-466A-9406-1CCCF1E2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요일 5개 · 이용 인원 5개 · 막대그래프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517D5-ADCB-4B17-BAF8-12AB825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A06EB-FCE1-4684-9552-3E42E177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198BD-3458-49A6-B7AC-D219E71C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데이터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BD13C-84A7-43D3-9F76-E7A838CC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원본 그대로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B9C01-9C5B-4EEB-ADF2-95C09BD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3C842-E501-4C8A-ADDD-1B813DDA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01508-E42F-4EBA-903B-6D05A9F2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F8B4C-B8B2-449F-82FB-E726B54D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그래프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E7079-60D6-4B7B-B4E5-12E45E64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막대 지정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C3E6B-E4CD-4BB8-8D48-8E6BF4A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5AE95-3707-4923-AC32-E4FC41B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9B20C-0DCD-445D-A9F0-55339211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0A81C-BD9B-4E12-8336-08784EC0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1B2A4-F835-4286-B9C1-50C505C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x·y 이름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C7B88-AC02-4263-AE8F-3E7621D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540F2-8C0C-462D-ABA5-68053929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E9BA3-01CB-47C1-ACB0-3CD425E3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4DDE7-77B0-42A9-8E9E-7D56C9F2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시작점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BC0C1A-75F8-4502-99F2-04B37E19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y축 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E90E5-FE88-4EB8-B8FA-E24264BD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7A8F4-9866-4F26-B01B-9968951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D5881-A257-4755-905F-AF93316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0E7C86"/>
                </a:solidFill>
                <a:latin typeface="Archivo"/>
                <a:ea typeface="Archivo"/>
                <a:cs typeface="Archivo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37F3A-E964-4A0E-B61C-9D139D6E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제목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B8C2D-C2E8-4073-8D23-18C62627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단위 포함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DC38BC-E6D1-456C-B0A5-C1A08BFE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학생은 함수를 외우지 않고 AI가 이 다섯 조건을 지켰는지 확인합니다.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5D98E-4C16-4900-978D-0E44CD7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4-1</a:t>
            </a:r>
          </a:p>
        </p:txBody>
      </p:sp>
    </p:spTree>
    <p:extLst>
      <p:ext uri="{BB962C8B-B14F-4D97-AF65-F5344CB8AC3E}">
        <p14:creationId xmlns:p14="http://schemas.microsoft.com/office/powerpoint/2010/main" val="1685485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질문에 맞는 그래프 모양을 구분합니다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05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2a02b228c45e1"/>
          <a:stretch xmlns:a="http://schemas.openxmlformats.org/drawingml/2006/main"/>
        </p:blipFill>
        <p:spPr>
          <a:xfrm xmlns:a="http://schemas.openxmlformats.org/drawingml/2006/main">
            <a:off x="533400" y="2684859"/>
            <a:ext cx="6896100" cy="2155031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막대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항목의 크기 비교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시간에 따른 변화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산점도 · 두 수치의 관계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4-1</a:t>
            </a:r>
          </a:p>
        </p:txBody>
      </p:sp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그래프가 나타난 뒤 원본과 비교합니다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개수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막대 5개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원본 항목 수와 같은가?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18·25·21·32·29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높이와 최댓값이 맞는가?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표시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제목·축·단위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교사가 지정한 조건을 지켰는가?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실행 성공이 아니라 원본 데이터와 조건의 일치가 완성 기준입니다.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4-1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D84A4-768F-472D-9848-F5AB664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66864-8A40-45AF-9B4C-98FC1B8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FBD8F-39FD-442E-8878-DE6416D5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E2401-6019-4F48-A131-23C632F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그래프는 사실을 자동으로 설명하지 않습니다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3612F-9EF3-486E-8E80-CC954EF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BC44F-BF50-4A05-96DE-150B9C8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A9CDE-9344-4424-824E-46171BD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555-3F47-4856-A3A9-EA18FFB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193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축·기간·단위에 따라 같은 데이터도 다른 인상을 줄 수 있습니다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1DF65-3627-41F2-A074-6910C17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0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원본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734E0-D545-4AC4-8C0C-13AB0F51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7861F-72F7-46EB-8A6D-7A84361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그래프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B180A-8939-46E1-AA66-C6CE2A3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8B9CC-8A07-4804-BB79-691A20A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축·단위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319C8-991F-4849-9638-58791227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51057-987C-4730-A3B5-24BA475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사람의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1EA09-0954-4D6C-8A82-74650CD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깊은 통계 해석보다 지정 그래프 완성과 원본 대조가 우선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D0CFB-923C-4C1E-9DE2-01DCC0E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다음 차시: pandas의 DataFrame으로 표와 그래프를 연결합니다.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F9A22-2C31-41EA-B269-AD14C918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4-1</a:t>
            </a:r>
          </a:p>
        </p:txBody>
      </p:sp>
    </p:spTree>
    <p:extLst>
      <p:ext uri="{BB962C8B-B14F-4D97-AF65-F5344CB8AC3E}">
        <p14:creationId xmlns:p14="http://schemas.microsoft.com/office/powerpoint/2010/main" val="1879392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2026-08-29T14:38:53.4750000Z</dcterms:created>
  <dcterms:modified xsi:type="dcterms:W3CDTF">2026-08-29T14:38:53.4750000Z</dcterms:modified>
</coreProperties>
</file>