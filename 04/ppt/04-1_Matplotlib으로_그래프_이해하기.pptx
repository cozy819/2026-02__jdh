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2741c8349d4272" /><Relationship Type="http://schemas.openxmlformats.org/officeDocument/2006/relationships/extended-properties" Target="/docProps/app.xml" Id="Rd56118d59b374265" /><Relationship Type="http://schemas.openxmlformats.org/officeDocument/2006/relationships/officeDocument" Target="/ppt/presentation.xml" Id="R1c649fa388b14a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ca2237df674a92"/>
  </p:sldMasterIdLst>
  <p:notesMasterIdLst>
    <p:notesMasterId xmlns:r="http://schemas.openxmlformats.org/officeDocument/2006/relationships" r:id="R1ff7823ab2f24ffc"/>
  </p:notesMasterIdLst>
  <p:sldIdLst>
    <p:sldId xmlns:r="http://schemas.openxmlformats.org/officeDocument/2006/relationships" id="256" r:id="Raa37a657b3ec418a"/>
    <p:sldId xmlns:r="http://schemas.openxmlformats.org/officeDocument/2006/relationships" id="257" r:id="R221f1926f24d41ed"/>
    <p:sldId xmlns:r="http://schemas.openxmlformats.org/officeDocument/2006/relationships" id="258" r:id="Rf69abab91f7f49cf"/>
    <p:sldId xmlns:r="http://schemas.openxmlformats.org/officeDocument/2006/relationships" id="259" r:id="R126ee0e8641c4ba0"/>
    <p:sldId xmlns:r="http://schemas.openxmlformats.org/officeDocument/2006/relationships" id="260" r:id="Ra522a28704804f6f"/>
    <p:sldId xmlns:r="http://schemas.openxmlformats.org/officeDocument/2006/relationships" id="261" r:id="Rad1b633ab8224be1"/>
    <p:sldId xmlns:r="http://schemas.openxmlformats.org/officeDocument/2006/relationships" id="262" r:id="Ra3ea402bfe1a45b1"/>
    <p:sldId xmlns:r="http://schemas.openxmlformats.org/officeDocument/2006/relationships" id="263" r:id="R30cb65cfc1e24996"/>
    <p:sldId xmlns:r="http://schemas.openxmlformats.org/officeDocument/2006/relationships" id="264" r:id="Ra38472350a184c1a"/>
    <p:sldId xmlns:r="http://schemas.openxmlformats.org/officeDocument/2006/relationships" id="265" r:id="R6ad7dd73669f47d3"/>
    <p:sldId xmlns:r="http://schemas.openxmlformats.org/officeDocument/2006/relationships" id="266" r:id="R3d86a15281c24bce"/>
    <p:sldId xmlns:r="http://schemas.openxmlformats.org/officeDocument/2006/relationships" id="267" r:id="Rda672f51c7a448c2"/>
    <p:sldId xmlns:r="http://schemas.openxmlformats.org/officeDocument/2006/relationships" id="268" r:id="Ra6a3a419f73e4491"/>
    <p:sldId xmlns:r="http://schemas.openxmlformats.org/officeDocument/2006/relationships" id="269" r:id="R15c113c0796f46b1"/>
    <p:sldId xmlns:r="http://schemas.openxmlformats.org/officeDocument/2006/relationships" id="270" r:id="R261896ca747f4e5f"/>
    <p:sldId xmlns:r="http://schemas.openxmlformats.org/officeDocument/2006/relationships" id="271" r:id="Rd93c6b2683ac4a52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db35e4e37e4f77" /><Relationship Type="http://schemas.openxmlformats.org/officeDocument/2006/relationships/slideMaster" Target="/ppt/slideMasters/slideMaster1.xml" Id="Rb4ca2237df674a92" /><Relationship Type="http://schemas.openxmlformats.org/officeDocument/2006/relationships/notesMaster" Target="/ppt/notesMasters/notesMaster1.xml" Id="R1ff7823ab2f24ffc" /><Relationship Type="http://schemas.openxmlformats.org/officeDocument/2006/relationships/presProps" Target="/ppt/presProps.xml" Id="Rda3c4a85985b4f01" /><Relationship Type="http://schemas.openxmlformats.org/officeDocument/2006/relationships/tableStyles" Target="/ppt/tableStyles.xml" Id="R9dd7241dd2674c94" /><Relationship Type="http://schemas.openxmlformats.org/officeDocument/2006/relationships/slide" Target="/ppt/slides/slide1.xml" Id="Raa37a657b3ec418a" /><Relationship Type="http://schemas.openxmlformats.org/officeDocument/2006/relationships/slide" Target="/ppt/slides/slide2.xml" Id="R221f1926f24d41ed" /><Relationship Type="http://schemas.openxmlformats.org/officeDocument/2006/relationships/slide" Target="/ppt/slides/slide3.xml" Id="Rf69abab91f7f49cf" /><Relationship Type="http://schemas.openxmlformats.org/officeDocument/2006/relationships/slide" Target="/ppt/slides/slide4.xml" Id="R126ee0e8641c4ba0" /><Relationship Type="http://schemas.openxmlformats.org/officeDocument/2006/relationships/slide" Target="/ppt/slides/slide5.xml" Id="Ra522a28704804f6f" /><Relationship Type="http://schemas.openxmlformats.org/officeDocument/2006/relationships/slide" Target="/ppt/slides/slide6.xml" Id="Rad1b633ab8224be1" /><Relationship Type="http://schemas.openxmlformats.org/officeDocument/2006/relationships/slide" Target="/ppt/slides/slide7.xml" Id="Ra3ea402bfe1a45b1" /><Relationship Type="http://schemas.openxmlformats.org/officeDocument/2006/relationships/slide" Target="/ppt/slides/slide8.xml" Id="R30cb65cfc1e24996" /><Relationship Type="http://schemas.openxmlformats.org/officeDocument/2006/relationships/slide" Target="/ppt/slides/slide9.xml" Id="Ra38472350a184c1a" /><Relationship Type="http://schemas.openxmlformats.org/officeDocument/2006/relationships/slide" Target="/ppt/slides/slide10.xml" Id="R6ad7dd73669f47d3" /><Relationship Type="http://schemas.openxmlformats.org/officeDocument/2006/relationships/slide" Target="/ppt/slides/slide11.xml" Id="R3d86a15281c24bce" /><Relationship Type="http://schemas.openxmlformats.org/officeDocument/2006/relationships/slide" Target="/ppt/slides/slide12.xml" Id="Rda672f51c7a448c2" /><Relationship Type="http://schemas.openxmlformats.org/officeDocument/2006/relationships/slide" Target="/ppt/slides/slide13.xml" Id="Ra6a3a419f73e4491" /><Relationship Type="http://schemas.openxmlformats.org/officeDocument/2006/relationships/slide" Target="/ppt/slides/slide14.xml" Id="R15c113c0796f46b1" /><Relationship Type="http://schemas.openxmlformats.org/officeDocument/2006/relationships/slide" Target="/ppt/slides/slide15.xml" Id="R261896ca747f4e5f" /><Relationship Type="http://schemas.openxmlformats.org/officeDocument/2006/relationships/slide" Target="/ppt/slides/slide16.xml" Id="Rd93c6b2683ac4a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71ad320a7d41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51c3ce9c104477" /><Relationship Type="http://schemas.openxmlformats.org/officeDocument/2006/relationships/notesMaster" Target="/ppt/notesMasters/notesMaster1.xml" Id="Re8095220d90941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382ff3b5054b69" /><Relationship Type="http://schemas.openxmlformats.org/officeDocument/2006/relationships/notesMaster" Target="/ppt/notesMasters/notesMaster1.xml" Id="R5f86c60714064f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df3f9114be4ea4" /><Relationship Type="http://schemas.openxmlformats.org/officeDocument/2006/relationships/notesMaster" Target="/ppt/notesMasters/notesMaster1.xml" Id="Ra58940831b0d4b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0939019c034a3e" /><Relationship Type="http://schemas.openxmlformats.org/officeDocument/2006/relationships/notesMaster" Target="/ppt/notesMasters/notesMaster1.xml" Id="R9c4bae9d9a6e45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771192bd804436" /><Relationship Type="http://schemas.openxmlformats.org/officeDocument/2006/relationships/notesMaster" Target="/ppt/notesMasters/notesMaster1.xml" Id="Rb923f338538343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a0fe74017d47c3" /><Relationship Type="http://schemas.openxmlformats.org/officeDocument/2006/relationships/notesMaster" Target="/ppt/notesMasters/notesMaster1.xml" Id="R61a7cf83414b47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4dd44b72054eb1" /><Relationship Type="http://schemas.openxmlformats.org/officeDocument/2006/relationships/notesMaster" Target="/ppt/notesMasters/notesMaster1.xml" Id="R40e8687b09434e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ff7d740bf34adc" /><Relationship Type="http://schemas.openxmlformats.org/officeDocument/2006/relationships/notesMaster" Target="/ppt/notesMasters/notesMaster1.xml" Id="Rf92f374ada9147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553a4d6bd74890" /><Relationship Type="http://schemas.openxmlformats.org/officeDocument/2006/relationships/notesMaster" Target="/ppt/notesMasters/notesMaster1.xml" Id="R3c2c3a3d63b746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d8b66f2d564b56" /><Relationship Type="http://schemas.openxmlformats.org/officeDocument/2006/relationships/notesMaster" Target="/ppt/notesMasters/notesMaster1.xml" Id="R97b78a562a6740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b14a84d9f94d2c" /><Relationship Type="http://schemas.openxmlformats.org/officeDocument/2006/relationships/notesMaster" Target="/ppt/notesMasters/notesMaster1.xml" Id="R53c9a379cda349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0c4ffffd7744c3" /><Relationship Type="http://schemas.openxmlformats.org/officeDocument/2006/relationships/notesMaster" Target="/ppt/notesMasters/notesMaster1.xml" Id="Re472b7d547f241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975b3a98204a31" /><Relationship Type="http://schemas.openxmlformats.org/officeDocument/2006/relationships/notesMaster" Target="/ppt/notesMasters/notesMaster1.xml" Id="R8901005f3c4d417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210695aa1e45b2" /><Relationship Type="http://schemas.openxmlformats.org/officeDocument/2006/relationships/notesMaster" Target="/ppt/notesMasters/notesMaster1.xml" Id="R799cbd63e2a8493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4b252f95bbb4604" /><Relationship Type="http://schemas.openxmlformats.org/officeDocument/2006/relationships/notesMaster" Target="/ppt/notesMasters/notesMaster1.xml" Id="R4d61de70d99d4bb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894e5688ec4448c" /><Relationship Type="http://schemas.openxmlformats.org/officeDocument/2006/relationships/notesMaster" Target="/ppt/notesMasters/notesMaster1.xml" Id="Rb9e873b8303744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오늘은 04 폴더를 열고 그래프를 직접 만듭니다. 그래프 함수를 외우는 수업이 아닙니다. AI에게 일을 나누어 요청하고, 결과를 원본과 대조하는 수업입니다.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자료를 내려받고 압축을 푼 뒤, 04 폴더를 통째로 VS Code에서 엽니다. 터미널에서 uv sync를 실행하고, Notebook 오른쪽 위에서 04 폴더의 .venv (Python 3.14) 커널을 고르게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표와 그래프가 같은 숫자를 담고 있음을 확인한 뒤, 어느 쪽이 더 좋다고 바로 답하지 않습니다. 왜 같은 자료를 여러 모습으로 보는지 학생들에게 먼저 묻고 다음 슬라이드로 넘어갑니다.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앞 슬라이드의 질문에 답합니다. 양과 변화를 함께 보고 싶을 때, 전체에서 차지하는 비율을 보고 싶을 때, 들쭉날쭉한 값 속 전체 흐름을 보고 싶을 때 알맞은 그래프가 서로 다릅니다. 오늘은 기본 그래프를 만들고 다음 시간에는 추세선을 더해 볼 것이라고 자연스럽게 안내합니다.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pyproject.toml을 학생들과 함께 읽습니다. requires-python은 사용할 Python의 범위이고, dependencies는 필요한 라이브러리 목록입니다. ipykernel은 Notebook 실행에, openpyxl은 Excel 파일 읽기에 사용합니다. matplotlib은 아직 없습니다. uv sync가 pyproject.toml과 uv.lock을 보고 이 프로젝트에 맞는 .venv를 준비한다고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라이브러리는 다른 사람이 만들어 둔 여러 기능을 한데 모아 내 코드에서 꺼내 쓸 수 있게 한 묶음이라고 먼저 설명합니다. matplotlib에는 표의 숫자를 그래프로 그리는 기능이 들어 있습니다. 파스타를 만들 때 시판 재료를 가져와 자기 요리를 완성하는 모습과 연결합니다.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학생이 오류의 원인을 스스로 알아내는 활동이 아닙니다. 오류가 난 셀과 마지막 줄을 빠뜨리지 않고 AI에게 전달하는 방법을 익히게 합니다. 첫 요청에서 무엇이 문제인지 묻고, 이어서 필요한 조치를 취해 달라고 요청합니다.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AI의 응답에는 어떤 명령을 실행했고 어떤 파일을 바꿨는지 작업 내역이 나옵니다. 그 내용을 먼저 읽고, pyproject.toml을 직접 열어 dependencies에 matplotlib이 실제로 추가됐는지 확인합니다. 작업 보고와 파일이 같으면 커널을 다시 시작합니다.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pyproject.toml 확인에서 끝나지 않습니다. 커널을 다시 시작한 뒤, 방금 오류가 났던 같은 셀을 ▶ 버튼으로 실행합니다. 그 아래에 그래프가 나타나는지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여기서부터 학생 실습입니다. Windows 파일 탐색기에서 04 폴더의 data 폴더로 들어가 04-library-data.xlsx를 Excel로 엽니다. 첫 줄의 머리글을 읽고 마지막까지 내려가 데이터가 60줄인지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줄의 date, visitors, borrowed_books를 읽고 각각 무엇을 뜻하는지 추측하게 합니다. 마지막 행까지 내려가 데이터가 60줄인지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데이터에는 12주 평일 기록이 있습니다. 전체 방문자는 완만하게 늘고, 금요일 대출은 반복해서 높습니다. 정답 그래프를 먼저 말하지 않고 AI에게 자료의 의미부터 묻게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요청을 한 번에 보내지 않습니다. 1번 답에서 머리글과 60줄을 확인하고, 2번 답에서 선택한 열과 이유를 검토한 뒤, 3번에서 실제 파일 수정을 맡깁니다.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학생은 04-1_exercise.ipynb로 돌아와 AI가 작성한 셀을 직접 실행합니다. 오류가 나면 마지막 줄을 복사해 같은 대화에 이어서 보냅니다.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그래프가 그럴듯해 보여도 원본과 다를 수 있습니다. Excel과 Notebook을 나란히 두고 행 수, 열 이름, 첫 행, 사용 열, 날짜 표시를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오늘은 pyproject.toml과 uv sync의 관계를 읽고, 오류를 AI가 판단할 수 있도록 빠짐없이 전달했습니다. AI의 작업 내역과 실제 파일을 확인한 뒤 같은 셀을 다시 실행했고, 마지막에는 그래프의 행 수, 열 이름과 표시가 맞는지 검토했습니다. 4-2에서는 동일한 60행 데이터를 CSV로 읽습니다.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5542ef57a446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b70340dfc94a01" /><Relationship Type="http://schemas.openxmlformats.org/officeDocument/2006/relationships/slideLayout" Target="/ppt/slideLayouts/slideLayout1.xml" Id="Rd13456c61c5e4b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3456c61c5e4b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278672e464794" /><Relationship Type="http://schemas.openxmlformats.org/officeDocument/2006/relationships/notesSlide" Target="/ppt/notesSlides/notesSlide1.xml" Id="Ra44285cb4f5347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c5f65f154403c" /><Relationship Type="http://schemas.openxmlformats.org/officeDocument/2006/relationships/image" Target="/ppt/media/image.png" Id="Re9194c28665d42e8" /><Relationship Type="http://schemas.openxmlformats.org/officeDocument/2006/relationships/notesSlide" Target="/ppt/notesSlides/notesSlide2.xml" Id="R52119354351e42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cbc55628d4619" /><Relationship Type="http://schemas.openxmlformats.org/officeDocument/2006/relationships/image" Target="/ppt/media/image2.png" Id="R4e3ade5fa6174bd3" /><Relationship Type="http://schemas.openxmlformats.org/officeDocument/2006/relationships/notesSlide" Target="/ppt/notesSlides/notesSlide3.xml" Id="Rdf7058d2009d41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44c78082e41b1" /><Relationship Type="http://schemas.openxmlformats.org/officeDocument/2006/relationships/image" Target="/ppt/media/image3.png" Id="R25444a8ecf504121" /><Relationship Type="http://schemas.openxmlformats.org/officeDocument/2006/relationships/image" Target="/ppt/media/image4.png" Id="R121293394ed042d1" /><Relationship Type="http://schemas.openxmlformats.org/officeDocument/2006/relationships/image" Target="/ppt/media/image5.png" Id="R4073a862f1d14141" /><Relationship Type="http://schemas.openxmlformats.org/officeDocument/2006/relationships/notesSlide" Target="/ppt/notesSlides/notesSlide4.xml" Id="R8c4e2a6477f04e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e5bb24b03b4502" /><Relationship Type="http://schemas.openxmlformats.org/officeDocument/2006/relationships/notesSlide" Target="/ppt/notesSlides/notesSlide5.xml" Id="R9a330eb44e6b48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a58319c4f49b9" /><Relationship Type="http://schemas.openxmlformats.org/officeDocument/2006/relationships/image" Target="/ppt/media/image6.png" Id="R4b4b788ed9684793" /><Relationship Type="http://schemas.openxmlformats.org/officeDocument/2006/relationships/notesSlide" Target="/ppt/notesSlides/notesSlide6.xml" Id="R4d96e6ca8eae41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fff922fef49fa" /><Relationship Type="http://schemas.openxmlformats.org/officeDocument/2006/relationships/image" Target="/ppt/media/image7.png" Id="Rf81b179ba37243fe" /><Relationship Type="http://schemas.openxmlformats.org/officeDocument/2006/relationships/notesSlide" Target="/ppt/notesSlides/notesSlide7.xml" Id="Rd2ec570bebd640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92ae6e2f54129" /><Relationship Type="http://schemas.openxmlformats.org/officeDocument/2006/relationships/notesSlide" Target="/ppt/notesSlides/notesSlide8.xml" Id="Rbab1645059184e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790c50d824fbc" /><Relationship Type="http://schemas.openxmlformats.org/officeDocument/2006/relationships/image" Target="/ppt/media/image8.png" Id="Rfce6e8a2e4424b1c" /><Relationship Type="http://schemas.openxmlformats.org/officeDocument/2006/relationships/notesSlide" Target="/ppt/notesSlides/notesSlide9.xml" Id="R37cedb4322864d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4b13431bc430a" /><Relationship Type="http://schemas.openxmlformats.org/officeDocument/2006/relationships/notesSlide" Target="/ppt/notesSlides/notesSlide10.xml" Id="Rbb0636be16174a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12601308b4502" /><Relationship Type="http://schemas.openxmlformats.org/officeDocument/2006/relationships/notesSlide" Target="/ppt/notesSlides/notesSlide11.xml" Id="Rcd94d0832cf449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b7590649541d1" /><Relationship Type="http://schemas.openxmlformats.org/officeDocument/2006/relationships/notesSlide" Target="/ppt/notesSlides/notesSlide12.xml" Id="Racc1ab6fc71e45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ae1a0300b498e" /><Relationship Type="http://schemas.openxmlformats.org/officeDocument/2006/relationships/notesSlide" Target="/ppt/notesSlides/notesSlide13.xml" Id="Rc9118aabaf8d440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6d78413e64bba" /><Relationship Type="http://schemas.openxmlformats.org/officeDocument/2006/relationships/notesSlide" Target="/ppt/notesSlides/notesSlide14.xml" Id="Re5c484b21a5445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6ffd25ceb4959" /><Relationship Type="http://schemas.openxmlformats.org/officeDocument/2006/relationships/notesSlide" Target="/ppt/notesSlides/notesSlide15.xml" Id="R9180b242a5d248a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7e63f9ff740ae" /><Relationship Type="http://schemas.openxmlformats.org/officeDocument/2006/relationships/notesSlide" Target="/ppt/notesSlides/notesSlide16.xml" Id="R3af2a5971b8047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D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35257-6419-411D-A7B1-9DEA8D2C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solidFill>
              <a:srgbClr val="FF5C0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A7EE1-0CDE-4DAD-A0AE-D35C7B7A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05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4회 · 첫째 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00FC1-D3ED-4DAB-B1B2-5CC97092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7524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75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3375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Matplotlib으로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375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3375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그래프 이해하기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B77314-00A0-46D3-B175-03F8E6FE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A7ACB3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650" b="0">
                <a:solidFill>
                  <a:srgbClr val="A7ACB3"/>
                </a:solidFill>
                <a:latin typeface="IBM Plex Sans KR"/>
                <a:ea typeface="IBM Plex Sans KR"/>
                <a:cs typeface="IBM Plex Sans KR"/>
              </a:rPr>
              <a:t>데이터를 읽고, 알맞은 그래프를 고르고,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A7ACB3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650" b="0">
                <a:solidFill>
                  <a:srgbClr val="A7ACB3"/>
                </a:solidFill>
                <a:latin typeface="IBM Plex Sans KR"/>
                <a:ea typeface="IBM Plex Sans KR"/>
                <a:cs typeface="IBM Plex Sans KR"/>
              </a:rPr>
              <a:t>원본과 맞는지 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896F1-82A5-4E09-8020-F8036859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8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04-1 · 1쪽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160E0-BD62-47F1-A21B-4BD8C814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6C707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6C707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177986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4E5023-A9FC-4763-B99A-6D0F5C3D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B3A78-F9FC-4C6C-BFCD-18400CBB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7635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0">
            <a:solidFill>
              <a:srgbClr val="1B1D2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4-1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3E3A7-281F-4E96-9CFC-18C32305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자료를 준비하고 커널을 고른다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621AC-BA9D-449F-92C3-32A5E810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solidFill>
              <a:srgbClr val="FF5C0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75E7B-4A56-4A88-A34F-6E4E0498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7411B-B61D-4FCA-B4D1-D07B5011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8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04-1 · 2쪽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BE617-AB36-4632-8858-4B326676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6C707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6C707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94c28665d42e8"/>
          <a:stretch xmlns:a="http://schemas.openxmlformats.org/drawingml/2006/main"/>
        </p:blipFill>
        <p:spPr>
          <a:xfrm xmlns:a="http://schemas.openxmlformats.org/drawingml/2006/main">
            <a:off x="534458" y="1952625"/>
            <a:ext cx="7332133" cy="41243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6272A-DE89-4841-AE76-F8B6DB43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2861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663F8-58D7-4FA5-BB92-93CA9A25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955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77B82-7F49-4436-A57A-E79B64B7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6215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자료 내려받기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4F0F2-AD99-4909-93B3-F63DEE63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2410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 자료 ZIP 파일을 내려받아요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70877-8E10-4299-A033-7D7F11CD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32861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7B3B95-E00C-4582-AD2B-E32FBF0D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62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F03A28-5102-498C-B717-710D51FC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2895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압축 풀기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A24C37-9CFB-4C82-BB77-7637672B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9090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압축을 풀어 04 폴더를 확인해요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FB38D0-AAAC-43E4-BE9C-06D8444A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43350"/>
            <a:ext cx="32861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35C9A5-0A11-4E47-8EAA-0E098FE9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29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B2EFE0-2C68-4263-8914-E913FF3C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9575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VS Code로 열기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B70C44-857D-4929-862F-52BA961B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5770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04 폴더를 열고 uv sync를 실행해요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90A52B-185A-48E1-9198-832FA9CE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10150"/>
            <a:ext cx="32861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0E7C8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04F01D-98F5-4152-96A3-AC9CD1C7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2959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0E7C8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E7C8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CF6D5C-559D-41EE-A057-98C5B2EB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6255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커널 선택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B3C078-5ADC-4129-B4E0-022B2857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52450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.venv (Python 3.14)를 골라요</a:t>
            </a:r>
          </a:p>
        </p:txBody>
      </p:sp>
    </p:spTree>
    <p:extLst>
      <p:ext uri="{BB962C8B-B14F-4D97-AF65-F5344CB8AC3E}">
        <p14:creationId xmlns:p14="http://schemas.microsoft.com/office/powerpoint/2010/main" val="14907795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B715C9-5D23-458C-B563-0259A722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19E52-8509-4B9C-9954-E62DE3D5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7635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0">
            <a:solidFill>
              <a:srgbClr val="1B1D2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4-1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B1BDF-160B-4621-B1FF-652AB37D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두 가지 방법으로 본다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96D7C-4526-402E-B6CF-F9C191FC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solidFill>
              <a:srgbClr val="FF5C0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2D2B4-EC83-4542-BC98-6096F814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757A0-5DE1-45C1-9F6E-64964B90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8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04-1 · 3쪽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D8C28-F52E-461A-A989-391E9B95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6C707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6C707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33400" y="1952625"/>
          <a:ext xmlns:a="http://schemas.openxmlformats.org/drawingml/2006/main" cx="47625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381250"/>
              </a:tblGrid>
              <a:tr h="452438"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요일</a:t>
                      </a:r>
                    </a:p>
                  </a:txBody>
                  <a:tcPr marL="91440" marR="91440" marT="45720" marB="45720" anchor="ctr">
                    <a:solidFill>
                      <a:srgbClr val="1B1D21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이용 인원</a:t>
                      </a:r>
                    </a:p>
                  </a:txBody>
                  <a:tcPr marL="91440" marR="91440" marT="45720" marB="45720" anchor="ctr">
                    <a:solidFill>
                      <a:srgbClr val="1B1D21"/>
                    </a:solidFill>
                  </a:tcPr>
                </a:tc>
              </a:tr>
              <a:tr h="452438"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350" b="1">
                          <a:solidFill>
                            <a:srgbClr val="1B1D21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Mon</a:t>
                      </a:r>
                    </a:p>
                  </a:txBody>
                  <a:tcPr marL="91440" marR="91440" marT="45720" marB="45720" anchor="ctr">
                    <a:solidFill>
                      <a:srgbClr val="F1F2F4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350" b="0">
                          <a:solidFill>
                            <a:srgbClr val="6C7078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1F2F4"/>
                    </a:solidFill>
                  </a:tcPr>
                </a:tc>
              </a:tr>
              <a:tr h="452438"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350" b="1">
                          <a:solidFill>
                            <a:srgbClr val="1B1D21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Tue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350" b="0">
                          <a:solidFill>
                            <a:srgbClr val="6C7078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350" b="1">
                          <a:solidFill>
                            <a:srgbClr val="1B1D21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Wed</a:t>
                      </a:r>
                    </a:p>
                  </a:txBody>
                  <a:tcPr marL="91440" marR="91440" marT="45720" marB="45720" anchor="ctr">
                    <a:solidFill>
                      <a:srgbClr val="F1F2F4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350" b="0">
                          <a:solidFill>
                            <a:srgbClr val="6C7078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F1F2F4"/>
                    </a:solidFill>
                  </a:tcPr>
                </a:tc>
              </a:tr>
              <a:tr h="452438"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350" b="1">
                          <a:solidFill>
                            <a:srgbClr val="1B1D21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Thu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350" b="0">
                          <a:solidFill>
                            <a:srgbClr val="6C7078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350" b="1">
                          <a:solidFill>
                            <a:srgbClr val="1B1D21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Fri</a:t>
                      </a:r>
                    </a:p>
                  </a:txBody>
                  <a:tcPr marL="91440" marR="91440" marT="45720" marB="45720" anchor="ctr">
                    <a:solidFill>
                      <a:srgbClr val="F1F2F4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350" b="0">
                          <a:solidFill>
                            <a:srgbClr val="6C7078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29</a:t>
                      </a:r>
                    </a:p>
                  </a:txBody>
                  <a:tcPr marL="91440" marR="91440" marT="45720" marB="45720" anchor="ctr">
                    <a:solidFill>
                      <a:srgbClr val="F1F2F4"/>
                    </a:solidFill>
                  </a:tcPr>
                </a:tc>
              </a:tr>
            </a:tbl>
          </a:graphicData>
        </a:graphic>
      </p:graphicFrame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ade5fa6174bd3"/>
          <a:stretch xmlns:a="http://schemas.openxmlformats.org/drawingml/2006/main"/>
        </p:blipFill>
        <p:spPr>
          <a:xfrm xmlns:a="http://schemas.openxmlformats.org/drawingml/2006/main">
            <a:off x="5858933" y="1952625"/>
            <a:ext cx="5808133" cy="32670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D0695-5542-4BBB-BF02-FB9B4799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1125200" cy="5143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</a:ln>
        </p:spPr>
        <p:txBody>
          <a:bodyPr xmlns:a="http://schemas.openxmlformats.org/drawingml/2006/main" lIns="133350" tIns="0" rIns="13335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왜 같은 자료를 이렇게 다양하게 볼까요?</a:t>
            </a:r>
          </a:p>
        </p:txBody>
      </p:sp>
    </p:spTree>
    <p:extLst>
      <p:ext uri="{BB962C8B-B14F-4D97-AF65-F5344CB8AC3E}">
        <p14:creationId xmlns:p14="http://schemas.microsoft.com/office/powerpoint/2010/main" val="1213956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A38792-564E-447F-8D66-609F00C6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C455CD-43F1-44F7-A94B-6556098C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7635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0">
            <a:solidFill>
              <a:srgbClr val="1B1D2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4-1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01376-E221-4CF6-AD82-11077926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0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보여 주려는 것에 따라 그래프의 모양이 달라진다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2B74F-A871-4F89-8B07-6779EAAD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solidFill>
              <a:srgbClr val="FF5C0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114179-820B-43AD-8C86-7947F3B8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6BC86-A5DB-44B4-9892-26FCEC18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8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04-1 · 4쪽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96F49-EF50-43B1-8CEB-88FC7876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6C707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6C7078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444a8ecf504121"/>
          <a:stretch xmlns:a="http://schemas.openxmlformats.org/drawingml/2006/main"/>
        </p:blipFill>
        <p:spPr>
          <a:xfrm xmlns:a="http://schemas.openxmlformats.org/drawingml/2006/main">
            <a:off x="533400" y="2094309"/>
            <a:ext cx="3390900" cy="190738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668E3-E8C2-43B2-9480-F8C7417B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550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막대 + 꺾은선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B23E0-FC5D-49AF-95E6-7653138D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316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0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양과 변화를 함께 보기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293394ed042d1"/>
          <a:stretch xmlns:a="http://schemas.openxmlformats.org/drawingml/2006/main"/>
        </p:blipFill>
        <p:spPr>
          <a:xfrm xmlns:a="http://schemas.openxmlformats.org/drawingml/2006/main">
            <a:off x="4286250" y="2094309"/>
            <a:ext cx="3390900" cy="1907381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37320C-0820-42EB-B6FC-E5E07A04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원형 그래프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201E9F-0087-4722-ABE7-F341F27F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10125"/>
            <a:ext cx="316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0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전체에서 차지하는 비율 보기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3a862f1d14141"/>
          <a:stretch xmlns:a="http://schemas.openxmlformats.org/drawingml/2006/main"/>
        </p:blipFill>
        <p:spPr>
          <a:xfrm xmlns:a="http://schemas.openxmlformats.org/drawingml/2006/main">
            <a:off x="8039100" y="2094309"/>
            <a:ext cx="3390900" cy="1907381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CE420C-55BE-4298-92D0-4667BF2E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00550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추세선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03327-60B1-4F62-893B-F3BDB65B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0125"/>
            <a:ext cx="316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0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들쭉날쭉한 값 속 전체 흐름 보기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67E4FE-B297-402F-8176-CFA7C74B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11125200" cy="5143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</a:ln>
        </p:spPr>
        <p:txBody>
          <a:bodyPr xmlns:a="http://schemas.openxmlformats.org/drawingml/2006/main" lIns="133350" tIns="0" rIns="13335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오늘은 기본 그래프를 만들고, 다음 시간에는 같은 자료에 추세선도 더해 볼 거예요</a:t>
            </a:r>
          </a:p>
        </p:txBody>
      </p:sp>
    </p:spTree>
    <p:extLst>
      <p:ext uri="{BB962C8B-B14F-4D97-AF65-F5344CB8AC3E}">
        <p14:creationId xmlns:p14="http://schemas.microsoft.com/office/powerpoint/2010/main" val="17209288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C4832C-C177-4D33-AE73-3D9F948C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7665A-5288-4CE5-ADDD-90C38E1B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7635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0">
            <a:solidFill>
              <a:srgbClr val="1B1D2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4-1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7EF5A-591C-4B2C-A417-9010C65A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0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pyproject.toml 파일을 열고 읽어보자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77F4B-B8AA-42FE-AA60-73335674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solidFill>
              <a:srgbClr val="FF5C0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8677F-3FD0-4D85-8D53-14818495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55E7A-9185-4D50-84F3-61BD5FF6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8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04-1 · 5쪽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B8A31-8E25-4877-A199-3C018618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6C707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6C7078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DE84F-9517-4F9C-98E1-5D3A3865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5095875" cy="2619375"/>
          </a:xfrm>
          <a:prstGeom xmlns:a="http://schemas.openxmlformats.org/drawingml/2006/main" prst="roundRect">
            <a:avLst>
              <a:gd name="adj" fmla="val 2182"/>
            </a:avLst>
          </a:prstGeom>
          <a:solidFill xmlns:a="http://schemas.openxmlformats.org/drawingml/2006/main">
            <a:srgbClr val="24272C"/>
          </a:solidFill>
          <a:ln xmlns:a="http://schemas.openxmlformats.org/drawingml/2006/main" w="0">
            <a:solidFill>
              <a:srgbClr val="24272C"/>
            </a:solidFill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defRPr>
            </a:pPr>
            <a:r>
              <a:rPr sz="1350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rPr>
              <a:t>[project]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defRPr>
            </a:pPr>
            <a:r>
              <a:rPr sz="1350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rPr>
              <a:t>requires-python = "&gt;=3.11"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defRPr>
            </a:pPr>
            <a:r>
              <a:rPr sz="1350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rPr>
              <a:t>dependencies = [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defRPr>
            </a:pPr>
            <a:r>
              <a:rPr sz="1350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rPr>
              <a:t>  "ipykernel&gt;=6.29",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defRPr>
            </a:pPr>
            <a:r>
              <a:rPr sz="1350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rPr>
              <a:t>  "openpyxl&gt;=3.1",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defRPr>
            </a:pPr>
            <a:r>
              <a:rPr sz="1350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rPr>
              <a:t>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D8B67-72C9-47B7-A8BF-A87295D8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52625"/>
            <a:ext cx="26289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61608A-0907-433F-B095-75D9BFB5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62175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requires-python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B25A1-2F4A-4315-A84E-AE795AE8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56222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이 프로젝트에서 사용할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Python의 범위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75883-DAA3-48FA-9853-F9E48685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6289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230617-3A1E-46C3-8674-72DF4742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62175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dependencies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CCCA08-3084-41F7-A824-4182B261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6222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이 프로젝트가 기대는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라이브러리 목록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587EB-E476-47D1-A3F3-CFF2472B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429000"/>
            <a:ext cx="1809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5639DF-DAC6-42EA-B577-FCC814A4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6385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pyproject.toml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C95FF0-0199-4210-BE14-A539D47B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38600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필요 조건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A3E078-F621-42FA-9C5E-AAF18518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881E51-41A1-4246-8AD2-4A0BF40A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29000"/>
            <a:ext cx="1619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C020F2-3FA1-448F-9CC0-EB225079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385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uv.lock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F5F1E3-3590-406A-ACE6-F7AA92E2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정확한 버전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4B2945-DA59-4F56-BFDC-B02E6AB2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7147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E4C7CE-89EF-4BF5-B195-70F4CAF1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29000"/>
            <a:ext cx="10096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0E7C8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442769-C85D-4EA0-999A-8A704EC9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638550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.venv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5745DD-90F6-4ECE-9AAC-3A99FB10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38600"/>
            <a:ext cx="62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실행 환경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9AA53E-563E-4890-925A-C704AC3B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11125200" cy="5143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</a:ln>
        </p:spPr>
        <p:txBody>
          <a:bodyPr xmlns:a="http://schemas.openxmlformats.org/drawingml/2006/main" lIns="133350" tIns="0" rIns="13335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uv sync는 두 파일을 읽고 이 프로젝트에 맞는 .venv를 준비해요</a:t>
            </a:r>
          </a:p>
        </p:txBody>
      </p:sp>
    </p:spTree>
    <p:extLst>
      <p:ext uri="{BB962C8B-B14F-4D97-AF65-F5344CB8AC3E}">
        <p14:creationId xmlns:p14="http://schemas.microsoft.com/office/powerpoint/2010/main" val="17905820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C566BD-DB5A-4F21-83AC-E5D4F79A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07230-9028-4A07-B69A-659BD606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7635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0">
            <a:solidFill>
              <a:srgbClr val="1B1D2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4-1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46D39-51B7-4DCF-8263-52828CF4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0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라이브러리는 이미 만들어진 기능의 묶음이다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EB92C-58E7-4C24-9E57-1A7E53C4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solidFill>
              <a:srgbClr val="FF5C0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24E01-1851-48B9-9268-4BFA1133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83F85-67CD-45EF-9D23-5FD9A9B9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8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04-1 · 6쪽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43E6B-9AAE-45D8-989B-5F9F47B3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6C707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6C7078"/>
                </a:solidFill>
                <a:latin typeface="IBM Plex Mono"/>
                <a:ea typeface="IBM Plex Mono"/>
                <a:cs typeface="IBM Plex Mono"/>
              </a:rPr>
              <a:t>06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b788ed9684793"/>
          <a:stretch xmlns:a="http://schemas.openxmlformats.org/drawingml/2006/main"/>
        </p:blipFill>
        <p:spPr>
          <a:xfrm xmlns:a="http://schemas.openxmlformats.org/drawingml/2006/main">
            <a:off x="533400" y="1954411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336951-49DC-4486-BD8C-824C6A70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52625"/>
            <a:ext cx="45148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215C9-A653-48E9-85DE-2FD694E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62175"/>
            <a:ext cx="413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라이브러리란?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25AB3-CF1E-49A8-B6BA-61AFB16E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62225"/>
            <a:ext cx="41338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다른 사람이 만들어 둔 여러 기능을 한데 모아, 내 코드에서 꺼내 쓸 수 있게 한 묶음이에요.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F5A25-C85E-4860-A3C2-EE9AA849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10000"/>
            <a:ext cx="45148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0E7C8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9EB430-4F47-40CC-AD22-6EEC0955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9550"/>
            <a:ext cx="413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예: matplotlib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75233-C304-43AE-B8DD-5F18E6F1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19600"/>
            <a:ext cx="4133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표의 숫자를 막대나 선 그래프로 그리는 기능을 가져와 사용해요.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413704-D818-4BC3-9737-B70A21B9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1125200" cy="5143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</a:ln>
        </p:spPr>
        <p:txBody>
          <a:bodyPr xmlns:a="http://schemas.openxmlformats.org/drawingml/2006/main" lIns="133350" tIns="0" rIns="13335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재료를 가져와 요리를 완성하듯, 필요한 기능을 가져와 내 코드에 사용해요</a:t>
            </a:r>
          </a:p>
        </p:txBody>
      </p:sp>
    </p:spTree>
    <p:extLst>
      <p:ext uri="{BB962C8B-B14F-4D97-AF65-F5344CB8AC3E}">
        <p14:creationId xmlns:p14="http://schemas.microsoft.com/office/powerpoint/2010/main" val="16406015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DEFCA2-8004-4A76-9723-9A6F2FA8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F34B3-5AA5-482F-9154-CC1E4A48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7635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0">
            <a:solidFill>
              <a:srgbClr val="1B1D2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4-1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740F9-DDF1-4845-B8E7-5269442C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오류를 빠짐없이 AI에게 전달한다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9E3BA-BD5E-4501-9D03-3CB1BD46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solidFill>
              <a:srgbClr val="FF5C0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B49E8-AFBC-442B-8B9E-508834A8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1C4C7-A0F3-4999-8F1B-519EE15A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8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04-1 · 7쪽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76306-483D-4CA6-971B-31436740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6C707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6C7078"/>
                </a:solidFill>
                <a:latin typeface="IBM Plex Mono"/>
                <a:ea typeface="IBM Plex Mono"/>
                <a:cs typeface="IBM Plex Mono"/>
              </a:rPr>
              <a:t>07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1b179ba37243fe"/>
          <a:stretch xmlns:a="http://schemas.openxmlformats.org/drawingml/2006/main"/>
        </p:blipFill>
        <p:spPr>
          <a:xfrm xmlns:a="http://schemas.openxmlformats.org/drawingml/2006/main">
            <a:off x="533929" y="1857375"/>
            <a:ext cx="6333067" cy="35623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C2659-FE78-46DA-A6A8-B0B952F5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52625"/>
            <a:ext cx="4286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70F4D9-CC87-494E-9265-FEC12C2F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95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1번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30CA1-F47D-42FD-B76E-86BFF3E1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622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오류를 그대로 보내요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E0C975-E921-463F-BFF4-B9792EC5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33675"/>
            <a:ext cx="3905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오류가 난 셀과 마지막 줄을 복사해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무엇이 문제인지 물어봐요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266C99-1B6F-4388-BE0B-373EC9FF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19500"/>
            <a:ext cx="4286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0E7C8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65A38B-9AC8-4095-B9DB-92D278C0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6237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2번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3F646E-1B26-4239-849D-99FDBA11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2907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필요한 조치를 부탁해요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6DDF2C-7B68-4812-8A03-8670BD1C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00550"/>
            <a:ext cx="3905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AI의 답을 받은 뒤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필요한 조치를 취해 달라고 말해요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6162E9-447D-44E2-9323-635B41A4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11125200" cy="5143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</a:ln>
        </p:spPr>
        <p:txBody>
          <a:bodyPr xmlns:a="http://schemas.openxmlformats.org/drawingml/2006/main" lIns="133350" tIns="0" rIns="13335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25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원인을 맞히는 게 아니라, AI가 판단할 수 있도록 오류를 정확히 전달하는 연습이에요</a:t>
            </a:r>
          </a:p>
        </p:txBody>
      </p:sp>
    </p:spTree>
    <p:extLst>
      <p:ext uri="{BB962C8B-B14F-4D97-AF65-F5344CB8AC3E}">
        <p14:creationId xmlns:p14="http://schemas.microsoft.com/office/powerpoint/2010/main" val="6965325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4623F8-BBF9-4C44-8429-4A137B5B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AABDD-B9E2-483D-919B-7FD0C6DB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7635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0">
            <a:solidFill>
              <a:srgbClr val="1B1D2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4-1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8FD23-15A6-46EB-B1C5-895A9B14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0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AI의 작업 내용과 실제 파일을 비교한다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32229-9410-453A-A5C2-81E53366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solidFill>
              <a:srgbClr val="FF5C0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AC40F-39E1-4AF5-84E7-E802BC7E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4009A-0257-4BC2-970C-C18E359B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8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04-1 · 8쪽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9298D-1E2C-4F33-964C-5274DA5C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6C707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6C7078"/>
                </a:solidFill>
                <a:latin typeface="IBM Plex Mono"/>
                <a:ea typeface="IBM Plex Mono"/>
                <a:cs typeface="IBM Plex Mono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80E1F-F274-4C4C-A394-89AD1828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190875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24272C"/>
          </a:solidFill>
          <a:ln xmlns:a="http://schemas.openxmlformats.org/drawingml/2006/main" w="0">
            <a:solidFill>
              <a:srgbClr val="24272C"/>
            </a:solidFill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200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rPr>
              <a:t>처음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200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rPr>
              <a:t>dependencies = [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200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rPr>
              <a:t>  "ipykernel&gt;=6.29",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200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rPr>
              <a:t>  "openpyxl&gt;=3.1",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200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rPr>
              <a:t>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25BA3-2BC1-42EB-9967-09280A1C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8384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5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DBB13-2CB4-4C5D-88F1-C16E6969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0E7C8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C7059-CAEA-4BD5-9F89-E4DA207E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먼저 읽기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EC4CB1-C9EE-41B4-A3D3-F5542C51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574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AI의 작업 보고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4A9DEE-4A9F-4E05-8F03-706A95DE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28925"/>
            <a:ext cx="29527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matplotlib을 추가했어요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pyproject.toml을 수정했어요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환경을 다시 맞췄어요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68B96-5213-419A-8779-5B38CA94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8384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5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C2E266-43B8-40A2-BE95-9FC96A60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3381375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24272C"/>
          </a:solidFill>
          <a:ln xmlns:a="http://schemas.openxmlformats.org/drawingml/2006/main" w="0">
            <a:solidFill>
              <a:srgbClr val="24272C"/>
            </a:solidFill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125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rPr>
              <a:t>pyproject.toml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125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rPr>
              <a:t>dependencies = [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125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rPr>
              <a:t>  "ipykernel&gt;=6.29",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125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rPr>
              <a:t>  "matplotlib&gt;=3.10",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125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rPr>
              <a:t>  "openpyxl&gt;=3.1",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125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rPr>
              <a:t>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F9305-8CAB-4F21-B402-7C7E496B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72000"/>
            <a:ext cx="7239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638047-4C39-41FB-BAA2-C652A90D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815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다음 단계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B31DF9-B3E7-4346-8A91-2AA105AD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816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작업 보고와 실제 파일이 같다면 커널을 다시 시작해요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01DC08-1A6B-45AC-AC89-AC88C719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62625"/>
            <a:ext cx="11125200" cy="5143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</a:ln>
        </p:spPr>
        <p:txBody>
          <a:bodyPr xmlns:a="http://schemas.openxmlformats.org/drawingml/2006/main" lIns="133350" tIns="0" rIns="13335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25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AI가 무엇을 했다고 말했는지 읽고, pyproject.toml에서 matplotlib 줄을 직접 확인해요</a:t>
            </a:r>
          </a:p>
        </p:txBody>
      </p:sp>
    </p:spTree>
    <p:extLst>
      <p:ext uri="{BB962C8B-B14F-4D97-AF65-F5344CB8AC3E}">
        <p14:creationId xmlns:p14="http://schemas.microsoft.com/office/powerpoint/2010/main" val="17476365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B7CBF9-47C3-4558-9146-C6391AD5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027F2-C675-4483-AE31-B0E3A5FF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7635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0">
            <a:solidFill>
              <a:srgbClr val="1B1D2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4-1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F8DCD-A96F-4E75-A8FC-EAA13F29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0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커널을 다시 시작하고 같은 셀을 실행한다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5B62A-CC48-4DD5-A02E-3E202A68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solidFill>
              <a:srgbClr val="FF5C0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E3174-CF1B-4599-89A4-A23EB89B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88BDC-D690-4958-9E2E-C770BA8C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8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04-1 · 9쪽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66C95-2047-40F8-9ACA-C9CA3931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6C707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6C7078"/>
                </a:solidFill>
                <a:latin typeface="IBM Plex Mono"/>
                <a:ea typeface="IBM Plex Mono"/>
                <a:cs typeface="IBM Plex Mono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A0985-C7B1-42B6-A51E-32816490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3333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61622-DC55-4FA4-A052-BE0EC03A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defRPr>
            </a:pPr>
            <a:r>
              <a:rPr sz="127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1CD022-11E1-41EB-8953-B2986D19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커널 다시 시작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D77F8-ED12-492D-A06E-47FA8D89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145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Notebook 위쪽의 Restart를 눌러요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32D6A8-605E-4756-8834-07FD7FBC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95450"/>
            <a:ext cx="3333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0E7C8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A55A6-CC4A-4555-949A-A4EA3A9E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924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0E7C86"/>
                </a:solidFill>
                <a:latin typeface="IBM Plex Mono"/>
                <a:ea typeface="IBM Plex Mono"/>
                <a:cs typeface="IBM Plex Mono"/>
              </a:defRPr>
            </a:pPr>
            <a:r>
              <a:rPr sz="1275" b="1">
                <a:solidFill>
                  <a:srgbClr val="0E7C8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DCA01-766F-433A-A170-1097EBBF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8097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같은 셀 실행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DBD357-BF48-4BB6-86F5-997BD48F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1145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▶ 버튼으로 그래프 셀을 실행해요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9F3015-2742-4194-A5E0-EB8B1D6D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95450"/>
            <a:ext cx="3333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D9D856-732A-4A59-B4B3-C46194A0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24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defRPr>
            </a:pPr>
            <a:r>
              <a:rPr sz="127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97D6CD-1262-4C65-B5B3-5DD784D1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097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결과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BD6CBE-499D-44A2-B760-75DC35B7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145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코드 바로 아래의 그래프를 봐요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e6e8a2e4424b1c"/>
          <a:stretch xmlns:a="http://schemas.openxmlformats.org/drawingml/2006/main"/>
        </p:blipFill>
        <p:spPr>
          <a:xfrm xmlns:a="http://schemas.openxmlformats.org/drawingml/2006/main">
            <a:off x="2954867" y="2647950"/>
            <a:ext cx="6282267" cy="35337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6881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E7884A-71AF-4066-ABC3-84DD6B56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CD39B-5A3E-4075-9166-5D842F52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7635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0">
            <a:solidFill>
              <a:srgbClr val="1B1D2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4-1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CF7EA-85E5-4EF8-AF26-AD1AA5ED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Excel 데이터를 읽어보자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3FC82-1392-4E43-8F1A-4CA7ADBA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solidFill>
              <a:srgbClr val="FF5C0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74446-0B7B-4CE2-8E01-A778A91B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56C4E-9374-4B63-BC5B-500FF877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8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04-1 · 10쪽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4AAA0-18D4-445E-95A8-ECE86036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6C707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6C7078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BBF0D-850C-46B0-A26B-764F6EA3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09625"/>
            <a:ext cx="742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0">
            <a:solidFill>
              <a:srgbClr val="FF5C00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실습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CAB3A7-1683-4A97-A6F3-E0DBB2BE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442912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87981-667F-4E13-9D2A-B3C189E9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86000"/>
            <a:ext cx="404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73B2E7-1A23-425C-B403-87024691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52700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파일 탐색기에서 열기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3026F4-3CEB-47F9-B265-01CF7A22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24175"/>
            <a:ext cx="4048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04 폴더 안의 data 폴더로 들어가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04-library-data.xlsx를 두 번 눌러요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50D699-9C96-48CD-A602-6CB75BE4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0037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8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F63832-8AFC-4C85-A1D7-06E1B2B4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43125"/>
            <a:ext cx="442912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0E7C8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510152-4D09-450A-9A4B-705E0FFF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86000"/>
            <a:ext cx="404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C1BFC4-E4AB-4E50-8594-BCC19817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52700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Excel에서 데이터 읽기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6E8DCE-8F8E-4B1A-84BC-7B607FA7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24175"/>
            <a:ext cx="4048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첫 줄의 머리글을 읽고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아래로 내려가 데이터 60줄을 확인해요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23919A-AA0D-40B8-8A0A-0818C69B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11125200" cy="5143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</a:ln>
        </p:spPr>
        <p:txBody>
          <a:bodyPr xmlns:a="http://schemas.openxmlformats.org/drawingml/2006/main" lIns="133350" tIns="0" rIns="13335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VS Code에서 .xlsx를 열지 말고, Windows 파일 탐색기에서 직접 Excel로 열어요</a:t>
            </a:r>
          </a:p>
        </p:txBody>
      </p:sp>
    </p:spTree>
    <p:extLst>
      <p:ext uri="{BB962C8B-B14F-4D97-AF65-F5344CB8AC3E}">
        <p14:creationId xmlns:p14="http://schemas.microsoft.com/office/powerpoint/2010/main" val="8964152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88CC53-5236-4C1B-900F-C9763667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8DD13-6B3E-48DC-8B88-9A18AC97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7635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0">
            <a:solidFill>
              <a:srgbClr val="1B1D2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4-1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F993D-A1A3-447E-B70A-3E4D7C4A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첫 줄이 각 열의 뜻을 알려 준다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F40A3-9F3A-4FF7-80D0-93A0496B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solidFill>
              <a:srgbClr val="FF5C0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F5CD0-11CB-4840-9396-00E2E39A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167B1-5E89-4927-B4F1-CC39DFF9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8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04-1 · 11쪽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17706-9099-4CB2-B9C0-CBB9EA8F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6C707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6C7078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1381125" y="2095500"/>
          <a:ext xmlns:a="http://schemas.openxmlformats.org/drawingml/2006/main" cx="942975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476500"/>
                <a:gridCol w="3524250"/>
              </a:tblGrid>
              <a:tr h="595313"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date</a:t>
                      </a:r>
                    </a:p>
                  </a:txBody>
                  <a:tcPr marL="91440" marR="91440" marT="45720" marB="45720" anchor="ctr">
                    <a:solidFill>
                      <a:srgbClr val="1B1D21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visitors</a:t>
                      </a:r>
                    </a:p>
                  </a:txBody>
                  <a:tcPr marL="91440" marR="91440" marT="45720" marB="45720" anchor="ctr">
                    <a:solidFill>
                      <a:srgbClr val="1B1D21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borrowed_books</a:t>
                      </a:r>
                    </a:p>
                  </a:txBody>
                  <a:tcPr marL="91440" marR="91440" marT="45720" marB="45720" anchor="ctr">
                    <a:solidFill>
                      <a:srgbClr val="1B1D21"/>
                    </a:solidFill>
                  </a:tcPr>
                </a:tc>
              </a:tr>
              <a:tr h="595313"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425" b="1">
                          <a:solidFill>
                            <a:srgbClr val="1B1D21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2026-03-02</a:t>
                      </a:r>
                    </a:p>
                  </a:txBody>
                  <a:tcPr marL="91440" marR="91440" marT="45720" marB="45720" anchor="ctr">
                    <a:solidFill>
                      <a:srgbClr val="F1F2F4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425" b="0">
                          <a:solidFill>
                            <a:srgbClr val="6C7078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1F2F4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425" b="0">
                          <a:solidFill>
                            <a:srgbClr val="6C7078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1F2F4"/>
                    </a:solidFill>
                  </a:tcPr>
                </a:tc>
              </a:tr>
              <a:tr h="595313"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425" b="1">
                          <a:solidFill>
                            <a:srgbClr val="1B1D21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2026-03-03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425" b="0">
                          <a:solidFill>
                            <a:srgbClr val="6C7078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27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425" b="0">
                          <a:solidFill>
                            <a:srgbClr val="6C7078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425" b="1">
                          <a:solidFill>
                            <a:srgbClr val="1B1D21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2026-03-04</a:t>
                      </a:r>
                    </a:p>
                  </a:txBody>
                  <a:tcPr marL="91440" marR="91440" marT="45720" marB="45720" anchor="ctr">
                    <a:solidFill>
                      <a:srgbClr val="F1F2F4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425" b="0">
                          <a:solidFill>
                            <a:srgbClr val="6C7078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26</a:t>
                      </a:r>
                    </a:p>
                  </a:txBody>
                  <a:tcPr marL="91440" marR="91440" marT="45720" marB="45720" anchor="ctr">
                    <a:solidFill>
                      <a:srgbClr val="F1F2F4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425" b="0">
                          <a:solidFill>
                            <a:srgbClr val="6C7078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1F2F4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3800CA-F13B-49F2-B911-40C31673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57750"/>
            <a:ext cx="8191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</a:ln>
        </p:spPr>
        <p:txBody>
          <a:bodyPr xmlns:a="http://schemas.openxmlformats.org/drawingml/2006/main" lIns="152400" tIns="0" rIns="15240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50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확인 · 머리글 3개 · 데이터 60줄 · 파일은 고치지 않기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E157E-1E26-479D-84A9-AB5D7832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5143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</a:ln>
        </p:spPr>
        <p:txBody>
          <a:bodyPr xmlns:a="http://schemas.openxmlformats.org/drawingml/2006/main" lIns="133350" tIns="0" rIns="13335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75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머리글(header)은 데이터가 무엇을 뜻하는지 알려 주는 첫 줄</a:t>
            </a:r>
          </a:p>
        </p:txBody>
      </p:sp>
    </p:spTree>
    <p:extLst>
      <p:ext uri="{BB962C8B-B14F-4D97-AF65-F5344CB8AC3E}">
        <p14:creationId xmlns:p14="http://schemas.microsoft.com/office/powerpoint/2010/main" val="4622586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B5368A-D9BF-4118-AA91-86EA874F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E5AE3-E38B-4082-A7CC-EF98D167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7635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0">
            <a:solidFill>
              <a:srgbClr val="1B1D2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4-1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F0C8B-D1F9-4B46-843F-A0D121FF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세 열에서 어떤 흐름을 찾을까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E84B9-950A-4604-9398-EBCEE56B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solidFill>
              <a:srgbClr val="FF5C0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BFB3B-263F-4FEC-8F09-40820846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6BF60-D6EC-452D-AF3E-300DDA59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8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04-1 · 12쪽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95A4D-9971-4791-9F2D-EC2A166C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6C707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6C7078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33400" y="2047875"/>
          <a:ext xmlns:a="http://schemas.openxmlformats.org/drawingml/2006/main" cx="111252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333750"/>
                <a:gridCol w="5219700"/>
              </a:tblGrid>
              <a:tr h="738188"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열</a:t>
                      </a:r>
                    </a:p>
                  </a:txBody>
                  <a:tcPr marL="91440" marR="91440" marT="45720" marB="45720" anchor="ctr">
                    <a:solidFill>
                      <a:srgbClr val="1B1D21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담긴 내용</a:t>
                      </a:r>
                    </a:p>
                  </a:txBody>
                  <a:tcPr marL="91440" marR="91440" marT="45720" marB="45720" anchor="ctr">
                    <a:solidFill>
                      <a:srgbClr val="1B1D21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물어볼 수 있는 것</a:t>
                      </a:r>
                    </a:p>
                  </a:txBody>
                  <a:tcPr marL="91440" marR="91440" marT="45720" marB="45720" anchor="ctr">
                    <a:solidFill>
                      <a:srgbClr val="1B1D21"/>
                    </a:solidFill>
                  </a:tcPr>
                </a:tc>
              </a:tr>
              <a:tr h="738188"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350" b="1">
                          <a:solidFill>
                            <a:srgbClr val="1B1D21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date</a:t>
                      </a:r>
                    </a:p>
                  </a:txBody>
                  <a:tcPr marL="91440" marR="91440" marT="45720" marB="45720" anchor="ctr">
                    <a:solidFill>
                      <a:srgbClr val="F1F2F4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350" b="0">
                          <a:solidFill>
                            <a:srgbClr val="6C7078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평일 날짜</a:t>
                      </a:r>
                    </a:p>
                  </a:txBody>
                  <a:tcPr marL="91440" marR="91440" marT="45720" marB="45720" anchor="ctr">
                    <a:solidFill>
                      <a:srgbClr val="F1F2F4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350" b="0">
                          <a:solidFill>
                            <a:srgbClr val="6C7078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언제의 기록인가</a:t>
                      </a:r>
                    </a:p>
                  </a:txBody>
                  <a:tcPr marL="91440" marR="91440" marT="45720" marB="45720" anchor="ctr">
                    <a:solidFill>
                      <a:srgbClr val="F1F2F4"/>
                    </a:solidFill>
                  </a:tcPr>
                </a:tc>
              </a:tr>
              <a:tr h="738188"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350" b="1">
                          <a:solidFill>
                            <a:srgbClr val="1B1D21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visitors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350" b="0">
                          <a:solidFill>
                            <a:srgbClr val="6C7078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도서관 방문자 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350" b="0">
                          <a:solidFill>
                            <a:srgbClr val="6C7078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시간이 지나며 어떻게 달라졌나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350" b="1">
                          <a:solidFill>
                            <a:srgbClr val="1B1D21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borrowed_books</a:t>
                      </a:r>
                    </a:p>
                  </a:txBody>
                  <a:tcPr marL="91440" marR="91440" marT="45720" marB="45720" anchor="ctr">
                    <a:solidFill>
                      <a:srgbClr val="F1F2F4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350" b="0">
                          <a:solidFill>
                            <a:srgbClr val="6C7078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대출한 책 수</a:t>
                      </a:r>
                    </a:p>
                  </a:txBody>
                  <a:tcPr marL="91440" marR="91440" marT="45720" marB="45720" anchor="ctr">
                    <a:solidFill>
                      <a:srgbClr val="F1F2F4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ctr"/>
                      <a:r>
                        <a:rPr sz="1350" b="0">
                          <a:solidFill>
                            <a:srgbClr val="6C7078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반복해서 많은 요일이 있나</a:t>
                      </a:r>
                    </a:p>
                  </a:txBody>
                  <a:tcPr marL="91440" marR="91440" marT="45720" marB="45720" anchor="ctr">
                    <a:solidFill>
                      <a:srgbClr val="F1F2F4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525066-A5CA-4B05-B999-440CC849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11125200" cy="5143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</a:ln>
        </p:spPr>
        <p:txBody>
          <a:bodyPr xmlns:a="http://schemas.openxmlformats.org/drawingml/2006/main" lIns="133350" tIns="0" rIns="13335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25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그래프를 먼저 고르지 말고, 데이터가 무엇을 말하는지부터 물어봐요</a:t>
            </a:r>
          </a:p>
        </p:txBody>
      </p:sp>
    </p:spTree>
    <p:extLst>
      <p:ext uri="{BB962C8B-B14F-4D97-AF65-F5344CB8AC3E}">
        <p14:creationId xmlns:p14="http://schemas.microsoft.com/office/powerpoint/2010/main" val="18842037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602865-843A-4A8E-8479-82A614D3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011CF-AF3E-46DB-A95D-83259B61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7635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0">
            <a:solidFill>
              <a:srgbClr val="1B1D2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4-1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577FB-E652-4FC9-937C-CF49201E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AI에게 세 번으로 나누어 요청한다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82BFB-7253-4E45-B615-CCCA8B3F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solidFill>
              <a:srgbClr val="FF5C0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4EC6C-90DA-4C8C-AC97-646B8D5F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100627-178F-4346-BABF-10F8BA36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8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04-1 · 13쪽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7A8C1-7422-4C86-92D4-3AC0FF93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6C707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6C7078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BB9DC-CE6F-4B31-B081-8944E44C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defRPr>
            </a:pPr>
            <a:r>
              <a:rPr sz="187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45BF5-A40F-4356-954C-3F4A3D24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76400"/>
            <a:ext cx="102298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4272C"/>
          </a:solidFill>
          <a:ln xmlns:a="http://schemas.openxmlformats.org/drawingml/2006/main" w="0">
            <a:solidFill>
              <a:srgbClr val="24272C"/>
            </a:solidFill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013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defRPr>
            </a:pPr>
            <a:r>
              <a:rPr sz="1013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rPr>
              <a:t>데이터 읽기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013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defRPr>
            </a:pPr>
            <a:r>
              <a:rPr sz="1013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rPr>
              <a:t>data/04-library-data.xlsx를 읽어 줘.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013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defRPr>
            </a:pPr>
            <a:r>
              <a:rPr sz="1013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rPr>
              <a:t>머리글과 데이터 줄 수를 확인하고,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013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defRPr>
            </a:pPr>
            <a:r>
              <a:rPr sz="1013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rPr>
              <a:t>각 열이 무엇을 뜻하는 자료인지 설명해 줘.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24ED1-DED9-4C6E-BA1B-48D210FE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defRPr>
            </a:pPr>
            <a:r>
              <a:rPr sz="187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188D04-5AA0-4C26-B531-0D025963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102298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24272C"/>
          </a:solidFill>
          <a:ln xmlns:a="http://schemas.openxmlformats.org/drawingml/2006/main" w="0">
            <a:solidFill>
              <a:srgbClr val="24272C"/>
            </a:solidFill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013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defRPr>
            </a:pPr>
            <a:r>
              <a:rPr sz="1013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rPr>
              <a:t>그래프 선택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013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defRPr>
            </a:pPr>
            <a:r>
              <a:rPr sz="1013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rPr>
              <a:t>이 데이터의 시간에 따른 변화를 잘 표현하려면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013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defRPr>
            </a:pPr>
            <a:r>
              <a:rPr sz="1013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rPr>
              <a:t>어떤 그래프가 알맞은지 한 가지 추천해 줘.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013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defRPr>
            </a:pPr>
            <a:r>
              <a:rPr sz="1013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rPr>
              <a:t>어떤 열을 사용할지와 추천 이유도 설명해 줘.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78A2C-D25A-4B06-A5A0-6AE31F3D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86275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defRPr>
            </a:pPr>
            <a:r>
              <a:rPr sz="187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96F63-13CA-484A-AF3A-1762A7CE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10229850" cy="1657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24272C"/>
          </a:solidFill>
          <a:ln xmlns:a="http://schemas.openxmlformats.org/drawingml/2006/main" w="0">
            <a:solidFill>
              <a:srgbClr val="24272C"/>
            </a:solidFill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013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defRPr>
            </a:pPr>
            <a:r>
              <a:rPr sz="1013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rPr>
              <a:t>그래프 제작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013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defRPr>
            </a:pPr>
            <a:r>
              <a:rPr sz="1013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rPr>
              <a:t>추천한 그래프를 notebooks/04-1_exercise.ipynb에 만들어 줘.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013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defRPr>
            </a:pPr>
            <a:r>
              <a:rPr sz="1013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rPr>
              <a:t>Excel은 pandas가 아니라 openpyxl로 읽어 줘.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013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defRPr>
            </a:pPr>
            <a:r>
              <a:rPr sz="1013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rPr>
              <a:t>데이터 총 행 수와 열 이름도 print()로 먼저 표시해 줘.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013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defRPr>
            </a:pPr>
            <a:r>
              <a:rPr sz="1013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rPr>
              <a:t>60줄을 모두 사용하고, 제목과 축 이름은 영문으로 써 줘.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013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defRPr>
            </a:pPr>
            <a:r>
              <a:rPr sz="1013" b="0">
                <a:solidFill>
                  <a:srgbClr val="E8EAED"/>
                </a:solidFill>
                <a:latin typeface="IBM Plex Mono"/>
                <a:ea typeface="IBM Plex Mono"/>
                <a:cs typeface="IBM Plex Mono"/>
              </a:rPr>
              <a:t>날짜가 겹치지 않게 일부 눈금만 표시해 줘.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D1A7B-ED92-4EC4-A613-8169FA70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48350"/>
            <a:ext cx="11125200" cy="5143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</a:ln>
        </p:spPr>
        <p:txBody>
          <a:bodyPr xmlns:a="http://schemas.openxmlformats.org/drawingml/2006/main" lIns="133350" tIns="0" rIns="13335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각 요청을 복사해 보내고, 답을 확인한 뒤 다음 요청으로 넘어간다</a:t>
            </a:r>
          </a:p>
        </p:txBody>
      </p:sp>
    </p:spTree>
    <p:extLst>
      <p:ext uri="{BB962C8B-B14F-4D97-AF65-F5344CB8AC3E}">
        <p14:creationId xmlns:p14="http://schemas.microsoft.com/office/powerpoint/2010/main" val="3877770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3A40F6-CE42-4EB8-8588-759B8A5A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B49A2-7DA7-48C3-81EF-4F2DAC44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7635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0">
            <a:solidFill>
              <a:srgbClr val="1B1D2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4-1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AAE51-A2EB-470B-9B40-EDC1D8E2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AI가 채운 셀을 직접 실행한다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EFE15-7BD1-467D-9E34-45868A9A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solidFill>
              <a:srgbClr val="FF5C0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93989-F309-4BA1-B4F8-1993474A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E2C5A-A224-4209-9CB6-CDB7E8F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8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04-1 · 14쪽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889C5-730E-453D-A0D5-A0114A57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6C707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6C7078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CC781-7B13-4127-8CC5-924EFE64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defRPr>
            </a:pPr>
            <a:r>
              <a:rPr sz="2100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A1C03-3159-446B-90C6-75967B0E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573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6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커널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41F68-8A8C-468D-BC4E-0BE19BDF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57375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.venv (Python 3.14)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1FD1FC-AEBA-4184-91CA-2EA5F4E5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2412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3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C7BBC9-2323-41A6-BC7E-D6C5F4BA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defRPr>
            </a:pPr>
            <a:r>
              <a:rPr sz="2100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C1AFC-0C79-40F8-9A86-21E5BCEE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098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6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코드 읽기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6EDBC-87D2-4083-92B4-7B06F2A0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9875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위에서 아래로 무엇을 하는지 살핀다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F37EE6-DED2-4360-9C4B-010345CB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47662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3E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B464A8-6423-4D4B-9C22-A003E32B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defRPr>
            </a:pPr>
            <a:r>
              <a:rPr sz="2100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10D7E-7604-4C82-8EA2-28732695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623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6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셀 실행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84275A-5901-4637-A7EA-8723F055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62375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코드 바로 아래에 그래프를 띄운다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656D10-D6A6-4D3A-81E3-EDFF202A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42912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3E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BC0F23-BF09-420E-BD57-D891EC72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defRPr>
            </a:pPr>
            <a:r>
              <a:rPr sz="2100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77A6F2-1C9A-4072-B859-3A7791A2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148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6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오류 보내기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E99899-31F7-4F6F-AD98-A2179BB9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14875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오류가 난 셀과 마지막 줄을 같은 AI 대화에 보낸다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579523-980E-4299-88D2-023C42D0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5143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</a:ln>
        </p:spPr>
        <p:txBody>
          <a:bodyPr xmlns:a="http://schemas.openxmlformats.org/drawingml/2006/main" lIns="133350" tIns="0" rIns="13335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50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AI가 만든 코드는 직접 실행하고, 결과도 확인해요</a:t>
            </a:r>
          </a:p>
        </p:txBody>
      </p:sp>
    </p:spTree>
    <p:extLst>
      <p:ext uri="{BB962C8B-B14F-4D97-AF65-F5344CB8AC3E}">
        <p14:creationId xmlns:p14="http://schemas.microsoft.com/office/powerpoint/2010/main" val="5409647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0D97E-9D91-4FBA-93C8-CECFDF16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68DCA-45A3-4FB4-BFD4-56B2444A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7635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0">
            <a:solidFill>
              <a:srgbClr val="1B1D2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4-1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9E13D-841B-431B-9F18-BB4263FE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Excel과 함께 결과를 검토한다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850D9-50D6-484A-8936-68BA3CA2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solidFill>
              <a:srgbClr val="FF5C0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431F5-9C74-4BD1-96D4-143121C7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1">
                <a:solidFill>
                  <a:srgbClr val="FF5C00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66E24-ECE2-4036-B184-E1560988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8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04-1 · 15쪽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64F0E-771A-4099-A246-D8F4C1AC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6C707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6C7078"/>
                </a:solidFill>
                <a:latin typeface="IBM Plex Mono"/>
                <a:ea typeface="IBM Plex Mono"/>
                <a:cs typeface="IBM Plex Mono"/>
              </a:rPr>
              <a:t>15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1047750" y="1857375"/>
          <a:ext xmlns:a="http://schemas.openxmlformats.org/drawingml/2006/main" cx="100965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6191250"/>
              </a:tblGrid>
              <a:tr h="571500">
                <a:tc>
                  <a:txBody>
                    <a:bodyPr lIns="95250" tIns="57150" rIns="95250" bIns="57150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확인할 것</a:t>
                      </a:r>
                    </a:p>
                  </a:txBody>
                  <a:tcPr marL="91440" marR="91440" marT="45720" marB="45720" anchor="ctr">
                    <a:solidFill>
                      <a:srgbClr val="1B1D21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기대 결과</a:t>
                      </a:r>
                    </a:p>
                  </a:txBody>
                  <a:tcPr marL="91440" marR="91440" marT="45720" marB="45720" anchor="ctr">
                    <a:solidFill>
                      <a:srgbClr val="1B1D21"/>
                    </a:solidFill>
                  </a:tcPr>
                </a:tc>
              </a:tr>
              <a:tr h="571500">
                <a:tc>
                  <a:txBody>
                    <a:bodyPr lIns="95250" tIns="57150" rIns="95250" bIns="57150"/>
                    <a:lstStyle/>
                    <a:p>
                      <a:pPr algn="l"/>
                      <a:r>
                        <a:rPr sz="1275" b="1">
                          <a:solidFill>
                            <a:srgbClr val="1B1D21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데이터 총 행 수</a:t>
                      </a:r>
                    </a:p>
                  </a:txBody>
                  <a:tcPr marL="91440" marR="91440" marT="45720" marB="45720" anchor="ctr">
                    <a:solidFill>
                      <a:srgbClr val="F1F2F4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/>
                      <a:r>
                        <a:rPr sz="1275" b="0">
                          <a:solidFill>
                            <a:srgbClr val="6C7078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60</a:t>
                      </a:r>
                    </a:p>
                  </a:txBody>
                  <a:tcPr marL="91440" marR="91440" marT="45720" marB="45720" anchor="ctr">
                    <a:solidFill>
                      <a:srgbClr val="F1F2F4"/>
                    </a:solidFill>
                  </a:tcPr>
                </a:tc>
              </a:tr>
              <a:tr h="571500">
                <a:tc>
                  <a:txBody>
                    <a:bodyPr lIns="95250" tIns="57150" rIns="95250" bIns="57150"/>
                    <a:lstStyle/>
                    <a:p>
                      <a:pPr algn="l"/>
                      <a:r>
                        <a:rPr sz="1275" b="1">
                          <a:solidFill>
                            <a:srgbClr val="1B1D21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열 이름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/>
                      <a:r>
                        <a:rPr sz="1275" b="0">
                          <a:solidFill>
                            <a:srgbClr val="6C7078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date · visitors · borrowed_books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95250" tIns="57150" rIns="95250" bIns="57150"/>
                    <a:lstStyle/>
                    <a:p>
                      <a:pPr algn="l"/>
                      <a:r>
                        <a:rPr sz="1275" b="1">
                          <a:solidFill>
                            <a:srgbClr val="1B1D21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첫 행</a:t>
                      </a:r>
                    </a:p>
                  </a:txBody>
                  <a:tcPr marL="91440" marR="91440" marT="45720" marB="45720" anchor="ctr">
                    <a:solidFill>
                      <a:srgbClr val="F1F2F4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/>
                      <a:r>
                        <a:rPr sz="1275" b="0">
                          <a:solidFill>
                            <a:srgbClr val="6C7078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2026-03-02 · 24 · 8</a:t>
                      </a:r>
                    </a:p>
                  </a:txBody>
                  <a:tcPr marL="91440" marR="91440" marT="45720" marB="45720" anchor="ctr">
                    <a:solidFill>
                      <a:srgbClr val="F1F2F4"/>
                    </a:solidFill>
                  </a:tcPr>
                </a:tc>
              </a:tr>
              <a:tr h="571500">
                <a:tc>
                  <a:txBody>
                    <a:bodyPr lIns="95250" tIns="57150" rIns="95250" bIns="57150"/>
                    <a:lstStyle/>
                    <a:p>
                      <a:pPr algn="l"/>
                      <a:r>
                        <a:rPr sz="1275" b="1">
                          <a:solidFill>
                            <a:srgbClr val="1B1D21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그래프에 사용한 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/>
                      <a:r>
                        <a:rPr sz="1275" b="0">
                          <a:solidFill>
                            <a:srgbClr val="6C7078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2번에서 추천한 열과 같음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95250" tIns="57150" rIns="95250" bIns="57150"/>
                    <a:lstStyle/>
                    <a:p>
                      <a:pPr algn="l"/>
                      <a:r>
                        <a:rPr sz="1275" b="1">
                          <a:solidFill>
                            <a:srgbClr val="1B1D21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날짜 표시</a:t>
                      </a:r>
                    </a:p>
                  </a:txBody>
                  <a:tcPr marL="91440" marR="91440" marT="45720" marB="45720" anchor="ctr">
                    <a:solidFill>
                      <a:srgbClr val="F1F2F4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/>
                      <a:r>
                        <a:rPr sz="1275" b="0">
                          <a:solidFill>
                            <a:srgbClr val="6C7078"/>
                          </a:solidFill>
                          <a:latin typeface="IBM Plex Sans KR"/>
                          <a:ea typeface="IBM Plex Sans KR"/>
                          <a:cs typeface="IBM Plex Sans KR"/>
                        </a:rPr>
                        <a:t>겹치지 않음</a:t>
                      </a:r>
                    </a:p>
                  </a:txBody>
                  <a:tcPr marL="91440" marR="91440" marT="45720" marB="45720" anchor="ctr">
                    <a:solidFill>
                      <a:srgbClr val="F1F2F4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9CB8C-BA0D-464F-9B40-4DFAFF4B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43575"/>
            <a:ext cx="11125200" cy="5143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</a:ln>
        </p:spPr>
        <p:txBody>
          <a:bodyPr xmlns:a="http://schemas.openxmlformats.org/drawingml/2006/main" lIns="133350" tIns="0" rIns="13335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하나라도 다르면 손으로 고치지 않고, 어긋난 항목을 AI에게 말한다</a:t>
            </a:r>
          </a:p>
        </p:txBody>
      </p:sp>
    </p:spTree>
    <p:extLst>
      <p:ext uri="{BB962C8B-B14F-4D97-AF65-F5344CB8AC3E}">
        <p14:creationId xmlns:p14="http://schemas.microsoft.com/office/powerpoint/2010/main" val="20108514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B1D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44417-6478-4478-8CF6-9448C526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solidFill>
              <a:srgbClr val="FF5C0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A6CD1-B800-40E2-8A2A-1D602E5B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05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오늘 남길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8DD51-07E1-4A63-919F-3E5809DF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33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결과를 검토하고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330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작업을 저장한다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A99A6-196B-4DE2-A607-6FD5DF21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A7ACB3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650" b="0">
                <a:solidFill>
                  <a:srgbClr val="A7ACB3"/>
                </a:solidFill>
                <a:latin typeface="IBM Plex Sans KR"/>
                <a:ea typeface="IBM Plex Sans KR"/>
                <a:cs typeface="IBM Plex Sans KR"/>
              </a:rPr>
              <a:t>오늘은 설정 파일을 읽고 오류를 AI에게 전달한 뒤, Excel과 함께 결과를 검토했어요.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2C3BC-E83D-4552-849E-02974FE4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다음 차시에는 같은 데이터를 CSV로 읽어 pandas 실습을 이어갑니다.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B455B-7C6A-40F4-A223-EB2A6317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82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04-1 · 16쪽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02090-1B92-44E7-A49F-B4912E06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6C707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6C7078"/>
                </a:solidFill>
                <a:latin typeface="IBM Plex Mono"/>
                <a:ea typeface="IBM Plex Mono"/>
                <a:cs typeface="IBM Plex Mon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645021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2026-09-21T15:31:14.7310000Z</dcterms:created>
  <dcterms:modified xsi:type="dcterms:W3CDTF">2026-09-21T15:31:14.7310000Z</dcterms:modified>
</coreProperties>
</file>