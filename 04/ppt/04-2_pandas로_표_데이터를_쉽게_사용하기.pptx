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da79fdac05f4b59" /><Relationship Type="http://schemas.openxmlformats.org/officeDocument/2006/relationships/extended-properties" Target="/docProps/app.xml" Id="Rf1f8fed2a67e4412" /><Relationship Type="http://schemas.openxmlformats.org/officeDocument/2006/relationships/officeDocument" Target="/ppt/presentation.xml" Id="R815998f036ec427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6c2177d38e2439b"/>
  </p:sldMasterIdLst>
  <p:notesMasterIdLst>
    <p:notesMasterId xmlns:r="http://schemas.openxmlformats.org/officeDocument/2006/relationships" r:id="R3cc6649876244706"/>
  </p:notesMasterIdLst>
  <p:sldIdLst>
    <p:sldId xmlns:r="http://schemas.openxmlformats.org/officeDocument/2006/relationships" id="256" r:id="R1682cca4a6034d6e"/>
    <p:sldId xmlns:r="http://schemas.openxmlformats.org/officeDocument/2006/relationships" id="257" r:id="Raf15eee1988c4840"/>
    <p:sldId xmlns:r="http://schemas.openxmlformats.org/officeDocument/2006/relationships" id="258" r:id="R2ff36c237d4a4b9a"/>
    <p:sldId xmlns:r="http://schemas.openxmlformats.org/officeDocument/2006/relationships" id="259" r:id="R60311b81aa9c4639"/>
    <p:sldId xmlns:r="http://schemas.openxmlformats.org/officeDocument/2006/relationships" id="260" r:id="R2c37f2794eab4985"/>
    <p:sldId xmlns:r="http://schemas.openxmlformats.org/officeDocument/2006/relationships" id="261" r:id="R459eb88fb54544a5"/>
    <p:sldId xmlns:r="http://schemas.openxmlformats.org/officeDocument/2006/relationships" id="262" r:id="R665bb5059b314fd6"/>
    <p:sldId xmlns:r="http://schemas.openxmlformats.org/officeDocument/2006/relationships" id="263" r:id="R07f999d2b2614f19"/>
    <p:sldId xmlns:r="http://schemas.openxmlformats.org/officeDocument/2006/relationships" id="264" r:id="R9d6dcbd6d5a84236"/>
    <p:sldId xmlns:r="http://schemas.openxmlformats.org/officeDocument/2006/relationships" id="265" r:id="R29dc2f0131764fb5"/>
    <p:sldId xmlns:r="http://schemas.openxmlformats.org/officeDocument/2006/relationships" id="266" r:id="R66f9f29908304c3d"/>
    <p:sldId xmlns:r="http://schemas.openxmlformats.org/officeDocument/2006/relationships" id="267" r:id="R647030729c6044d2"/>
    <p:sldId xmlns:r="http://schemas.openxmlformats.org/officeDocument/2006/relationships" id="268" r:id="Rdbd2d300afd549b1"/>
    <p:sldId xmlns:r="http://schemas.openxmlformats.org/officeDocument/2006/relationships" id="269" r:id="R598526b727bf4352"/>
    <p:sldId xmlns:r="http://schemas.openxmlformats.org/officeDocument/2006/relationships" id="270" r:id="Ra0506840171c41fd"/>
    <p:sldId xmlns:r="http://schemas.openxmlformats.org/officeDocument/2006/relationships" id="271" r:id="Rb6f31c5f835b4d7c"/>
    <p:sldId xmlns:r="http://schemas.openxmlformats.org/officeDocument/2006/relationships" id="272" r:id="R89f7163717664c1d"/>
    <p:sldId xmlns:r="http://schemas.openxmlformats.org/officeDocument/2006/relationships" id="273" r:id="R9d5d66f459d843da"/>
    <p:sldId xmlns:r="http://schemas.openxmlformats.org/officeDocument/2006/relationships" id="274" r:id="R2c6fcde8bcb54761"/>
    <p:sldId xmlns:r="http://schemas.openxmlformats.org/officeDocument/2006/relationships" id="275" r:id="R405a637c3bdc4fff"/>
    <p:sldId xmlns:r="http://schemas.openxmlformats.org/officeDocument/2006/relationships" id="276" r:id="R764b4bcdfa3e4d48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68409c7ba3b4546" /><Relationship Type="http://schemas.openxmlformats.org/officeDocument/2006/relationships/slideMaster" Target="/ppt/slideMasters/slideMaster1.xml" Id="R66c2177d38e2439b" /><Relationship Type="http://schemas.openxmlformats.org/officeDocument/2006/relationships/notesMaster" Target="/ppt/notesMasters/notesMaster1.xml" Id="R3cc6649876244706" /><Relationship Type="http://schemas.openxmlformats.org/officeDocument/2006/relationships/presProps" Target="/ppt/presProps.xml" Id="Rf06e7974b7434d1c" /><Relationship Type="http://schemas.openxmlformats.org/officeDocument/2006/relationships/tableStyles" Target="/ppt/tableStyles.xml" Id="R51a3a64b8c5c41db" /><Relationship Type="http://schemas.openxmlformats.org/officeDocument/2006/relationships/slide" Target="/ppt/slides/slide1.xml" Id="R1682cca4a6034d6e" /><Relationship Type="http://schemas.openxmlformats.org/officeDocument/2006/relationships/slide" Target="/ppt/slides/slide2.xml" Id="Raf15eee1988c4840" /><Relationship Type="http://schemas.openxmlformats.org/officeDocument/2006/relationships/slide" Target="/ppt/slides/slide3.xml" Id="R2ff36c237d4a4b9a" /><Relationship Type="http://schemas.openxmlformats.org/officeDocument/2006/relationships/slide" Target="/ppt/slides/slide4.xml" Id="R60311b81aa9c4639" /><Relationship Type="http://schemas.openxmlformats.org/officeDocument/2006/relationships/slide" Target="/ppt/slides/slide5.xml" Id="R2c37f2794eab4985" /><Relationship Type="http://schemas.openxmlformats.org/officeDocument/2006/relationships/slide" Target="/ppt/slides/slide6.xml" Id="R459eb88fb54544a5" /><Relationship Type="http://schemas.openxmlformats.org/officeDocument/2006/relationships/slide" Target="/ppt/slides/slide7.xml" Id="R665bb5059b314fd6" /><Relationship Type="http://schemas.openxmlformats.org/officeDocument/2006/relationships/slide" Target="/ppt/slides/slide8.xml" Id="R07f999d2b2614f19" /><Relationship Type="http://schemas.openxmlformats.org/officeDocument/2006/relationships/slide" Target="/ppt/slides/slide9.xml" Id="R9d6dcbd6d5a84236" /><Relationship Type="http://schemas.openxmlformats.org/officeDocument/2006/relationships/slide" Target="/ppt/slides/slide10.xml" Id="R29dc2f0131764fb5" /><Relationship Type="http://schemas.openxmlformats.org/officeDocument/2006/relationships/slide" Target="/ppt/slides/slide11.xml" Id="R66f9f29908304c3d" /><Relationship Type="http://schemas.openxmlformats.org/officeDocument/2006/relationships/slide" Target="/ppt/slides/slide12.xml" Id="R647030729c6044d2" /><Relationship Type="http://schemas.openxmlformats.org/officeDocument/2006/relationships/slide" Target="/ppt/slides/slide13.xml" Id="Rdbd2d300afd549b1" /><Relationship Type="http://schemas.openxmlformats.org/officeDocument/2006/relationships/slide" Target="/ppt/slides/slide14.xml" Id="R598526b727bf4352" /><Relationship Type="http://schemas.openxmlformats.org/officeDocument/2006/relationships/slide" Target="/ppt/slides/slide15.xml" Id="Ra0506840171c41fd" /><Relationship Type="http://schemas.openxmlformats.org/officeDocument/2006/relationships/slide" Target="/ppt/slides/slide16.xml" Id="Rb6f31c5f835b4d7c" /><Relationship Type="http://schemas.openxmlformats.org/officeDocument/2006/relationships/slide" Target="/ppt/slides/slide17.xml" Id="R89f7163717664c1d" /><Relationship Type="http://schemas.openxmlformats.org/officeDocument/2006/relationships/slide" Target="/ppt/slides/slide18.xml" Id="R9d5d66f459d843da" /><Relationship Type="http://schemas.openxmlformats.org/officeDocument/2006/relationships/slide" Target="/ppt/slides/slide19.xml" Id="R2c6fcde8bcb54761" /><Relationship Type="http://schemas.openxmlformats.org/officeDocument/2006/relationships/slide" Target="/ppt/slides/slide20.xml" Id="R405a637c3bdc4fff" /><Relationship Type="http://schemas.openxmlformats.org/officeDocument/2006/relationships/slide" Target="/ppt/slides/slide21.xml" Id="R764b4bcdfa3e4d4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a5b71025d98438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4d2535d737c48db" /><Relationship Type="http://schemas.openxmlformats.org/officeDocument/2006/relationships/notesMaster" Target="/ppt/notesMasters/notesMaster1.xml" Id="R600bd73732a6424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fee34c2d4744cea" /><Relationship Type="http://schemas.openxmlformats.org/officeDocument/2006/relationships/notesMaster" Target="/ppt/notesMasters/notesMaster1.xml" Id="Rf8af5cd773cf43f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90b5275c8be455d" /><Relationship Type="http://schemas.openxmlformats.org/officeDocument/2006/relationships/notesMaster" Target="/ppt/notesMasters/notesMaster1.xml" Id="R03e5c85f27b2461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6b553f23b164076" /><Relationship Type="http://schemas.openxmlformats.org/officeDocument/2006/relationships/notesMaster" Target="/ppt/notesMasters/notesMaster1.xml" Id="R6a7966f3c19847d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a9d2a5779ac412a" /><Relationship Type="http://schemas.openxmlformats.org/officeDocument/2006/relationships/notesMaster" Target="/ppt/notesMasters/notesMaster1.xml" Id="Ree076c76039f4e0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1afff74c89e45df" /><Relationship Type="http://schemas.openxmlformats.org/officeDocument/2006/relationships/notesMaster" Target="/ppt/notesMasters/notesMaster1.xml" Id="Rd1ac58ff11b14d3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5c05e1ccbbe40ef" /><Relationship Type="http://schemas.openxmlformats.org/officeDocument/2006/relationships/notesMaster" Target="/ppt/notesMasters/notesMaster1.xml" Id="Rd8300737b7924a3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c3854d96e214d86" /><Relationship Type="http://schemas.openxmlformats.org/officeDocument/2006/relationships/notesMaster" Target="/ppt/notesMasters/notesMaster1.xml" Id="Rea17e7452c674d8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8f5cb8cb9e44f43" /><Relationship Type="http://schemas.openxmlformats.org/officeDocument/2006/relationships/notesMaster" Target="/ppt/notesMasters/notesMaster1.xml" Id="Rb85ae89aaa23476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29e32d4a92e48d7" /><Relationship Type="http://schemas.openxmlformats.org/officeDocument/2006/relationships/notesMaster" Target="/ppt/notesMasters/notesMaster1.xml" Id="R724e7526474e49a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9fc88258a6b4d83" /><Relationship Type="http://schemas.openxmlformats.org/officeDocument/2006/relationships/notesMaster" Target="/ppt/notesMasters/notesMaster1.xml" Id="Rb8ecb915b760457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e53478da1bf4e4b" /><Relationship Type="http://schemas.openxmlformats.org/officeDocument/2006/relationships/notesMaster" Target="/ppt/notesMasters/notesMaster1.xml" Id="R3cfb4bf2f000461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9c01347c9364f1b" /><Relationship Type="http://schemas.openxmlformats.org/officeDocument/2006/relationships/notesMaster" Target="/ppt/notesMasters/notesMaster1.xml" Id="R1d1fd456954a4b4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dbb36fff5bb46f8" /><Relationship Type="http://schemas.openxmlformats.org/officeDocument/2006/relationships/notesMaster" Target="/ppt/notesMasters/notesMaster1.xml" Id="Ra13e592294cd401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e1168955e5a4dd8" /><Relationship Type="http://schemas.openxmlformats.org/officeDocument/2006/relationships/notesMaster" Target="/ppt/notesMasters/notesMaster1.xml" Id="R53a7e75b168f4b2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922de9ba56d4eda" /><Relationship Type="http://schemas.openxmlformats.org/officeDocument/2006/relationships/notesMaster" Target="/ppt/notesMasters/notesMaster1.xml" Id="R11adb0087c1246a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2d8b66969254100" /><Relationship Type="http://schemas.openxmlformats.org/officeDocument/2006/relationships/notesMaster" Target="/ppt/notesMasters/notesMaster1.xml" Id="R35baf01edc9b4fe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b445a6bb2344eed" /><Relationship Type="http://schemas.openxmlformats.org/officeDocument/2006/relationships/notesMaster" Target="/ppt/notesMasters/notesMaster1.xml" Id="R2d0e6994d8414f3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fc42708068a4461" /><Relationship Type="http://schemas.openxmlformats.org/officeDocument/2006/relationships/notesMaster" Target="/ppt/notesMasters/notesMaster1.xml" Id="R2f872783cd8b483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b99f17fa21b4f88" /><Relationship Type="http://schemas.openxmlformats.org/officeDocument/2006/relationships/notesMaster" Target="/ppt/notesMasters/notesMaster1.xml" Id="R3da82da7489c433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57e0b67836f4628" /><Relationship Type="http://schemas.openxmlformats.org/officeDocument/2006/relationships/notesMaster" Target="/ppt/notesMasters/notesMaster1.xml" Id="Reefa9d6eb1ad4b3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4-1의 Excel과 내용이 같은 CSV를 사용합니다. 자료는 같고 표현 방식과 읽는 도구가 달라졌다는 점부터 시작합니다.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두 파일의 확장자와 여는 방법은 다르지만 머리글과 60줄의 값은 같습니다.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이번에는 오류를 일부러 만들지 않습니다. uv add pandas를 직접 실행하고 pyproject.toml에 pandas가 생겼는지 확인한 뒤 커널을 다시 시작합니다.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pandas는 표 데이터를 다루는 데 널리 쓰이는 Python 라이브러리입니다. 데이터 분석가와 연구자, Python 개발자가 많이 쓰며 CSV, Excel, 데이터베이스 표를 같은 DataFrame으로 읽고 필요한 행과 열을 고르거나 평균을 계산하는 일을 한 도구에서 이어서 할 수 있습니다. 출처: pandas 공식 Package overview 및 User Guide. https://pandas.pydata.org/docs/getting_started/overview.html https://pandas.pydata.org/docs/user_guide/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04-2_exercise.ipynb를 열고 첫 번째 요청을 보냅니다. 아직 코드는 만들지 않게 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AI가 말한 자료의 내용, 머리글, 줄 수와 Excel과의 차이를 원본에서 확인합니다.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두 번째 요청으로 방문자 수와 대출 권수의 평균을 계산하고 Notebook에 출력하게 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AI가 만든 평균 계산 셀을 실행하고 visitors와 borrowed_books 두 결과가 코드 아래에 출력되는지 확인합니다.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추세선은 예측선이 아니라 전체 흐름을 보기 쉽게 만든 선이라고 설명합니다.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세 번째 요청에서 x축과 y축 후보와 각 선택의 의미를 설명하게 합니다. 아직 그래프는 만들지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이번에는 4-1과 비교하기 위해 x축 date, y축 visitors를 고릅니다.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네 번째 요청에서 선택한 축과 표시할 검토 정보까지 구체적으로 적어 실제 그래프 제작을 맡깁니다.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학생이 파일 경로와 열 이름을 확인한 뒤 AI가 작성한 셀을 직접 실행합니다.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다섯 번째 요청은 실행 성공 여부가 아니라 원본과 결과가 맞는지를 검토하게 합니다. 검토가 끝나면 실습은 마치고, 설명용 04-2_pandas_table.ipynb를 열어 방금 한 작업이 코드에 어떻게 적혔는지 1번부터 읽겠다고 안내합니다.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학생에게 notebooks/04-2_pandas_table.ipynb를 열게 합니다. 실습에서 만든 결과와 같은 작업이 코드에 어떻게 적혀 있는지 이제 번호 순서대로 읽겠다고 말한 뒤, 1번의 파일 경로와 머리글부터 함께 읽습니다.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import pandas as pd를 두 덩어리로 읽습니다. pandas를 가져오고 pd라는 짧은 이름을 붙입니다. 이 줄은 Notebook에서 한 번만 실행하며 다음 번호에서 반복하지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3번에서는 import가 다시 나오지 않습니다. read_csv가 CSV를 읽고 df에 담으며, head가 위쪽 다섯 행을 보여 준다는 흐름을 읽습니다.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4번의 다섯 줄을 두 블록으로 읽습니다. 위 블록은 표의 상태를 확인하고, 아래 블록은 두 열의 평균을 계산해 출력합니다. 함수 하나씩 암기시키지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5번의 전체 코드를 세 블록으로 나누어 읽습니다. 첫 블록에서 x축과 y축, 둘째 블록에서 제목과 축 이름, 셋째 블록에서 날짜 표시 간격을 확인합니다.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6번의 전체 코드를 네 블록으로 읽습니다. 5일 평균 열을 만들고, 회색 원자료를 그린 뒤, ax=ax로 주황 추세선을 같은 그래프에 겹칩니다. 마지막 화면 설정은 5번과 같은 흐름이라고 연결합니다.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1번부터 6번까지를 파일 확인, 도구 가져오기, 읽고 확인하기, 그래프로 보기의 흐름으로 다시 연결합니다. 문법을 묻지 않고 각 번호가 화면에서 한 일을 학생에게 말하게 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8b4a20790b49b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cf39f14e3024c19" /><Relationship Type="http://schemas.openxmlformats.org/officeDocument/2006/relationships/slideLayout" Target="/ppt/slideLayouts/slideLayout1.xml" Id="Ra0a1c7d1fa564dc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0a1c7d1fa564dc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2348e5457a4229" /><Relationship Type="http://schemas.openxmlformats.org/officeDocument/2006/relationships/notesSlide" Target="/ppt/notesSlides/notesSlide1.xml" Id="Rf74497631acc48c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4d10517ae74b9d" /><Relationship Type="http://schemas.openxmlformats.org/officeDocument/2006/relationships/notesSlide" Target="/ppt/notesSlides/notesSlide2.xml" Id="R8ea240032baa49a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e4fa06ebab4cfb" /><Relationship Type="http://schemas.openxmlformats.org/officeDocument/2006/relationships/notesSlide" Target="/ppt/notesSlides/notesSlide3.xml" Id="R5b7751bbefa44a6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b4723954e64f55" /><Relationship Type="http://schemas.openxmlformats.org/officeDocument/2006/relationships/notesSlide" Target="/ppt/notesSlides/notesSlide4.xml" Id="R7b7f226e830d412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0f0b322a204f15" /><Relationship Type="http://schemas.openxmlformats.org/officeDocument/2006/relationships/notesSlide" Target="/ppt/notesSlides/notesSlide5.xml" Id="R89be042358b5423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4f33a7118c4835" /><Relationship Type="http://schemas.openxmlformats.org/officeDocument/2006/relationships/notesSlide" Target="/ppt/notesSlides/notesSlide6.xml" Id="R1f649f0466d9499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daa5243b9e4e83" /><Relationship Type="http://schemas.openxmlformats.org/officeDocument/2006/relationships/notesSlide" Target="/ppt/notesSlides/notesSlide7.xml" Id="R65efe6a1c5b9423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37fb8ed4664885" /><Relationship Type="http://schemas.openxmlformats.org/officeDocument/2006/relationships/notesSlide" Target="/ppt/notesSlides/notesSlide8.xml" Id="Re2bf234c2c174d1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dad70ad3e04f56" /><Relationship Type="http://schemas.openxmlformats.org/officeDocument/2006/relationships/notesSlide" Target="/ppt/notesSlides/notesSlide9.xml" Id="Re151c0b8ef4a4e8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b2fd5397464105" /><Relationship Type="http://schemas.openxmlformats.org/officeDocument/2006/relationships/notesSlide" Target="/ppt/notesSlides/notesSlide10.xml" Id="Re36f1affb37f4a3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20093264fc4f0e" /><Relationship Type="http://schemas.openxmlformats.org/officeDocument/2006/relationships/notesSlide" Target="/ppt/notesSlides/notesSlide11.xml" Id="Rea49f544cbb94be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be2fe81db64881" /><Relationship Type="http://schemas.openxmlformats.org/officeDocument/2006/relationships/notesSlide" Target="/ppt/notesSlides/notesSlide12.xml" Id="R486b7c7f5757451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ae4f44f01845cf" /><Relationship Type="http://schemas.openxmlformats.org/officeDocument/2006/relationships/notesSlide" Target="/ppt/notesSlides/notesSlide13.xml" Id="R8e2ca52818164fe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9e4264ba9d4bba" /><Relationship Type="http://schemas.openxmlformats.org/officeDocument/2006/relationships/notesSlide" Target="/ppt/notesSlides/notesSlide14.xml" Id="R9b1df45a2d2f493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4291b6187c45cd" /><Relationship Type="http://schemas.openxmlformats.org/officeDocument/2006/relationships/notesSlide" Target="/ppt/notesSlides/notesSlide15.xml" Id="Rca25f49ab7e1411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a1ce852bf14e65" /><Relationship Type="http://schemas.openxmlformats.org/officeDocument/2006/relationships/notesSlide" Target="/ppt/notesSlides/notesSlide16.xml" Id="Rf3daf428d187474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7784d0f9c44f0f" /><Relationship Type="http://schemas.openxmlformats.org/officeDocument/2006/relationships/notesSlide" Target="/ppt/notesSlides/notesSlide17.xml" Id="R4087a56ef79a4d7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e9bcbcf1404eef" /><Relationship Type="http://schemas.openxmlformats.org/officeDocument/2006/relationships/notesSlide" Target="/ppt/notesSlides/notesSlide18.xml" Id="R84d815de16dc49c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cef1b8127e4c75" /><Relationship Type="http://schemas.openxmlformats.org/officeDocument/2006/relationships/notesSlide" Target="/ppt/notesSlides/notesSlide19.xml" Id="Rfd5f53a7407a41c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aadddcb7c744ff" /><Relationship Type="http://schemas.openxmlformats.org/officeDocument/2006/relationships/notesSlide" Target="/ppt/notesSlides/notesSlide20.xml" Id="Re3884d8f5e004ec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b9173bd96b4110" /><Relationship Type="http://schemas.openxmlformats.org/officeDocument/2006/relationships/notesSlide" Target="/ppt/notesSlides/notesSlide21.xml" Id="Rb0f246f096c34fd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B1D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2A8A70-F38F-4BFF-BF03-46858E0CB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D9F41A-9B58-4FA3-B113-E74702C4F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4회 · 둘째 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A97577-E318-4C51-ADF0-FBB4D393B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8382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3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33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pandas로 표 데이터를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3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33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쉽게 사용하기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85D7CB-7F62-4D73-8F19-D5B0FE381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67125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A7ACB3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650" b="0">
                <a:solidFill>
                  <a:srgbClr val="A7ACB3"/>
                </a:solidFill>
                <a:latin typeface="IBM Plex Sans KR"/>
                <a:ea typeface="IBM Plex Sans KR"/>
                <a:cs typeface="IBM Plex Sans KR"/>
              </a:rPr>
              <a:t>같은 자료를 CSV로 읽고, 표와 그래프를 열 이름으로 연결합니다.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8D2AE5-6EFE-473D-BD34-07EAF5863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34125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04-2 · 1쪽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95BF07-B51D-446C-97E9-E459A00CB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341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defRPr>
            </a:pPr>
            <a:r>
              <a: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997609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8EE3A8-0867-4EB8-9D41-70D5CA181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18B7CD-74E7-4445-9795-E83CC4416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76350" cy="276225"/>
          </a:xfrm>
          <a:prstGeom xmlns:a="http://schemas.openxmlformats.org/drawingml/2006/main" prst="roundRect">
            <a:avLst>
              <a:gd name="adj" fmla="val 4827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4-2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ABC5B2-B727-474A-B56C-13239B86E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어제의 Excel이 오늘은 CSV다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2ADA56-918F-4591-B595-2D76F03C8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DB6F3C-AB8B-4EF0-A1A4-4934810B1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8001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293193-FC95-4D91-8587-F608A0F19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3412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04-2 · 2쪽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1B73D5-4455-479B-98EE-C6E54B253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341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defRPr>
            </a:pPr>
            <a:r>
              <a: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graphicFrame>
        <p:nvGraphicFramePr>
          <p:cNvPr id="23" name=""/>
          <p:cNvGraphicFramePr/>
          <p:nvPr/>
        </p:nvGraphicFramePr>
        <p:xfrm>
          <a:off xmlns:a="http://schemas.openxmlformats.org/drawingml/2006/main" x="1143000" y="2047875"/>
          <a:ext xmlns:a="http://schemas.openxmlformats.org/drawingml/2006/main" cx="9906000" cy="2095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4953000"/>
                <a:gridCol w="2952750"/>
              </a:tblGrid>
              <a:tr h="698500">
                <a:tc>
                  <a:txBody>
                    <a:bodyPr lIns="95250" tIns="57150" rIns="95250" bIns="57150"/>
                    <a:lstStyle/>
                    <a:p>
                      <a:pPr algn="ctr"/>
                      <a:r>
                        <a:rPr sz="1125" b="1">
                          <a:solidFill>
                            <a:srgbClr val="FFFFFF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차시</a:t>
                      </a:r>
                    </a:p>
                  </a:txBody>
                  <a:tcPr marL="91440" marR="91440" marT="45720" marB="45720" anchor="ctr">
                    <a:solidFill>
                      <a:srgbClr val="1B1D21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pPr algn="l"/>
                      <a:r>
                        <a:rPr sz="1125" b="1">
                          <a:solidFill>
                            <a:srgbClr val="FFFFFF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파일</a:t>
                      </a:r>
                    </a:p>
                  </a:txBody>
                  <a:tcPr marL="91440" marR="91440" marT="45720" marB="45720" anchor="ctr">
                    <a:solidFill>
                      <a:srgbClr val="1B1D21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pPr algn="ctr"/>
                      <a:r>
                        <a:rPr sz="1125" b="1">
                          <a:solidFill>
                            <a:srgbClr val="FFFFFF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여는 방법</a:t>
                      </a:r>
                    </a:p>
                  </a:txBody>
                  <a:tcPr marL="91440" marR="91440" marT="45720" marB="45720" anchor="ctr">
                    <a:solidFill>
                      <a:srgbClr val="1B1D21"/>
                    </a:solidFill>
                  </a:tcPr>
                </a:tc>
              </a:tr>
              <a:tr h="698500">
                <a:tc>
                  <a:txBody>
                    <a:bodyPr lIns="95250" tIns="57150" rIns="95250" bIns="57150"/>
                    <a:lstStyle/>
                    <a:p>
                      <a:pPr algn="ctr"/>
                      <a:r>
                        <a:rPr sz="1425" b="1">
                          <a:solidFill>
                            <a:srgbClr val="1B1D21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4-1</a:t>
                      </a:r>
                    </a:p>
                  </a:txBody>
                  <a:tcPr marL="91440" marR="91440" marT="45720" marB="45720" anchor="ctr">
                    <a:solidFill>
                      <a:srgbClr val="F1F2F4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pPr algn="l"/>
                      <a:r>
                        <a:rPr sz="1425" b="0">
                          <a:solidFill>
                            <a:srgbClr val="6C7078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04-library-data.xlsx</a:t>
                      </a:r>
                    </a:p>
                  </a:txBody>
                  <a:tcPr marL="91440" marR="91440" marT="45720" marB="45720" anchor="ctr">
                    <a:solidFill>
                      <a:srgbClr val="F1F2F4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pPr algn="ctr"/>
                      <a:r>
                        <a:rPr sz="1425" b="0">
                          <a:solidFill>
                            <a:srgbClr val="6C7078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Excel</a:t>
                      </a:r>
                    </a:p>
                  </a:txBody>
                  <a:tcPr marL="91440" marR="91440" marT="45720" marB="45720" anchor="ctr">
                    <a:solidFill>
                      <a:srgbClr val="F1F2F4"/>
                    </a:solidFill>
                  </a:tcPr>
                </a:tc>
              </a:tr>
              <a:tr h="698500">
                <a:tc>
                  <a:txBody>
                    <a:bodyPr lIns="95250" tIns="57150" rIns="95250" bIns="57150"/>
                    <a:lstStyle/>
                    <a:p>
                      <a:pPr algn="ctr"/>
                      <a:r>
                        <a:rPr sz="1425" b="1">
                          <a:solidFill>
                            <a:srgbClr val="1B1D21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4-2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pPr algn="l"/>
                      <a:r>
                        <a:rPr sz="1425" b="0">
                          <a:solidFill>
                            <a:srgbClr val="6C7078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04-library-data.csv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pPr algn="ctr"/>
                      <a:r>
                        <a:rPr sz="1425" b="0">
                          <a:solidFill>
                            <a:srgbClr val="6C7078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pandas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CFF343-E302-4677-9FD0-CCE12FF23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24375"/>
            <a:ext cx="47625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0E7C86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ABC259-383B-454B-8955-A96516AC9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33925"/>
            <a:ext cx="438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같은 내용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4117F2-C277-4ABA-8749-CA5DF7237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133975"/>
            <a:ext cx="4381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머리글 3개와 데이터 60줄이 완전히 같아요.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936BC4-1463-44A5-999C-8B7FA9838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24375"/>
            <a:ext cx="47625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10BEA3-B37B-4FC5-A0FC-3760EF7C6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33925"/>
            <a:ext cx="438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다른 표현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133327-A57B-46F8-9C74-AE9CAABD1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133975"/>
            <a:ext cx="4381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Excel은 칸으로, CSV는 쉼표로 값을 나누어요.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6266F6-ED70-4323-83B4-C4E9A9ADC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10250"/>
            <a:ext cx="11125200" cy="5143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</a:ln>
        </p:spPr>
        <p:txBody>
          <a:bodyPr xmlns:a="http://schemas.openxmlformats.org/drawingml/2006/main" lIns="133350" tIns="0" rIns="13335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표현하는 방법이 다를 뿐, 두 파일은 같은 데이터를 담고 있어요</a:t>
            </a:r>
          </a:p>
        </p:txBody>
      </p:sp>
    </p:spTree>
    <p:extLst>
      <p:ext uri="{BB962C8B-B14F-4D97-AF65-F5344CB8AC3E}">
        <p14:creationId xmlns:p14="http://schemas.microsoft.com/office/powerpoint/2010/main" val="165546723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33307A-ADB8-4E6C-A90E-63DE325A7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CA3095-8C72-40B8-8229-CD20C9593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76350" cy="276225"/>
          </a:xfrm>
          <a:prstGeom xmlns:a="http://schemas.openxmlformats.org/drawingml/2006/main" prst="roundRect">
            <a:avLst>
              <a:gd name="adj" fmla="val 4827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4-2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B0CA68-964E-48B5-8336-6FC8E8492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pandas를 프로젝트에 추가한다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2BFEEE-8F04-48B2-8268-5E52684F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24A5E1-8ABA-4A7F-9007-DD332F5BD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8001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A97C15-5397-4D64-B33F-E807F0BCD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3412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04-2 · 3쪽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EAE1AC-C479-43E4-A69C-2432A6C66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341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defRPr>
            </a:pPr>
            <a:r>
              <a: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261167-65AA-4787-8E0E-937396037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526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VS Code 터미널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1E52FC-CB50-4AA1-9450-4D824EB6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28875"/>
            <a:ext cx="10096500" cy="104775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  <p:txBody>
          <a:bodyPr xmlns:a="http://schemas.openxmlformats.org/drawingml/2006/main" lIns="171450" tIns="133350" rIns="171450" bIns="133350" anchor="ctr"/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buNone/>
              <a:defRPr sz="210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210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uv add pandas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82FBA2-08F0-4348-9A94-582F56E01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00500"/>
            <a:ext cx="3143250" cy="1285875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32EF18-FB32-482D-8FE9-48C247BBD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43375"/>
            <a:ext cx="276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40EEBD-D756-4F92-9906-2A8D69B07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10075"/>
            <a:ext cx="2762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명령 실행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8E6DEC-3D77-4316-B003-D7C24F4C0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81550"/>
            <a:ext cx="2762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04 폴더의 터미널에서 실행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D8F064-7850-44B7-87AA-7D8ACF762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000500"/>
            <a:ext cx="3143250" cy="1285875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0E7C8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B5FBF8-5AEB-4A89-A991-A4D945902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143375"/>
            <a:ext cx="276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0E7C86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0E7C86"/>
                </a:solidFill>
                <a:latin typeface="IBM Plex Sans KR"/>
                <a:ea typeface="IBM Plex Sans KR"/>
                <a:cs typeface="IBM Plex Sans KR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613696-0272-4995-92D6-30977013D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410075"/>
            <a:ext cx="2762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파일 확인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479E2B-579A-44DD-86F2-D1A1D79E2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781550"/>
            <a:ext cx="2762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pyproject.toml에서 pandas 확인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BBB9A4-7A18-42B8-B272-30AFE4DB2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3143250" cy="1285875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AB0EE2-3741-410C-BAF3-6F89A9F3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43375"/>
            <a:ext cx="276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58BC41-CF1D-470F-9452-972FD090C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10075"/>
            <a:ext cx="2762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커널 다시 시작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219F08-26CA-4D25-BA28-F2EC75B2D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81550"/>
            <a:ext cx="2762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Notebook의 .venv 다시 시작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BE0934-BC8E-46B4-B6F9-77D95EB27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62625"/>
            <a:ext cx="11125200" cy="5143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</a:ln>
        </p:spPr>
        <p:txBody>
          <a:bodyPr xmlns:a="http://schemas.openxmlformats.org/drawingml/2006/main" lIns="133350" tIns="0" rIns="13335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명령이 끝났다는 메시지만 보지 말고, 설정 파일이 실제로 바뀌었는지 확인해요</a:t>
            </a:r>
          </a:p>
        </p:txBody>
      </p:sp>
    </p:spTree>
    <p:extLst>
      <p:ext uri="{BB962C8B-B14F-4D97-AF65-F5344CB8AC3E}">
        <p14:creationId xmlns:p14="http://schemas.microsoft.com/office/powerpoint/2010/main" val="23995768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6E0F48-A6F8-4D7C-A02D-09EA6683D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F58BAF-E7A3-4FED-8A25-B0C14EB02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76350" cy="276225"/>
          </a:xfrm>
          <a:prstGeom xmlns:a="http://schemas.openxmlformats.org/drawingml/2006/main" prst="roundRect">
            <a:avLst>
              <a:gd name="adj" fmla="val 4827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4-2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1E7865-F8EF-4A8E-A75B-3DB6ACD56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0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pandas는 도구, DataFrame은 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16D17E-9970-4C7B-9439-9B542507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ED0705-7BB9-48B9-B37A-25FEEBE6C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8001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81F68C-DA1D-4190-8D3E-AD5007963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3412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04-2 · 4쪽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11D85C-4B14-4242-8365-3C633962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341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defRPr>
            </a:pPr>
            <a:r>
              <a: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1047750" y="1733550"/>
          <a:ext xmlns:a="http://schemas.openxmlformats.org/drawingml/2006/main" cx="10096500" cy="2457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7143750"/>
              </a:tblGrid>
              <a:tr h="614363">
                <a:tc>
                  <a:txBody>
                    <a:bodyPr lIns="95250" tIns="57150" rIns="95250" bIns="57150"/>
                    <a:lstStyle/>
                    <a:p>
                      <a:pPr algn="l"/>
                      <a:r>
                        <a:rPr sz="1125" b="1">
                          <a:solidFill>
                            <a:srgbClr val="FFFFFF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이름</a:t>
                      </a:r>
                    </a:p>
                  </a:txBody>
                  <a:tcPr marL="91440" marR="91440" marT="45720" marB="45720" anchor="ctr">
                    <a:solidFill>
                      <a:srgbClr val="1B1D21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pPr algn="l"/>
                      <a:r>
                        <a:rPr sz="1125" b="1">
                          <a:solidFill>
                            <a:srgbClr val="FFFFFF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뜻</a:t>
                      </a:r>
                    </a:p>
                  </a:txBody>
                  <a:tcPr marL="91440" marR="91440" marT="45720" marB="45720" anchor="ctr">
                    <a:solidFill>
                      <a:srgbClr val="1B1D21"/>
                    </a:solidFill>
                  </a:tcPr>
                </a:tc>
              </a:tr>
              <a:tr h="614363">
                <a:tc>
                  <a:txBody>
                    <a:bodyPr lIns="95250" tIns="57150" rIns="95250" bIns="57150"/>
                    <a:lstStyle/>
                    <a:p>
                      <a:pPr algn="l"/>
                      <a:r>
                        <a:rPr sz="1350" b="1">
                          <a:solidFill>
                            <a:srgbClr val="1B1D21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pandas</a:t>
                      </a:r>
                    </a:p>
                  </a:txBody>
                  <a:tcPr marL="91440" marR="91440" marT="45720" marB="45720" anchor="ctr">
                    <a:solidFill>
                      <a:srgbClr val="F1F2F4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pPr algn="l"/>
                      <a:r>
                        <a:rPr sz="1350" b="0">
                          <a:solidFill>
                            <a:srgbClr val="6C7078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표 데이터를 읽고 다루는 데 널리 쓰이는 라이브러리</a:t>
                      </a:r>
                    </a:p>
                  </a:txBody>
                  <a:tcPr marL="91440" marR="91440" marT="45720" marB="45720" anchor="ctr">
                    <a:solidFill>
                      <a:srgbClr val="F1F2F4"/>
                    </a:solidFill>
                  </a:tcPr>
                </a:tc>
              </a:tr>
              <a:tr h="614363">
                <a:tc>
                  <a:txBody>
                    <a:bodyPr lIns="95250" tIns="57150" rIns="95250" bIns="57150"/>
                    <a:lstStyle/>
                    <a:p>
                      <a:pPr algn="l"/>
                      <a:r>
                        <a:rPr sz="1350" b="1">
                          <a:solidFill>
                            <a:srgbClr val="1B1D21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DataFrame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pPr algn="l"/>
                      <a:r>
                        <a:rPr sz="1350" b="0">
                          <a:solidFill>
                            <a:srgbClr val="6C7078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pandas가 메모리에 만든 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4363">
                <a:tc>
                  <a:txBody>
                    <a:bodyPr lIns="95250" tIns="57150" rIns="95250" bIns="57150"/>
                    <a:lstStyle/>
                    <a:p>
                      <a:pPr algn="l"/>
                      <a:r>
                        <a:rPr sz="1350" b="1">
                          <a:solidFill>
                            <a:srgbClr val="1B1D21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pd</a:t>
                      </a:r>
                    </a:p>
                  </a:txBody>
                  <a:tcPr marL="91440" marR="91440" marT="45720" marB="45720" anchor="ctr">
                    <a:solidFill>
                      <a:srgbClr val="F1F2F4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pPr algn="l"/>
                      <a:r>
                        <a:rPr sz="1350" b="0">
                          <a:solidFill>
                            <a:srgbClr val="6C7078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코드에서 pandas를 짧게 부르는 이름</a:t>
                      </a:r>
                    </a:p>
                  </a:txBody>
                  <a:tcPr marL="91440" marR="91440" marT="45720" marB="45720" anchor="ctr">
                    <a:solidFill>
                      <a:srgbClr val="F1F2F4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470AE5-D23F-48D4-AD18-89BBAFC81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00550"/>
            <a:ext cx="11125200" cy="5143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</a:ln>
        </p:spPr>
        <p:txBody>
          <a:bodyPr xmlns:a="http://schemas.openxmlformats.org/drawingml/2006/main" lIns="133350" tIns="0" rIns="13335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참고 · 누가 많이 쓸까?  데이터 분석가 · 연구자 · Python 개발자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227F37-C0E7-428F-804A-8743AD975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10150"/>
            <a:ext cx="11125200" cy="5143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3D8DFF"/>
            </a:solidFill>
          </a:ln>
        </p:spPr>
        <p:txBody>
          <a:bodyPr xmlns:a="http://schemas.openxmlformats.org/drawingml/2006/main" lIns="133350" tIns="0" rIns="13335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1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CSV · Excel · 데이터베이스 표를 같은 DataFrame으로 읽고, 고르기와 계산을 이어서 할 수 있어요</a:t>
            </a:r>
          </a:p>
        </p:txBody>
      </p:sp>
    </p:spTree>
    <p:extLst>
      <p:ext uri="{BB962C8B-B14F-4D97-AF65-F5344CB8AC3E}">
        <p14:creationId xmlns:p14="http://schemas.microsoft.com/office/powerpoint/2010/main" val="112266479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7C66E8-E016-43E3-AFD0-866329447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17F115-4F43-4B73-A55A-06864C0F3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76350" cy="276225"/>
          </a:xfrm>
          <a:prstGeom xmlns:a="http://schemas.openxmlformats.org/drawingml/2006/main" prst="roundRect">
            <a:avLst>
              <a:gd name="adj" fmla="val 4827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4-2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0ED194-9503-470B-AD14-443BA5737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먼저 자료가 무엇을 말하는지 묻는다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31B6E8-5CB1-4471-B09D-779D322C6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E82A8A-57EF-4261-AA92-A1856EE64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8001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73AC59-0D3A-4212-802D-C6D87A8C5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3412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04-2 · 5쪽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4A687B-CE05-4321-BAD2-98F99543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341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defRPr>
            </a:pPr>
            <a:r>
              <a: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C19D1D-3299-4912-BFF4-E71AC91B3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09750"/>
            <a:ext cx="10287000" cy="3429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  <p:txBody>
          <a:bodyPr xmlns:a="http://schemas.openxmlformats.org/drawingml/2006/main" lIns="171450" tIns="133350" rIns="171450" bIns="133350" anchor="t"/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buNone/>
              <a:defRPr sz="1575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575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1번 · 자료 이해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75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575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data/04-library-data.csv를 읽어 줘.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75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575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이 파일이 어떤 자료인지 설명해 줘.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75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575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4-1에서 사용한 data/04-library-data.xlsx와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75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575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내용이 다른지도 확인해 줘.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75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575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아직 코드는 만들지 마.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2CFADF-E992-420B-94D9-DB63DE5C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62625"/>
            <a:ext cx="11125200" cy="5143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</a:ln>
        </p:spPr>
        <p:txBody>
          <a:bodyPr xmlns:a="http://schemas.openxmlformats.org/drawingml/2006/main" lIns="133350" tIns="0" rIns="13335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그래프를 바로 부탁하지 않고, AI의 첫 답에서 자료의 뜻부터 확인해요</a:t>
            </a:r>
          </a:p>
        </p:txBody>
      </p:sp>
    </p:spTree>
    <p:extLst>
      <p:ext uri="{BB962C8B-B14F-4D97-AF65-F5344CB8AC3E}">
        <p14:creationId xmlns:p14="http://schemas.microsoft.com/office/powerpoint/2010/main" val="171639330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E8B15F-BD5C-4A9C-B306-83BA96B40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9AC380-B0F8-4EA7-B3F4-F1D089D5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76350" cy="276225"/>
          </a:xfrm>
          <a:prstGeom xmlns:a="http://schemas.openxmlformats.org/drawingml/2006/main" prst="roundRect">
            <a:avLst>
              <a:gd name="adj" fmla="val 4827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4-2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7D6B24-753D-431A-96E0-A49D4F7B9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AI의 설명을 원본과 맞춰 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E4560F-9796-4BF2-AFB3-4FBCE012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F61CD0-E7D0-41D8-8E28-8BB5A7ACA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8001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658638-51AD-4440-8BB9-1F025970F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3412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04-2 · 6쪽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F2D11A-60B6-4CA0-9B01-83E07E37D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341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defRPr>
            </a:pPr>
            <a:r>
              <a: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06</a:t>
            </a:r>
          </a:p>
        </p:txBody>
      </p:sp>
      <p:graphicFrame>
        <p:nvGraphicFramePr>
          <p:cNvPr id="17" name=""/>
          <p:cNvGraphicFramePr/>
          <p:nvPr/>
        </p:nvGraphicFramePr>
        <p:xfrm>
          <a:off xmlns:a="http://schemas.openxmlformats.org/drawingml/2006/main" x="904875" y="1905000"/>
          <a:ext xmlns:a="http://schemas.openxmlformats.org/drawingml/2006/main" cx="1038225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6953250"/>
              </a:tblGrid>
              <a:tr h="685800">
                <a:tc>
                  <a:txBody>
                    <a:bodyPr lIns="95250" tIns="57150" rIns="95250" bIns="57150"/>
                    <a:lstStyle/>
                    <a:p>
                      <a:pPr algn="l"/>
                      <a:r>
                        <a:rPr sz="1125" b="1">
                          <a:solidFill>
                            <a:srgbClr val="FFFFFF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확인할 것</a:t>
                      </a:r>
                    </a:p>
                  </a:txBody>
                  <a:tcPr marL="91440" marR="91440" marT="45720" marB="45720" anchor="ctr">
                    <a:solidFill>
                      <a:srgbClr val="1B1D21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pPr algn="l"/>
                      <a:r>
                        <a:rPr sz="1125" b="1">
                          <a:solidFill>
                            <a:srgbClr val="FFFFFF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원본에서 보이는 답</a:t>
                      </a:r>
                    </a:p>
                  </a:txBody>
                  <a:tcPr marL="91440" marR="91440" marT="45720" marB="45720" anchor="ctr">
                    <a:solidFill>
                      <a:srgbClr val="1B1D21"/>
                    </a:solidFill>
                  </a:tcPr>
                </a:tc>
              </a:tr>
              <a:tr h="685800">
                <a:tc>
                  <a:txBody>
                    <a:bodyPr lIns="95250" tIns="57150" rIns="95250" bIns="57150"/>
                    <a:lstStyle/>
                    <a:p>
                      <a:pPr algn="l"/>
                      <a:r>
                        <a:rPr sz="1350" b="1">
                          <a:solidFill>
                            <a:srgbClr val="1B1D21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자료의 내용</a:t>
                      </a:r>
                    </a:p>
                  </a:txBody>
                  <a:tcPr marL="91440" marR="91440" marT="45720" marB="45720" anchor="ctr">
                    <a:solidFill>
                      <a:srgbClr val="F1F2F4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pPr algn="l"/>
                      <a:r>
                        <a:rPr sz="1350" b="0">
                          <a:solidFill>
                            <a:srgbClr val="6C7078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날짜별 도서관 방문자 수와 대출한 책 수</a:t>
                      </a:r>
                    </a:p>
                  </a:txBody>
                  <a:tcPr marL="91440" marR="91440" marT="45720" marB="45720" anchor="ctr">
                    <a:solidFill>
                      <a:srgbClr val="F1F2F4"/>
                    </a:solidFill>
                  </a:tcPr>
                </a:tc>
              </a:tr>
              <a:tr h="685800">
                <a:tc>
                  <a:txBody>
                    <a:bodyPr lIns="95250" tIns="57150" rIns="95250" bIns="57150"/>
                    <a:lstStyle/>
                    <a:p>
                      <a:pPr algn="l"/>
                      <a:r>
                        <a:rPr sz="1350" b="1">
                          <a:solidFill>
                            <a:srgbClr val="1B1D21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머리글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pPr algn="l"/>
                      <a:r>
                        <a:rPr sz="1350" b="0">
                          <a:solidFill>
                            <a:srgbClr val="6C7078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date · visitors · borrowed_books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95250" tIns="57150" rIns="95250" bIns="57150"/>
                    <a:lstStyle/>
                    <a:p>
                      <a:pPr algn="l"/>
                      <a:r>
                        <a:rPr sz="1350" b="1">
                          <a:solidFill>
                            <a:srgbClr val="1B1D21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데이터 줄 수</a:t>
                      </a:r>
                    </a:p>
                  </a:txBody>
                  <a:tcPr marL="91440" marR="91440" marT="45720" marB="45720" anchor="ctr">
                    <a:solidFill>
                      <a:srgbClr val="F1F2F4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pPr algn="l"/>
                      <a:r>
                        <a:rPr sz="1350" b="0">
                          <a:solidFill>
                            <a:srgbClr val="6C7078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60</a:t>
                      </a:r>
                    </a:p>
                  </a:txBody>
                  <a:tcPr marL="91440" marR="91440" marT="45720" marB="45720" anchor="ctr">
                    <a:solidFill>
                      <a:srgbClr val="F1F2F4"/>
                    </a:solidFill>
                  </a:tcPr>
                </a:tc>
              </a:tr>
              <a:tr h="685800">
                <a:tc>
                  <a:txBody>
                    <a:bodyPr lIns="95250" tIns="57150" rIns="95250" bIns="57150"/>
                    <a:lstStyle/>
                    <a:p>
                      <a:pPr algn="l"/>
                      <a:r>
                        <a:rPr sz="1350" b="1">
                          <a:solidFill>
                            <a:srgbClr val="1B1D21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Excel과 차이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pPr algn="l"/>
                      <a:r>
                        <a:rPr sz="1350" b="0">
                          <a:solidFill>
                            <a:srgbClr val="6C7078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표현 형식만 다르고 내용은 같음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071AAB-8880-4C18-BA1A-A6CD35F4B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67375"/>
            <a:ext cx="11125200" cy="5143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</a:ln>
        </p:spPr>
        <p:txBody>
          <a:bodyPr xmlns:a="http://schemas.openxmlformats.org/drawingml/2006/main" lIns="133350" tIns="0" rIns="13335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설명이 다르면 다음 요청으로 넘어가지 않고, 다른 항목을 다시 알려요</a:t>
            </a:r>
          </a:p>
        </p:txBody>
      </p:sp>
    </p:spTree>
    <p:extLst>
      <p:ext uri="{BB962C8B-B14F-4D97-AF65-F5344CB8AC3E}">
        <p14:creationId xmlns:p14="http://schemas.microsoft.com/office/powerpoint/2010/main" val="13680143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F1AE3A-0424-46FA-A689-BF77860C5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92E6E7-A50D-4A17-8F2F-DC299E6C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76350" cy="276225"/>
          </a:xfrm>
          <a:prstGeom xmlns:a="http://schemas.openxmlformats.org/drawingml/2006/main" prst="roundRect">
            <a:avLst>
              <a:gd name="adj" fmla="val 4827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4-2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96D94E-E63B-4EDB-882F-D071E8907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0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두 평균을 AI에게 계산해 달라고 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AF7AA3-212D-4E3F-9293-AF5AAFE00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335E0F-4053-419D-8E2F-B98947FEE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8001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FEA72E-5823-4385-A2A1-A4CEAFFF4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3412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04-2 · 7쪽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96182F-4CB7-4201-A662-3AC0D6C87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341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defRPr>
            </a:pPr>
            <a:r>
              <a: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92C8BB-4F3E-4E00-95C7-45EAF9B08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62125"/>
            <a:ext cx="10287000" cy="3714750"/>
          </a:xfrm>
          <a:prstGeom xmlns:a="http://schemas.openxmlformats.org/drawingml/2006/main" prst="roundRect">
            <a:avLst>
              <a:gd name="adj" fmla="val 1538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  <p:txBody>
          <a:bodyPr xmlns:a="http://schemas.openxmlformats.org/drawingml/2006/main" lIns="171450" tIns="133350" rIns="171450" bIns="133350" anchor="t"/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buNone/>
              <a:defRPr sz="150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50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2번 · 평균 계산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50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같은 CSV에서 다음 두 값을 계산해 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50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1. 일별 방문자 수 visitors의 평균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50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2. 일별 대출한 책 수 borrowed_books의 평균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50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계산 결과를 notebooks/04-2_exercise.ipynb에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0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50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print()로 표시하는 셀도 만들어 줘.</a:t>
            </a:r>
          </a:p>
        </p:txBody>
      </p:sp>
    </p:spTree>
    <p:extLst>
      <p:ext uri="{BB962C8B-B14F-4D97-AF65-F5344CB8AC3E}">
        <p14:creationId xmlns:p14="http://schemas.microsoft.com/office/powerpoint/2010/main" val="152765077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30B6A5-F95D-4D24-BBEC-719E534CC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E82E62-FC31-4F5F-A2DB-011AD472B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76350" cy="276225"/>
          </a:xfrm>
          <a:prstGeom xmlns:a="http://schemas.openxmlformats.org/drawingml/2006/main" prst="roundRect">
            <a:avLst>
              <a:gd name="adj" fmla="val 4827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4-2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F77C24-46FF-4542-A666-4F30BA026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두 평균을 계산한 셀을 실행한다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C037E9-B931-4D23-BDAD-EB88D95BC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FE93AC-2194-43C7-B986-4D68D22A3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8001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2F1A6A-6B89-4740-A97A-F44E7227F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3412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04-2 · 8쪽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96FA4C-49C8-428C-A4C0-0B3C09CB7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341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defRPr>
            </a:pPr>
            <a:r>
              <a: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4F03F5-7DB4-469F-8332-AADAD99AD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1450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AI가 만든 셀을 실행하고, 코드 바로 아래에 나온 두 결과를 읽어요.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49D054-F2DA-4B16-A3B9-15DBF9A2F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428875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9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9FA616-CBC9-485F-9CFC-9F9875A64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42887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575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visitors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2AC7D6-C0C3-4BE1-8FD7-DE8A4593A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28875"/>
            <a:ext cx="619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평균을 출력하는 줄이 있는지 본다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5223C5-0F6D-4933-B2C3-D96C3E2BB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495675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9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D607FB-FA82-4100-BCB8-4D066231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49567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575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borrowed_books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01BA8A-5270-408F-813E-563513628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495675"/>
            <a:ext cx="619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평균을 출력하는 줄이 있는지 본다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C4BA1D-A868-4C69-AD97-9DE63ED6C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62475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9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5DB9B8-0782-4AEE-8234-DFD2CD5BC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56247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셀 실행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3ECB14-05DE-4866-8367-E94F2308C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562475"/>
            <a:ext cx="619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두 결과가 코드 바로 아래에 나오는지 본다</a:t>
            </a:r>
          </a:p>
        </p:txBody>
      </p:sp>
    </p:spTree>
    <p:extLst>
      <p:ext uri="{BB962C8B-B14F-4D97-AF65-F5344CB8AC3E}">
        <p14:creationId xmlns:p14="http://schemas.microsoft.com/office/powerpoint/2010/main" val="153975465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C90CAA-B8CE-4DAA-95F7-BE6B32CD4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7E31C0-14D3-4554-9EC9-0BC65E0CF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76350" cy="276225"/>
          </a:xfrm>
          <a:prstGeom xmlns:a="http://schemas.openxmlformats.org/drawingml/2006/main" prst="roundRect">
            <a:avLst>
              <a:gd name="adj" fmla="val 4827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4-2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6E40B1-A119-4EA4-8814-E4D73C2AF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0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추세선은 전체 흐름을 보기 쉽게 만든다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81E00B-7112-4745-BE02-6CC2283CF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DD9F13-BA0A-42EF-B42F-82EE4D0B0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8001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E96D31-4715-40C8-9A26-186C58431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3412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04-2 · 9쪽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62CC45-4819-4B03-9464-DD1D12B63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341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defRPr>
            </a:pPr>
            <a:r>
              <a: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EBD3AD-D13B-4D15-B5E8-B1C0B73A4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47875"/>
            <a:ext cx="4762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53F757-7077-4577-A4DD-59E67F7C5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57425"/>
            <a:ext cx="438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원자료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F3B959-F827-4F6C-AD38-817776E0C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57475"/>
            <a:ext cx="4381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날짜마다 실제로 기록된 값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하루하루 위아래로 흔들려요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1B92C1-3788-4F12-88BC-136E24AC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5143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0E7C8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3FE2E4-7147-44C1-A8FD-71139EF10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57425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5일 평균 추세선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71E8F2-CC4A-43BF-9EE8-5EE24E3F1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57475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최근 5개 평일의 평균을 이어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전체적으로 늘거나 줄어드는 흐름을 봐요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959E6A-10C4-4E98-86D3-B1F6B466A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333875"/>
            <a:ext cx="8001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9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추세선은 내일 값을 맞히는 예측선이 아니에요.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0D0AF7-62F1-4B26-8C27-82896F255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19750"/>
            <a:ext cx="11125200" cy="5143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</a:ln>
        </p:spPr>
        <p:txBody>
          <a:bodyPr xmlns:a="http://schemas.openxmlformats.org/drawingml/2006/main" lIns="133350" tIns="0" rIns="13335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가까운 여러 날의 평균을 이어 들쭉날쭉한 값 속 전체 흐름을 봐요</a:t>
            </a:r>
          </a:p>
        </p:txBody>
      </p:sp>
    </p:spTree>
    <p:extLst>
      <p:ext uri="{BB962C8B-B14F-4D97-AF65-F5344CB8AC3E}">
        <p14:creationId xmlns:p14="http://schemas.microsoft.com/office/powerpoint/2010/main" val="90478423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EBFF07-586C-4AB8-A505-6094E3B3F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1343B3-B24B-4761-98A0-ABC5119D6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76350" cy="276225"/>
          </a:xfrm>
          <a:prstGeom xmlns:a="http://schemas.openxmlformats.org/drawingml/2006/main" prst="roundRect">
            <a:avLst>
              <a:gd name="adj" fmla="val 4827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4-2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A5C996-029E-482B-B9E1-759D84BA8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그래프를 만들기 전에 축을 고른다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E78A25-4FD4-4CB9-89C9-000B6A1D2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D645D7-4BFE-40B5-83E8-F7829C7D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8001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A7A6CF-9B5B-4CB2-932A-7386A70CC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3412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04-2 · 10쪽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9CEE9A-C314-4D94-BB19-F0FC304BD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341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defRPr>
            </a:pPr>
            <a:r>
              <a: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5C2725-5AD5-41B5-9F0D-BE21403C7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57375"/>
            <a:ext cx="10287000" cy="3143250"/>
          </a:xfrm>
          <a:prstGeom xmlns:a="http://schemas.openxmlformats.org/drawingml/2006/main" prst="roundRect">
            <a:avLst>
              <a:gd name="adj" fmla="val 1818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  <p:txBody>
          <a:bodyPr xmlns:a="http://schemas.openxmlformats.org/drawingml/2006/main" lIns="171450" tIns="133350" rIns="171450" bIns="133350" anchor="t"/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buNone/>
              <a:defRPr sz="16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6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3번 · 축 후보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6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6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이 데이터의 변화를 추세선으로 보고 싶어.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6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6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x축과 y축에 어떤 열을 넣을 수 있는지 설명해 줘.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6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6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각 선택으로 무엇을 알 수 있는지도 말해 줘.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6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6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아직 그래프는 만들지 마.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F9B872-20CA-4227-9040-8B49BCDD3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67375"/>
            <a:ext cx="11125200" cy="5143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</a:ln>
        </p:spPr>
        <p:txBody>
          <a:bodyPr xmlns:a="http://schemas.openxmlformats.org/drawingml/2006/main" lIns="133350" tIns="0" rIns="13335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AI의 추천을 그대로 따르기 전에, 우리가 보고 싶은 질문과 맞는지 먼저 골라요</a:t>
            </a:r>
          </a:p>
        </p:txBody>
      </p:sp>
    </p:spTree>
    <p:extLst>
      <p:ext uri="{BB962C8B-B14F-4D97-AF65-F5344CB8AC3E}">
        <p14:creationId xmlns:p14="http://schemas.microsoft.com/office/powerpoint/2010/main" val="114771873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3FBF9-7173-4BFE-8E44-07EF6402B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31575F-FFA5-4D6F-B263-04CB6EFC7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76350" cy="276225"/>
          </a:xfrm>
          <a:prstGeom xmlns:a="http://schemas.openxmlformats.org/drawingml/2006/main" prst="roundRect">
            <a:avLst>
              <a:gd name="adj" fmla="val 4827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4-2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AC55B5-48AD-4C87-96C7-E039DCF73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0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시간에 따른 방문자 수를 보기로 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E9485-0869-4F3B-8B81-AEEE576E8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F055B2-4C97-4CA6-A775-4F4A6A37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8001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D026EB-40F7-4FB5-AA9D-999431E3D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3412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04-2 · 11쪽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E53E13-F496-4276-A973-DB01DE1D3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341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defRPr>
            </a:pPr>
            <a:r>
              <a: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11</a:t>
            </a:r>
          </a:p>
        </p:txBody>
      </p:sp>
      <p:graphicFrame>
        <p:nvGraphicFramePr>
          <p:cNvPr id="17" name=""/>
          <p:cNvGraphicFramePr/>
          <p:nvPr/>
        </p:nvGraphicFramePr>
        <p:xfrm>
          <a:off xmlns:a="http://schemas.openxmlformats.org/drawingml/2006/main" x="1143000" y="2190750"/>
          <a:ext xmlns:a="http://schemas.openxmlformats.org/drawingml/2006/main" cx="9906000" cy="2286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2857500"/>
                <a:gridCol w="4953000"/>
              </a:tblGrid>
              <a:tr h="762000">
                <a:tc>
                  <a:txBody>
                    <a:bodyPr lIns="95250" tIns="57150" rIns="95250" bIns="57150"/>
                    <a:lstStyle/>
                    <a:p>
                      <a:pPr algn="ctr"/>
                      <a:r>
                        <a:rPr sz="1125" b="1">
                          <a:solidFill>
                            <a:srgbClr val="FFFFFF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자리</a:t>
                      </a:r>
                    </a:p>
                  </a:txBody>
                  <a:tcPr marL="91440" marR="91440" marT="45720" marB="45720" anchor="ctr">
                    <a:solidFill>
                      <a:srgbClr val="1B1D21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pPr algn="ctr"/>
                      <a:r>
                        <a:rPr sz="1125" b="1">
                          <a:solidFill>
                            <a:srgbClr val="FFFFFF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고른 열</a:t>
                      </a:r>
                    </a:p>
                  </a:txBody>
                  <a:tcPr marL="91440" marR="91440" marT="45720" marB="45720" anchor="ctr">
                    <a:solidFill>
                      <a:srgbClr val="1B1D21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pPr algn="l"/>
                      <a:r>
                        <a:rPr sz="1125" b="1">
                          <a:solidFill>
                            <a:srgbClr val="FFFFFF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뜻</a:t>
                      </a:r>
                    </a:p>
                  </a:txBody>
                  <a:tcPr marL="91440" marR="91440" marT="45720" marB="45720" anchor="ctr">
                    <a:solidFill>
                      <a:srgbClr val="1B1D21"/>
                    </a:solidFill>
                  </a:tcPr>
                </a:tc>
              </a:tr>
              <a:tr h="762000">
                <a:tc>
                  <a:txBody>
                    <a:bodyPr lIns="95250" tIns="57150" rIns="95250" bIns="57150"/>
                    <a:lstStyle/>
                    <a:p>
                      <a:pPr algn="ctr"/>
                      <a:r>
                        <a:rPr sz="1575" b="1">
                          <a:solidFill>
                            <a:srgbClr val="1B1D21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x축</a:t>
                      </a:r>
                    </a:p>
                  </a:txBody>
                  <a:tcPr marL="91440" marR="91440" marT="45720" marB="45720" anchor="ctr">
                    <a:solidFill>
                      <a:srgbClr val="F1F2F4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pPr algn="ctr"/>
                      <a:r>
                        <a:rPr sz="1575" b="0">
                          <a:solidFill>
                            <a:srgbClr val="6C7078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date</a:t>
                      </a:r>
                    </a:p>
                  </a:txBody>
                  <a:tcPr marL="91440" marR="91440" marT="45720" marB="45720" anchor="ctr">
                    <a:solidFill>
                      <a:srgbClr val="F1F2F4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pPr algn="l"/>
                      <a:r>
                        <a:rPr sz="1575" b="0">
                          <a:solidFill>
                            <a:srgbClr val="6C7078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시간의 순서</a:t>
                      </a:r>
                    </a:p>
                  </a:txBody>
                  <a:tcPr marL="91440" marR="91440" marT="45720" marB="45720" anchor="ctr">
                    <a:solidFill>
                      <a:srgbClr val="F1F2F4"/>
                    </a:solidFill>
                  </a:tcPr>
                </a:tc>
              </a:tr>
              <a:tr h="762000">
                <a:tc>
                  <a:txBody>
                    <a:bodyPr lIns="95250" tIns="57150" rIns="95250" bIns="57150"/>
                    <a:lstStyle/>
                    <a:p>
                      <a:pPr algn="ctr"/>
                      <a:r>
                        <a:rPr sz="1575" b="1">
                          <a:solidFill>
                            <a:srgbClr val="1B1D21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y축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pPr algn="ctr"/>
                      <a:r>
                        <a:rPr sz="1575" b="0">
                          <a:solidFill>
                            <a:srgbClr val="6C7078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visitors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pPr algn="l"/>
                      <a:r>
                        <a:rPr sz="1575" b="0">
                          <a:solidFill>
                            <a:srgbClr val="6C7078"/>
                          </a:solidFill>
                          <a:latin typeface="IBM Plex Sans KR"/>
                          <a:ea typeface="IBM Plex Sans KR"/>
                          <a:cs typeface="IBM Plex Sans KR"/>
                        </a:rPr>
                        <a:t>날짜마다 달라지는 방문자 수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B8E577-A1A5-49BA-BC7A-2DC04437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81625"/>
            <a:ext cx="11125200" cy="5143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3D8DFF"/>
            </a:solidFill>
          </a:ln>
        </p:spPr>
        <p:txBody>
          <a:bodyPr xmlns:a="http://schemas.openxmlformats.org/drawingml/2006/main" lIns="133350" tIns="0" rIns="13335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borrowed_books를 y축에 고르면 대출 권수의 흐름을 볼 수 있어요</a:t>
            </a:r>
          </a:p>
        </p:txBody>
      </p:sp>
    </p:spTree>
    <p:extLst>
      <p:ext uri="{BB962C8B-B14F-4D97-AF65-F5344CB8AC3E}">
        <p14:creationId xmlns:p14="http://schemas.microsoft.com/office/powerpoint/2010/main" val="45276309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C7C65B-BBD4-449B-AB94-BF5BC16A1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4B4187-F37D-4663-B87D-A09010A12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76350" cy="276225"/>
          </a:xfrm>
          <a:prstGeom xmlns:a="http://schemas.openxmlformats.org/drawingml/2006/main" prst="roundRect">
            <a:avLst>
              <a:gd name="adj" fmla="val 4827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4-2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5A9F86-C3BF-475D-A0DB-4B4E128E7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0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고른 축으로 그래프를 만들어 달라고 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193DDB-AE13-4000-83D1-02B13E85C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FC5251-012E-4F98-9877-6086A926F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8001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D9EBDE-F7D1-4274-851F-D905ACDA1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3412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04-2 · 12쪽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E5E029-4277-4455-A99D-21E212DD5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341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defRPr>
            </a:pPr>
            <a:r>
              <a: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EB9CE9-8536-49A3-9941-3D3FD42F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0287000" cy="3952875"/>
          </a:xfrm>
          <a:prstGeom xmlns:a="http://schemas.openxmlformats.org/drawingml/2006/main" prst="roundRect">
            <a:avLst>
              <a:gd name="adj" fmla="val 144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  <p:txBody>
          <a:bodyPr xmlns:a="http://schemas.openxmlformats.org/drawingml/2006/main" lIns="171450" tIns="133350" rIns="171450" bIns="133350" anchor="t"/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buNone/>
              <a:defRPr sz="1388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88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4번 · 그래프 제작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388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88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notebooks/04-2_exercise.ipynb에 그래프를 만들어 줘.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388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88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x축은 date, y축은 visitors로 해 줘.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388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88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원자료는 회색 선으로 그리고,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388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88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5일 평균 추세선은 주황 #FF5C00으로 겹쳐 줘.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388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88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데이터 총 행 수, 열 이름, 두 평균도 print()로 표시해 줘.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388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88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원본 CSV와 다른 Notebook은 수정하지 마.</a:t>
            </a:r>
          </a:p>
        </p:txBody>
      </p:sp>
    </p:spTree>
    <p:extLst>
      <p:ext uri="{BB962C8B-B14F-4D97-AF65-F5344CB8AC3E}">
        <p14:creationId xmlns:p14="http://schemas.microsoft.com/office/powerpoint/2010/main" val="170436363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4DD696-DB3A-467B-92F3-30E7F15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E9E9A8-92CF-430E-BA03-766235D48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76350" cy="276225"/>
          </a:xfrm>
          <a:prstGeom xmlns:a="http://schemas.openxmlformats.org/drawingml/2006/main" prst="roundRect">
            <a:avLst>
              <a:gd name="adj" fmla="val 4827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4-2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5C3647-8D75-4224-9A80-B25F052D9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0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AI가 채운 셀을 읽고 직접 실행한다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E3DE47-C33C-458E-BFC6-6D8B08F3D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15A2F0-6ED6-47B0-800E-7225299A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8001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BF4423-D3CF-4AD9-A00F-CD9145085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3412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04-2 · 13쪽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F28242-D5A2-4055-8B6F-AB61C5BB5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341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defRPr>
            </a:pPr>
            <a:r>
              <a: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E84774-770A-4DDE-A1C7-8E7AD205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21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C7475D-2E6F-4F95-BC7E-F71310A92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143125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코드 읽기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59F1D3-6F00-4BC2-978A-A331196F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43125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파일 경로와 열 이름을 찾는다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B240DD-435F-45CF-8660-6E157039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67075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21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ED86A8-89DA-485A-BBCF-24F578EA2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267075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셀 실행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14D8A8-70BD-4208-97DF-D5851FFA4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67075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위에서 아래로 차례대로 실행한다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4D1A73-9699-4B9F-8F18-10C06E14E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91025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21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DF3E59-9AC3-4717-BFAB-46F144985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391025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오류 보내기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B92A96-6405-47FD-963B-959218814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391025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오류 셀과 마지막 줄을 같은 대화에 보낸다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E967FD-8145-40CC-BB91-32BD0750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10250"/>
            <a:ext cx="11125200" cy="5143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3D8DFF"/>
            </a:solidFill>
          </a:ln>
        </p:spPr>
        <p:txBody>
          <a:bodyPr xmlns:a="http://schemas.openxmlformats.org/drawingml/2006/main" lIns="133350" tIns="0" rIns="13335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 b="1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AI가 만든 코드는 직접 실행하고, 오류가 나면 정확히 전달해요</a:t>
            </a:r>
          </a:p>
        </p:txBody>
      </p:sp>
    </p:spTree>
    <p:extLst>
      <p:ext uri="{BB962C8B-B14F-4D97-AF65-F5344CB8AC3E}">
        <p14:creationId xmlns:p14="http://schemas.microsoft.com/office/powerpoint/2010/main" val="133887164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D0FF0D-3EE3-4800-A663-FCC9BE89D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3F18F3-E0B5-4DAC-AAE0-D897854A1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76350" cy="276225"/>
          </a:xfrm>
          <a:prstGeom xmlns:a="http://schemas.openxmlformats.org/drawingml/2006/main" prst="roundRect">
            <a:avLst>
              <a:gd name="adj" fmla="val 4827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4-2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46830B-1814-46EF-B2D8-5CA93B7A2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결과가 원본과 맞는지 검토하게 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733F25-4169-44FD-BB0F-8014ADA62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8A9137-37AF-4A5D-856E-FCCC1F7D8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8001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F32B0F-883A-49C1-88CD-DCD733FF1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3412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04-2 · 14쪽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B0DAC8-6373-4E44-8A37-1F3CE92F2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341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defRPr>
            </a:pPr>
            <a:r>
              <a: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14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508CA3-346B-445B-A85D-9DD76BB79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66875"/>
            <a:ext cx="10477500" cy="4095750"/>
          </a:xfrm>
          <a:prstGeom xmlns:a="http://schemas.openxmlformats.org/drawingml/2006/main" prst="roundRect">
            <a:avLst>
              <a:gd name="adj" fmla="val 1395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  <p:txBody>
          <a:bodyPr xmlns:a="http://schemas.openxmlformats.org/drawingml/2006/main" lIns="171450" tIns="133350" rIns="171450" bIns="133350" anchor="t"/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buNone/>
              <a:defRPr sz="13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5번 · 결과 검토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3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방금 만든 Notebook 결과를 원본 CSV와 검토해 줘.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3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- 데이터 60행, 열 3개가 맞는지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3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- 열 이름이 date, visitors, borrowed_books인지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3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- 두 평균이 원본 CSV를 다시 계산한 값과 같은지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3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- 그래프가 date와 visitors를 사용했는지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3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- 원자료와 5일 평균 추세선이 함께 보이는지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3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3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다른 항목이 있으면 코드도 고쳐 줘.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E1B04A-1E6A-4D77-8A31-60145A954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10250"/>
            <a:ext cx="11125200" cy="5143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3D8DFF"/>
            </a:solidFill>
          </a:ln>
        </p:spPr>
        <p:txBody>
          <a:bodyPr xmlns:a="http://schemas.openxmlformats.org/drawingml/2006/main" lIns="133350" tIns="0" rIns="13335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검토가 끝나면 04-2_pandas_table.ipynb를 열고 1번부터 읽어요</a:t>
            </a:r>
          </a:p>
        </p:txBody>
      </p:sp>
    </p:spTree>
    <p:extLst>
      <p:ext uri="{BB962C8B-B14F-4D97-AF65-F5344CB8AC3E}">
        <p14:creationId xmlns:p14="http://schemas.microsoft.com/office/powerpoint/2010/main" val="7874671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FBA94F1-98D1-4DFD-8291-BFBC5ADD2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FB73B5-CAEE-40FB-86ED-66770E15A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76350" cy="276225"/>
          </a:xfrm>
          <a:prstGeom xmlns:a="http://schemas.openxmlformats.org/drawingml/2006/main" prst="roundRect">
            <a:avLst>
              <a:gd name="adj" fmla="val 4827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4-2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6024C4-61C6-4185-B065-78D9C83BF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0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설명용 Notebook을 열고 1번부터 읽는다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5F2B2B-5CAA-4405-84F3-875041871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479FE3-EBA0-4EFC-B1F7-82ADCF65B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8001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6CD07F-C513-445B-AE4D-6319C5099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3412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04-2 · 15쪽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582DB1-0DAA-4B2C-994F-D6809762A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341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defRPr>
            </a:pPr>
            <a:r>
              <a: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DA6367-EE2B-4F51-8FAE-E98D1B8E0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7162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실습에서 만든 결과가 코드에는 어떻게 적혀 있는지 번호 순서대로 읽어요.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8ECEB3-1405-4C81-987F-E93F80980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6667500" cy="781050"/>
          </a:xfrm>
          <a:prstGeom xmlns:a="http://schemas.openxmlformats.org/drawingml/2006/main" prst="roundRect">
            <a:avLst>
              <a:gd name="adj" fmla="val 6098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5361B7-CBA4-41DF-9F8B-4796884BB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75" b="1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E7C5B9-5F4B-4522-B5DB-C3F11ADAD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095500"/>
            <a:ext cx="5981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파일: ../data/04-library-data.csv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885B08-3163-4817-90F2-2ABE4E9B9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33700"/>
            <a:ext cx="6667500" cy="781050"/>
          </a:xfrm>
          <a:prstGeom xmlns:a="http://schemas.openxmlformats.org/drawingml/2006/main" prst="roundRect">
            <a:avLst>
              <a:gd name="adj" fmla="val 6098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FAEFEC-F28D-4809-A49D-A36722C74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4800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75" b="1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6C02ED-489E-4063-8B06-D535DDD7F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028950"/>
            <a:ext cx="5981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첫 줄은 date,visitors,borrowed_books입니다.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B7F425-B5D5-45D2-8789-A5CC31271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67150"/>
            <a:ext cx="6667500" cy="102870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65853F-B740-45E7-B60C-DD40FF32C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814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75" b="1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244EEF-F843-4953-97E4-365B8FC1A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962400"/>
            <a:ext cx="5981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125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125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CSV는 한 줄이 데이터 한 행이고,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125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125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값 사이는 쉼표로 나뉩니다.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C4C0BA-D1DB-48E6-8A46-DE8B1FD86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000250"/>
            <a:ext cx="3714750" cy="8763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EB9E2C-E393-4FF8-ACBA-E0644347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21240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0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057D2B-71DE-42C2-A149-71405D6C2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2124075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원본 파일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BC00BB-BE9A-4BC6-B6AC-2DAB33365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2466975"/>
            <a:ext cx="3371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Notebook이 읽을 CSV 경로예요.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8240DA-8A01-486C-B39C-1C1CB383A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028950"/>
            <a:ext cx="3714750" cy="1000125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BA05AA-BC6E-444B-BA89-482E835C2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31527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0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F973F8-D29A-439B-A026-4BDA1DDC5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3152775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세 개의 머리글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52C132-08EF-4537-A055-6D1F9C1B4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3495675"/>
            <a:ext cx="3371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첫 줄의 이름이 표의 열 이름이 돼요.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42E4EE-C637-40CA-AC75-5609C9BFB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181475"/>
            <a:ext cx="3714750" cy="1000125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CF7C17-808C-43C1-9BCF-F8EA1F26A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430530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0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E0CB68-A6A8-4298-B830-680470334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43053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한 줄 = 한 행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889A2D-7246-4963-B8BF-F1534D1BE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4648200"/>
            <a:ext cx="3371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쉼표가 Excel의 칸을 대신해요.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C4CE2A5-D3FD-4BAC-886B-844600EBD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57850"/>
            <a:ext cx="11125200" cy="5143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3D8DFF"/>
            </a:solidFill>
          </a:ln>
        </p:spPr>
        <p:txBody>
          <a:bodyPr xmlns:a="http://schemas.openxmlformats.org/drawingml/2006/main" lIns="133350" tIns="0" rIns="13335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코드를 실행하기 전에 어떤 파일을 어떤 열로 읽을지 먼저 확인해요</a:t>
            </a:r>
          </a:p>
        </p:txBody>
      </p:sp>
    </p:spTree>
    <p:extLst>
      <p:ext uri="{BB962C8B-B14F-4D97-AF65-F5344CB8AC3E}">
        <p14:creationId xmlns:p14="http://schemas.microsoft.com/office/powerpoint/2010/main" val="91959705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C29E0C-0122-40C1-9BF0-C332FDC38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AA2DD6-3420-4C50-8BE1-8629FBAE1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76350" cy="276225"/>
          </a:xfrm>
          <a:prstGeom xmlns:a="http://schemas.openxmlformats.org/drawingml/2006/main" prst="roundRect">
            <a:avLst>
              <a:gd name="adj" fmla="val 4827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4-2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5706B0-4E9F-4F80-8C5F-E8CBB508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0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2. pandas를 한 번만 가져온다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CD36F4-BFA2-49A8-8789-8D364B6D1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D470FC-7E4F-45BF-B388-214A604DA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8001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79A947-9619-4C21-83F1-A71526945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3412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04-2 · 16쪽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5A5D3C-6EA2-4071-90D5-B691CCFA5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341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defRPr>
            </a:pPr>
            <a:r>
              <a: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16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BD25F7-1E32-46D1-BB24-D0BED9915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238375"/>
            <a:ext cx="6667500" cy="11430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80F060-681A-4E7B-8804-748093FEF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2352675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75" b="1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13C7F9-59C7-4E85-9289-53FC2922C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2333625"/>
            <a:ext cx="5981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025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2025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import pandas as pd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2C2BD8-6650-4ABC-9FF1-E7E59BD4B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00250"/>
            <a:ext cx="3429000" cy="1190625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0C822E-F1E8-4517-972E-E9B21B8D2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21240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0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A58655-6A8F-4164-BFC1-B5BBB496C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2124075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import pandas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50BE3A-DCF2-4BC1-AC31-D953B2A32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466975"/>
            <a:ext cx="30861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설치해 둔 pandas를 이 Notebook에서 사용하겠다는 뜻이에요.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132F15-26B3-46C0-BA5B-F3B17BDA3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429000"/>
            <a:ext cx="3429000" cy="1095375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1EFA8C-3A44-4623-BBE9-FC836240F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355282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0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FF8F47-06CD-48D9-BA16-FA8124D3A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3552825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as pd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AD62D-58CA-466B-AB59-F9434B449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895725"/>
            <a:ext cx="30861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뒤에서는 긴 이름 대신 pd라고 짧게 불러요.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7A2DAE-4541-4900-B5F9-9C811349E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76875"/>
            <a:ext cx="11125200" cy="5143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</a:ln>
        </p:spPr>
        <p:txBody>
          <a:bodyPr xmlns:a="http://schemas.openxmlformats.org/drawingml/2006/main" lIns="133350" tIns="0" rIns="13335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이 줄은 2번에서 한 번만 실행하고, 3번에서는 다시 가져오지 않아요</a:t>
            </a:r>
          </a:p>
        </p:txBody>
      </p:sp>
    </p:spTree>
    <p:extLst>
      <p:ext uri="{BB962C8B-B14F-4D97-AF65-F5344CB8AC3E}">
        <p14:creationId xmlns:p14="http://schemas.microsoft.com/office/powerpoint/2010/main" val="93523848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1C873E-D09C-498B-AC0F-9501AFC3D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A8CBD2-0B8C-4D93-8C62-1EDACEDC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76350" cy="276225"/>
          </a:xfrm>
          <a:prstGeom xmlns:a="http://schemas.openxmlformats.org/drawingml/2006/main" prst="roundRect">
            <a:avLst>
              <a:gd name="adj" fmla="val 4827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4-2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67F157-BCCB-4C1A-BD49-6012DBB72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3. CSV를 읽어 표로 확인한다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C075D1-0696-4E60-93CE-14AEF4A8B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4A7AED-031C-44B6-833D-597E81F37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8001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8A14F2-3667-420C-BF43-A00466AA2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3412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04-2 · 17쪽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C27121-DCBD-4977-A113-6657DDC1F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341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defRPr>
            </a:pPr>
            <a:r>
              <a: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1C7051-B7B3-4963-ACC2-7F39A9A37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6858000" cy="1000125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7AC7ED-FCEE-46F4-A180-DE16E1310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66925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75" b="1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E89FAB-04A3-4B41-9CA3-0C099B6FB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047875"/>
            <a:ext cx="61722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df = pd.read_csv("../data/04-library-data.csv")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892291-2E23-4C69-B836-5CC07193D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62300"/>
            <a:ext cx="6858000" cy="876300"/>
          </a:xfrm>
          <a:prstGeom xmlns:a="http://schemas.openxmlformats.org/drawingml/2006/main" prst="roundRect">
            <a:avLst>
              <a:gd name="adj" fmla="val 5435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6BA348-CF38-4476-8A6B-F02174CA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7660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75" b="1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541767-FD32-4E97-891C-9D986928E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57550"/>
            <a:ext cx="6172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6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df.head()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C0917B-E71D-44EC-8B77-1DD9E604C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52625"/>
            <a:ext cx="3619500" cy="1285875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FC1D7B-01E7-405C-BFBA-9D7095914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7645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0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371993-5623-4A16-88A8-BC17EA888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0764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pd.read_csv(...)와 df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1D4FFA-06CC-48F8-8417-CF7339A74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419350"/>
            <a:ext cx="32766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괄호 안의 CSV를 읽고, 읽어 온 표를 df라는 이름으로 사용해요.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EBEE3B-98E5-488D-8B99-744560CE4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476625"/>
            <a:ext cx="3619500" cy="1095375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9AB8B6-E79F-4AAE-AAF4-E2C9C410F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60045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0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0FFBDE-DAB6-48DE-BEE1-A035541BE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6004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df.head()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50C976-99E3-4CDC-A857-9681E15B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943350"/>
            <a:ext cx="3276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표의 위쪽 다섯 행을 코드 바로 아래에 보여 줘요.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8045AF-35C5-4856-B9DF-72164BE48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72125"/>
            <a:ext cx="11125200" cy="5143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3D8DFF"/>
            </a:solidFill>
          </a:ln>
        </p:spPr>
        <p:txBody>
          <a:bodyPr xmlns:a="http://schemas.openxmlformats.org/drawingml/2006/main" lIns="133350" tIns="0" rIns="13335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 b="1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긴 표를 옮겨 적지 않고 파일 경로 한 줄로 읽어요</a:t>
            </a:r>
          </a:p>
        </p:txBody>
      </p:sp>
    </p:spTree>
    <p:extLst>
      <p:ext uri="{BB962C8B-B14F-4D97-AF65-F5344CB8AC3E}">
        <p14:creationId xmlns:p14="http://schemas.microsoft.com/office/powerpoint/2010/main" val="115853777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ABCD23-B468-4483-9409-D65D7B6CA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D813A0-F568-4C67-8BB2-DDF18CC1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76350" cy="276225"/>
          </a:xfrm>
          <a:prstGeom xmlns:a="http://schemas.openxmlformats.org/drawingml/2006/main" prst="roundRect">
            <a:avLst>
              <a:gd name="adj" fmla="val 4827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4-2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3E9382-0D70-4B25-BD71-CCD60AAB3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0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4. 표의 상태와 두 평균을 출력한다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BE5897-ADD3-4240-8491-459991C17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290224-FC9F-4CFD-B216-92A6CBBF8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8001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7BF136-CB88-4F5C-BEE5-3DF9AE09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3412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04-2 · 18쪽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F98C72-3444-430E-92F3-C2517835C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341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defRPr>
            </a:pPr>
            <a:r>
              <a: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18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DBDD54-7902-4319-BE01-8666FAE5F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714500"/>
            <a:ext cx="7286625" cy="1714500"/>
          </a:xfrm>
          <a:prstGeom xmlns:a="http://schemas.openxmlformats.org/drawingml/2006/main" prst="roundRect">
            <a:avLst>
              <a:gd name="adj" fmla="val 2778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AF3375-F44D-4D8F-A1F1-C5B6BD438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82880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75" b="1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EE7434-086C-4BE9-A60C-97EF911F6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1809750"/>
            <a:ext cx="66008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0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print("행과 열:", df.shape)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0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print("열 이름:", list(df.columns))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0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print("첫 날짜:", df.loc[0, "date"])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54DB18-0BBF-4185-BC6C-A272C682D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638550"/>
            <a:ext cx="7286625" cy="1381125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76CA76-837D-48D2-9454-1ECA3C52D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528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75" b="1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6DFC12-F4B1-4348-BB6E-B84592AD8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733800"/>
            <a:ext cx="660082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38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38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print("방문자 평균:", round(df["visitors"].mean(), 2))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938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38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print("대출 권수 평균:", round(df["borrowed_books"].mean(), 2))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66063F-32A9-44EA-9146-162D4AD78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28800"/>
            <a:ext cx="3429000" cy="1381125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9F4477-DB18-455F-AA76-9FEBEA0A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5262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0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9EC5FD-5F5E-4674-B6B2-9606505D4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952625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shape · columns · loc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BA4887-C2D4-415D-A27A-FF5F105D8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95525"/>
            <a:ext cx="30861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표의 크기, 열 이름, 첫 날짜를 원본과 맞춰 보는 블록이에요.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8A8110-9478-4975-A859-7DF6722A9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24250"/>
            <a:ext cx="3429000" cy="1381125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7702F0-4A57-40FE-AD18-B8DF70889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480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0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0192FD-1427-4C57-AE17-7855F0F8D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648075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mean() · round(..., 2)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F7D047-2F1D-4991-9860-88DEBB8C9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90975"/>
            <a:ext cx="30861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두 열의 평균을 계산해 소수 둘째 자리까지 보여 주는 블록이에요.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78E34D-69AB-4692-8E63-282025700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19750"/>
            <a:ext cx="11125200" cy="5143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3D8DFF"/>
            </a:solidFill>
          </a:ln>
        </p:spPr>
        <p:txBody>
          <a:bodyPr xmlns:a="http://schemas.openxmlformats.org/drawingml/2006/main" lIns="133350" tIns="0" rIns="13335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print()가 확인할 내용을 코드 바로 아래에 보여 줘요</a:t>
            </a:r>
          </a:p>
        </p:txBody>
      </p:sp>
    </p:spTree>
    <p:extLst>
      <p:ext uri="{BB962C8B-B14F-4D97-AF65-F5344CB8AC3E}">
        <p14:creationId xmlns:p14="http://schemas.microsoft.com/office/powerpoint/2010/main" val="156252271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0184EA6-81D5-4AB1-B35B-2F8A693AD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054BF5-B4D1-431E-89DF-9B3A6D825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76350" cy="276225"/>
          </a:xfrm>
          <a:prstGeom xmlns:a="http://schemas.openxmlformats.org/drawingml/2006/main" prst="roundRect">
            <a:avLst>
              <a:gd name="adj" fmla="val 4827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4-2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18F21D-E304-495E-BC24-5F23A8CDA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0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5. 열 이름을 축에 연결해 그래프를 그린다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46602F-7A3D-4C5A-B42B-D1E227ABB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664482-9CF0-4A9B-B976-6F0833EC4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8001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C1E3B1-1D83-4582-958D-387C6F3CD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3412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04-2 · 19쪽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085EF0-529C-42D1-AFE5-517DACF16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341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defRPr>
            </a:pPr>
            <a:r>
              <a: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19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8995BE-472C-4AD8-B5FF-779B852B5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666875"/>
            <a:ext cx="7429500" cy="1476375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9A15A9-3FA2-44D3-BCBA-56EE892B7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781175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75" b="1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E17670-E13F-4A0A-9251-5574BA1C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1762125"/>
            <a:ext cx="67437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38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38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ax = df.plot(x="date", y="visitors", kind="line",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938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38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             legend=False, color="#FF5C00",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938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38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             figsize=(10, 4.5))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CF9FFB-8955-4CAC-AEE9-58F398DC1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257550"/>
            <a:ext cx="7429500" cy="1190625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0DD875-AD0F-42F7-B5D4-21569D95B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33718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75" b="1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48709B-63EE-439F-AB2A-B2F0EF8A8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3352800"/>
            <a:ext cx="67437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013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013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ax.set_title("Library Visitors")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013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013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ax.set_xlabel("Date")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013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1013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ax.set_ylabel("Visitors")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BB9C69-D061-4BD7-99C7-5FC97C3E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562475"/>
            <a:ext cx="7429500" cy="1123950"/>
          </a:xfrm>
          <a:prstGeom xmlns:a="http://schemas.openxmlformats.org/drawingml/2006/main" prst="roundRect">
            <a:avLst>
              <a:gd name="adj" fmla="val 4237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9E420B-137B-4104-ABB1-9CEF72E59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4676775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75" b="1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6E023E-D24E-4423-893B-65AF317A1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4657725"/>
            <a:ext cx="67437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863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863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positions = list(range(0, len(df), 5))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863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863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ax.set_xticks(positions)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863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863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ax.set_xticklabels(df["date"].iloc[positions], rotation=45, ha="right")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71019B-3036-45DC-B46A-C08A0E365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14500"/>
            <a:ext cx="3429000" cy="104775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3566A9-A813-4B47-83B8-2075BE21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83832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0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1BC52C-581A-4C3A-AF3D-7C8EFFD72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838325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x와 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DFC8AA-D0FA-44F1-995D-6C9796F8E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81225"/>
            <a:ext cx="3086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date를 x축, visitors를 y축에 연결해요.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DBD4F5-4CBC-452D-A1C6-80B99F5DA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00375"/>
            <a:ext cx="3429000" cy="104775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984BFF-E1BC-4BBD-8687-022CB4F7C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12420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0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D10A39-3847-473F-9004-31F180E72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1242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제목과 축 이름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0FA7BC-C688-4A41-9833-6DF31FC6B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67100"/>
            <a:ext cx="3086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그래프 제목과 두 축에 표시할 말을 정해요.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763758-922E-4072-983B-8CDAA514C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86250"/>
            <a:ext cx="3429000" cy="1143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614192-E048-488B-B98A-FA87A4A3D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100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0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2475BF1-A482-4AA2-ACA2-7CD0F2ED5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410075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날짜 표시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955DBB-C63E-401B-B18E-30871BA93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752975"/>
            <a:ext cx="3086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다섯 칸마다 날짜를 기울여 적어 겹치지 않게 해요.</a:t>
            </a:r>
          </a:p>
        </p:txBody>
      </p:sp>
    </p:spTree>
    <p:extLst>
      <p:ext uri="{BB962C8B-B14F-4D97-AF65-F5344CB8AC3E}">
        <p14:creationId xmlns:p14="http://schemas.microsoft.com/office/powerpoint/2010/main" val="10137682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E183AC-4782-440F-8502-21CD4F4F4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B06FEE-3495-4DF2-AE98-26106D8D7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76350" cy="276225"/>
          </a:xfrm>
          <a:prstGeom xmlns:a="http://schemas.openxmlformats.org/drawingml/2006/main" prst="roundRect">
            <a:avLst>
              <a:gd name="adj" fmla="val 4827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4-2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92AC61-8DDF-464D-B375-F466D2DA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0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6. 원자료 위에 5일 평균 추세선을 겹친다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0C818D-B8F2-4A42-BF29-1ABEE4AB3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25319F-E4E2-4BCF-A1C1-26AC8B5F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8001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BAAC08-64C2-48F5-910F-5A3CD1F68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3412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04-2 · 20쪽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4DBE29-10A5-45F8-832F-C25B3F0E7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341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defRPr>
            </a:pPr>
            <a:r>
              <a: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8BC895-936A-4B90-9A1D-2B1EA920C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1619250"/>
            <a:ext cx="7620000" cy="85725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EBDECC-47D8-4086-A9AB-012A279D7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17335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75" b="1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3AE6B9-8DD7-476C-B77D-0070AB155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714500"/>
            <a:ext cx="6934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38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38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df["visitor_trend"] = df["visitors"].rolling(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938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38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    window=5, min_periods=1).mean()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E35C96-C577-4008-80A2-EEDB6BE51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2571750"/>
            <a:ext cx="7620000" cy="85725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14E908-DA7A-4942-93FF-08C9DEA13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6860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75" b="1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7D0CA6-C2A0-473A-B093-6EFFEE50E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667000"/>
            <a:ext cx="6934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15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15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ax = df.plot(x="date", y="visitors", color="#8B9098",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915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15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             figsize=(10, 4.5), label="Daily visitors")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E90728-5CFA-4ED3-ABFC-138CD37DF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3524250"/>
            <a:ext cx="7620000" cy="85725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538CB7-48D1-4F05-A7FA-172CF701B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36385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75" b="1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5D3AC0-3BA0-4078-AD34-54E40C14E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619500"/>
            <a:ext cx="6934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15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15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df.plot(x="date", y="visitor_trend", color="#FF5C00",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915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15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        linewidth=3, ax=ax, label="5-day average")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BB6959-BDAA-4F79-95DE-85C469FC4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476750"/>
            <a:ext cx="7620000" cy="15240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79E7B4-E1E5-40F4-9F73-02EDE77F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45910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75" b="1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A4974F-23C2-46CD-A067-133181444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572000"/>
            <a:ext cx="6934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0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0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ax.set_title("Library Visitors and Trend")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90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0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ax.set_xlabel("Date")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90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0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ax.set_ylabel("Visitors")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90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0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positions = list(range(0, len(df), 5))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90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0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ax.set_xticks(positions)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90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0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ax.set_xticklabels(df["date"].iloc[positions],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90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defRPr>
            </a:pPr>
            <a:r>
              <a:rPr sz="900" b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                   rotation=45, ha="right")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441EDB-DC2F-473C-BACF-8737D95D4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619250"/>
            <a:ext cx="3381375" cy="9334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70A800-F277-4FC0-BD4F-D3F84CBB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7430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0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89B6EF-067A-4FAA-B19E-98C8002EE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1743075"/>
            <a:ext cx="2714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rolling(window=5).mean()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5EFD0B-C96A-450D-BDA9-F94ADCB9C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2085975"/>
            <a:ext cx="30384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최근 다섯 평일 평균을 visitor_trend 열에 만들어요.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201BCF-9BE2-401C-956D-920A07B99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647950"/>
            <a:ext cx="3381375" cy="9334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A2CA0E-F8ED-4CDC-A088-12089616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7717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0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DBC56D-42D5-4B15-A3DC-989825C08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2771775"/>
            <a:ext cx="2714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회색 원자료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2948D1-42B7-4F12-8C57-15CC7EB68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3114675"/>
            <a:ext cx="30384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실제 방문자 수를 회색 선으로 먼저 그려요.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21F8B48-61AD-4DC2-A7B7-A94BCE890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676650"/>
            <a:ext cx="3381375" cy="9334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DABE8DD-CCE4-4460-9F2D-32A2C24D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8004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0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3B63C84-54A2-4CD7-AA3E-E923845F2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3800475"/>
            <a:ext cx="2714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주황 추세선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306D39B-1BBC-4824-B061-8ED664623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4143375"/>
            <a:ext cx="30384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ax=ax로 같은 그래프 위에 추세선을 겹쳐요.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0C5EFBB-6B0A-4E6A-90B5-C3F3D821C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705350"/>
            <a:ext cx="3381375" cy="1123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4729CB3-B43B-4E94-9A0B-322DF1FD5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8291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0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1F001F-B1BD-4D69-9CA4-99CB25FBF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4829175"/>
            <a:ext cx="2714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05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같은 화면 설정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2FFA958-3658-48A9-92A9-B78402C9D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5172075"/>
            <a:ext cx="3038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제목과 축, 날짜 표시는 앞 번호와 같은 방식이에요.</a:t>
            </a:r>
          </a:p>
        </p:txBody>
      </p:sp>
    </p:spTree>
    <p:extLst>
      <p:ext uri="{BB962C8B-B14F-4D97-AF65-F5344CB8AC3E}">
        <p14:creationId xmlns:p14="http://schemas.microsoft.com/office/powerpoint/2010/main" val="140807937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47FE59-2D75-4737-94BF-469ACEB30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3A7242-2F36-43C9-91C7-3D34B700A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76350" cy="276225"/>
          </a:xfrm>
          <a:prstGeom xmlns:a="http://schemas.openxmlformats.org/drawingml/2006/main" prst="roundRect">
            <a:avLst>
              <a:gd name="adj" fmla="val 4827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solidFill>
              <a:srgbClr val="1B1D21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4-2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C550F0-58F3-4E83-B19A-3CDD28DF8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0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번호를 따라가면 코드의 흐름이 보인다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3AD108-7567-4090-9023-BFB22AEA0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solidFill>
              <a:srgbClr val="FF5C00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8736AA-D4DF-4797-A1E7-51CF0AC71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8001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125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BCC525-E5B6-4127-B6A3-F4E5F2210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3412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04-2 · 21쪽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F57077-5E0F-45E0-8738-67A83A72D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341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defRPr>
            </a:pPr>
            <a:r>
              <a:rPr sz="825" b="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21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BB6BF0-C3DB-4D58-81BC-5C125C423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6212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5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07FDC7-005F-4151-A8B7-BE826EDFC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762125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파일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19D5D4-2A01-4CBB-B9EF-E6B2C0712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62125"/>
            <a:ext cx="638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CSV 경로와 머리글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114332-028B-4997-91F3-00942B12A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71462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5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27ADC4-CF9E-45AD-B2F7-28497F212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14625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도구 가져오기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5DF4B1-2FA7-4778-B266-A4561F9B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714625"/>
            <a:ext cx="638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pandas를 한 번만 불러오기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7AA0DD-6A6C-4121-AAD5-D0D70381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66712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5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3–4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CC48A2-8620-416A-8039-7FCFFFD3F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읽고 확인하기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A12C1F-E2EC-4BAB-B0FC-F88FB2C07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667125"/>
            <a:ext cx="638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표의 크기·열·평균 출력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1588F6-E5B7-44EB-A3A2-A86FFD0DF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1962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defRPr>
            </a:pPr>
            <a:r>
              <a:rPr sz="15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5–6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53D858-0F41-4122-A7C8-8AB9C28AF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19625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그래프로 보기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56BCE1-24FE-4227-A81B-2C470D0E6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619625"/>
            <a:ext cx="638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축을 연결하고 추세선 겹치기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CD1005-4536-4E0A-965A-C4C9B2ADE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34050"/>
            <a:ext cx="11125200" cy="5143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</a:ln>
        </p:spPr>
        <p:txBody>
          <a:bodyPr xmlns:a="http://schemas.openxmlformats.org/drawingml/2006/main" lIns="133350" tIns="0" rIns="13335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각 번호가 화면에서 어떤 일을 하는지 읽을 수 있으면 돼요</a:t>
            </a:r>
          </a:p>
        </p:txBody>
      </p:sp>
    </p:spTree>
    <p:extLst>
      <p:ext uri="{BB962C8B-B14F-4D97-AF65-F5344CB8AC3E}">
        <p14:creationId xmlns:p14="http://schemas.microsoft.com/office/powerpoint/2010/main" val="142380492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2026-09-21T17:15:07.7850000Z</dcterms:created>
  <dcterms:modified xsi:type="dcterms:W3CDTF">2026-09-21T17:15:07.7850000Z</dcterms:modified>
</coreProperties>
</file>