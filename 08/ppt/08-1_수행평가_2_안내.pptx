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[0–2분] 표지
오늘과 다음 차시는 수행평가 2다. 새 기능을 만드는 시간이 아니라, 6~7회에 쓴 PRD.md를 처음부터 읽고 서로 맞게 다듬어 내는 시간이다.
먼저 실제 서비스 세 개가 처음에 어떤 기획서를 썼는지 보고, 평가 기준과 제출 형식을 알아본 뒤, 내 PRD를 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[2–5분] 사례 ① 아이템 선정
Instagram의 처음 이름은 Burbn이었다. 체크인, 친구와 약속 잡기, 포인트, 사진까지 기능이 많았지만 쓰는 사람이 적었다.
만든 두 사람이 살펴보니 사람들은 거의 사진 기능만 쓰고 있었다. 그래서 사진만 남기고 나머지를 지웠고, 첫날에만 수만 명이 가입했다.
만들 것을 고르는 기준은 내가 넣고 싶은 기능이 아니라 사용자가 정말 쓰는 한 가지다. PRD 1항(해결하려는 필요)과 2항(가장 중요한 기능)이 바로 그 선택을 적는 자리다.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[5–8분] 사례 ② PRD의 시작
Twitter를 만든 Jack Dorsey가 2000년 무렵 공책에 그린 기획 메모다. 2006년에 Flickr에 공개했다.
칸에 지금 상태(reading)를 적고 Set을 누르면 아래에 in bed, going to park 같은 상태가 쌓인다.
누가 쓰는가(1항), 핵심 기능 하나(2항), 화면에 무엇이 보이는가(4항)가 이 한 장에 다 있다. 길고 어려운 문서가 아니어도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[8–12분] 사례 ③ Airbnb · 우리 PRD와 같은 네 장
2008년, 지금의 Airbnb가 AirBed&amp;Breakfast라는 이름으로 투자를 받으려고 만든 14장짜리 슬라이드다.
그중 네 장이 우리 PRD와 거의 같다. Welcome은 서비스를 한 문장으로 소개하고(1항), Problem은 여행자의 숙박비 걱정을 말하고(1항 필요), Solution은 남는 방을 빌려주는 웹 서비스를 보여 준다(1항 사용자, 2항 핵심 기능).
Product는 도시로 찾기 → 숙소 살펴보기 → 예약하기를 실제 화면으로 보여 준다. 6-2에서 PRD를 보고 만든 목업과 같은 일이다.
네 장이 서로 맞기 때문에 처음 보는 투자자도 서비스를 바로 그려 볼 수 있었다.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[12–15분] 사례 ③ Airbnb · 나머지 열 장
14장 가운데 열 장은 우리 PRD에 없는 내용이다. 교과서 5~7쪽에 한 장씩 설명이 있다.
시장과 돈: 비슷한 것을 쓰는 사람이 이미 많다는 증거(Couchsurfing 66만 명), 시장 크기, 예약마다 10% 수수료, 50만 달러 투자.
사람 모으기: 큰 행사 때 숙소가 모자라는 도시를 노리고 여행 사이트와 손잡는다. 기사와 이용자 후기를 보여 준다.
경쟁과 팀: 비슷한 서비스와 비교하고 나은 점 여섯 가지를 들고, 만드는 사람을 소개한다.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[15–18분] 여러 일이 합쳐진 일
Airbnb의 14장을 하는 일로 나눠 보면, PRD에 해당하는 기획은 그중 한 갈래다.
시장을 조사하고, 사람을 모으는 마케팅과 다른 회사와 손잡는 영업을 하고, 경쟁자를 살피고, 돈을 계산하는 일이 함께 있다.
회사에서는 이 갈래마다 맡은 사람이 따로 있고, 모두 같은 기획을 보고 움직인다. 그래서 기획이 흔들리면 다른 일도 같이 흔들린다.
오늘 수행평가는 그 첫 갈래, 곧 1~6항이 서로 맞는지를 본다. 나머지 갈래는 쓰지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[18–20분] 설계도가 서로 맞아야 한다
집을 짓기 전에는 설계도를 그린다. 한 장에는 2층으로 올라가는 계단이 있는데 다른 장에는 2층에 문이 없다면, 그대로 지은 집의 계단은 벽에 막힌다.
PRD도 설계도다. 3항에 「지난 기록을 본다」가 있는데 5항에 기억할 기록이 없다면, AI가 만든 서비스도 그 자리에서 막힌다.
오늘 수행평가 2는 일곱 항목이 서로 맞는지를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[20–23분] 무엇을 평가하는가
이번 수행평가에서는 코드를 쓰지 않고, 실행되는 서비스도 만들지 않는다. 6~7회에 쓴 PRD.md를 처음부터 읽고 서로 맞게 다듬어 낸다.
전문 기획자처럼 길고 어려운 문서를 쓰는 것이 목표가 아니다. 짧아도 항목끼리 맞고, 내가 그 뜻을 설명할 수 있으면 된다.
수행평가 1에서 정확한 그래프 한 개가 여러 개보다 낫다고 했다. 이번에도 같은 원칙이다.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[23–26분] 점수
교수학습·평가계획에 적힌 세 영역이다. 오른쪽 칸은 그 영역을 PRD의 몇 항에서 보는지 알려 준다.
수행평가 1(30%) · 2(30%) · 3(40%)을 더해 40점 이상이면 이수다.
어려운 부분은 AI나 선생님의 도움을 받아도 되지만, 최종 내용은 내가 읽고 설명할 수 있어야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[26–28분] 범위
대부분 안 배운다는 뜻이 아니라, 실제 화면과 데이터를 보기 전에는 정할 수 없어서 나중에 하는 것이다. 쓰느라 시간을 쓰지 말고, AI가 넣었다면 지운다.
시장조사·사업 계획은 앞에서 본 Airbnb의 나머지 열 장이다. 이 수업에서는 쓰지 않는다.
7-2에서 5항에 넣은 표는 그대로 두어도 된다. 열 이름·기본키·외래키는 점수에 들어가지 않고, 무엇을 기억하는지와 언제 생기고 언제 다시 보는지의 해설을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[28–31분] 제출 형식
제출물은 06 폴더 전체를 묶은 ZIP 하나다. 그 안에 PRD.md, 8-2를 시작할 때 AI가 만드는 대화 기록 AI대화기록.md, 6-2에서 만든 mockup 폴더가 다 들어 있다.
안의 파일 이름은 바꾸지 않는다. 8-2 끝에서 06 폴더를 ZIP으로 묶고, ZIP에만 위 이름을 붙인다. 06 폴더는 9회에 그대로 이어서 쓴다.
PRD 맨 위의 학생 ID와 이름을 ZIP 이름과 똑같이 적는다. 실제 개인정보와 다른 학생의 작업물은 넣지 않는다.
수행평가 1처럼 Google Form에 ZIP 하나를 올리고, 업로드에는 Google 계정 로그인이 필요하다.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[31–34분] 내 PRD 열기
6~7회에 쓰던 06 폴더를 VS Code로 연다. 파일 하나만 열지 말고 폴더째 연다.
PRD.md를 누른 뒤 Ctrl+Shift+V로 미리 보기를 연다. 굵고 큰 제목 일곱 개가 양식의 일곱 항목이다. 필요하면 내 서비스에 맞게 바꿔도 된다.
고치기 전에 처음부터 끝까지 한 번 읽는 것이 오늘의 첫 일이다.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[34–40분] 빈칸 찾기 · 학생 작업
6-2와 7-2에서 AI에게 PRD를 옮기게 할 때, 모르는 내용은 지어내지 말고 「(확인 필요)」라고 적으라고 했다. 그 표시가 남아 있으면 아직 내가 정하지 않은 곳이다.
편집 화면에서 Ctrl+F로 확인 필요를 찾고, 하나씩 내 말로 채운 뒤 표시를 지운다. 밑줄 빈칸과 콜론 뒤가 빈 줄도 같은 방법으로 채운다.
항목끼리 맞추는 일은 8-2에서 순서대로 한다. 여기서는 비어 있는 곳만 채워 둔다. 돌아다니며 막힌 학생을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[40–43분] 막힐 때
파일을 여는 데서 막히는 자리는 대개 비슷하다. 내 상황과 같은 줄을 찾아 오른쪽대로 해 본다.
06 폴더가 없는 학생(결석·분실)은 빈 양식을 받아 지금부터 1~7항을 채우고 선생님께 알린다.
「(확인 필요)」가 많은 학생은 핵심 기능이 있는 2·3·4항부터 채우고, 나머지는 8-2에서 이어서 해도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[43–45분] 마무리
오늘은 수행평가 2가 무엇을 보는지 읽고, 내 PRD.md를 열어 빈칸과 「(확인 필요)」를 채웠다. Ctrl+S로 저장했는지 확인한다.
다음 차시는 바로 이어지는 평가 시간이다. 열어 둔 VS Code를 닫지 말고 그대로 8-2로 넘어간다.
8-2는 모두 같은 시작 요청문을 AI에게 붙여 넣는 것으로 시작한다. 그다음 항목을 차례로 맞추고, 고칠지 말지를 내가 정해 7항에 적고, 06 폴더를 ZIP으로 묶어 제출한다.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8회 · 첫째 차시</a:t>
            </a:r>
            <a:endParaRPr lang="en-US" sz="1200" dirty="0"/>
          </a:p>
        </p:txBody>
      </p:sp>
      <p:sp>
        <p:nvSpPr>
          <p:cNvPr id="4" name="Text 2"/>
          <p:cNvSpPr/>
          <p:nvPr/>
        </p:nvSpPr>
        <p:spPr>
          <a:xfrm>
            <a:off x="530352" y="1828800"/>
            <a:ext cx="10424160" cy="1371600"/>
          </a:xfrm>
          <a:prstGeom prst="rect">
            <a:avLst/>
          </a:prstGeom>
          <a:noFill/>
          <a:ln/>
        </p:spPr>
        <p:txBody>
          <a:bodyPr wrap="square" lIns="0" tIns="0" rIns="0" bIns="0" rtlCol="0" anchor="ctr"/>
          <a:lstStyle/>
          <a:p>
            <a:pPr indent="0" marL="0">
              <a:buNone/>
            </a:pPr>
            <a:r>
              <a:rPr lang="en-US" sz="4200" b="1" dirty="0">
                <a:solidFill>
                  <a:srgbClr val="FFFFFF"/>
                </a:solidFill>
                <a:latin typeface="IBM Plex Sans KR" pitchFamily="34" charset="0"/>
                <a:ea typeface="IBM Plex Sans KR" pitchFamily="34" charset="-122"/>
                <a:cs typeface="IBM Plex Sans KR" pitchFamily="34" charset="-120"/>
              </a:rPr>
              <a:t>수행평가 2 안내</a:t>
            </a:r>
            <a:endParaRPr lang="en-US" sz="4200" dirty="0"/>
          </a:p>
        </p:txBody>
      </p:sp>
      <p:sp>
        <p:nvSpPr>
          <p:cNvPr id="5" name="Text 3"/>
          <p:cNvSpPr/>
          <p:nvPr/>
        </p:nvSpPr>
        <p:spPr>
          <a:xfrm>
            <a:off x="530352" y="324612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PRD의 일곱 항목이</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서로 맞는지 봅니다.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08-1 · 1쪽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사람들이 쓰는 한 가지만 남겼다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사례 ①</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08-1 · 2쪽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02</a:t>
            </a:r>
            <a:endParaRPr lang="en-US" sz="900" dirty="0"/>
          </a:p>
        </p:txBody>
      </p:sp>
      <p:pic>
        <p:nvPicPr>
          <p:cNvPr id="10" name="Image 0" descr="/tmp/claude-0/-home-claude/748e8538-c14c-5eb9-9186-f1852ebba066/scratchpad/m/교과서_배포/assets/img/08-1-01-burbn-to-instagram.jpg">    </p:cNvPr>
          <p:cNvPicPr>
            <a:picLocks noChangeAspect="1"/>
          </p:cNvPicPr>
          <p:nvPr/>
        </p:nvPicPr>
        <p:blipFill>
          <a:blip r:embed="rId1"/>
          <a:stretch>
            <a:fillRect/>
          </a:stretch>
        </p:blipFill>
        <p:spPr>
          <a:xfrm>
            <a:off x="530352" y="1822301"/>
            <a:ext cx="7315200" cy="2984797"/>
          </a:xfrm>
          <a:prstGeom prst="rect">
            <a:avLst/>
          </a:prstGeom>
        </p:spPr>
      </p:pic>
      <p:sp>
        <p:nvSpPr>
          <p:cNvPr id="11" name="Shape 8"/>
          <p:cNvSpPr/>
          <p:nvPr/>
        </p:nvSpPr>
        <p:spPr>
          <a:xfrm>
            <a:off x="8092440" y="1783080"/>
            <a:ext cx="3566160" cy="1417320"/>
          </a:xfrm>
          <a:prstGeom prst="roundRect">
            <a:avLst>
              <a:gd name="adj" fmla="val 3548"/>
            </a:avLst>
          </a:prstGeom>
          <a:solidFill>
            <a:srgbClr val="F1F2F4"/>
          </a:solidFill>
          <a:ln w="12700">
            <a:solidFill>
              <a:srgbClr val="E0E3E7"/>
            </a:solidFill>
            <a:prstDash val="solid"/>
          </a:ln>
        </p:spPr>
      </p:sp>
      <p:sp>
        <p:nvSpPr>
          <p:cNvPr id="12" name="Text 9"/>
          <p:cNvSpPr/>
          <p:nvPr/>
        </p:nvSpPr>
        <p:spPr>
          <a:xfrm>
            <a:off x="8275320" y="1947672"/>
            <a:ext cx="3200400" cy="237744"/>
          </a:xfrm>
          <a:prstGeom prst="rect">
            <a:avLst/>
          </a:prstGeom>
          <a:noFill/>
          <a:ln/>
        </p:spPr>
        <p:txBody>
          <a:bodyPr wrap="square" lIns="0" tIns="0" rIns="0" bIns="0" rtlCol="0" anchor="ctr"/>
          <a:lstStyle/>
          <a:p>
            <a:pPr indent="0" marL="0">
              <a:buNone/>
            </a:pPr>
            <a:r>
              <a:rPr lang="en-US" sz="1050" b="1" spc="60" kern="0" dirty="0">
                <a:solidFill>
                  <a:srgbClr val="FF5C00"/>
                </a:solidFill>
                <a:latin typeface="IBM Plex Sans KR" pitchFamily="34" charset="0"/>
                <a:ea typeface="IBM Plex Sans KR" pitchFamily="34" charset="-122"/>
                <a:cs typeface="IBM Plex Sans KR" pitchFamily="34" charset="-120"/>
              </a:rPr>
              <a:t>Burbn · 2010년 5월</a:t>
            </a:r>
            <a:endParaRPr lang="en-US" sz="1050" dirty="0"/>
          </a:p>
        </p:txBody>
      </p:sp>
      <p:sp>
        <p:nvSpPr>
          <p:cNvPr id="13" name="Text 10"/>
          <p:cNvSpPr/>
          <p:nvPr/>
        </p:nvSpPr>
        <p:spPr>
          <a:xfrm>
            <a:off x="8275320" y="2240280"/>
            <a:ext cx="320040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기능이 많았다</a:t>
            </a:r>
            <a:endParaRPr lang="en-US" sz="1650" dirty="0"/>
          </a:p>
        </p:txBody>
      </p:sp>
      <p:sp>
        <p:nvSpPr>
          <p:cNvPr id="14" name="Text 11"/>
          <p:cNvSpPr/>
          <p:nvPr/>
        </p:nvSpPr>
        <p:spPr>
          <a:xfrm>
            <a:off x="8275320" y="2734056"/>
            <a:ext cx="3200400" cy="320040"/>
          </a:xfrm>
          <a:prstGeom prst="rect">
            <a:avLst/>
          </a:prstGeom>
          <a:noFill/>
          <a:ln/>
        </p:spPr>
        <p:txBody>
          <a:bodyPr wrap="square" lIns="0" tIns="0" rIns="0" bIns="0" rtlCol="0" anchor="t"/>
          <a:lstStyle/>
          <a:p>
            <a:pPr indent="0" marL="0">
              <a:lnSpc>
                <a:spcPts val="1900"/>
              </a:lnSpc>
              <a:buNone/>
            </a:pPr>
            <a:r>
              <a:rPr lang="en-US" sz="1240" dirty="0">
                <a:solidFill>
                  <a:srgbClr val="6C7078"/>
                </a:solidFill>
                <a:latin typeface="IBM Plex Sans KR" pitchFamily="34" charset="0"/>
                <a:ea typeface="IBM Plex Sans KR" pitchFamily="34" charset="-122"/>
                <a:cs typeface="IBM Plex Sans KR" pitchFamily="34" charset="-120"/>
              </a:rPr>
              <a:t>체크인 · 약속 · 포인트 · 사진</a:t>
            </a:r>
            <a:endParaRPr lang="en-US" sz="1240" dirty="0"/>
          </a:p>
        </p:txBody>
      </p:sp>
      <p:sp>
        <p:nvSpPr>
          <p:cNvPr id="15" name="Shape 12"/>
          <p:cNvSpPr/>
          <p:nvPr/>
        </p:nvSpPr>
        <p:spPr>
          <a:xfrm>
            <a:off x="8092440" y="3429000"/>
            <a:ext cx="3566160" cy="1417320"/>
          </a:xfrm>
          <a:prstGeom prst="roundRect">
            <a:avLst>
              <a:gd name="adj" fmla="val 3548"/>
            </a:avLst>
          </a:prstGeom>
          <a:solidFill>
            <a:srgbClr val="E7F2ED"/>
          </a:solidFill>
          <a:ln w="12700">
            <a:solidFill>
              <a:srgbClr val="0E7C86"/>
            </a:solidFill>
            <a:prstDash val="solid"/>
          </a:ln>
        </p:spPr>
      </p:sp>
      <p:sp>
        <p:nvSpPr>
          <p:cNvPr id="16" name="Text 13"/>
          <p:cNvSpPr/>
          <p:nvPr/>
        </p:nvSpPr>
        <p:spPr>
          <a:xfrm>
            <a:off x="8275320" y="3593592"/>
            <a:ext cx="3200400"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Instagram · 2010년 10월</a:t>
            </a:r>
            <a:endParaRPr lang="en-US" sz="1050" dirty="0"/>
          </a:p>
        </p:txBody>
      </p:sp>
      <p:sp>
        <p:nvSpPr>
          <p:cNvPr id="17" name="Text 14"/>
          <p:cNvSpPr/>
          <p:nvPr/>
        </p:nvSpPr>
        <p:spPr>
          <a:xfrm>
            <a:off x="8275320" y="3886200"/>
            <a:ext cx="320040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사진 하나만</a:t>
            </a:r>
            <a:endParaRPr lang="en-US" sz="1650" dirty="0"/>
          </a:p>
        </p:txBody>
      </p:sp>
      <p:sp>
        <p:nvSpPr>
          <p:cNvPr id="18" name="Text 15"/>
          <p:cNvSpPr/>
          <p:nvPr/>
        </p:nvSpPr>
        <p:spPr>
          <a:xfrm>
            <a:off x="8275320" y="4379976"/>
            <a:ext cx="3200400" cy="320040"/>
          </a:xfrm>
          <a:prstGeom prst="rect">
            <a:avLst/>
          </a:prstGeom>
          <a:noFill/>
          <a:ln/>
        </p:spPr>
        <p:txBody>
          <a:bodyPr wrap="square" lIns="0" tIns="0" rIns="0" bIns="0" rtlCol="0" anchor="t"/>
          <a:lstStyle/>
          <a:p>
            <a:pPr indent="0" marL="0">
              <a:lnSpc>
                <a:spcPts val="1900"/>
              </a:lnSpc>
              <a:buNone/>
            </a:pPr>
            <a:r>
              <a:rPr lang="en-US" sz="1240" dirty="0">
                <a:solidFill>
                  <a:srgbClr val="34373D"/>
                </a:solidFill>
                <a:latin typeface="IBM Plex Sans KR" pitchFamily="34" charset="0"/>
                <a:ea typeface="IBM Plex Sans KR" pitchFamily="34" charset="-122"/>
                <a:cs typeface="IBM Plex Sans KR" pitchFamily="34" charset="-120"/>
              </a:rPr>
              <a:t>사진(필터) · 댓글 · 좋아요</a:t>
            </a:r>
            <a:endParaRPr lang="en-US" sz="1240" dirty="0"/>
          </a:p>
        </p:txBody>
      </p:sp>
      <p:sp>
        <p:nvSpPr>
          <p:cNvPr id="19" name="Shape 16"/>
          <p:cNvSpPr/>
          <p:nvPr/>
        </p:nvSpPr>
        <p:spPr>
          <a:xfrm>
            <a:off x="530352" y="5257800"/>
            <a:ext cx="11128248" cy="512064"/>
          </a:xfrm>
          <a:prstGeom prst="roundRect">
            <a:avLst>
              <a:gd name="adj" fmla="val 39286"/>
            </a:avLst>
          </a:prstGeom>
          <a:solidFill>
            <a:srgbClr val="EAF5FB"/>
          </a:solidFill>
          <a:ln w="12700">
            <a:solidFill>
              <a:srgbClr val="3D8DFF"/>
            </a:solidFill>
            <a:prstDash val="solid"/>
          </a:ln>
        </p:spPr>
      </p:sp>
      <p:sp>
        <p:nvSpPr>
          <p:cNvPr id="20" name="Text 17"/>
          <p:cNvSpPr/>
          <p:nvPr/>
        </p:nvSpPr>
        <p:spPr>
          <a:xfrm>
            <a:off x="731520" y="525780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1항 해결하려는 필요 · 2항 가장 중요한 기능 = 이 선택을 적는 자리</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PRD의 시작은 공책 한 장이었다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사례 ②</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08-1 · 3쪽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03</a:t>
            </a:r>
            <a:endParaRPr lang="en-US" sz="900" dirty="0"/>
          </a:p>
        </p:txBody>
      </p:sp>
      <p:pic>
        <p:nvPicPr>
          <p:cNvPr id="10" name="Image 0" descr="/tmp/claude-0/-home-claude/748e8538-c14c-5eb9-9186-f1852ebba066/scratchpad/m/교과서_배포/assets/img/08-1-02-twitter-sketch.jpg">    </p:cNvPr>
          <p:cNvPicPr>
            <a:picLocks noChangeAspect="1"/>
          </p:cNvPicPr>
          <p:nvPr/>
        </p:nvPicPr>
        <p:blipFill>
          <a:blip r:embed="rId1"/>
          <a:stretch>
            <a:fillRect/>
          </a:stretch>
        </p:blipFill>
        <p:spPr>
          <a:xfrm>
            <a:off x="628249" y="1737360"/>
            <a:ext cx="3324646" cy="4434840"/>
          </a:xfrm>
          <a:prstGeom prst="rect">
            <a:avLst/>
          </a:prstGeom>
        </p:spPr>
      </p:pic>
      <p:sp>
        <p:nvSpPr>
          <p:cNvPr id="11" name="Text 8"/>
          <p:cNvSpPr/>
          <p:nvPr/>
        </p:nvSpPr>
        <p:spPr>
          <a:xfrm>
            <a:off x="4343400" y="1783080"/>
            <a:ext cx="7315200" cy="274320"/>
          </a:xfrm>
          <a:prstGeom prst="rect">
            <a:avLst/>
          </a:prstGeom>
          <a:noFill/>
          <a:ln/>
        </p:spPr>
        <p:txBody>
          <a:bodyPr wrap="square" lIns="0" tIns="0" rIns="0" bIns="0" rtlCol="0" anchor="ctr"/>
          <a:lstStyle/>
          <a:p>
            <a:pPr indent="0" marL="0">
              <a:buNone/>
            </a:pPr>
            <a:r>
              <a:rPr lang="en-US" sz="1200" b="1" dirty="0">
                <a:solidFill>
                  <a:srgbClr val="6C7078"/>
                </a:solidFill>
                <a:latin typeface="IBM Plex Sans KR" pitchFamily="34" charset="0"/>
                <a:ea typeface="IBM Plex Sans KR" pitchFamily="34" charset="-122"/>
                <a:cs typeface="IBM Plex Sans KR" pitchFamily="34" charset="-120"/>
              </a:rPr>
              <a:t>Jack Dorsey · 2000년 무렵 공책 메모</a:t>
            </a:r>
            <a:endParaRPr lang="en-US" sz="1200" dirty="0"/>
          </a:p>
        </p:txBody>
      </p:sp>
      <p:sp>
        <p:nvSpPr>
          <p:cNvPr id="12" name="Shape 9"/>
          <p:cNvSpPr/>
          <p:nvPr/>
        </p:nvSpPr>
        <p:spPr>
          <a:xfrm>
            <a:off x="4343400" y="2194560"/>
            <a:ext cx="2331720" cy="2057400"/>
          </a:xfrm>
          <a:prstGeom prst="roundRect">
            <a:avLst>
              <a:gd name="adj" fmla="val 2444"/>
            </a:avLst>
          </a:prstGeom>
          <a:solidFill>
            <a:srgbClr val="F1F2F4"/>
          </a:solidFill>
          <a:ln w="12700">
            <a:solidFill>
              <a:srgbClr val="E0E3E7"/>
            </a:solidFill>
            <a:prstDash val="solid"/>
          </a:ln>
        </p:spPr>
      </p:sp>
      <p:sp>
        <p:nvSpPr>
          <p:cNvPr id="13" name="Text 10"/>
          <p:cNvSpPr/>
          <p:nvPr/>
        </p:nvSpPr>
        <p:spPr>
          <a:xfrm>
            <a:off x="4526280" y="2359152"/>
            <a:ext cx="1965960"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1항</a:t>
            </a:r>
            <a:endParaRPr lang="en-US" sz="1800" dirty="0"/>
          </a:p>
        </p:txBody>
      </p:sp>
      <p:sp>
        <p:nvSpPr>
          <p:cNvPr id="14" name="Text 11"/>
          <p:cNvSpPr/>
          <p:nvPr/>
        </p:nvSpPr>
        <p:spPr>
          <a:xfrm>
            <a:off x="4526280" y="2779776"/>
            <a:ext cx="19659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누가 쓰나</a:t>
            </a:r>
            <a:endParaRPr lang="en-US" sz="1650" dirty="0"/>
          </a:p>
        </p:txBody>
      </p:sp>
      <p:sp>
        <p:nvSpPr>
          <p:cNvPr id="15" name="Text 12"/>
          <p:cNvSpPr/>
          <p:nvPr/>
        </p:nvSpPr>
        <p:spPr>
          <a:xfrm>
            <a:off x="4526280" y="3273552"/>
            <a:ext cx="1965960" cy="832104"/>
          </a:xfrm>
          <a:prstGeom prst="rect">
            <a:avLst/>
          </a:prstGeom>
          <a:noFill/>
          <a:ln/>
        </p:spPr>
        <p:txBody>
          <a:bodyPr wrap="square" lIns="0" tIns="0" rIns="0" bIns="0" rtlCol="0" anchor="t"/>
          <a:lstStyle/>
          <a:p>
            <a:pPr indent="0" marL="0">
              <a:lnSpc>
                <a:spcPts val="1900"/>
              </a:lnSpc>
              <a:buNone/>
            </a:pPr>
            <a:r>
              <a:rPr lang="en-US" sz="1240" dirty="0">
                <a:solidFill>
                  <a:srgbClr val="6C7078"/>
                </a:solidFill>
                <a:latin typeface="IBM Plex Sans KR" pitchFamily="34" charset="0"/>
                <a:ea typeface="IBM Plex Sans KR" pitchFamily="34" charset="-122"/>
                <a:cs typeface="IBM Plex Sans KR" pitchFamily="34" charset="-120"/>
              </a:rPr>
              <a:t>나와 친구들</a:t>
            </a:r>
            <a:endParaRPr lang="en-US" sz="1240" dirty="0"/>
          </a:p>
        </p:txBody>
      </p:sp>
      <p:sp>
        <p:nvSpPr>
          <p:cNvPr id="16" name="Shape 13"/>
          <p:cNvSpPr/>
          <p:nvPr/>
        </p:nvSpPr>
        <p:spPr>
          <a:xfrm>
            <a:off x="6858000" y="2194560"/>
            <a:ext cx="2331720" cy="2057400"/>
          </a:xfrm>
          <a:prstGeom prst="roundRect">
            <a:avLst>
              <a:gd name="adj" fmla="val 2444"/>
            </a:avLst>
          </a:prstGeom>
          <a:solidFill>
            <a:srgbClr val="F1F2F4"/>
          </a:solidFill>
          <a:ln w="12700">
            <a:solidFill>
              <a:srgbClr val="E0E3E7"/>
            </a:solidFill>
            <a:prstDash val="solid"/>
          </a:ln>
        </p:spPr>
      </p:sp>
      <p:sp>
        <p:nvSpPr>
          <p:cNvPr id="17" name="Text 14"/>
          <p:cNvSpPr/>
          <p:nvPr/>
        </p:nvSpPr>
        <p:spPr>
          <a:xfrm>
            <a:off x="7040880" y="2359152"/>
            <a:ext cx="1965960"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2항</a:t>
            </a:r>
            <a:endParaRPr lang="en-US" sz="1800" dirty="0"/>
          </a:p>
        </p:txBody>
      </p:sp>
      <p:sp>
        <p:nvSpPr>
          <p:cNvPr id="18" name="Text 15"/>
          <p:cNvSpPr/>
          <p:nvPr/>
        </p:nvSpPr>
        <p:spPr>
          <a:xfrm>
            <a:off x="7040880" y="2779776"/>
            <a:ext cx="19659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핵심 기능 하나</a:t>
            </a:r>
            <a:endParaRPr lang="en-US" sz="1650" dirty="0"/>
          </a:p>
        </p:txBody>
      </p:sp>
      <p:sp>
        <p:nvSpPr>
          <p:cNvPr id="19" name="Text 16"/>
          <p:cNvSpPr/>
          <p:nvPr/>
        </p:nvSpPr>
        <p:spPr>
          <a:xfrm>
            <a:off x="7040880" y="3273552"/>
            <a:ext cx="1965960" cy="832104"/>
          </a:xfrm>
          <a:prstGeom prst="rect">
            <a:avLst/>
          </a:prstGeom>
          <a:noFill/>
          <a:ln/>
        </p:spPr>
        <p:txBody>
          <a:bodyPr wrap="square" lIns="0" tIns="0" rIns="0" bIns="0" rtlCol="0" anchor="t"/>
          <a:lstStyle/>
          <a:p>
            <a:pPr indent="0" marL="0">
              <a:lnSpc>
                <a:spcPts val="1900"/>
              </a:lnSpc>
              <a:buNone/>
            </a:pPr>
            <a:r>
              <a:rPr lang="en-US" sz="1240" dirty="0">
                <a:solidFill>
                  <a:srgbClr val="6C7078"/>
                </a:solidFill>
                <a:latin typeface="IBM Plex Sans KR" pitchFamily="34" charset="0"/>
                <a:ea typeface="IBM Plex Sans KR" pitchFamily="34" charset="-122"/>
                <a:cs typeface="IBM Plex Sans KR" pitchFamily="34" charset="-120"/>
              </a:rPr>
              <a:t>지금 하는 일을</a:t>
            </a:r>
            <a:endParaRPr lang="en-US" sz="1240" dirty="0"/>
          </a:p>
          <a:p>
            <a:pPr indent="0" marL="0">
              <a:lnSpc>
                <a:spcPts val="1900"/>
              </a:lnSpc>
              <a:buNone/>
            </a:pPr>
            <a:r>
              <a:rPr lang="en-US" sz="1240" dirty="0">
                <a:solidFill>
                  <a:srgbClr val="6C7078"/>
                </a:solidFill>
                <a:latin typeface="IBM Plex Sans KR" pitchFamily="34" charset="0"/>
                <a:ea typeface="IBM Plex Sans KR" pitchFamily="34" charset="-122"/>
                <a:cs typeface="IBM Plex Sans KR" pitchFamily="34" charset="-120"/>
              </a:rPr>
              <a:t>짧게 적어 보여 준다</a:t>
            </a:r>
            <a:endParaRPr lang="en-US" sz="1240" dirty="0"/>
          </a:p>
        </p:txBody>
      </p:sp>
      <p:sp>
        <p:nvSpPr>
          <p:cNvPr id="20" name="Shape 17"/>
          <p:cNvSpPr/>
          <p:nvPr/>
        </p:nvSpPr>
        <p:spPr>
          <a:xfrm>
            <a:off x="9326880" y="2194560"/>
            <a:ext cx="2331720" cy="2057400"/>
          </a:xfrm>
          <a:prstGeom prst="roundRect">
            <a:avLst>
              <a:gd name="adj" fmla="val 2444"/>
            </a:avLst>
          </a:prstGeom>
          <a:solidFill>
            <a:srgbClr val="E7F2ED"/>
          </a:solidFill>
          <a:ln w="12700">
            <a:solidFill>
              <a:srgbClr val="0E7C86"/>
            </a:solidFill>
            <a:prstDash val="solid"/>
          </a:ln>
        </p:spPr>
      </p:sp>
      <p:sp>
        <p:nvSpPr>
          <p:cNvPr id="21" name="Text 18"/>
          <p:cNvSpPr/>
          <p:nvPr/>
        </p:nvSpPr>
        <p:spPr>
          <a:xfrm>
            <a:off x="9509760" y="2359152"/>
            <a:ext cx="1965960"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4항</a:t>
            </a:r>
            <a:endParaRPr lang="en-US" sz="1800" dirty="0"/>
          </a:p>
        </p:txBody>
      </p:sp>
      <p:sp>
        <p:nvSpPr>
          <p:cNvPr id="22" name="Text 19"/>
          <p:cNvSpPr/>
          <p:nvPr/>
        </p:nvSpPr>
        <p:spPr>
          <a:xfrm>
            <a:off x="9509760" y="2779776"/>
            <a:ext cx="19659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화면</a:t>
            </a:r>
            <a:endParaRPr lang="en-US" sz="1650" dirty="0"/>
          </a:p>
        </p:txBody>
      </p:sp>
      <p:sp>
        <p:nvSpPr>
          <p:cNvPr id="23" name="Text 20"/>
          <p:cNvSpPr/>
          <p:nvPr/>
        </p:nvSpPr>
        <p:spPr>
          <a:xfrm>
            <a:off x="9509760" y="3273552"/>
            <a:ext cx="1965960" cy="832104"/>
          </a:xfrm>
          <a:prstGeom prst="rect">
            <a:avLst/>
          </a:prstGeom>
          <a:noFill/>
          <a:ln/>
        </p:spPr>
        <p:txBody>
          <a:bodyPr wrap="square" lIns="0" tIns="0" rIns="0" bIns="0" rtlCol="0" anchor="t"/>
          <a:lstStyle/>
          <a:p>
            <a:pPr indent="0" marL="0">
              <a:lnSpc>
                <a:spcPts val="1900"/>
              </a:lnSpc>
              <a:buNone/>
            </a:pPr>
            <a:r>
              <a:rPr lang="en-US" sz="1240" dirty="0">
                <a:solidFill>
                  <a:srgbClr val="34373D"/>
                </a:solidFill>
                <a:latin typeface="IBM Plex Sans KR" pitchFamily="34" charset="0"/>
                <a:ea typeface="IBM Plex Sans KR" pitchFamily="34" charset="-122"/>
                <a:cs typeface="IBM Plex Sans KR" pitchFamily="34" charset="-120"/>
              </a:rPr>
              <a:t>칸에 적고 Set</a:t>
            </a:r>
            <a:endParaRPr lang="en-US" sz="1240" dirty="0"/>
          </a:p>
          <a:p>
            <a:pPr indent="0" marL="0">
              <a:lnSpc>
                <a:spcPts val="1900"/>
              </a:lnSpc>
              <a:buNone/>
            </a:pPr>
            <a:r>
              <a:rPr lang="en-US" sz="1240" dirty="0">
                <a:solidFill>
                  <a:srgbClr val="34373D"/>
                </a:solidFill>
                <a:latin typeface="IBM Plex Sans KR" pitchFamily="34" charset="0"/>
                <a:ea typeface="IBM Plex Sans KR" pitchFamily="34" charset="-122"/>
                <a:cs typeface="IBM Plex Sans KR" pitchFamily="34" charset="-120"/>
              </a:rPr>
              <a:t>→ 아래에 쌓인다</a:t>
            </a:r>
            <a:endParaRPr lang="en-US" sz="1240" dirty="0"/>
          </a:p>
        </p:txBody>
      </p:sp>
      <p:sp>
        <p:nvSpPr>
          <p:cNvPr id="24" name="Shape 21"/>
          <p:cNvSpPr/>
          <p:nvPr/>
        </p:nvSpPr>
        <p:spPr>
          <a:xfrm>
            <a:off x="4343400" y="4663440"/>
            <a:ext cx="7315200" cy="512064"/>
          </a:xfrm>
          <a:prstGeom prst="roundRect">
            <a:avLst>
              <a:gd name="adj" fmla="val 39286"/>
            </a:avLst>
          </a:prstGeom>
          <a:solidFill>
            <a:srgbClr val="FF5C00"/>
          </a:solidFill>
          <a:ln w="12700">
            <a:solidFill>
              <a:srgbClr val="FF5C00"/>
            </a:solidFill>
            <a:prstDash val="solid"/>
          </a:ln>
        </p:spPr>
      </p:sp>
      <p:sp>
        <p:nvSpPr>
          <p:cNvPr id="25" name="Text 22"/>
          <p:cNvSpPr/>
          <p:nvPr/>
        </p:nvSpPr>
        <p:spPr>
          <a:xfrm>
            <a:off x="4544568" y="4663440"/>
            <a:ext cx="6912864" cy="512064"/>
          </a:xfrm>
          <a:prstGeom prst="rect">
            <a:avLst/>
          </a:prstGeom>
          <a:noFill/>
          <a:ln/>
        </p:spPr>
        <p:txBody>
          <a:bodyPr wrap="square" lIns="0" tIns="0" rIns="0" bIns="0" rtlCol="0" anchor="ctr"/>
          <a:lstStyle/>
          <a:p>
            <a:pPr algn="ctr" indent="0" marL="0">
              <a:buNone/>
            </a:pPr>
            <a:r>
              <a:rPr lang="en-US" sz="1450" b="1" dirty="0">
                <a:solidFill>
                  <a:srgbClr val="FFFFFF"/>
                </a:solidFill>
                <a:latin typeface="IBM Plex Sans KR" pitchFamily="34" charset="0"/>
                <a:ea typeface="IBM Plex Sans KR" pitchFamily="34" charset="-122"/>
                <a:cs typeface="IBM Plex Sans KR" pitchFamily="34" charset="-120"/>
              </a:rPr>
              <a:t>코드는 한 줄도 없다. 무엇 하나를 하는 서비스인지만 분명하다.</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Airbnb의 첫 발표 자료에는 PRD와 목업이 있었다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사례 ③</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08-1 · 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04</a:t>
            </a:r>
            <a:endParaRPr lang="en-US" sz="900" dirty="0"/>
          </a:p>
        </p:txBody>
      </p:sp>
      <p:pic>
        <p:nvPicPr>
          <p:cNvPr id="10" name="Image 0" descr="/tmp/claude-0/-home-claude/748e8538-c14c-5eb9-9186-f1852ebba066/scratchpad/m/교과서_배포/assets/img/08-1-airbnb-01.png">    </p:cNvPr>
          <p:cNvPicPr>
            <a:picLocks noChangeAspect="1"/>
          </p:cNvPicPr>
          <p:nvPr/>
        </p:nvPicPr>
        <p:blipFill>
          <a:blip r:embed="rId1"/>
          <a:stretch>
            <a:fillRect/>
          </a:stretch>
        </p:blipFill>
        <p:spPr>
          <a:xfrm>
            <a:off x="530352" y="1828800"/>
            <a:ext cx="2587752" cy="1996882"/>
          </a:xfrm>
          <a:prstGeom prst="rect">
            <a:avLst/>
          </a:prstGeom>
        </p:spPr>
      </p:pic>
      <p:sp>
        <p:nvSpPr>
          <p:cNvPr id="11" name="Shape 8"/>
          <p:cNvSpPr/>
          <p:nvPr/>
        </p:nvSpPr>
        <p:spPr>
          <a:xfrm>
            <a:off x="530352" y="1828800"/>
            <a:ext cx="2587752" cy="1996882"/>
          </a:xfrm>
          <a:prstGeom prst="rect">
            <a:avLst/>
          </a:prstGeom>
          <a:noFill/>
          <a:ln w="12700">
            <a:solidFill>
              <a:srgbClr val="E0E3E7"/>
            </a:solidFill>
            <a:prstDash val="solid"/>
          </a:ln>
        </p:spPr>
      </p:sp>
      <p:sp>
        <p:nvSpPr>
          <p:cNvPr id="12" name="Text 9"/>
          <p:cNvSpPr/>
          <p:nvPr/>
        </p:nvSpPr>
        <p:spPr>
          <a:xfrm>
            <a:off x="530352" y="3935410"/>
            <a:ext cx="2587752" cy="29260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1 · Welcome</a:t>
            </a:r>
            <a:endParaRPr lang="en-US" sz="1400" dirty="0"/>
          </a:p>
        </p:txBody>
      </p:sp>
      <p:sp>
        <p:nvSpPr>
          <p:cNvPr id="13" name="Shape 10"/>
          <p:cNvSpPr/>
          <p:nvPr/>
        </p:nvSpPr>
        <p:spPr>
          <a:xfrm>
            <a:off x="530352" y="4282882"/>
            <a:ext cx="2587752" cy="310896"/>
          </a:xfrm>
          <a:prstGeom prst="roundRect">
            <a:avLst>
              <a:gd name="adj" fmla="val 23529"/>
            </a:avLst>
          </a:prstGeom>
          <a:solidFill>
            <a:srgbClr val="1B1D21"/>
          </a:solidFill>
          <a:ln/>
        </p:spPr>
      </p:sp>
      <p:sp>
        <p:nvSpPr>
          <p:cNvPr id="14" name="Text 11"/>
          <p:cNvSpPr/>
          <p:nvPr/>
        </p:nvSpPr>
        <p:spPr>
          <a:xfrm>
            <a:off x="530352" y="4282882"/>
            <a:ext cx="258775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IBM Plex Sans KR" pitchFamily="34" charset="0"/>
                <a:ea typeface="IBM Plex Sans KR" pitchFamily="34" charset="-122"/>
                <a:cs typeface="IBM Plex Sans KR" pitchFamily="34" charset="-120"/>
              </a:rPr>
              <a:t>1항 한 문장 소개</a:t>
            </a:r>
            <a:endParaRPr lang="en-US" sz="1200" dirty="0"/>
          </a:p>
        </p:txBody>
      </p:sp>
      <p:pic>
        <p:nvPicPr>
          <p:cNvPr id="15" name="Image 1" descr="/tmp/claude-0/-home-claude/748e8538-c14c-5eb9-9186-f1852ebba066/scratchpad/m/교과서_배포/assets/img/08-1-airbnb-02.png">    </p:cNvPr>
          <p:cNvPicPr>
            <a:picLocks noChangeAspect="1"/>
          </p:cNvPicPr>
          <p:nvPr/>
        </p:nvPicPr>
        <p:blipFill>
          <a:blip r:embed="rId2"/>
          <a:stretch>
            <a:fillRect/>
          </a:stretch>
        </p:blipFill>
        <p:spPr>
          <a:xfrm>
            <a:off x="3374136" y="1828800"/>
            <a:ext cx="2587752" cy="1996882"/>
          </a:xfrm>
          <a:prstGeom prst="rect">
            <a:avLst/>
          </a:prstGeom>
        </p:spPr>
      </p:pic>
      <p:sp>
        <p:nvSpPr>
          <p:cNvPr id="16" name="Shape 12"/>
          <p:cNvSpPr/>
          <p:nvPr/>
        </p:nvSpPr>
        <p:spPr>
          <a:xfrm>
            <a:off x="3374136" y="1828800"/>
            <a:ext cx="2587752" cy="1996882"/>
          </a:xfrm>
          <a:prstGeom prst="rect">
            <a:avLst/>
          </a:prstGeom>
          <a:noFill/>
          <a:ln w="12700">
            <a:solidFill>
              <a:srgbClr val="E0E3E7"/>
            </a:solidFill>
            <a:prstDash val="solid"/>
          </a:ln>
        </p:spPr>
      </p:sp>
      <p:sp>
        <p:nvSpPr>
          <p:cNvPr id="17" name="Text 13"/>
          <p:cNvSpPr/>
          <p:nvPr/>
        </p:nvSpPr>
        <p:spPr>
          <a:xfrm>
            <a:off x="3374136" y="3935410"/>
            <a:ext cx="2587752" cy="29260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2 · Problem</a:t>
            </a:r>
            <a:endParaRPr lang="en-US" sz="1400" dirty="0"/>
          </a:p>
        </p:txBody>
      </p:sp>
      <p:sp>
        <p:nvSpPr>
          <p:cNvPr id="18" name="Shape 14"/>
          <p:cNvSpPr/>
          <p:nvPr/>
        </p:nvSpPr>
        <p:spPr>
          <a:xfrm>
            <a:off x="3374136" y="4282882"/>
            <a:ext cx="2587752" cy="310896"/>
          </a:xfrm>
          <a:prstGeom prst="roundRect">
            <a:avLst>
              <a:gd name="adj" fmla="val 23529"/>
            </a:avLst>
          </a:prstGeom>
          <a:solidFill>
            <a:srgbClr val="1B1D21"/>
          </a:solidFill>
          <a:ln/>
        </p:spPr>
      </p:sp>
      <p:sp>
        <p:nvSpPr>
          <p:cNvPr id="19" name="Text 15"/>
          <p:cNvSpPr/>
          <p:nvPr/>
        </p:nvSpPr>
        <p:spPr>
          <a:xfrm>
            <a:off x="3374136" y="4282882"/>
            <a:ext cx="258775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IBM Plex Sans KR" pitchFamily="34" charset="0"/>
                <a:ea typeface="IBM Plex Sans KR" pitchFamily="34" charset="-122"/>
                <a:cs typeface="IBM Plex Sans KR" pitchFamily="34" charset="-120"/>
              </a:rPr>
              <a:t>1항 해결하려는 필요</a:t>
            </a:r>
            <a:endParaRPr lang="en-US" sz="1200" dirty="0"/>
          </a:p>
        </p:txBody>
      </p:sp>
      <p:pic>
        <p:nvPicPr>
          <p:cNvPr id="20" name="Image 2" descr="/tmp/claude-0/-home-claude/748e8538-c14c-5eb9-9186-f1852ebba066/scratchpad/m/교과서_배포/assets/img/08-1-airbnb-03.png">    </p:cNvPr>
          <p:cNvPicPr>
            <a:picLocks noChangeAspect="1"/>
          </p:cNvPicPr>
          <p:nvPr/>
        </p:nvPicPr>
        <p:blipFill>
          <a:blip r:embed="rId3"/>
          <a:stretch>
            <a:fillRect/>
          </a:stretch>
        </p:blipFill>
        <p:spPr>
          <a:xfrm>
            <a:off x="6217920" y="1828800"/>
            <a:ext cx="2587752" cy="1996882"/>
          </a:xfrm>
          <a:prstGeom prst="rect">
            <a:avLst/>
          </a:prstGeom>
        </p:spPr>
      </p:pic>
      <p:sp>
        <p:nvSpPr>
          <p:cNvPr id="21" name="Shape 16"/>
          <p:cNvSpPr/>
          <p:nvPr/>
        </p:nvSpPr>
        <p:spPr>
          <a:xfrm>
            <a:off x="6217920" y="1828800"/>
            <a:ext cx="2587752" cy="1996882"/>
          </a:xfrm>
          <a:prstGeom prst="rect">
            <a:avLst/>
          </a:prstGeom>
          <a:noFill/>
          <a:ln w="12700">
            <a:solidFill>
              <a:srgbClr val="E0E3E7"/>
            </a:solidFill>
            <a:prstDash val="solid"/>
          </a:ln>
        </p:spPr>
      </p:sp>
      <p:sp>
        <p:nvSpPr>
          <p:cNvPr id="22" name="Text 17"/>
          <p:cNvSpPr/>
          <p:nvPr/>
        </p:nvSpPr>
        <p:spPr>
          <a:xfrm>
            <a:off x="6217920" y="3935410"/>
            <a:ext cx="2587752" cy="29260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3 · Solution</a:t>
            </a:r>
            <a:endParaRPr lang="en-US" sz="1400" dirty="0"/>
          </a:p>
        </p:txBody>
      </p:sp>
      <p:sp>
        <p:nvSpPr>
          <p:cNvPr id="23" name="Shape 18"/>
          <p:cNvSpPr/>
          <p:nvPr/>
        </p:nvSpPr>
        <p:spPr>
          <a:xfrm>
            <a:off x="6217920" y="4282882"/>
            <a:ext cx="2587752" cy="310896"/>
          </a:xfrm>
          <a:prstGeom prst="roundRect">
            <a:avLst>
              <a:gd name="adj" fmla="val 23529"/>
            </a:avLst>
          </a:prstGeom>
          <a:solidFill>
            <a:srgbClr val="1B1D21"/>
          </a:solidFill>
          <a:ln/>
        </p:spPr>
      </p:sp>
      <p:sp>
        <p:nvSpPr>
          <p:cNvPr id="24" name="Text 19"/>
          <p:cNvSpPr/>
          <p:nvPr/>
        </p:nvSpPr>
        <p:spPr>
          <a:xfrm>
            <a:off x="6217920" y="4282882"/>
            <a:ext cx="258775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IBM Plex Sans KR" pitchFamily="34" charset="0"/>
                <a:ea typeface="IBM Plex Sans KR" pitchFamily="34" charset="-122"/>
                <a:cs typeface="IBM Plex Sans KR" pitchFamily="34" charset="-120"/>
              </a:rPr>
              <a:t>1항 사용자 · 2항 핵심 기능</a:t>
            </a:r>
            <a:endParaRPr lang="en-US" sz="1200" dirty="0"/>
          </a:p>
        </p:txBody>
      </p:sp>
      <p:pic>
        <p:nvPicPr>
          <p:cNvPr id="25" name="Image 3" descr="/tmp/claude-0/-home-claude/748e8538-c14c-5eb9-9186-f1852ebba066/scratchpad/m/교과서_배포/assets/img/08-1-airbnb-06.png">    </p:cNvPr>
          <p:cNvPicPr>
            <a:picLocks noChangeAspect="1"/>
          </p:cNvPicPr>
          <p:nvPr/>
        </p:nvPicPr>
        <p:blipFill>
          <a:blip r:embed="rId4"/>
          <a:stretch>
            <a:fillRect/>
          </a:stretch>
        </p:blipFill>
        <p:spPr>
          <a:xfrm>
            <a:off x="9061704" y="1828800"/>
            <a:ext cx="2587752" cy="1996882"/>
          </a:xfrm>
          <a:prstGeom prst="rect">
            <a:avLst/>
          </a:prstGeom>
        </p:spPr>
      </p:pic>
      <p:sp>
        <p:nvSpPr>
          <p:cNvPr id="26" name="Shape 20"/>
          <p:cNvSpPr/>
          <p:nvPr/>
        </p:nvSpPr>
        <p:spPr>
          <a:xfrm>
            <a:off x="9061704" y="1828800"/>
            <a:ext cx="2587752" cy="1996882"/>
          </a:xfrm>
          <a:prstGeom prst="rect">
            <a:avLst/>
          </a:prstGeom>
          <a:noFill/>
          <a:ln w="12700">
            <a:solidFill>
              <a:srgbClr val="E0E3E7"/>
            </a:solidFill>
            <a:prstDash val="solid"/>
          </a:ln>
        </p:spPr>
      </p:sp>
      <p:sp>
        <p:nvSpPr>
          <p:cNvPr id="27" name="Text 21"/>
          <p:cNvSpPr/>
          <p:nvPr/>
        </p:nvSpPr>
        <p:spPr>
          <a:xfrm>
            <a:off x="9061704" y="3935410"/>
            <a:ext cx="2587752" cy="29260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6 · Product</a:t>
            </a:r>
            <a:endParaRPr lang="en-US" sz="1400" dirty="0"/>
          </a:p>
        </p:txBody>
      </p:sp>
      <p:sp>
        <p:nvSpPr>
          <p:cNvPr id="28" name="Shape 22"/>
          <p:cNvSpPr/>
          <p:nvPr/>
        </p:nvSpPr>
        <p:spPr>
          <a:xfrm>
            <a:off x="9061704" y="4282882"/>
            <a:ext cx="2587752" cy="310896"/>
          </a:xfrm>
          <a:prstGeom prst="roundRect">
            <a:avLst>
              <a:gd name="adj" fmla="val 23529"/>
            </a:avLst>
          </a:prstGeom>
          <a:solidFill>
            <a:srgbClr val="0E7C86"/>
          </a:solidFill>
          <a:ln/>
        </p:spPr>
      </p:sp>
      <p:sp>
        <p:nvSpPr>
          <p:cNvPr id="29" name="Text 23"/>
          <p:cNvSpPr/>
          <p:nvPr/>
        </p:nvSpPr>
        <p:spPr>
          <a:xfrm>
            <a:off x="9061704" y="4282882"/>
            <a:ext cx="258775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IBM Plex Sans KR" pitchFamily="34" charset="0"/>
                <a:ea typeface="IBM Plex Sans KR" pitchFamily="34" charset="-122"/>
                <a:cs typeface="IBM Plex Sans KR" pitchFamily="34" charset="-120"/>
              </a:rPr>
              <a:t>3항 흐름 · 4항 화면 · 목업</a:t>
            </a:r>
            <a:endParaRPr lang="en-US" sz="1200" dirty="0"/>
          </a:p>
        </p:txBody>
      </p:sp>
      <p:sp>
        <p:nvSpPr>
          <p:cNvPr id="30" name="Shape 24"/>
          <p:cNvSpPr/>
          <p:nvPr/>
        </p:nvSpPr>
        <p:spPr>
          <a:xfrm>
            <a:off x="530352" y="5074920"/>
            <a:ext cx="11128248" cy="512064"/>
          </a:xfrm>
          <a:prstGeom prst="roundRect">
            <a:avLst>
              <a:gd name="adj" fmla="val 39286"/>
            </a:avLst>
          </a:prstGeom>
          <a:solidFill>
            <a:srgbClr val="EAF5FB"/>
          </a:solidFill>
          <a:ln w="12700">
            <a:solidFill>
              <a:srgbClr val="3D8DFF"/>
            </a:solidFill>
            <a:prstDash val="solid"/>
          </a:ln>
        </p:spPr>
      </p:sp>
      <p:sp>
        <p:nvSpPr>
          <p:cNvPr id="31" name="Text 25"/>
          <p:cNvSpPr/>
          <p:nvPr/>
        </p:nvSpPr>
        <p:spPr>
          <a:xfrm>
            <a:off x="731520" y="5074920"/>
            <a:ext cx="10725912" cy="512064"/>
          </a:xfrm>
          <a:prstGeom prst="rect">
            <a:avLst/>
          </a:prstGeom>
          <a:noFill/>
          <a:ln/>
        </p:spPr>
        <p:txBody>
          <a:bodyPr wrap="square" lIns="0" tIns="0" rIns="0" bIns="0" rtlCol="0" anchor="ctr"/>
          <a:lstStyle/>
          <a:p>
            <a:pPr algn="ctr" indent="0" marL="0">
              <a:buNone/>
            </a:pPr>
            <a:r>
              <a:rPr lang="en-US" sz="1400" b="1" dirty="0">
                <a:solidFill>
                  <a:srgbClr val="34373D"/>
                </a:solidFill>
                <a:latin typeface="IBM Plex Sans KR" pitchFamily="34" charset="0"/>
                <a:ea typeface="IBM Plex Sans KR" pitchFamily="34" charset="-122"/>
                <a:cs typeface="IBM Plex Sans KR" pitchFamily="34" charset="-120"/>
              </a:rPr>
              <a:t>Problem의 사람이 Solution의 사용자, 그 기능이 Product 화면 순서대로 = 네 장이 서로 맞는다</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나머지 열 장은 우리 PRD에 없는 것이다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사례 ③</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08-1 · 5–7쪽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05</a:t>
            </a:r>
            <a:endParaRPr lang="en-US" sz="900" dirty="0"/>
          </a:p>
        </p:txBody>
      </p:sp>
      <p:sp>
        <p:nvSpPr>
          <p:cNvPr id="10" name="Shape 8"/>
          <p:cNvSpPr/>
          <p:nvPr/>
        </p:nvSpPr>
        <p:spPr>
          <a:xfrm>
            <a:off x="530352" y="1810512"/>
            <a:ext cx="3419856" cy="310896"/>
          </a:xfrm>
          <a:prstGeom prst="roundRect">
            <a:avLst>
              <a:gd name="adj" fmla="val 23529"/>
            </a:avLst>
          </a:prstGeom>
          <a:solidFill>
            <a:srgbClr val="1B1D21"/>
          </a:solidFill>
          <a:ln/>
        </p:spPr>
      </p:sp>
      <p:sp>
        <p:nvSpPr>
          <p:cNvPr id="11" name="Text 9"/>
          <p:cNvSpPr/>
          <p:nvPr/>
        </p:nvSpPr>
        <p:spPr>
          <a:xfrm>
            <a:off x="530352" y="1810512"/>
            <a:ext cx="34198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IBM Plex Sans KR" pitchFamily="34" charset="0"/>
                <a:ea typeface="IBM Plex Sans KR" pitchFamily="34" charset="-122"/>
                <a:cs typeface="IBM Plex Sans KR" pitchFamily="34" charset="-120"/>
              </a:rPr>
              <a:t>시장과 돈</a:t>
            </a:r>
            <a:endParaRPr lang="en-US" sz="1200" dirty="0"/>
          </a:p>
        </p:txBody>
      </p:sp>
      <p:pic>
        <p:nvPicPr>
          <p:cNvPr id="12" name="Image 0" descr="/tmp/claude-0/-home-claude/748e8538-c14c-5eb9-9186-f1852ebba066/scratchpad/m/교과서_배포/assets/img/08-1-airbnb-04.png">    </p:cNvPr>
          <p:cNvPicPr>
            <a:picLocks noChangeAspect="1"/>
          </p:cNvPicPr>
          <p:nvPr/>
        </p:nvPicPr>
        <p:blipFill>
          <a:blip r:embed="rId1"/>
          <a:stretch>
            <a:fillRect/>
          </a:stretch>
        </p:blipFill>
        <p:spPr>
          <a:xfrm>
            <a:off x="530352" y="2267712"/>
            <a:ext cx="1664208" cy="1284214"/>
          </a:xfrm>
          <a:prstGeom prst="rect">
            <a:avLst/>
          </a:prstGeom>
        </p:spPr>
      </p:pic>
      <p:sp>
        <p:nvSpPr>
          <p:cNvPr id="13" name="Shape 10"/>
          <p:cNvSpPr/>
          <p:nvPr/>
        </p:nvSpPr>
        <p:spPr>
          <a:xfrm>
            <a:off x="530352" y="2267712"/>
            <a:ext cx="1664208" cy="1284214"/>
          </a:xfrm>
          <a:prstGeom prst="rect">
            <a:avLst/>
          </a:prstGeom>
          <a:noFill/>
          <a:ln w="12700">
            <a:solidFill>
              <a:srgbClr val="E0E3E7"/>
            </a:solidFill>
            <a:prstDash val="solid"/>
          </a:ln>
        </p:spPr>
      </p:sp>
      <p:pic>
        <p:nvPicPr>
          <p:cNvPr id="14" name="Image 1" descr="/tmp/claude-0/-home-claude/748e8538-c14c-5eb9-9186-f1852ebba066/scratchpad/m/교과서_배포/assets/img/08-1-airbnb-05.png">    </p:cNvPr>
          <p:cNvPicPr>
            <a:picLocks noChangeAspect="1"/>
          </p:cNvPicPr>
          <p:nvPr/>
        </p:nvPicPr>
        <p:blipFill>
          <a:blip r:embed="rId2"/>
          <a:stretch>
            <a:fillRect/>
          </a:stretch>
        </p:blipFill>
        <p:spPr>
          <a:xfrm>
            <a:off x="2286000" y="2267712"/>
            <a:ext cx="1664208" cy="1284214"/>
          </a:xfrm>
          <a:prstGeom prst="rect">
            <a:avLst/>
          </a:prstGeom>
        </p:spPr>
      </p:pic>
      <p:sp>
        <p:nvSpPr>
          <p:cNvPr id="15" name="Shape 11"/>
          <p:cNvSpPr/>
          <p:nvPr/>
        </p:nvSpPr>
        <p:spPr>
          <a:xfrm>
            <a:off x="2286000" y="2267712"/>
            <a:ext cx="1664208" cy="1284214"/>
          </a:xfrm>
          <a:prstGeom prst="rect">
            <a:avLst/>
          </a:prstGeom>
          <a:noFill/>
          <a:ln w="12700">
            <a:solidFill>
              <a:srgbClr val="E0E3E7"/>
            </a:solidFill>
            <a:prstDash val="solid"/>
          </a:ln>
        </p:spPr>
      </p:sp>
      <p:pic>
        <p:nvPicPr>
          <p:cNvPr id="16" name="Image 2" descr="/tmp/claude-0/-home-claude/748e8538-c14c-5eb9-9186-f1852ebba066/scratchpad/m/교과서_배포/assets/img/08-1-airbnb-07.png">    </p:cNvPr>
          <p:cNvPicPr>
            <a:picLocks noChangeAspect="1"/>
          </p:cNvPicPr>
          <p:nvPr/>
        </p:nvPicPr>
        <p:blipFill>
          <a:blip r:embed="rId3"/>
          <a:stretch>
            <a:fillRect/>
          </a:stretch>
        </p:blipFill>
        <p:spPr>
          <a:xfrm>
            <a:off x="530352" y="3643366"/>
            <a:ext cx="1664208" cy="1284214"/>
          </a:xfrm>
          <a:prstGeom prst="rect">
            <a:avLst/>
          </a:prstGeom>
        </p:spPr>
      </p:pic>
      <p:sp>
        <p:nvSpPr>
          <p:cNvPr id="17" name="Shape 12"/>
          <p:cNvSpPr/>
          <p:nvPr/>
        </p:nvSpPr>
        <p:spPr>
          <a:xfrm>
            <a:off x="530352" y="3643366"/>
            <a:ext cx="1664208" cy="1284214"/>
          </a:xfrm>
          <a:prstGeom prst="rect">
            <a:avLst/>
          </a:prstGeom>
          <a:noFill/>
          <a:ln w="12700">
            <a:solidFill>
              <a:srgbClr val="E0E3E7"/>
            </a:solidFill>
            <a:prstDash val="solid"/>
          </a:ln>
        </p:spPr>
      </p:sp>
      <p:pic>
        <p:nvPicPr>
          <p:cNvPr id="18" name="Image 3" descr="/tmp/claude-0/-home-claude/748e8538-c14c-5eb9-9186-f1852ebba066/scratchpad/m/교과서_배포/assets/img/08-1-airbnb-14.png">    </p:cNvPr>
          <p:cNvPicPr>
            <a:picLocks noChangeAspect="1"/>
          </p:cNvPicPr>
          <p:nvPr/>
        </p:nvPicPr>
        <p:blipFill>
          <a:blip r:embed="rId4"/>
          <a:stretch>
            <a:fillRect/>
          </a:stretch>
        </p:blipFill>
        <p:spPr>
          <a:xfrm>
            <a:off x="2286000" y="3643366"/>
            <a:ext cx="1664208" cy="1284214"/>
          </a:xfrm>
          <a:prstGeom prst="rect">
            <a:avLst/>
          </a:prstGeom>
        </p:spPr>
      </p:pic>
      <p:sp>
        <p:nvSpPr>
          <p:cNvPr id="19" name="Shape 13"/>
          <p:cNvSpPr/>
          <p:nvPr/>
        </p:nvSpPr>
        <p:spPr>
          <a:xfrm>
            <a:off x="2286000" y="3643366"/>
            <a:ext cx="1664208" cy="1284214"/>
          </a:xfrm>
          <a:prstGeom prst="rect">
            <a:avLst/>
          </a:prstGeom>
          <a:noFill/>
          <a:ln w="12700">
            <a:solidFill>
              <a:srgbClr val="E0E3E7"/>
            </a:solidFill>
            <a:prstDash val="solid"/>
          </a:ln>
        </p:spPr>
      </p:sp>
      <p:sp>
        <p:nvSpPr>
          <p:cNvPr id="20" name="Shape 14"/>
          <p:cNvSpPr/>
          <p:nvPr/>
        </p:nvSpPr>
        <p:spPr>
          <a:xfrm>
            <a:off x="4407408" y="1810512"/>
            <a:ext cx="3419856" cy="310896"/>
          </a:xfrm>
          <a:prstGeom prst="roundRect">
            <a:avLst>
              <a:gd name="adj" fmla="val 23529"/>
            </a:avLst>
          </a:prstGeom>
          <a:solidFill>
            <a:srgbClr val="1B1D21"/>
          </a:solidFill>
          <a:ln/>
        </p:spPr>
      </p:sp>
      <p:sp>
        <p:nvSpPr>
          <p:cNvPr id="21" name="Text 15"/>
          <p:cNvSpPr/>
          <p:nvPr/>
        </p:nvSpPr>
        <p:spPr>
          <a:xfrm>
            <a:off x="4407408" y="1810512"/>
            <a:ext cx="34198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IBM Plex Sans KR" pitchFamily="34" charset="0"/>
                <a:ea typeface="IBM Plex Sans KR" pitchFamily="34" charset="-122"/>
                <a:cs typeface="IBM Plex Sans KR" pitchFamily="34" charset="-120"/>
              </a:rPr>
              <a:t>사람 모으기</a:t>
            </a:r>
            <a:endParaRPr lang="en-US" sz="1200" dirty="0"/>
          </a:p>
        </p:txBody>
      </p:sp>
      <p:pic>
        <p:nvPicPr>
          <p:cNvPr id="22" name="Image 4" descr="/tmp/claude-0/-home-claude/748e8538-c14c-5eb9-9186-f1852ebba066/scratchpad/m/교과서_배포/assets/img/08-1-airbnb-08.png">    </p:cNvPr>
          <p:cNvPicPr>
            <a:picLocks noChangeAspect="1"/>
          </p:cNvPicPr>
          <p:nvPr/>
        </p:nvPicPr>
        <p:blipFill>
          <a:blip r:embed="rId5"/>
          <a:stretch>
            <a:fillRect/>
          </a:stretch>
        </p:blipFill>
        <p:spPr>
          <a:xfrm>
            <a:off x="4407408" y="2267712"/>
            <a:ext cx="1664208" cy="1284214"/>
          </a:xfrm>
          <a:prstGeom prst="rect">
            <a:avLst/>
          </a:prstGeom>
        </p:spPr>
      </p:pic>
      <p:sp>
        <p:nvSpPr>
          <p:cNvPr id="23" name="Shape 16"/>
          <p:cNvSpPr/>
          <p:nvPr/>
        </p:nvSpPr>
        <p:spPr>
          <a:xfrm>
            <a:off x="4407408" y="2267712"/>
            <a:ext cx="1664208" cy="1284214"/>
          </a:xfrm>
          <a:prstGeom prst="rect">
            <a:avLst/>
          </a:prstGeom>
          <a:noFill/>
          <a:ln w="12700">
            <a:solidFill>
              <a:srgbClr val="E0E3E7"/>
            </a:solidFill>
            <a:prstDash val="solid"/>
          </a:ln>
        </p:spPr>
      </p:sp>
      <p:pic>
        <p:nvPicPr>
          <p:cNvPr id="24" name="Image 5" descr="/tmp/claude-0/-home-claude/748e8538-c14c-5eb9-9186-f1852ebba066/scratchpad/m/교과서_배포/assets/img/08-1-airbnb-12.png">    </p:cNvPr>
          <p:cNvPicPr>
            <a:picLocks noChangeAspect="1"/>
          </p:cNvPicPr>
          <p:nvPr/>
        </p:nvPicPr>
        <p:blipFill>
          <a:blip r:embed="rId6"/>
          <a:stretch>
            <a:fillRect/>
          </a:stretch>
        </p:blipFill>
        <p:spPr>
          <a:xfrm>
            <a:off x="6163056" y="2267712"/>
            <a:ext cx="1664208" cy="1284214"/>
          </a:xfrm>
          <a:prstGeom prst="rect">
            <a:avLst/>
          </a:prstGeom>
        </p:spPr>
      </p:pic>
      <p:sp>
        <p:nvSpPr>
          <p:cNvPr id="25" name="Shape 17"/>
          <p:cNvSpPr/>
          <p:nvPr/>
        </p:nvSpPr>
        <p:spPr>
          <a:xfrm>
            <a:off x="6163056" y="2267712"/>
            <a:ext cx="1664208" cy="1284214"/>
          </a:xfrm>
          <a:prstGeom prst="rect">
            <a:avLst/>
          </a:prstGeom>
          <a:noFill/>
          <a:ln w="12700">
            <a:solidFill>
              <a:srgbClr val="E0E3E7"/>
            </a:solidFill>
            <a:prstDash val="solid"/>
          </a:ln>
        </p:spPr>
      </p:sp>
      <p:pic>
        <p:nvPicPr>
          <p:cNvPr id="26" name="Image 6" descr="/tmp/claude-0/-home-claude/748e8538-c14c-5eb9-9186-f1852ebba066/scratchpad/m/교과서_배포/assets/img/08-1-airbnb-13.png">    </p:cNvPr>
          <p:cNvPicPr>
            <a:picLocks noChangeAspect="1"/>
          </p:cNvPicPr>
          <p:nvPr/>
        </p:nvPicPr>
        <p:blipFill>
          <a:blip r:embed="rId7"/>
          <a:stretch>
            <a:fillRect/>
          </a:stretch>
        </p:blipFill>
        <p:spPr>
          <a:xfrm>
            <a:off x="4407408" y="3643366"/>
            <a:ext cx="1664208" cy="1284214"/>
          </a:xfrm>
          <a:prstGeom prst="rect">
            <a:avLst/>
          </a:prstGeom>
        </p:spPr>
      </p:pic>
      <p:sp>
        <p:nvSpPr>
          <p:cNvPr id="27" name="Shape 18"/>
          <p:cNvSpPr/>
          <p:nvPr/>
        </p:nvSpPr>
        <p:spPr>
          <a:xfrm>
            <a:off x="4407408" y="3643366"/>
            <a:ext cx="1664208" cy="1284214"/>
          </a:xfrm>
          <a:prstGeom prst="rect">
            <a:avLst/>
          </a:prstGeom>
          <a:noFill/>
          <a:ln w="12700">
            <a:solidFill>
              <a:srgbClr val="E0E3E7"/>
            </a:solidFill>
            <a:prstDash val="solid"/>
          </a:ln>
        </p:spPr>
      </p:sp>
      <p:sp>
        <p:nvSpPr>
          <p:cNvPr id="28" name="Shape 19"/>
          <p:cNvSpPr/>
          <p:nvPr/>
        </p:nvSpPr>
        <p:spPr>
          <a:xfrm>
            <a:off x="8284464" y="1810512"/>
            <a:ext cx="3419856" cy="310896"/>
          </a:xfrm>
          <a:prstGeom prst="roundRect">
            <a:avLst>
              <a:gd name="adj" fmla="val 23529"/>
            </a:avLst>
          </a:prstGeom>
          <a:solidFill>
            <a:srgbClr val="1B1D21"/>
          </a:solidFill>
          <a:ln/>
        </p:spPr>
      </p:sp>
      <p:sp>
        <p:nvSpPr>
          <p:cNvPr id="29" name="Text 20"/>
          <p:cNvSpPr/>
          <p:nvPr/>
        </p:nvSpPr>
        <p:spPr>
          <a:xfrm>
            <a:off x="8284464" y="1810512"/>
            <a:ext cx="34198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IBM Plex Sans KR" pitchFamily="34" charset="0"/>
                <a:ea typeface="IBM Plex Sans KR" pitchFamily="34" charset="-122"/>
                <a:cs typeface="IBM Plex Sans KR" pitchFamily="34" charset="-120"/>
              </a:rPr>
              <a:t>경쟁과 팀</a:t>
            </a:r>
            <a:endParaRPr lang="en-US" sz="1200" dirty="0"/>
          </a:p>
        </p:txBody>
      </p:sp>
      <p:pic>
        <p:nvPicPr>
          <p:cNvPr id="30" name="Image 7" descr="/tmp/claude-0/-home-claude/748e8538-c14c-5eb9-9186-f1852ebba066/scratchpad/m/교과서_배포/assets/img/08-1-airbnb-09.png">    </p:cNvPr>
          <p:cNvPicPr>
            <a:picLocks noChangeAspect="1"/>
          </p:cNvPicPr>
          <p:nvPr/>
        </p:nvPicPr>
        <p:blipFill>
          <a:blip r:embed="rId8"/>
          <a:stretch>
            <a:fillRect/>
          </a:stretch>
        </p:blipFill>
        <p:spPr>
          <a:xfrm>
            <a:off x="8284464" y="2267712"/>
            <a:ext cx="1664208" cy="1284214"/>
          </a:xfrm>
          <a:prstGeom prst="rect">
            <a:avLst/>
          </a:prstGeom>
        </p:spPr>
      </p:pic>
      <p:sp>
        <p:nvSpPr>
          <p:cNvPr id="31" name="Shape 21"/>
          <p:cNvSpPr/>
          <p:nvPr/>
        </p:nvSpPr>
        <p:spPr>
          <a:xfrm>
            <a:off x="8284464" y="2267712"/>
            <a:ext cx="1664208" cy="1284214"/>
          </a:xfrm>
          <a:prstGeom prst="rect">
            <a:avLst/>
          </a:prstGeom>
          <a:noFill/>
          <a:ln w="12700">
            <a:solidFill>
              <a:srgbClr val="E0E3E7"/>
            </a:solidFill>
            <a:prstDash val="solid"/>
          </a:ln>
        </p:spPr>
      </p:sp>
      <p:pic>
        <p:nvPicPr>
          <p:cNvPr id="32" name="Image 8" descr="/tmp/claude-0/-home-claude/748e8538-c14c-5eb9-9186-f1852ebba066/scratchpad/m/교과서_배포/assets/img/08-1-airbnb-10.png">    </p:cNvPr>
          <p:cNvPicPr>
            <a:picLocks noChangeAspect="1"/>
          </p:cNvPicPr>
          <p:nvPr/>
        </p:nvPicPr>
        <p:blipFill>
          <a:blip r:embed="rId9"/>
          <a:stretch>
            <a:fillRect/>
          </a:stretch>
        </p:blipFill>
        <p:spPr>
          <a:xfrm>
            <a:off x="10040112" y="2267712"/>
            <a:ext cx="1664208" cy="1284214"/>
          </a:xfrm>
          <a:prstGeom prst="rect">
            <a:avLst/>
          </a:prstGeom>
        </p:spPr>
      </p:pic>
      <p:sp>
        <p:nvSpPr>
          <p:cNvPr id="33" name="Shape 22"/>
          <p:cNvSpPr/>
          <p:nvPr/>
        </p:nvSpPr>
        <p:spPr>
          <a:xfrm>
            <a:off x="10040112" y="2267712"/>
            <a:ext cx="1664208" cy="1284214"/>
          </a:xfrm>
          <a:prstGeom prst="rect">
            <a:avLst/>
          </a:prstGeom>
          <a:noFill/>
          <a:ln w="12700">
            <a:solidFill>
              <a:srgbClr val="E0E3E7"/>
            </a:solidFill>
            <a:prstDash val="solid"/>
          </a:ln>
        </p:spPr>
      </p:sp>
      <p:pic>
        <p:nvPicPr>
          <p:cNvPr id="34" name="Image 9" descr="/tmp/claude-0/-home-claude/748e8538-c14c-5eb9-9186-f1852ebba066/scratchpad/m/교과서_배포/assets/img/08-1-airbnb-11.png">    </p:cNvPr>
          <p:cNvPicPr>
            <a:picLocks noChangeAspect="1"/>
          </p:cNvPicPr>
          <p:nvPr/>
        </p:nvPicPr>
        <p:blipFill>
          <a:blip r:embed="rId10"/>
          <a:stretch>
            <a:fillRect/>
          </a:stretch>
        </p:blipFill>
        <p:spPr>
          <a:xfrm>
            <a:off x="8284464" y="3643366"/>
            <a:ext cx="1664208" cy="1284214"/>
          </a:xfrm>
          <a:prstGeom prst="rect">
            <a:avLst/>
          </a:prstGeom>
        </p:spPr>
      </p:pic>
      <p:sp>
        <p:nvSpPr>
          <p:cNvPr id="35" name="Shape 23"/>
          <p:cNvSpPr/>
          <p:nvPr/>
        </p:nvSpPr>
        <p:spPr>
          <a:xfrm>
            <a:off x="8284464" y="3643366"/>
            <a:ext cx="1664208" cy="1284214"/>
          </a:xfrm>
          <a:prstGeom prst="rect">
            <a:avLst/>
          </a:prstGeom>
          <a:noFill/>
          <a:ln w="12700">
            <a:solidFill>
              <a:srgbClr val="E0E3E7"/>
            </a:solidFill>
            <a:prstDash val="solid"/>
          </a:ln>
        </p:spPr>
      </p:sp>
      <p:sp>
        <p:nvSpPr>
          <p:cNvPr id="36" name="Shape 24"/>
          <p:cNvSpPr/>
          <p:nvPr/>
        </p:nvSpPr>
        <p:spPr>
          <a:xfrm>
            <a:off x="530352" y="5349240"/>
            <a:ext cx="11128248" cy="512064"/>
          </a:xfrm>
          <a:prstGeom prst="roundRect">
            <a:avLst>
              <a:gd name="adj" fmla="val 39286"/>
            </a:avLst>
          </a:prstGeom>
          <a:solidFill>
            <a:srgbClr val="EAF5FB"/>
          </a:solidFill>
          <a:ln w="12700">
            <a:solidFill>
              <a:srgbClr val="3D8DFF"/>
            </a:solidFill>
            <a:prstDash val="solid"/>
          </a:ln>
        </p:spPr>
      </p:sp>
      <p:sp>
        <p:nvSpPr>
          <p:cNvPr id="37" name="Text 25"/>
          <p:cNvSpPr/>
          <p:nvPr/>
        </p:nvSpPr>
        <p:spPr>
          <a:xfrm>
            <a:off x="731520" y="534924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서비스가 무엇을 하는가가 아니라, 이 서비스로 회사를 꾸릴 수 있는가</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서비스 하나를 내놓는 일은 여러 일이 합쳐진 일이다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사례 ③</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08-1 · 8쪽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06</a:t>
            </a:r>
            <a:endParaRPr lang="en-US" sz="900" dirty="0"/>
          </a:p>
        </p:txBody>
      </p:sp>
      <p:sp>
        <p:nvSpPr>
          <p:cNvPr id="10" name="Shape 8"/>
          <p:cNvSpPr/>
          <p:nvPr/>
        </p:nvSpPr>
        <p:spPr>
          <a:xfrm>
            <a:off x="530352" y="1783080"/>
            <a:ext cx="2448215" cy="402336"/>
          </a:xfrm>
          <a:prstGeom prst="rect">
            <a:avLst/>
          </a:prstGeom>
          <a:solidFill>
            <a:srgbClr val="1B1D21"/>
          </a:solidFill>
          <a:ln/>
        </p:spPr>
      </p:sp>
      <p:sp>
        <p:nvSpPr>
          <p:cNvPr id="11" name="Text 9"/>
          <p:cNvSpPr/>
          <p:nvPr/>
        </p:nvSpPr>
        <p:spPr>
          <a:xfrm>
            <a:off x="658368" y="1783080"/>
            <a:ext cx="2192183"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일의 갈래</a:t>
            </a:r>
            <a:endParaRPr lang="en-US" sz="1050" dirty="0"/>
          </a:p>
        </p:txBody>
      </p:sp>
      <p:sp>
        <p:nvSpPr>
          <p:cNvPr id="12" name="Shape 10"/>
          <p:cNvSpPr/>
          <p:nvPr/>
        </p:nvSpPr>
        <p:spPr>
          <a:xfrm>
            <a:off x="2978567" y="1783080"/>
            <a:ext cx="6676949" cy="402336"/>
          </a:xfrm>
          <a:prstGeom prst="rect">
            <a:avLst/>
          </a:prstGeom>
          <a:solidFill>
            <a:srgbClr val="1B1D21"/>
          </a:solidFill>
          <a:ln/>
        </p:spPr>
      </p:sp>
      <p:sp>
        <p:nvSpPr>
          <p:cNvPr id="13" name="Text 11"/>
          <p:cNvSpPr/>
          <p:nvPr/>
        </p:nvSpPr>
        <p:spPr>
          <a:xfrm>
            <a:off x="3106583" y="1783080"/>
            <a:ext cx="642091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Airbnb가 한 일</a:t>
            </a:r>
            <a:endParaRPr lang="en-US" sz="1050" dirty="0"/>
          </a:p>
        </p:txBody>
      </p:sp>
      <p:sp>
        <p:nvSpPr>
          <p:cNvPr id="14" name="Shape 12"/>
          <p:cNvSpPr/>
          <p:nvPr/>
        </p:nvSpPr>
        <p:spPr>
          <a:xfrm>
            <a:off x="9655515" y="1783080"/>
            <a:ext cx="2003085" cy="402336"/>
          </a:xfrm>
          <a:prstGeom prst="rect">
            <a:avLst/>
          </a:prstGeom>
          <a:solidFill>
            <a:srgbClr val="1B1D21"/>
          </a:solidFill>
          <a:ln/>
        </p:spPr>
      </p:sp>
      <p:sp>
        <p:nvSpPr>
          <p:cNvPr id="15" name="Text 13"/>
          <p:cNvSpPr/>
          <p:nvPr/>
        </p:nvSpPr>
        <p:spPr>
          <a:xfrm>
            <a:off x="9783531" y="1783080"/>
            <a:ext cx="1747053"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슬라이드</a:t>
            </a:r>
            <a:endParaRPr lang="en-US" sz="1050" dirty="0"/>
          </a:p>
        </p:txBody>
      </p:sp>
      <p:sp>
        <p:nvSpPr>
          <p:cNvPr id="16" name="Shape 14"/>
          <p:cNvSpPr/>
          <p:nvPr/>
        </p:nvSpPr>
        <p:spPr>
          <a:xfrm>
            <a:off x="530352" y="2185416"/>
            <a:ext cx="11128248" cy="429768"/>
          </a:xfrm>
          <a:prstGeom prst="rect">
            <a:avLst/>
          </a:prstGeom>
          <a:solidFill>
            <a:srgbClr val="F1F2F4"/>
          </a:solidFill>
          <a:ln w="9525">
            <a:solidFill>
              <a:srgbClr val="E0E3E7"/>
            </a:solidFill>
            <a:prstDash val="solid"/>
          </a:ln>
        </p:spPr>
      </p:sp>
      <p:sp>
        <p:nvSpPr>
          <p:cNvPr id="17" name="Text 15"/>
          <p:cNvSpPr/>
          <p:nvPr/>
        </p:nvSpPr>
        <p:spPr>
          <a:xfrm>
            <a:off x="658368" y="2185416"/>
            <a:ext cx="2192183" cy="42976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기획</a:t>
            </a:r>
            <a:endParaRPr lang="en-US" sz="1300" dirty="0"/>
          </a:p>
        </p:txBody>
      </p:sp>
      <p:sp>
        <p:nvSpPr>
          <p:cNvPr id="18" name="Text 16"/>
          <p:cNvSpPr/>
          <p:nvPr/>
        </p:nvSpPr>
        <p:spPr>
          <a:xfrm>
            <a:off x="3106583" y="2185416"/>
            <a:ext cx="6420917"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누구의 무슨 문제를, 어떤 기능으로 푸는가</a:t>
            </a:r>
            <a:endParaRPr lang="en-US" sz="1300" dirty="0"/>
          </a:p>
        </p:txBody>
      </p:sp>
      <p:sp>
        <p:nvSpPr>
          <p:cNvPr id="19" name="Text 17"/>
          <p:cNvSpPr/>
          <p:nvPr/>
        </p:nvSpPr>
        <p:spPr>
          <a:xfrm>
            <a:off x="9783531" y="2185416"/>
            <a:ext cx="1747053"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1 · 2 · 3</a:t>
            </a:r>
            <a:endParaRPr lang="en-US" sz="1300" dirty="0"/>
          </a:p>
        </p:txBody>
      </p:sp>
      <p:sp>
        <p:nvSpPr>
          <p:cNvPr id="20" name="Shape 18"/>
          <p:cNvSpPr/>
          <p:nvPr/>
        </p:nvSpPr>
        <p:spPr>
          <a:xfrm>
            <a:off x="530352" y="2615184"/>
            <a:ext cx="11128248" cy="429768"/>
          </a:xfrm>
          <a:prstGeom prst="rect">
            <a:avLst/>
          </a:prstGeom>
          <a:solidFill>
            <a:srgbClr val="FFFFFF"/>
          </a:solidFill>
          <a:ln w="9525">
            <a:solidFill>
              <a:srgbClr val="E0E3E7"/>
            </a:solidFill>
            <a:prstDash val="solid"/>
          </a:ln>
        </p:spPr>
      </p:sp>
      <p:sp>
        <p:nvSpPr>
          <p:cNvPr id="21" name="Text 19"/>
          <p:cNvSpPr/>
          <p:nvPr/>
        </p:nvSpPr>
        <p:spPr>
          <a:xfrm>
            <a:off x="658368" y="2615184"/>
            <a:ext cx="2192183" cy="42976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디자인 · 개발</a:t>
            </a:r>
            <a:endParaRPr lang="en-US" sz="1300" dirty="0"/>
          </a:p>
        </p:txBody>
      </p:sp>
      <p:sp>
        <p:nvSpPr>
          <p:cNvPr id="22" name="Text 20"/>
          <p:cNvSpPr/>
          <p:nvPr/>
        </p:nvSpPr>
        <p:spPr>
          <a:xfrm>
            <a:off x="3106583" y="2615184"/>
            <a:ext cx="6420917"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실제로 쓸 수 있는 화면을 만든다</a:t>
            </a:r>
            <a:endParaRPr lang="en-US" sz="1300" dirty="0"/>
          </a:p>
        </p:txBody>
      </p:sp>
      <p:sp>
        <p:nvSpPr>
          <p:cNvPr id="23" name="Text 21"/>
          <p:cNvSpPr/>
          <p:nvPr/>
        </p:nvSpPr>
        <p:spPr>
          <a:xfrm>
            <a:off x="9783531" y="2615184"/>
            <a:ext cx="1747053"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6 · 11</a:t>
            </a:r>
            <a:endParaRPr lang="en-US" sz="1300" dirty="0"/>
          </a:p>
        </p:txBody>
      </p:sp>
      <p:sp>
        <p:nvSpPr>
          <p:cNvPr id="24" name="Shape 22"/>
          <p:cNvSpPr/>
          <p:nvPr/>
        </p:nvSpPr>
        <p:spPr>
          <a:xfrm>
            <a:off x="530352" y="3044952"/>
            <a:ext cx="11128248" cy="429768"/>
          </a:xfrm>
          <a:prstGeom prst="rect">
            <a:avLst/>
          </a:prstGeom>
          <a:solidFill>
            <a:srgbClr val="F1F2F4"/>
          </a:solidFill>
          <a:ln w="9525">
            <a:solidFill>
              <a:srgbClr val="E0E3E7"/>
            </a:solidFill>
            <a:prstDash val="solid"/>
          </a:ln>
        </p:spPr>
      </p:sp>
      <p:sp>
        <p:nvSpPr>
          <p:cNvPr id="25" name="Text 23"/>
          <p:cNvSpPr/>
          <p:nvPr/>
        </p:nvSpPr>
        <p:spPr>
          <a:xfrm>
            <a:off x="658368" y="3044952"/>
            <a:ext cx="2192183" cy="42976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시장 조사</a:t>
            </a:r>
            <a:endParaRPr lang="en-US" sz="1300" dirty="0"/>
          </a:p>
        </p:txBody>
      </p:sp>
      <p:sp>
        <p:nvSpPr>
          <p:cNvPr id="26" name="Text 24"/>
          <p:cNvSpPr/>
          <p:nvPr/>
        </p:nvSpPr>
        <p:spPr>
          <a:xfrm>
            <a:off x="3106583" y="3044952"/>
            <a:ext cx="6420917"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원하는 사람이 얼마나 되는지 숫자로 보인다</a:t>
            </a:r>
            <a:endParaRPr lang="en-US" sz="1300" dirty="0"/>
          </a:p>
        </p:txBody>
      </p:sp>
      <p:sp>
        <p:nvSpPr>
          <p:cNvPr id="27" name="Text 25"/>
          <p:cNvSpPr/>
          <p:nvPr/>
        </p:nvSpPr>
        <p:spPr>
          <a:xfrm>
            <a:off x="9783531" y="3044952"/>
            <a:ext cx="1747053"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4 · 5</a:t>
            </a:r>
            <a:endParaRPr lang="en-US" sz="1300" dirty="0"/>
          </a:p>
        </p:txBody>
      </p:sp>
      <p:sp>
        <p:nvSpPr>
          <p:cNvPr id="28" name="Shape 26"/>
          <p:cNvSpPr/>
          <p:nvPr/>
        </p:nvSpPr>
        <p:spPr>
          <a:xfrm>
            <a:off x="530352" y="3474720"/>
            <a:ext cx="11128248" cy="429768"/>
          </a:xfrm>
          <a:prstGeom prst="rect">
            <a:avLst/>
          </a:prstGeom>
          <a:solidFill>
            <a:srgbClr val="FFFFFF"/>
          </a:solidFill>
          <a:ln w="9525">
            <a:solidFill>
              <a:srgbClr val="E0E3E7"/>
            </a:solidFill>
            <a:prstDash val="solid"/>
          </a:ln>
        </p:spPr>
      </p:sp>
      <p:sp>
        <p:nvSpPr>
          <p:cNvPr id="29" name="Text 27"/>
          <p:cNvSpPr/>
          <p:nvPr/>
        </p:nvSpPr>
        <p:spPr>
          <a:xfrm>
            <a:off x="658368" y="3474720"/>
            <a:ext cx="2192183" cy="42976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마케팅 · 홍보</a:t>
            </a:r>
            <a:endParaRPr lang="en-US" sz="1300" dirty="0"/>
          </a:p>
        </p:txBody>
      </p:sp>
      <p:sp>
        <p:nvSpPr>
          <p:cNvPr id="30" name="Text 28"/>
          <p:cNvSpPr/>
          <p:nvPr/>
        </p:nvSpPr>
        <p:spPr>
          <a:xfrm>
            <a:off x="3106583" y="3474720"/>
            <a:ext cx="6420917"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행사를 노리고, 기사와 후기로 알린다</a:t>
            </a:r>
            <a:endParaRPr lang="en-US" sz="1300" dirty="0"/>
          </a:p>
        </p:txBody>
      </p:sp>
      <p:sp>
        <p:nvSpPr>
          <p:cNvPr id="31" name="Text 29"/>
          <p:cNvSpPr/>
          <p:nvPr/>
        </p:nvSpPr>
        <p:spPr>
          <a:xfrm>
            <a:off x="9783531" y="3474720"/>
            <a:ext cx="1747053"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8 · 12 · 13</a:t>
            </a:r>
            <a:endParaRPr lang="en-US" sz="1300" dirty="0"/>
          </a:p>
        </p:txBody>
      </p:sp>
      <p:sp>
        <p:nvSpPr>
          <p:cNvPr id="32" name="Shape 30"/>
          <p:cNvSpPr/>
          <p:nvPr/>
        </p:nvSpPr>
        <p:spPr>
          <a:xfrm>
            <a:off x="530352" y="3904488"/>
            <a:ext cx="11128248" cy="429768"/>
          </a:xfrm>
          <a:prstGeom prst="rect">
            <a:avLst/>
          </a:prstGeom>
          <a:solidFill>
            <a:srgbClr val="F1F2F4"/>
          </a:solidFill>
          <a:ln w="9525">
            <a:solidFill>
              <a:srgbClr val="E0E3E7"/>
            </a:solidFill>
            <a:prstDash val="solid"/>
          </a:ln>
        </p:spPr>
      </p:sp>
      <p:sp>
        <p:nvSpPr>
          <p:cNvPr id="33" name="Text 31"/>
          <p:cNvSpPr/>
          <p:nvPr/>
        </p:nvSpPr>
        <p:spPr>
          <a:xfrm>
            <a:off x="658368" y="3904488"/>
            <a:ext cx="2192183" cy="42976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영업 · 제휴</a:t>
            </a:r>
            <a:endParaRPr lang="en-US" sz="1300" dirty="0"/>
          </a:p>
        </p:txBody>
      </p:sp>
      <p:sp>
        <p:nvSpPr>
          <p:cNvPr id="34" name="Text 32"/>
          <p:cNvSpPr/>
          <p:nvPr/>
        </p:nvSpPr>
        <p:spPr>
          <a:xfrm>
            <a:off x="3106583" y="3904488"/>
            <a:ext cx="6420917"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여행 사이트와 손잡고 사용자를 데려온다</a:t>
            </a:r>
            <a:endParaRPr lang="en-US" sz="1300" dirty="0"/>
          </a:p>
        </p:txBody>
      </p:sp>
      <p:sp>
        <p:nvSpPr>
          <p:cNvPr id="35" name="Text 33"/>
          <p:cNvSpPr/>
          <p:nvPr/>
        </p:nvSpPr>
        <p:spPr>
          <a:xfrm>
            <a:off x="9783531" y="3904488"/>
            <a:ext cx="1747053"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8</a:t>
            </a:r>
            <a:endParaRPr lang="en-US" sz="1300" dirty="0"/>
          </a:p>
        </p:txBody>
      </p:sp>
      <p:sp>
        <p:nvSpPr>
          <p:cNvPr id="36" name="Shape 34"/>
          <p:cNvSpPr/>
          <p:nvPr/>
        </p:nvSpPr>
        <p:spPr>
          <a:xfrm>
            <a:off x="530352" y="4334256"/>
            <a:ext cx="11128248" cy="429768"/>
          </a:xfrm>
          <a:prstGeom prst="rect">
            <a:avLst/>
          </a:prstGeom>
          <a:solidFill>
            <a:srgbClr val="FFFFFF"/>
          </a:solidFill>
          <a:ln w="9525">
            <a:solidFill>
              <a:srgbClr val="E0E3E7"/>
            </a:solidFill>
            <a:prstDash val="solid"/>
          </a:ln>
        </p:spPr>
      </p:sp>
      <p:sp>
        <p:nvSpPr>
          <p:cNvPr id="37" name="Text 35"/>
          <p:cNvSpPr/>
          <p:nvPr/>
        </p:nvSpPr>
        <p:spPr>
          <a:xfrm>
            <a:off x="658368" y="4334256"/>
            <a:ext cx="2192183" cy="42976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경쟁 분석</a:t>
            </a:r>
            <a:endParaRPr lang="en-US" sz="1300" dirty="0"/>
          </a:p>
        </p:txBody>
      </p:sp>
      <p:sp>
        <p:nvSpPr>
          <p:cNvPr id="38" name="Text 36"/>
          <p:cNvSpPr/>
          <p:nvPr/>
        </p:nvSpPr>
        <p:spPr>
          <a:xfrm>
            <a:off x="3106583" y="4334256"/>
            <a:ext cx="6420917"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비슷한 서비스와 비교해 나은 점을 찾는다</a:t>
            </a:r>
            <a:endParaRPr lang="en-US" sz="1300" dirty="0"/>
          </a:p>
        </p:txBody>
      </p:sp>
      <p:sp>
        <p:nvSpPr>
          <p:cNvPr id="39" name="Text 37"/>
          <p:cNvSpPr/>
          <p:nvPr/>
        </p:nvSpPr>
        <p:spPr>
          <a:xfrm>
            <a:off x="9783531" y="4334256"/>
            <a:ext cx="1747053"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9 · 10</a:t>
            </a:r>
            <a:endParaRPr lang="en-US" sz="1300" dirty="0"/>
          </a:p>
        </p:txBody>
      </p:sp>
      <p:sp>
        <p:nvSpPr>
          <p:cNvPr id="40" name="Shape 38"/>
          <p:cNvSpPr/>
          <p:nvPr/>
        </p:nvSpPr>
        <p:spPr>
          <a:xfrm>
            <a:off x="530352" y="4764024"/>
            <a:ext cx="11128248" cy="429768"/>
          </a:xfrm>
          <a:prstGeom prst="rect">
            <a:avLst/>
          </a:prstGeom>
          <a:solidFill>
            <a:srgbClr val="F1F2F4"/>
          </a:solidFill>
          <a:ln w="9525">
            <a:solidFill>
              <a:srgbClr val="E0E3E7"/>
            </a:solidFill>
            <a:prstDash val="solid"/>
          </a:ln>
        </p:spPr>
      </p:sp>
      <p:sp>
        <p:nvSpPr>
          <p:cNvPr id="41" name="Text 39"/>
          <p:cNvSpPr/>
          <p:nvPr/>
        </p:nvSpPr>
        <p:spPr>
          <a:xfrm>
            <a:off x="658368" y="4764024"/>
            <a:ext cx="2192183" cy="42976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재무 · 투자</a:t>
            </a:r>
            <a:endParaRPr lang="en-US" sz="1300" dirty="0"/>
          </a:p>
        </p:txBody>
      </p:sp>
      <p:sp>
        <p:nvSpPr>
          <p:cNvPr id="42" name="Text 40"/>
          <p:cNvSpPr/>
          <p:nvPr/>
        </p:nvSpPr>
        <p:spPr>
          <a:xfrm>
            <a:off x="3106583" y="4764024"/>
            <a:ext cx="6420917"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어떻게 벌고, 얼마를 받아 시작하는가</a:t>
            </a:r>
            <a:endParaRPr lang="en-US" sz="1300" dirty="0"/>
          </a:p>
        </p:txBody>
      </p:sp>
      <p:sp>
        <p:nvSpPr>
          <p:cNvPr id="43" name="Text 41"/>
          <p:cNvSpPr/>
          <p:nvPr/>
        </p:nvSpPr>
        <p:spPr>
          <a:xfrm>
            <a:off x="9783531" y="4764024"/>
            <a:ext cx="1747053"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7 · 14</a:t>
            </a:r>
            <a:endParaRPr lang="en-US" sz="1300" dirty="0"/>
          </a:p>
        </p:txBody>
      </p:sp>
      <p:sp>
        <p:nvSpPr>
          <p:cNvPr id="44" name="Shape 42"/>
          <p:cNvSpPr/>
          <p:nvPr/>
        </p:nvSpPr>
        <p:spPr>
          <a:xfrm>
            <a:off x="530352" y="2185416"/>
            <a:ext cx="11128248" cy="429768"/>
          </a:xfrm>
          <a:prstGeom prst="rect">
            <a:avLst/>
          </a:prstGeom>
          <a:noFill/>
          <a:ln w="28575">
            <a:solidFill>
              <a:srgbClr val="FF5C00"/>
            </a:solidFill>
            <a:prstDash val="solid"/>
          </a:ln>
        </p:spPr>
      </p:sp>
      <p:sp>
        <p:nvSpPr>
          <p:cNvPr id="45" name="Shape 43"/>
          <p:cNvSpPr/>
          <p:nvPr/>
        </p:nvSpPr>
        <p:spPr>
          <a:xfrm>
            <a:off x="530352" y="5349240"/>
            <a:ext cx="11128248" cy="512064"/>
          </a:xfrm>
          <a:prstGeom prst="roundRect">
            <a:avLst>
              <a:gd name="adj" fmla="val 39286"/>
            </a:avLst>
          </a:prstGeom>
          <a:solidFill>
            <a:srgbClr val="FF5C00"/>
          </a:solidFill>
          <a:ln w="12700">
            <a:solidFill>
              <a:srgbClr val="FF5C00"/>
            </a:solidFill>
            <a:prstDash val="solid"/>
          </a:ln>
        </p:spPr>
      </p:sp>
      <p:sp>
        <p:nvSpPr>
          <p:cNvPr id="46" name="Text 44"/>
          <p:cNvSpPr/>
          <p:nvPr/>
        </p:nvSpPr>
        <p:spPr>
          <a:xfrm>
            <a:off x="731520" y="534924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우리 PRD는 첫 갈래(기획) — 기획이 흔들리면 마케팅도 영업도 흔들린다</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한 장씩 잘 그려도, 서로 안 맞으면 계단이 벽에 막힌다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08-1 · 9쪽</a:t>
            </a:r>
            <a:endParaRPr lang="en-US" sz="900" dirty="0"/>
          </a:p>
        </p:txBody>
      </p:sp>
      <p:sp>
        <p:nvSpPr>
          <p:cNvPr id="8" name="Text 6"/>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07</a:t>
            </a:r>
            <a:endParaRPr lang="en-US" sz="900" dirty="0"/>
          </a:p>
        </p:txBody>
      </p:sp>
      <p:pic>
        <p:nvPicPr>
          <p:cNvPr id="9" name="Image 0" descr="/tmp/claude-0/-home-claude/748e8538-c14c-5eb9-9186-f1852ebba066/scratchpad/m/교과서_배포/assets/img/08-1-03-stairs-to-wall.png">    </p:cNvPr>
          <p:cNvPicPr>
            <a:picLocks noChangeAspect="1"/>
          </p:cNvPicPr>
          <p:nvPr/>
        </p:nvPicPr>
        <p:blipFill>
          <a:blip r:embed="rId1"/>
          <a:stretch>
            <a:fillRect/>
          </a:stretch>
        </p:blipFill>
        <p:spPr>
          <a:xfrm>
            <a:off x="530352" y="1789024"/>
            <a:ext cx="6583680" cy="2822753"/>
          </a:xfrm>
          <a:prstGeom prst="rect">
            <a:avLst/>
          </a:prstGeom>
        </p:spPr>
      </p:pic>
      <p:sp>
        <p:nvSpPr>
          <p:cNvPr id="10" name="Shape 7"/>
          <p:cNvSpPr/>
          <p:nvPr/>
        </p:nvSpPr>
        <p:spPr>
          <a:xfrm>
            <a:off x="7406640" y="1783080"/>
            <a:ext cx="4251960" cy="1280160"/>
          </a:xfrm>
          <a:prstGeom prst="roundRect">
            <a:avLst>
              <a:gd name="adj" fmla="val 3929"/>
            </a:avLst>
          </a:prstGeom>
          <a:solidFill>
            <a:srgbClr val="F1F2F4"/>
          </a:solidFill>
          <a:ln w="12700">
            <a:solidFill>
              <a:srgbClr val="E0E3E7"/>
            </a:solidFill>
            <a:prstDash val="solid"/>
          </a:ln>
        </p:spPr>
      </p:sp>
      <p:sp>
        <p:nvSpPr>
          <p:cNvPr id="11" name="Text 8"/>
          <p:cNvSpPr/>
          <p:nvPr/>
        </p:nvSpPr>
        <p:spPr>
          <a:xfrm>
            <a:off x="7589520" y="1947672"/>
            <a:ext cx="3886200" cy="237744"/>
          </a:xfrm>
          <a:prstGeom prst="rect">
            <a:avLst/>
          </a:prstGeom>
          <a:noFill/>
          <a:ln/>
        </p:spPr>
        <p:txBody>
          <a:bodyPr wrap="square" lIns="0" tIns="0" rIns="0" bIns="0" rtlCol="0" anchor="ctr"/>
          <a:lstStyle/>
          <a:p>
            <a:pPr indent="0" marL="0">
              <a:buNone/>
            </a:pPr>
            <a:r>
              <a:rPr lang="en-US" sz="1050" b="1" spc="60" kern="0" dirty="0">
                <a:solidFill>
                  <a:srgbClr val="FF5C00"/>
                </a:solidFill>
                <a:latin typeface="IBM Plex Sans KR" pitchFamily="34" charset="0"/>
                <a:ea typeface="IBM Plex Sans KR" pitchFamily="34" charset="-122"/>
                <a:cs typeface="IBM Plex Sans KR" pitchFamily="34" charset="-120"/>
              </a:rPr>
              <a:t>3항 사용 흐름</a:t>
            </a:r>
            <a:endParaRPr lang="en-US" sz="1050" dirty="0"/>
          </a:p>
        </p:txBody>
      </p:sp>
      <p:sp>
        <p:nvSpPr>
          <p:cNvPr id="12" name="Text 9"/>
          <p:cNvSpPr/>
          <p:nvPr/>
        </p:nvSpPr>
        <p:spPr>
          <a:xfrm>
            <a:off x="7589520" y="2240280"/>
            <a:ext cx="388620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「지난 기록을 본다」</a:t>
            </a:r>
            <a:endParaRPr lang="en-US" sz="1650" dirty="0"/>
          </a:p>
        </p:txBody>
      </p:sp>
      <p:sp>
        <p:nvSpPr>
          <p:cNvPr id="13" name="Text 10"/>
          <p:cNvSpPr/>
          <p:nvPr/>
        </p:nvSpPr>
        <p:spPr>
          <a:xfrm>
            <a:off x="9336024" y="3090672"/>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4" name="Shape 11"/>
          <p:cNvSpPr/>
          <p:nvPr/>
        </p:nvSpPr>
        <p:spPr>
          <a:xfrm>
            <a:off x="7406640" y="3474720"/>
            <a:ext cx="4251960" cy="1143000"/>
          </a:xfrm>
          <a:prstGeom prst="roundRect">
            <a:avLst>
              <a:gd name="adj" fmla="val 4400"/>
            </a:avLst>
          </a:prstGeom>
          <a:solidFill>
            <a:srgbClr val="FFF1E8"/>
          </a:solidFill>
          <a:ln w="12700">
            <a:solidFill>
              <a:srgbClr val="C24A00"/>
            </a:solidFill>
            <a:prstDash val="solid"/>
          </a:ln>
        </p:spPr>
      </p:sp>
      <p:sp>
        <p:nvSpPr>
          <p:cNvPr id="15" name="Text 12"/>
          <p:cNvSpPr/>
          <p:nvPr/>
        </p:nvSpPr>
        <p:spPr>
          <a:xfrm>
            <a:off x="7589520" y="3639312"/>
            <a:ext cx="3886200" cy="237744"/>
          </a:xfrm>
          <a:prstGeom prst="rect">
            <a:avLst/>
          </a:prstGeom>
          <a:noFill/>
          <a:ln/>
        </p:spPr>
        <p:txBody>
          <a:bodyPr wrap="square" lIns="0" tIns="0" rIns="0" bIns="0" rtlCol="0" anchor="ctr"/>
          <a:lstStyle/>
          <a:p>
            <a:pPr indent="0" marL="0">
              <a:buNone/>
            </a:pPr>
            <a:r>
              <a:rPr lang="en-US" sz="1050" b="1" spc="60" kern="0" dirty="0">
                <a:solidFill>
                  <a:srgbClr val="C24A00"/>
                </a:solidFill>
                <a:latin typeface="IBM Plex Sans KR" pitchFamily="34" charset="0"/>
                <a:ea typeface="IBM Plex Sans KR" pitchFamily="34" charset="-122"/>
                <a:cs typeface="IBM Plex Sans KR" pitchFamily="34" charset="-120"/>
              </a:rPr>
              <a:t>5항 기억할 기록</a:t>
            </a:r>
            <a:endParaRPr lang="en-US" sz="1050" dirty="0"/>
          </a:p>
        </p:txBody>
      </p:sp>
      <p:sp>
        <p:nvSpPr>
          <p:cNvPr id="16" name="Text 13"/>
          <p:cNvSpPr/>
          <p:nvPr/>
        </p:nvSpPr>
        <p:spPr>
          <a:xfrm>
            <a:off x="7589520" y="3931920"/>
            <a:ext cx="3886200"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비어 있다</a:t>
            </a:r>
            <a:endParaRPr lang="en-US" sz="1650" dirty="0"/>
          </a:p>
        </p:txBody>
      </p:sp>
      <p:sp>
        <p:nvSpPr>
          <p:cNvPr id="17" name="Shape 14"/>
          <p:cNvSpPr/>
          <p:nvPr/>
        </p:nvSpPr>
        <p:spPr>
          <a:xfrm>
            <a:off x="530352" y="5029200"/>
            <a:ext cx="11128248" cy="512064"/>
          </a:xfrm>
          <a:prstGeom prst="roundRect">
            <a:avLst>
              <a:gd name="adj" fmla="val 39286"/>
            </a:avLst>
          </a:prstGeom>
          <a:solidFill>
            <a:srgbClr val="EAF5FB"/>
          </a:solidFill>
          <a:ln w="12700">
            <a:solidFill>
              <a:srgbClr val="3D8DFF"/>
            </a:solidFill>
            <a:prstDash val="solid"/>
          </a:ln>
        </p:spPr>
      </p:sp>
      <p:sp>
        <p:nvSpPr>
          <p:cNvPr id="18" name="Text 15"/>
          <p:cNvSpPr/>
          <p:nvPr/>
        </p:nvSpPr>
        <p:spPr>
          <a:xfrm>
            <a:off x="731520" y="502920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9회부터 AI가 PRD를 읽고 서비스를 만든다 → 어긋난 자리에서 서비스도 막힌다</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코드 없이, 항목끼리 맞는지만 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08-1 · 10쪽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08</a:t>
            </a:r>
            <a:endParaRPr lang="en-US" sz="900" dirty="0"/>
          </a:p>
        </p:txBody>
      </p:sp>
      <p:sp>
        <p:nvSpPr>
          <p:cNvPr id="10" name="Shape 8"/>
          <p:cNvSpPr/>
          <p:nvPr/>
        </p:nvSpPr>
        <p:spPr>
          <a:xfrm>
            <a:off x="530352" y="1783080"/>
            <a:ext cx="6355080" cy="3291840"/>
          </a:xfrm>
          <a:prstGeom prst="roundRect">
            <a:avLst>
              <a:gd name="adj" fmla="val 1528"/>
            </a:avLst>
          </a:prstGeom>
          <a:solidFill>
            <a:srgbClr val="E7F2ED"/>
          </a:solidFill>
          <a:ln w="12700">
            <a:solidFill>
              <a:srgbClr val="0E7C86"/>
            </a:solidFill>
            <a:prstDash val="solid"/>
          </a:ln>
        </p:spPr>
      </p:sp>
      <p:sp>
        <p:nvSpPr>
          <p:cNvPr id="11" name="Text 9"/>
          <p:cNvSpPr/>
          <p:nvPr/>
        </p:nvSpPr>
        <p:spPr>
          <a:xfrm>
            <a:off x="713232" y="1947672"/>
            <a:ext cx="5989320"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평가하는 것</a:t>
            </a:r>
            <a:endParaRPr lang="en-US" sz="1050" dirty="0"/>
          </a:p>
        </p:txBody>
      </p:sp>
      <p:sp>
        <p:nvSpPr>
          <p:cNvPr id="12" name="Text 10"/>
          <p:cNvSpPr/>
          <p:nvPr/>
        </p:nvSpPr>
        <p:spPr>
          <a:xfrm>
            <a:off x="713232" y="2240280"/>
            <a:ext cx="598932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서로 맞는가</a:t>
            </a:r>
            <a:endParaRPr lang="en-US" sz="1650" dirty="0"/>
          </a:p>
        </p:txBody>
      </p:sp>
      <p:sp>
        <p:nvSpPr>
          <p:cNvPr id="13" name="Text 11"/>
          <p:cNvSpPr/>
          <p:nvPr/>
        </p:nvSpPr>
        <p:spPr>
          <a:xfrm>
            <a:off x="713232" y="2734056"/>
            <a:ext cx="5989320" cy="2194560"/>
          </a:xfrm>
          <a:prstGeom prst="rect">
            <a:avLst/>
          </a:prstGeom>
          <a:noFill/>
          <a:ln/>
        </p:spPr>
        <p:txBody>
          <a:bodyPr wrap="square" lIns="0" tIns="0" rIns="0" bIns="0" rtlCol="0" anchor="t"/>
          <a:lstStyle/>
          <a:p>
            <a:pPr marL="203200" indent="-203200">
              <a:lnSpc>
                <a:spcPts val="260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사용자·상황·목적과 핵심 기능</a:t>
            </a:r>
            <a:endParaRPr lang="en-US" sz="1450" dirty="0"/>
          </a:p>
          <a:p>
            <a:pPr marL="203200" indent="-203200">
              <a:lnSpc>
                <a:spcPts val="260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사용 흐름과 화면 설명의 순서</a:t>
            </a:r>
            <a:endParaRPr lang="en-US" sz="1450" dirty="0"/>
          </a:p>
          <a:p>
            <a:pPr marL="203200" indent="-203200">
              <a:lnSpc>
                <a:spcPts val="260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기록이 생기는 순간과 다시 보는 순간</a:t>
            </a:r>
            <a:endParaRPr lang="en-US" sz="1450" dirty="0"/>
          </a:p>
          <a:p>
            <a:pPr marL="203200" indent="-203200">
              <a:lnSpc>
                <a:spcPts val="260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눈으로 확인할 수 있는 완성 기준</a:t>
            </a:r>
            <a:endParaRPr lang="en-US" sz="1450" dirty="0"/>
          </a:p>
          <a:p>
            <a:pPr marL="203200" indent="-203200">
              <a:lnSpc>
                <a:spcPts val="260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AI의 의견과 내 판단을 나눠 적기</a:t>
            </a:r>
            <a:endParaRPr lang="en-US" sz="1450" dirty="0"/>
          </a:p>
        </p:txBody>
      </p:sp>
      <p:sp>
        <p:nvSpPr>
          <p:cNvPr id="14" name="Shape 12"/>
          <p:cNvSpPr/>
          <p:nvPr/>
        </p:nvSpPr>
        <p:spPr>
          <a:xfrm>
            <a:off x="7114032" y="1783080"/>
            <a:ext cx="4544568" cy="3291840"/>
          </a:xfrm>
          <a:prstGeom prst="roundRect">
            <a:avLst>
              <a:gd name="adj" fmla="val 1528"/>
            </a:avLst>
          </a:prstGeom>
          <a:solidFill>
            <a:srgbClr val="FFF1E8"/>
          </a:solidFill>
          <a:ln w="12700">
            <a:solidFill>
              <a:srgbClr val="C24A00"/>
            </a:solidFill>
            <a:prstDash val="solid"/>
          </a:ln>
        </p:spPr>
      </p:sp>
      <p:sp>
        <p:nvSpPr>
          <p:cNvPr id="15" name="Text 13"/>
          <p:cNvSpPr/>
          <p:nvPr/>
        </p:nvSpPr>
        <p:spPr>
          <a:xfrm>
            <a:off x="7296912" y="1947672"/>
            <a:ext cx="4178808" cy="237744"/>
          </a:xfrm>
          <a:prstGeom prst="rect">
            <a:avLst/>
          </a:prstGeom>
          <a:noFill/>
          <a:ln/>
        </p:spPr>
        <p:txBody>
          <a:bodyPr wrap="square" lIns="0" tIns="0" rIns="0" bIns="0" rtlCol="0" anchor="ctr"/>
          <a:lstStyle/>
          <a:p>
            <a:pPr indent="0" marL="0">
              <a:buNone/>
            </a:pPr>
            <a:r>
              <a:rPr lang="en-US" sz="1050" b="1" spc="60" kern="0" dirty="0">
                <a:solidFill>
                  <a:srgbClr val="C24A00"/>
                </a:solidFill>
                <a:latin typeface="IBM Plex Sans KR" pitchFamily="34" charset="0"/>
                <a:ea typeface="IBM Plex Sans KR" pitchFamily="34" charset="-122"/>
                <a:cs typeface="IBM Plex Sans KR" pitchFamily="34" charset="-120"/>
              </a:rPr>
              <a:t>평가하지 않는 것</a:t>
            </a:r>
            <a:endParaRPr lang="en-US" sz="1050" dirty="0"/>
          </a:p>
        </p:txBody>
      </p:sp>
      <p:sp>
        <p:nvSpPr>
          <p:cNvPr id="16" name="Text 14"/>
          <p:cNvSpPr/>
          <p:nvPr/>
        </p:nvSpPr>
        <p:spPr>
          <a:xfrm>
            <a:off x="7296912" y="2240280"/>
            <a:ext cx="4178808"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많이 · 길게 · 어렵게</a:t>
            </a:r>
            <a:endParaRPr lang="en-US" sz="1650" dirty="0"/>
          </a:p>
        </p:txBody>
      </p:sp>
      <p:sp>
        <p:nvSpPr>
          <p:cNvPr id="17" name="Text 15"/>
          <p:cNvSpPr/>
          <p:nvPr/>
        </p:nvSpPr>
        <p:spPr>
          <a:xfrm>
            <a:off x="7296912" y="2734056"/>
            <a:ext cx="4178808" cy="2194560"/>
          </a:xfrm>
          <a:prstGeom prst="rect">
            <a:avLst/>
          </a:prstGeom>
          <a:noFill/>
          <a:ln/>
        </p:spPr>
        <p:txBody>
          <a:bodyPr wrap="square" lIns="0" tIns="0" rIns="0" bIns="0" rtlCol="0" anchor="t"/>
          <a:lstStyle/>
          <a:p>
            <a:pPr marL="203200" indent="-203200">
              <a:lnSpc>
                <a:spcPts val="260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코드를 쓰는 능력</a:t>
            </a:r>
            <a:endParaRPr lang="en-US" sz="1450" dirty="0"/>
          </a:p>
          <a:p>
            <a:pPr marL="203200" indent="-203200">
              <a:lnSpc>
                <a:spcPts val="260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전문 용어의 수</a:t>
            </a:r>
            <a:endParaRPr lang="en-US" sz="1450" dirty="0"/>
          </a:p>
          <a:p>
            <a:pPr marL="203200" indent="-203200">
              <a:lnSpc>
                <a:spcPts val="260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기능·화면·테이블의 개수</a:t>
            </a:r>
            <a:endParaRPr lang="en-US" sz="1450" dirty="0"/>
          </a:p>
          <a:p>
            <a:pPr marL="203200" indent="-203200">
              <a:lnSpc>
                <a:spcPts val="260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문서의 길이</a:t>
            </a:r>
            <a:endParaRPr lang="en-US" sz="1450" dirty="0"/>
          </a:p>
          <a:p>
            <a:pPr marL="203200" indent="-203200">
              <a:lnSpc>
                <a:spcPts val="260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그림과 디자인</a:t>
            </a:r>
            <a:endParaRPr lang="en-US" sz="1450" dirty="0"/>
          </a:p>
        </p:txBody>
      </p:sp>
      <p:sp>
        <p:nvSpPr>
          <p:cNvPr id="18" name="Shape 16"/>
          <p:cNvSpPr/>
          <p:nvPr/>
        </p:nvSpPr>
        <p:spPr>
          <a:xfrm>
            <a:off x="530352" y="5349240"/>
            <a:ext cx="11128248" cy="512064"/>
          </a:xfrm>
          <a:prstGeom prst="roundRect">
            <a:avLst>
              <a:gd name="adj" fmla="val 39286"/>
            </a:avLst>
          </a:prstGeom>
          <a:solidFill>
            <a:srgbClr val="FF5C00"/>
          </a:solidFill>
          <a:ln w="12700">
            <a:solidFill>
              <a:srgbClr val="FF5C00"/>
            </a:solidFill>
            <a:prstDash val="solid"/>
          </a:ln>
        </p:spPr>
      </p:sp>
      <p:sp>
        <p:nvSpPr>
          <p:cNvPr id="19" name="Text 17"/>
          <p:cNvSpPr/>
          <p:nvPr/>
        </p:nvSpPr>
        <p:spPr>
          <a:xfrm>
            <a:off x="731520" y="5349240"/>
            <a:ext cx="10725912"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IBM Plex Sans KR" pitchFamily="34" charset="0"/>
                <a:ea typeface="IBM Plex Sans KR" pitchFamily="34" charset="-122"/>
                <a:cs typeface="IBM Plex Sans KR" pitchFamily="34" charset="-120"/>
              </a:rPr>
              <a:t>서로 맞는 짧은 PRD &gt; 길지만 어긋난 PRD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점수는 세 영역 · 100점 · 학기 성적의 30%</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08-1 · 11쪽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09</a:t>
            </a:r>
            <a:endParaRPr lang="en-US" sz="900" dirty="0"/>
          </a:p>
        </p:txBody>
      </p:sp>
      <p:sp>
        <p:nvSpPr>
          <p:cNvPr id="10" name="Shape 8"/>
          <p:cNvSpPr/>
          <p:nvPr/>
        </p:nvSpPr>
        <p:spPr>
          <a:xfrm>
            <a:off x="530352" y="1783080"/>
            <a:ext cx="3004627" cy="402336"/>
          </a:xfrm>
          <a:prstGeom prst="rect">
            <a:avLst/>
          </a:prstGeom>
          <a:solidFill>
            <a:srgbClr val="1B1D21"/>
          </a:solidFill>
          <a:ln/>
        </p:spPr>
      </p:sp>
      <p:sp>
        <p:nvSpPr>
          <p:cNvPr id="11" name="Text 9"/>
          <p:cNvSpPr/>
          <p:nvPr/>
        </p:nvSpPr>
        <p:spPr>
          <a:xfrm>
            <a:off x="658368" y="1783080"/>
            <a:ext cx="2748595"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영역</a:t>
            </a:r>
            <a:endParaRPr lang="en-US" sz="1050" dirty="0"/>
          </a:p>
        </p:txBody>
      </p:sp>
      <p:sp>
        <p:nvSpPr>
          <p:cNvPr id="12" name="Shape 10"/>
          <p:cNvSpPr/>
          <p:nvPr/>
        </p:nvSpPr>
        <p:spPr>
          <a:xfrm>
            <a:off x="3534979" y="1783080"/>
            <a:ext cx="6120536" cy="402336"/>
          </a:xfrm>
          <a:prstGeom prst="rect">
            <a:avLst/>
          </a:prstGeom>
          <a:solidFill>
            <a:srgbClr val="1B1D21"/>
          </a:solidFill>
          <a:ln/>
        </p:spPr>
      </p:sp>
      <p:sp>
        <p:nvSpPr>
          <p:cNvPr id="13" name="Text 11"/>
          <p:cNvSpPr/>
          <p:nvPr/>
        </p:nvSpPr>
        <p:spPr>
          <a:xfrm>
            <a:off x="3662995" y="1783080"/>
            <a:ext cx="5864504"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가장 높은 점수를 받는 경우</a:t>
            </a:r>
            <a:endParaRPr lang="en-US" sz="1050" dirty="0"/>
          </a:p>
        </p:txBody>
      </p:sp>
      <p:sp>
        <p:nvSpPr>
          <p:cNvPr id="14" name="Shape 12"/>
          <p:cNvSpPr/>
          <p:nvPr/>
        </p:nvSpPr>
        <p:spPr>
          <a:xfrm>
            <a:off x="9655515" y="1783080"/>
            <a:ext cx="2003085" cy="402336"/>
          </a:xfrm>
          <a:prstGeom prst="rect">
            <a:avLst/>
          </a:prstGeom>
          <a:solidFill>
            <a:srgbClr val="1B1D21"/>
          </a:solidFill>
          <a:ln/>
        </p:spPr>
      </p:sp>
      <p:sp>
        <p:nvSpPr>
          <p:cNvPr id="15" name="Text 13"/>
          <p:cNvSpPr/>
          <p:nvPr/>
        </p:nvSpPr>
        <p:spPr>
          <a:xfrm>
            <a:off x="9783531" y="1783080"/>
            <a:ext cx="1747053"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PRD</a:t>
            </a:r>
            <a:endParaRPr lang="en-US" sz="1050" dirty="0"/>
          </a:p>
        </p:txBody>
      </p:sp>
      <p:sp>
        <p:nvSpPr>
          <p:cNvPr id="16" name="Shape 14"/>
          <p:cNvSpPr/>
          <p:nvPr/>
        </p:nvSpPr>
        <p:spPr>
          <a:xfrm>
            <a:off x="530352" y="2185416"/>
            <a:ext cx="11128248" cy="868680"/>
          </a:xfrm>
          <a:prstGeom prst="rect">
            <a:avLst/>
          </a:prstGeom>
          <a:solidFill>
            <a:srgbClr val="F1F2F4"/>
          </a:solidFill>
          <a:ln w="9525">
            <a:solidFill>
              <a:srgbClr val="E0E3E7"/>
            </a:solidFill>
            <a:prstDash val="solid"/>
          </a:ln>
        </p:spPr>
      </p:sp>
      <p:sp>
        <p:nvSpPr>
          <p:cNvPr id="17" name="Text 15"/>
          <p:cNvSpPr/>
          <p:nvPr/>
        </p:nvSpPr>
        <p:spPr>
          <a:xfrm>
            <a:off x="658368" y="2185416"/>
            <a:ext cx="2748595" cy="868680"/>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서비스 기획과 사용자 흐름 · 40</a:t>
            </a:r>
            <a:endParaRPr lang="en-US" sz="1300" dirty="0"/>
          </a:p>
        </p:txBody>
      </p:sp>
      <p:sp>
        <p:nvSpPr>
          <p:cNvPr id="18" name="Text 16"/>
          <p:cNvSpPr/>
          <p:nvPr/>
        </p:nvSpPr>
        <p:spPr>
          <a:xfrm>
            <a:off x="3662995" y="2185416"/>
            <a:ext cx="5864504" cy="868680"/>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사용자·상황·목적·핵심 기능이 서로 맞고, 흐름이 시작 → 행동 → 결과 순이며, 화면 설명이 흐름과 같다</a:t>
            </a:r>
            <a:endParaRPr lang="en-US" sz="1300" dirty="0"/>
          </a:p>
        </p:txBody>
      </p:sp>
      <p:sp>
        <p:nvSpPr>
          <p:cNvPr id="19" name="Text 17"/>
          <p:cNvSpPr/>
          <p:nvPr/>
        </p:nvSpPr>
        <p:spPr>
          <a:xfrm>
            <a:off x="9783531" y="2185416"/>
            <a:ext cx="1747053" cy="868680"/>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1 · 2 · 3 · 4항</a:t>
            </a:r>
            <a:endParaRPr lang="en-US" sz="1300" dirty="0"/>
          </a:p>
        </p:txBody>
      </p:sp>
      <p:sp>
        <p:nvSpPr>
          <p:cNvPr id="20" name="Shape 18"/>
          <p:cNvSpPr/>
          <p:nvPr/>
        </p:nvSpPr>
        <p:spPr>
          <a:xfrm>
            <a:off x="530352" y="3054096"/>
            <a:ext cx="11128248" cy="868680"/>
          </a:xfrm>
          <a:prstGeom prst="rect">
            <a:avLst/>
          </a:prstGeom>
          <a:solidFill>
            <a:srgbClr val="FFFFFF"/>
          </a:solidFill>
          <a:ln w="9525">
            <a:solidFill>
              <a:srgbClr val="E0E3E7"/>
            </a:solidFill>
            <a:prstDash val="solid"/>
          </a:ln>
        </p:spPr>
      </p:sp>
      <p:sp>
        <p:nvSpPr>
          <p:cNvPr id="21" name="Text 19"/>
          <p:cNvSpPr/>
          <p:nvPr/>
        </p:nvSpPr>
        <p:spPr>
          <a:xfrm>
            <a:off x="658368" y="3054096"/>
            <a:ext cx="2748595" cy="868680"/>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데이터 계획과 완성 기준 · 30</a:t>
            </a:r>
            <a:endParaRPr lang="en-US" sz="1300" dirty="0"/>
          </a:p>
        </p:txBody>
      </p:sp>
      <p:sp>
        <p:nvSpPr>
          <p:cNvPr id="22" name="Text 20"/>
          <p:cNvSpPr/>
          <p:nvPr/>
        </p:nvSpPr>
        <p:spPr>
          <a:xfrm>
            <a:off x="3662995" y="3054096"/>
            <a:ext cx="5864504" cy="868680"/>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기억할 기록이 생기고 다시 보이는 순간을 잇고, 완성 기준을 사용자의 행동과 보이는 결과로 쓴다</a:t>
            </a:r>
            <a:endParaRPr lang="en-US" sz="1300" dirty="0"/>
          </a:p>
        </p:txBody>
      </p:sp>
      <p:sp>
        <p:nvSpPr>
          <p:cNvPr id="23" name="Text 21"/>
          <p:cNvSpPr/>
          <p:nvPr/>
        </p:nvSpPr>
        <p:spPr>
          <a:xfrm>
            <a:off x="9783531" y="3054096"/>
            <a:ext cx="1747053" cy="868680"/>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5 · 6항</a:t>
            </a:r>
            <a:endParaRPr lang="en-US" sz="1300" dirty="0"/>
          </a:p>
        </p:txBody>
      </p:sp>
      <p:sp>
        <p:nvSpPr>
          <p:cNvPr id="24" name="Shape 22"/>
          <p:cNvSpPr/>
          <p:nvPr/>
        </p:nvSpPr>
        <p:spPr>
          <a:xfrm>
            <a:off x="530352" y="3922776"/>
            <a:ext cx="11128248" cy="868680"/>
          </a:xfrm>
          <a:prstGeom prst="rect">
            <a:avLst/>
          </a:prstGeom>
          <a:solidFill>
            <a:srgbClr val="F1F2F4"/>
          </a:solidFill>
          <a:ln w="9525">
            <a:solidFill>
              <a:srgbClr val="E0E3E7"/>
            </a:solidFill>
            <a:prstDash val="solid"/>
          </a:ln>
        </p:spPr>
      </p:sp>
      <p:sp>
        <p:nvSpPr>
          <p:cNvPr id="25" name="Text 23"/>
          <p:cNvSpPr/>
          <p:nvPr/>
        </p:nvSpPr>
        <p:spPr>
          <a:xfrm>
            <a:off x="658368" y="3922776"/>
            <a:ext cx="2748595" cy="868680"/>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AI 활용과 학생 판단 · 30</a:t>
            </a:r>
            <a:endParaRPr lang="en-US" sz="1300" dirty="0"/>
          </a:p>
        </p:txBody>
      </p:sp>
      <p:sp>
        <p:nvSpPr>
          <p:cNvPr id="26" name="Text 24"/>
          <p:cNvSpPr/>
          <p:nvPr/>
        </p:nvSpPr>
        <p:spPr>
          <a:xfrm>
            <a:off x="3662995" y="3922776"/>
            <a:ext cx="5864504" cy="868680"/>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AI의 제안을 받아들이거나 거절한 내용과 이유, 내가 직접 정한 부분을 구체적으로 쓴다</a:t>
            </a:r>
            <a:endParaRPr lang="en-US" sz="1300" dirty="0"/>
          </a:p>
        </p:txBody>
      </p:sp>
      <p:sp>
        <p:nvSpPr>
          <p:cNvPr id="27" name="Text 25"/>
          <p:cNvSpPr/>
          <p:nvPr/>
        </p:nvSpPr>
        <p:spPr>
          <a:xfrm>
            <a:off x="9783531" y="3922776"/>
            <a:ext cx="1747053" cy="868680"/>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7항 · 대화 기록</a:t>
            </a:r>
            <a:endParaRPr lang="en-US" sz="1300" dirty="0"/>
          </a:p>
        </p:txBody>
      </p:sp>
      <p:sp>
        <p:nvSpPr>
          <p:cNvPr id="28" name="Shape 26"/>
          <p:cNvSpPr/>
          <p:nvPr/>
        </p:nvSpPr>
        <p:spPr>
          <a:xfrm>
            <a:off x="530352" y="5257800"/>
            <a:ext cx="11128248" cy="512064"/>
          </a:xfrm>
          <a:prstGeom prst="roundRect">
            <a:avLst>
              <a:gd name="adj" fmla="val 39286"/>
            </a:avLst>
          </a:prstGeom>
          <a:solidFill>
            <a:srgbClr val="EAF5FB"/>
          </a:solidFill>
          <a:ln w="12700">
            <a:solidFill>
              <a:srgbClr val="3D8DFF"/>
            </a:solidFill>
            <a:prstDash val="solid"/>
          </a:ln>
        </p:spPr>
      </p:sp>
      <p:sp>
        <p:nvSpPr>
          <p:cNvPr id="29" name="Text 27"/>
          <p:cNvSpPr/>
          <p:nvPr/>
        </p:nvSpPr>
        <p:spPr>
          <a:xfrm>
            <a:off x="731520" y="525780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수행평가 1 · 2 · 3을 더해 40점 이상이면 이수 · 다른 학생과 비교하지 않는다</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요구하지 않는 것은 쓰지 않는다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03</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08-1 · 12쪽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10</a:t>
            </a:r>
            <a:endParaRPr lang="en-US" sz="900" dirty="0"/>
          </a:p>
        </p:txBody>
      </p:sp>
      <p:sp>
        <p:nvSpPr>
          <p:cNvPr id="10" name="Shape 8"/>
          <p:cNvSpPr/>
          <p:nvPr/>
        </p:nvSpPr>
        <p:spPr>
          <a:xfrm>
            <a:off x="530352" y="1783080"/>
            <a:ext cx="5786689" cy="402336"/>
          </a:xfrm>
          <a:prstGeom prst="rect">
            <a:avLst/>
          </a:prstGeom>
          <a:solidFill>
            <a:srgbClr val="1B1D21"/>
          </a:solidFill>
          <a:ln/>
        </p:spPr>
      </p:sp>
      <p:sp>
        <p:nvSpPr>
          <p:cNvPr id="11" name="Text 9"/>
          <p:cNvSpPr/>
          <p:nvPr/>
        </p:nvSpPr>
        <p:spPr>
          <a:xfrm>
            <a:off x="658368" y="1783080"/>
            <a:ext cx="553065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요구하지 않는 것</a:t>
            </a:r>
            <a:endParaRPr lang="en-US" sz="1050" dirty="0"/>
          </a:p>
        </p:txBody>
      </p:sp>
      <p:sp>
        <p:nvSpPr>
          <p:cNvPr id="12" name="Shape 10"/>
          <p:cNvSpPr/>
          <p:nvPr/>
        </p:nvSpPr>
        <p:spPr>
          <a:xfrm>
            <a:off x="6317041" y="1783080"/>
            <a:ext cx="5341559" cy="402336"/>
          </a:xfrm>
          <a:prstGeom prst="rect">
            <a:avLst/>
          </a:prstGeom>
          <a:solidFill>
            <a:srgbClr val="1B1D21"/>
          </a:solidFill>
          <a:ln/>
        </p:spPr>
      </p:sp>
      <p:sp>
        <p:nvSpPr>
          <p:cNvPr id="13" name="Text 11"/>
          <p:cNvSpPr/>
          <p:nvPr/>
        </p:nvSpPr>
        <p:spPr>
          <a:xfrm>
            <a:off x="6445057" y="1783080"/>
            <a:ext cx="508552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언제 다루나</a:t>
            </a:r>
            <a:endParaRPr lang="en-US" sz="1050" dirty="0"/>
          </a:p>
        </p:txBody>
      </p:sp>
      <p:sp>
        <p:nvSpPr>
          <p:cNvPr id="14" name="Shape 12"/>
          <p:cNvSpPr/>
          <p:nvPr/>
        </p:nvSpPr>
        <p:spPr>
          <a:xfrm>
            <a:off x="530352" y="2185416"/>
            <a:ext cx="11128248" cy="512064"/>
          </a:xfrm>
          <a:prstGeom prst="rect">
            <a:avLst/>
          </a:prstGeom>
          <a:solidFill>
            <a:srgbClr val="F1F2F4"/>
          </a:solidFill>
          <a:ln w="9525">
            <a:solidFill>
              <a:srgbClr val="E0E3E7"/>
            </a:solidFill>
            <a:prstDash val="solid"/>
          </a:ln>
        </p:spPr>
      </p:sp>
      <p:sp>
        <p:nvSpPr>
          <p:cNvPr id="15" name="Text 13"/>
          <p:cNvSpPr/>
          <p:nvPr/>
        </p:nvSpPr>
        <p:spPr>
          <a:xfrm>
            <a:off x="658368" y="2185416"/>
            <a:ext cx="5530657" cy="512064"/>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실행되는 화면 · 서버 코드</a:t>
            </a:r>
            <a:endParaRPr lang="en-US" sz="1400" dirty="0"/>
          </a:p>
        </p:txBody>
      </p:sp>
      <p:sp>
        <p:nvSpPr>
          <p:cNvPr id="16" name="Text 14"/>
          <p:cNvSpPr/>
          <p:nvPr/>
        </p:nvSpPr>
        <p:spPr>
          <a:xfrm>
            <a:off x="6445057" y="2185416"/>
            <a:ext cx="5085527" cy="512064"/>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9–13회 개발</a:t>
            </a:r>
            <a:endParaRPr lang="en-US" sz="1400" dirty="0"/>
          </a:p>
        </p:txBody>
      </p:sp>
      <p:sp>
        <p:nvSpPr>
          <p:cNvPr id="17" name="Shape 15"/>
          <p:cNvSpPr/>
          <p:nvPr/>
        </p:nvSpPr>
        <p:spPr>
          <a:xfrm>
            <a:off x="530352" y="2697480"/>
            <a:ext cx="11128248" cy="512064"/>
          </a:xfrm>
          <a:prstGeom prst="rect">
            <a:avLst/>
          </a:prstGeom>
          <a:solidFill>
            <a:srgbClr val="FFFFFF"/>
          </a:solidFill>
          <a:ln w="9525">
            <a:solidFill>
              <a:srgbClr val="E0E3E7"/>
            </a:solidFill>
            <a:prstDash val="solid"/>
          </a:ln>
        </p:spPr>
      </p:sp>
      <p:sp>
        <p:nvSpPr>
          <p:cNvPr id="18" name="Text 16"/>
          <p:cNvSpPr/>
          <p:nvPr/>
        </p:nvSpPr>
        <p:spPr>
          <a:xfrm>
            <a:off x="658368" y="2697480"/>
            <a:ext cx="5530657" cy="512064"/>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그림 · 디자인 시안 · 색과 글꼴</a:t>
            </a:r>
            <a:endParaRPr lang="en-US" sz="1400" dirty="0"/>
          </a:p>
        </p:txBody>
      </p:sp>
      <p:sp>
        <p:nvSpPr>
          <p:cNvPr id="19" name="Text 17"/>
          <p:cNvSpPr/>
          <p:nvPr/>
        </p:nvSpPr>
        <p:spPr>
          <a:xfrm>
            <a:off x="6445057" y="2697480"/>
            <a:ext cx="5085527" cy="512064"/>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개발할 때 AI와 함께</a:t>
            </a:r>
            <a:endParaRPr lang="en-US" sz="1400" dirty="0"/>
          </a:p>
        </p:txBody>
      </p:sp>
      <p:sp>
        <p:nvSpPr>
          <p:cNvPr id="20" name="Shape 18"/>
          <p:cNvSpPr/>
          <p:nvPr/>
        </p:nvSpPr>
        <p:spPr>
          <a:xfrm>
            <a:off x="530352" y="3209544"/>
            <a:ext cx="11128248" cy="512064"/>
          </a:xfrm>
          <a:prstGeom prst="rect">
            <a:avLst/>
          </a:prstGeom>
          <a:solidFill>
            <a:srgbClr val="F1F2F4"/>
          </a:solidFill>
          <a:ln w="9525">
            <a:solidFill>
              <a:srgbClr val="E0E3E7"/>
            </a:solidFill>
            <a:prstDash val="solid"/>
          </a:ln>
        </p:spPr>
      </p:sp>
      <p:sp>
        <p:nvSpPr>
          <p:cNvPr id="21" name="Text 19"/>
          <p:cNvSpPr/>
          <p:nvPr/>
        </p:nvSpPr>
        <p:spPr>
          <a:xfrm>
            <a:off x="658368" y="3209544"/>
            <a:ext cx="5530657" cy="512064"/>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SQL 문장 · ERD · 자료형</a:t>
            </a:r>
            <a:endParaRPr lang="en-US" sz="1400" dirty="0"/>
          </a:p>
        </p:txBody>
      </p:sp>
      <p:sp>
        <p:nvSpPr>
          <p:cNvPr id="22" name="Text 20"/>
          <p:cNvSpPr/>
          <p:nvPr/>
        </p:nvSpPr>
        <p:spPr>
          <a:xfrm>
            <a:off x="6445057" y="3209544"/>
            <a:ext cx="5085527" cy="512064"/>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11회 SQLite</a:t>
            </a:r>
            <a:endParaRPr lang="en-US" sz="1400" dirty="0"/>
          </a:p>
        </p:txBody>
      </p:sp>
      <p:sp>
        <p:nvSpPr>
          <p:cNvPr id="23" name="Shape 21"/>
          <p:cNvSpPr/>
          <p:nvPr/>
        </p:nvSpPr>
        <p:spPr>
          <a:xfrm>
            <a:off x="530352" y="3721608"/>
            <a:ext cx="11128248" cy="512064"/>
          </a:xfrm>
          <a:prstGeom prst="rect">
            <a:avLst/>
          </a:prstGeom>
          <a:solidFill>
            <a:srgbClr val="FFFFFF"/>
          </a:solidFill>
          <a:ln w="9525">
            <a:solidFill>
              <a:srgbClr val="E0E3E7"/>
            </a:solidFill>
            <a:prstDash val="solid"/>
          </a:ln>
        </p:spPr>
      </p:sp>
      <p:sp>
        <p:nvSpPr>
          <p:cNvPr id="24" name="Text 22"/>
          <p:cNvSpPr/>
          <p:nvPr/>
        </p:nvSpPr>
        <p:spPr>
          <a:xfrm>
            <a:off x="658368" y="3721608"/>
            <a:ext cx="5530657" cy="512064"/>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프레임워크 · 서버 · 배포 방식</a:t>
            </a:r>
            <a:endParaRPr lang="en-US" sz="1400" dirty="0"/>
          </a:p>
        </p:txBody>
      </p:sp>
      <p:sp>
        <p:nvSpPr>
          <p:cNvPr id="25" name="Text 23"/>
          <p:cNvSpPr/>
          <p:nvPr/>
        </p:nvSpPr>
        <p:spPr>
          <a:xfrm>
            <a:off x="6445057" y="3721608"/>
            <a:ext cx="5085527" cy="512064"/>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10회 표준 프로젝트</a:t>
            </a:r>
            <a:endParaRPr lang="en-US" sz="1400" dirty="0"/>
          </a:p>
        </p:txBody>
      </p:sp>
      <p:sp>
        <p:nvSpPr>
          <p:cNvPr id="26" name="Shape 24"/>
          <p:cNvSpPr/>
          <p:nvPr/>
        </p:nvSpPr>
        <p:spPr>
          <a:xfrm>
            <a:off x="530352" y="4233672"/>
            <a:ext cx="11128248" cy="512064"/>
          </a:xfrm>
          <a:prstGeom prst="rect">
            <a:avLst/>
          </a:prstGeom>
          <a:solidFill>
            <a:srgbClr val="F1F2F4"/>
          </a:solidFill>
          <a:ln w="9525">
            <a:solidFill>
              <a:srgbClr val="E0E3E7"/>
            </a:solidFill>
            <a:prstDash val="solid"/>
          </a:ln>
        </p:spPr>
      </p:sp>
      <p:sp>
        <p:nvSpPr>
          <p:cNvPr id="27" name="Text 25"/>
          <p:cNvSpPr/>
          <p:nvPr/>
        </p:nvSpPr>
        <p:spPr>
          <a:xfrm>
            <a:off x="658368" y="4233672"/>
            <a:ext cx="5530657" cy="512064"/>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시장조사 · 사업 계획</a:t>
            </a:r>
            <a:endParaRPr lang="en-US" sz="1400" dirty="0"/>
          </a:p>
        </p:txBody>
      </p:sp>
      <p:sp>
        <p:nvSpPr>
          <p:cNvPr id="28" name="Text 26"/>
          <p:cNvSpPr/>
          <p:nvPr/>
        </p:nvSpPr>
        <p:spPr>
          <a:xfrm>
            <a:off x="6445057" y="4233672"/>
            <a:ext cx="5085527" cy="512064"/>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이 수업에서 다루지 않음</a:t>
            </a:r>
            <a:endParaRPr lang="en-US" sz="1400" dirty="0"/>
          </a:p>
        </p:txBody>
      </p:sp>
      <p:sp>
        <p:nvSpPr>
          <p:cNvPr id="29" name="Shape 27"/>
          <p:cNvSpPr/>
          <p:nvPr/>
        </p:nvSpPr>
        <p:spPr>
          <a:xfrm>
            <a:off x="530352" y="5120640"/>
            <a:ext cx="11128248" cy="512064"/>
          </a:xfrm>
          <a:prstGeom prst="roundRect">
            <a:avLst>
              <a:gd name="adj" fmla="val 39286"/>
            </a:avLst>
          </a:prstGeom>
          <a:solidFill>
            <a:srgbClr val="EAF5FB"/>
          </a:solidFill>
          <a:ln w="12700">
            <a:solidFill>
              <a:srgbClr val="3D8DFF"/>
            </a:solidFill>
            <a:prstDash val="solid"/>
          </a:ln>
        </p:spPr>
      </p:sp>
      <p:sp>
        <p:nvSpPr>
          <p:cNvPr id="30" name="Text 28"/>
          <p:cNvSpPr/>
          <p:nvPr/>
        </p:nvSpPr>
        <p:spPr>
          <a:xfrm>
            <a:off x="731520" y="512064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5항의 표는 두어도 된다 · 점수는 표 아래의 해설을 본다</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06 폴더를 ZIP 하나로 묶어 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08-1 · 13쪽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11</a:t>
            </a:r>
            <a:endParaRPr lang="en-US" sz="900" dirty="0"/>
          </a:p>
        </p:txBody>
      </p:sp>
      <p:sp>
        <p:nvSpPr>
          <p:cNvPr id="10" name="Shape 8"/>
          <p:cNvSpPr/>
          <p:nvPr/>
        </p:nvSpPr>
        <p:spPr>
          <a:xfrm>
            <a:off x="530352" y="1783080"/>
            <a:ext cx="5852160" cy="3291840"/>
          </a:xfrm>
          <a:prstGeom prst="roundRect">
            <a:avLst>
              <a:gd name="adj" fmla="val 1389"/>
            </a:avLst>
          </a:prstGeom>
          <a:solidFill>
            <a:srgbClr val="24272C"/>
          </a:solidFill>
          <a:ln/>
        </p:spPr>
      </p:sp>
      <p:sp>
        <p:nvSpPr>
          <p:cNvPr id="11" name="Text 9"/>
          <p:cNvSpPr/>
          <p:nvPr/>
        </p:nvSpPr>
        <p:spPr>
          <a:xfrm>
            <a:off x="768096" y="1911096"/>
            <a:ext cx="5376672"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제출할 ZIP과 그 안</a:t>
            </a:r>
            <a:endParaRPr lang="en-US" sz="950" dirty="0"/>
          </a:p>
        </p:txBody>
      </p:sp>
      <p:sp>
        <p:nvSpPr>
          <p:cNvPr id="12" name="Text 10"/>
          <p:cNvSpPr/>
          <p:nvPr/>
        </p:nvSpPr>
        <p:spPr>
          <a:xfrm>
            <a:off x="768096" y="2185416"/>
            <a:ext cx="5376672" cy="2743200"/>
          </a:xfrm>
          <a:prstGeom prst="rect">
            <a:avLst/>
          </a:prstGeom>
          <a:noFill/>
          <a:ln/>
        </p:spPr>
        <p:txBody>
          <a:bodyPr wrap="square" lIns="0" tIns="0" rIns="0" bIns="0" rtlCol="0" anchor="t"/>
          <a:lstStyle/>
          <a:p>
            <a:pPr indent="0" marL="0">
              <a:lnSpc>
                <a:spcPts val="2720"/>
              </a:lnSpc>
              <a:buNone/>
            </a:pPr>
            <a:r>
              <a:rPr lang="en-US" sz="1600" b="1" dirty="0">
                <a:solidFill>
                  <a:srgbClr val="FFB27A"/>
                </a:solidFill>
                <a:latin typeface="IBM Plex Mono" pitchFamily="34" charset="0"/>
                <a:ea typeface="IBM Plex Mono" pitchFamily="34" charset="-122"/>
                <a:cs typeface="IBM Plex Mono" pitchFamily="34" charset="-120"/>
              </a:rPr>
              <a:t>08_assessment2_학생ID_이름.zip</a:t>
            </a:r>
            <a:endParaRPr lang="en-US" sz="1600" dirty="0"/>
          </a:p>
          <a:p>
            <a:pPr indent="0" marL="0">
              <a:lnSpc>
                <a:spcPts val="2720"/>
              </a:lnSpc>
              <a:buNone/>
            </a:pPr>
            <a:r>
              <a:rPr lang="en-US" sz="1600" b="1" dirty="0">
                <a:solidFill>
                  <a:srgbClr val="E8EAED"/>
                </a:solidFill>
                <a:latin typeface="IBM Plex Mono" pitchFamily="34" charset="0"/>
                <a:ea typeface="IBM Plex Mono" pitchFamily="34" charset="-122"/>
                <a:cs typeface="IBM Plex Mono" pitchFamily="34" charset="-120"/>
              </a:rPr>
              <a:t>└─ 06/</a:t>
            </a:r>
            <a:endParaRPr lang="en-US" sz="1600" dirty="0"/>
          </a:p>
          <a:p>
            <a:pPr indent="0" marL="0">
              <a:lnSpc>
                <a:spcPts val="2720"/>
              </a:lnSpc>
              <a:buNone/>
            </a:pPr>
            <a:r>
              <a:rPr lang="en-US" sz="1600" b="1" dirty="0">
                <a:solidFill>
                  <a:srgbClr val="E8EAED"/>
                </a:solidFill>
                <a:latin typeface="IBM Plex Mono" pitchFamily="34" charset="0"/>
                <a:ea typeface="IBM Plex Mono" pitchFamily="34" charset="-122"/>
                <a:cs typeface="IBM Plex Mono" pitchFamily="34" charset="-120"/>
              </a:rPr>
              <a:t>   ├─ PRD.md</a:t>
            </a:r>
            <a:endParaRPr lang="en-US" sz="1600" dirty="0"/>
          </a:p>
          <a:p>
            <a:pPr indent="0" marL="0">
              <a:lnSpc>
                <a:spcPts val="2720"/>
              </a:lnSpc>
              <a:buNone/>
            </a:pPr>
            <a:r>
              <a:rPr lang="en-US" sz="1600" b="1" dirty="0">
                <a:solidFill>
                  <a:srgbClr val="E8EAED"/>
                </a:solidFill>
                <a:latin typeface="IBM Plex Mono" pitchFamily="34" charset="0"/>
                <a:ea typeface="IBM Plex Mono" pitchFamily="34" charset="-122"/>
                <a:cs typeface="IBM Plex Mono" pitchFamily="34" charset="-120"/>
              </a:rPr>
              <a:t>   ├─ AI대화기록.md</a:t>
            </a:r>
            <a:endParaRPr lang="en-US" sz="1600" dirty="0"/>
          </a:p>
          <a:p>
            <a:pPr indent="0" marL="0">
              <a:lnSpc>
                <a:spcPts val="2720"/>
              </a:lnSpc>
              <a:buNone/>
            </a:pPr>
            <a:r>
              <a:rPr lang="en-US" sz="1600" b="1" dirty="0">
                <a:solidFill>
                  <a:srgbClr val="E8EAED"/>
                </a:solidFill>
                <a:latin typeface="IBM Plex Mono" pitchFamily="34" charset="0"/>
                <a:ea typeface="IBM Plex Mono" pitchFamily="34" charset="-122"/>
                <a:cs typeface="IBM Plex Mono" pitchFamily="34" charset="-120"/>
              </a:rPr>
              <a:t>   └─ mockup/index.html</a:t>
            </a:r>
            <a:endParaRPr lang="en-US" sz="1600" dirty="0"/>
          </a:p>
        </p:txBody>
      </p:sp>
      <p:sp>
        <p:nvSpPr>
          <p:cNvPr id="13" name="Shape 11"/>
          <p:cNvSpPr/>
          <p:nvPr/>
        </p:nvSpPr>
        <p:spPr>
          <a:xfrm>
            <a:off x="6629400" y="1783080"/>
            <a:ext cx="5029200" cy="1508760"/>
          </a:xfrm>
          <a:prstGeom prst="roundRect">
            <a:avLst>
              <a:gd name="adj" fmla="val 3333"/>
            </a:avLst>
          </a:prstGeom>
          <a:solidFill>
            <a:srgbClr val="E7F2ED"/>
          </a:solidFill>
          <a:ln w="12700">
            <a:solidFill>
              <a:srgbClr val="0E7C86"/>
            </a:solidFill>
            <a:prstDash val="solid"/>
          </a:ln>
        </p:spPr>
      </p:sp>
      <p:sp>
        <p:nvSpPr>
          <p:cNvPr id="14" name="Text 12"/>
          <p:cNvSpPr/>
          <p:nvPr/>
        </p:nvSpPr>
        <p:spPr>
          <a:xfrm>
            <a:off x="6812280" y="1947672"/>
            <a:ext cx="4663440"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이름 붙이기</a:t>
            </a:r>
            <a:endParaRPr lang="en-US" sz="1050" dirty="0"/>
          </a:p>
        </p:txBody>
      </p:sp>
      <p:sp>
        <p:nvSpPr>
          <p:cNvPr id="15" name="Text 13"/>
          <p:cNvSpPr/>
          <p:nvPr/>
        </p:nvSpPr>
        <p:spPr>
          <a:xfrm>
            <a:off x="6812280" y="2240280"/>
            <a:ext cx="466344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ZIP에만 이름을 붙인다</a:t>
            </a:r>
            <a:endParaRPr lang="en-US" sz="1650" dirty="0"/>
          </a:p>
        </p:txBody>
      </p:sp>
      <p:sp>
        <p:nvSpPr>
          <p:cNvPr id="16" name="Text 14"/>
          <p:cNvSpPr/>
          <p:nvPr/>
        </p:nvSpPr>
        <p:spPr>
          <a:xfrm>
            <a:off x="6812280" y="2734056"/>
            <a:ext cx="4663440" cy="411480"/>
          </a:xfrm>
          <a:prstGeom prst="rect">
            <a:avLst/>
          </a:prstGeom>
          <a:noFill/>
          <a:ln/>
        </p:spPr>
        <p:txBody>
          <a:bodyPr wrap="square" lIns="0" tIns="0" rIns="0" bIns="0" rtlCol="0" anchor="t"/>
          <a:lstStyle/>
          <a:p>
            <a:pPr indent="0" marL="0">
              <a:lnSpc>
                <a:spcPts val="1900"/>
              </a:lnSpc>
              <a:buNone/>
            </a:pPr>
            <a:r>
              <a:rPr lang="en-US" sz="1240" dirty="0">
                <a:solidFill>
                  <a:srgbClr val="34373D"/>
                </a:solidFill>
                <a:latin typeface="IBM Plex Sans KR" pitchFamily="34" charset="0"/>
                <a:ea typeface="IBM Plex Sans KR" pitchFamily="34" charset="-122"/>
                <a:cs typeface="IBM Plex Sans KR" pitchFamily="34" charset="-120"/>
              </a:rPr>
              <a:t>안의 파일 이름은 그대로 · 9회에 06을 이어서 쓴다</a:t>
            </a:r>
            <a:endParaRPr lang="en-US" sz="1240" dirty="0"/>
          </a:p>
        </p:txBody>
      </p:sp>
      <p:sp>
        <p:nvSpPr>
          <p:cNvPr id="17" name="Shape 15"/>
          <p:cNvSpPr/>
          <p:nvPr/>
        </p:nvSpPr>
        <p:spPr>
          <a:xfrm>
            <a:off x="6629400" y="3566160"/>
            <a:ext cx="5029200" cy="1508760"/>
          </a:xfrm>
          <a:prstGeom prst="roundRect">
            <a:avLst>
              <a:gd name="adj" fmla="val 3333"/>
            </a:avLst>
          </a:prstGeom>
          <a:solidFill>
            <a:srgbClr val="FFF1E8"/>
          </a:solidFill>
          <a:ln w="12700">
            <a:solidFill>
              <a:srgbClr val="C24A00"/>
            </a:solidFill>
            <a:prstDash val="solid"/>
          </a:ln>
        </p:spPr>
      </p:sp>
      <p:sp>
        <p:nvSpPr>
          <p:cNvPr id="18" name="Text 16"/>
          <p:cNvSpPr/>
          <p:nvPr/>
        </p:nvSpPr>
        <p:spPr>
          <a:xfrm>
            <a:off x="6812280" y="3730752"/>
            <a:ext cx="4663440" cy="237744"/>
          </a:xfrm>
          <a:prstGeom prst="rect">
            <a:avLst/>
          </a:prstGeom>
          <a:noFill/>
          <a:ln/>
        </p:spPr>
        <p:txBody>
          <a:bodyPr wrap="square" lIns="0" tIns="0" rIns="0" bIns="0" rtlCol="0" anchor="ctr"/>
          <a:lstStyle/>
          <a:p>
            <a:pPr indent="0" marL="0">
              <a:buNone/>
            </a:pPr>
            <a:r>
              <a:rPr lang="en-US" sz="1050" b="1" spc="60" kern="0" dirty="0">
                <a:solidFill>
                  <a:srgbClr val="C24A00"/>
                </a:solidFill>
                <a:latin typeface="IBM Plex Sans KR" pitchFamily="34" charset="0"/>
                <a:ea typeface="IBM Plex Sans KR" pitchFamily="34" charset="-122"/>
                <a:cs typeface="IBM Plex Sans KR" pitchFamily="34" charset="-120"/>
              </a:rPr>
              <a:t>지키는 것</a:t>
            </a:r>
            <a:endParaRPr lang="en-US" sz="1050" dirty="0"/>
          </a:p>
        </p:txBody>
      </p:sp>
      <p:sp>
        <p:nvSpPr>
          <p:cNvPr id="19" name="Text 17"/>
          <p:cNvSpPr/>
          <p:nvPr/>
        </p:nvSpPr>
        <p:spPr>
          <a:xfrm>
            <a:off x="6812280" y="4023360"/>
            <a:ext cx="4663440"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제목과 항목 순서 그대로</a:t>
            </a:r>
            <a:endParaRPr lang="en-US" sz="1650" dirty="0"/>
          </a:p>
        </p:txBody>
      </p:sp>
      <p:sp>
        <p:nvSpPr>
          <p:cNvPr id="20" name="Text 18"/>
          <p:cNvSpPr/>
          <p:nvPr/>
        </p:nvSpPr>
        <p:spPr>
          <a:xfrm>
            <a:off x="6812280" y="4517136"/>
            <a:ext cx="4663440" cy="411480"/>
          </a:xfrm>
          <a:prstGeom prst="rect">
            <a:avLst/>
          </a:prstGeom>
          <a:noFill/>
          <a:ln/>
        </p:spPr>
        <p:txBody>
          <a:bodyPr wrap="square" lIns="0" tIns="0" rIns="0" bIns="0" rtlCol="0" anchor="t"/>
          <a:lstStyle/>
          <a:p>
            <a:pPr indent="0" marL="0">
              <a:lnSpc>
                <a:spcPts val="1900"/>
              </a:lnSpc>
              <a:buNone/>
            </a:pPr>
            <a:r>
              <a:rPr lang="en-US" sz="1240" dirty="0">
                <a:solidFill>
                  <a:srgbClr val="34373D"/>
                </a:solidFill>
                <a:latin typeface="IBM Plex Sans KR" pitchFamily="34" charset="0"/>
                <a:ea typeface="IBM Plex Sans KR" pitchFamily="34" charset="-122"/>
                <a:cs typeface="IBM Plex Sans KR" pitchFamily="34" charset="-120"/>
              </a:rPr>
              <a:t>쓸 것이 없으면 「없음」 · ZIP 이름 = PRD 맨 위 이름</a:t>
            </a:r>
            <a:endParaRPr lang="en-US" sz="1240" dirty="0"/>
          </a:p>
        </p:txBody>
      </p:sp>
      <p:sp>
        <p:nvSpPr>
          <p:cNvPr id="21" name="Shape 19"/>
          <p:cNvSpPr/>
          <p:nvPr/>
        </p:nvSpPr>
        <p:spPr>
          <a:xfrm>
            <a:off x="530352" y="5349240"/>
            <a:ext cx="11128248" cy="512064"/>
          </a:xfrm>
          <a:prstGeom prst="roundRect">
            <a:avLst>
              <a:gd name="adj" fmla="val 39286"/>
            </a:avLst>
          </a:prstGeom>
          <a:solidFill>
            <a:srgbClr val="FF5C00"/>
          </a:solidFill>
          <a:ln w="12700">
            <a:solidFill>
              <a:srgbClr val="FF5C00"/>
            </a:solidFill>
            <a:prstDash val="solid"/>
          </a:ln>
        </p:spPr>
      </p:sp>
      <p:sp>
        <p:nvSpPr>
          <p:cNvPr id="22" name="Text 20"/>
          <p:cNvSpPr/>
          <p:nvPr/>
        </p:nvSpPr>
        <p:spPr>
          <a:xfrm>
            <a:off x="731520" y="534924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Google Form으로 낸다 · 8-2 전에 Google 계정에 로그인해 둔다</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06 폴더를 열고 PRD.md를 미리 보기로 읽는다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05</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08-1 · 14쪽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12</a:t>
            </a:r>
            <a:endParaRPr lang="en-US" sz="900" dirty="0"/>
          </a:p>
        </p:txBody>
      </p:sp>
      <p:sp>
        <p:nvSpPr>
          <p:cNvPr id="10" name="Shape 8"/>
          <p:cNvSpPr/>
          <p:nvPr/>
        </p:nvSpPr>
        <p:spPr>
          <a:xfrm>
            <a:off x="530352" y="1920240"/>
            <a:ext cx="2562606" cy="2103120"/>
          </a:xfrm>
          <a:prstGeom prst="roundRect">
            <a:avLst>
              <a:gd name="adj" fmla="val 2391"/>
            </a:avLst>
          </a:prstGeom>
          <a:solidFill>
            <a:srgbClr val="F1F2F4"/>
          </a:solidFill>
          <a:ln w="12700">
            <a:solidFill>
              <a:srgbClr val="E0E3E7"/>
            </a:solidFill>
            <a:prstDash val="solid"/>
          </a:ln>
        </p:spPr>
      </p:sp>
      <p:sp>
        <p:nvSpPr>
          <p:cNvPr id="11" name="Text 9"/>
          <p:cNvSpPr/>
          <p:nvPr/>
        </p:nvSpPr>
        <p:spPr>
          <a:xfrm>
            <a:off x="713232" y="208483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06 폴더</a:t>
            </a:r>
            <a:endParaRPr lang="en-US" sz="1650" dirty="0"/>
          </a:p>
        </p:txBody>
      </p:sp>
      <p:sp>
        <p:nvSpPr>
          <p:cNvPr id="13" name="Text 11"/>
          <p:cNvSpPr/>
          <p:nvPr/>
        </p:nvSpPr>
        <p:spPr>
          <a:xfrm>
            <a:off x="713232" y="2999232"/>
            <a:ext cx="2196846" cy="87782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오른쪽 클릭</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Code(으)로 열기</a:t>
            </a:r>
            <a:endParaRPr lang="en-US" sz="1350" dirty="0"/>
          </a:p>
        </p:txBody>
      </p:sp>
      <p:sp>
        <p:nvSpPr>
          <p:cNvPr id="14" name="Text 12"/>
          <p:cNvSpPr/>
          <p:nvPr/>
        </p:nvSpPr>
        <p:spPr>
          <a:xfrm>
            <a:off x="3065526" y="265176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3385566" y="1920240"/>
            <a:ext cx="2562606" cy="2103120"/>
          </a:xfrm>
          <a:prstGeom prst="roundRect">
            <a:avLst>
              <a:gd name="adj" fmla="val 2391"/>
            </a:avLst>
          </a:prstGeom>
          <a:solidFill>
            <a:srgbClr val="F1F2F4"/>
          </a:solidFill>
          <a:ln w="12700">
            <a:solidFill>
              <a:srgbClr val="E0E3E7"/>
            </a:solidFill>
            <a:prstDash val="solid"/>
          </a:ln>
        </p:spPr>
      </p:sp>
      <p:sp>
        <p:nvSpPr>
          <p:cNvPr id="16" name="Text 14"/>
          <p:cNvSpPr/>
          <p:nvPr/>
        </p:nvSpPr>
        <p:spPr>
          <a:xfrm>
            <a:off x="3568446" y="208483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7" name="Text 15"/>
          <p:cNvSpPr/>
          <p:nvPr/>
        </p:nvSpPr>
        <p:spPr>
          <a:xfrm>
            <a:off x="3568446"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탐색기 맨 위</a:t>
            </a:r>
            <a:endParaRPr lang="en-US" sz="1650" dirty="0"/>
          </a:p>
        </p:txBody>
      </p:sp>
      <p:sp>
        <p:nvSpPr>
          <p:cNvPr id="18" name="Text 16"/>
          <p:cNvSpPr/>
          <p:nvPr/>
        </p:nvSpPr>
        <p:spPr>
          <a:xfrm>
            <a:off x="3568446" y="2999232"/>
            <a:ext cx="2196846" cy="87782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06이 보이는지</a:t>
            </a:r>
            <a:endParaRPr lang="en-US" sz="1350" dirty="0"/>
          </a:p>
        </p:txBody>
      </p:sp>
      <p:sp>
        <p:nvSpPr>
          <p:cNvPr id="19" name="Text 17"/>
          <p:cNvSpPr/>
          <p:nvPr/>
        </p:nvSpPr>
        <p:spPr>
          <a:xfrm>
            <a:off x="5920740" y="265176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6240780" y="1920240"/>
            <a:ext cx="2562606" cy="2103120"/>
          </a:xfrm>
          <a:prstGeom prst="roundRect">
            <a:avLst>
              <a:gd name="adj" fmla="val 2391"/>
            </a:avLst>
          </a:prstGeom>
          <a:solidFill>
            <a:srgbClr val="F1F2F4"/>
          </a:solidFill>
          <a:ln w="12700">
            <a:solidFill>
              <a:srgbClr val="E0E3E7"/>
            </a:solidFill>
            <a:prstDash val="solid"/>
          </a:ln>
        </p:spPr>
      </p:sp>
      <p:sp>
        <p:nvSpPr>
          <p:cNvPr id="21" name="Text 19"/>
          <p:cNvSpPr/>
          <p:nvPr/>
        </p:nvSpPr>
        <p:spPr>
          <a:xfrm>
            <a:off x="6423660" y="208483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2" name="Text 20"/>
          <p:cNvSpPr/>
          <p:nvPr/>
        </p:nvSpPr>
        <p:spPr>
          <a:xfrm>
            <a:off x="6423660"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PRD.md</a:t>
            </a:r>
            <a:endParaRPr lang="en-US" sz="1650" dirty="0"/>
          </a:p>
        </p:txBody>
      </p:sp>
      <p:sp>
        <p:nvSpPr>
          <p:cNvPr id="23" name="Text 21"/>
          <p:cNvSpPr/>
          <p:nvPr/>
        </p:nvSpPr>
        <p:spPr>
          <a:xfrm>
            <a:off x="6423660" y="2999232"/>
            <a:ext cx="2196846" cy="87782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Ctrl+Shift+V</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미리 보기</a:t>
            </a:r>
            <a:endParaRPr lang="en-US" sz="1350" dirty="0"/>
          </a:p>
        </p:txBody>
      </p:sp>
      <p:sp>
        <p:nvSpPr>
          <p:cNvPr id="24" name="Text 22"/>
          <p:cNvSpPr/>
          <p:nvPr/>
        </p:nvSpPr>
        <p:spPr>
          <a:xfrm>
            <a:off x="8775954" y="265176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9095994" y="1920240"/>
            <a:ext cx="2562606" cy="2103120"/>
          </a:xfrm>
          <a:prstGeom prst="roundRect">
            <a:avLst>
              <a:gd name="adj" fmla="val 2391"/>
            </a:avLst>
          </a:prstGeom>
          <a:solidFill>
            <a:srgbClr val="E7F2ED"/>
          </a:solidFill>
          <a:ln w="12700">
            <a:solidFill>
              <a:srgbClr val="0E7C86"/>
            </a:solidFill>
            <a:prstDash val="solid"/>
          </a:ln>
        </p:spPr>
      </p:sp>
      <p:sp>
        <p:nvSpPr>
          <p:cNvPr id="26" name="Text 24"/>
          <p:cNvSpPr/>
          <p:nvPr/>
        </p:nvSpPr>
        <p:spPr>
          <a:xfrm>
            <a:off x="9278874" y="2084832"/>
            <a:ext cx="2196846"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a:t>
            </a:r>
            <a:endParaRPr lang="en-US" sz="1800" dirty="0"/>
          </a:p>
        </p:txBody>
      </p:sp>
      <p:sp>
        <p:nvSpPr>
          <p:cNvPr id="27" name="Text 25"/>
          <p:cNvSpPr/>
          <p:nvPr/>
        </p:nvSpPr>
        <p:spPr>
          <a:xfrm>
            <a:off x="9278874"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1–7항</a:t>
            </a:r>
            <a:endParaRPr lang="en-US" sz="1650" dirty="0"/>
          </a:p>
        </p:txBody>
      </p:sp>
      <p:sp>
        <p:nvSpPr>
          <p:cNvPr id="28" name="Text 26"/>
          <p:cNvSpPr/>
          <p:nvPr/>
        </p:nvSpPr>
        <p:spPr>
          <a:xfrm>
            <a:off x="9278874" y="2999232"/>
            <a:ext cx="2196846" cy="877824"/>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끝까지 읽기</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아직 고치지 않는다</a:t>
            </a:r>
            <a:endParaRPr lang="en-US" sz="1350" dirty="0"/>
          </a:p>
        </p:txBody>
      </p:sp>
      <p:sp>
        <p:nvSpPr>
          <p:cNvPr id="29" name="Shape 27"/>
          <p:cNvSpPr/>
          <p:nvPr/>
        </p:nvSpPr>
        <p:spPr>
          <a:xfrm>
            <a:off x="530352" y="4434840"/>
            <a:ext cx="11128248" cy="512064"/>
          </a:xfrm>
          <a:prstGeom prst="roundRect">
            <a:avLst>
              <a:gd name="adj" fmla="val 39286"/>
            </a:avLst>
          </a:prstGeom>
          <a:solidFill>
            <a:srgbClr val="EAF5FB"/>
          </a:solidFill>
          <a:ln w="12700">
            <a:solidFill>
              <a:srgbClr val="3D8DFF"/>
            </a:solidFill>
            <a:prstDash val="solid"/>
          </a:ln>
        </p:spPr>
      </p:sp>
      <p:sp>
        <p:nvSpPr>
          <p:cNvPr id="30" name="Text 28"/>
          <p:cNvSpPr/>
          <p:nvPr/>
        </p:nvSpPr>
        <p:spPr>
          <a:xfrm>
            <a:off x="731520" y="4434840"/>
            <a:ext cx="10725912" cy="512064"/>
          </a:xfrm>
          <a:prstGeom prst="rect">
            <a:avLst/>
          </a:prstGeom>
          <a:noFill/>
          <a:ln/>
        </p:spPr>
        <p:txBody>
          <a:bodyPr wrap="square" lIns="0" tIns="0" rIns="0" bIns="0" rtlCol="0" anchor="ctr"/>
          <a:lstStyle/>
          <a:p>
            <a:pPr algn="ctr" indent="0" marL="0">
              <a:buNone/>
            </a:pPr>
            <a:r>
              <a:rPr lang="en-US" sz="1600" b="1" dirty="0">
                <a:solidFill>
                  <a:srgbClr val="34373D"/>
                </a:solidFill>
                <a:latin typeface="IBM Plex Sans KR" pitchFamily="34" charset="0"/>
                <a:ea typeface="IBM Plex Sans KR" pitchFamily="34" charset="-122"/>
                <a:cs typeface="IBM Plex Sans KR" pitchFamily="34" charset="-120"/>
              </a:rPr>
              <a:t>JDH_VibeCoding_자기이름 → 06 → PRD.md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빈칸과 「(확인 필요)」부터 채운다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06</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08-1 · 15쪽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13</a:t>
            </a:r>
            <a:endParaRPr lang="en-US" sz="900" dirty="0"/>
          </a:p>
        </p:txBody>
      </p:sp>
      <p:sp>
        <p:nvSpPr>
          <p:cNvPr id="10" name="Shape 8"/>
          <p:cNvSpPr/>
          <p:nvPr/>
        </p:nvSpPr>
        <p:spPr>
          <a:xfrm>
            <a:off x="530352" y="1920240"/>
            <a:ext cx="2562606" cy="2103120"/>
          </a:xfrm>
          <a:prstGeom prst="roundRect">
            <a:avLst>
              <a:gd name="adj" fmla="val 2391"/>
            </a:avLst>
          </a:prstGeom>
          <a:solidFill>
            <a:srgbClr val="F1F2F4"/>
          </a:solidFill>
          <a:ln w="12700">
            <a:solidFill>
              <a:srgbClr val="E0E3E7"/>
            </a:solidFill>
            <a:prstDash val="solid"/>
          </a:ln>
        </p:spPr>
      </p:sp>
      <p:sp>
        <p:nvSpPr>
          <p:cNvPr id="11" name="Text 9"/>
          <p:cNvSpPr/>
          <p:nvPr/>
        </p:nvSpPr>
        <p:spPr>
          <a:xfrm>
            <a:off x="713232" y="208483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Ctrl+F</a:t>
            </a:r>
            <a:endParaRPr lang="en-US" sz="1650" dirty="0"/>
          </a:p>
        </p:txBody>
      </p:sp>
      <p:sp>
        <p:nvSpPr>
          <p:cNvPr id="13" name="Text 11"/>
          <p:cNvSpPr/>
          <p:nvPr/>
        </p:nvSpPr>
        <p:spPr>
          <a:xfrm>
            <a:off x="713232" y="2999232"/>
            <a:ext cx="2196846" cy="87782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확인 필요</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몇 개인지 본다</a:t>
            </a:r>
            <a:endParaRPr lang="en-US" sz="1350" dirty="0"/>
          </a:p>
        </p:txBody>
      </p:sp>
      <p:sp>
        <p:nvSpPr>
          <p:cNvPr id="14" name="Text 12"/>
          <p:cNvSpPr/>
          <p:nvPr/>
        </p:nvSpPr>
        <p:spPr>
          <a:xfrm>
            <a:off x="3065526" y="265176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3385566" y="1920240"/>
            <a:ext cx="2562606" cy="2103120"/>
          </a:xfrm>
          <a:prstGeom prst="roundRect">
            <a:avLst>
              <a:gd name="adj" fmla="val 2391"/>
            </a:avLst>
          </a:prstGeom>
          <a:solidFill>
            <a:srgbClr val="F1F2F4"/>
          </a:solidFill>
          <a:ln w="12700">
            <a:solidFill>
              <a:srgbClr val="E0E3E7"/>
            </a:solidFill>
            <a:prstDash val="solid"/>
          </a:ln>
        </p:spPr>
      </p:sp>
      <p:sp>
        <p:nvSpPr>
          <p:cNvPr id="16" name="Text 14"/>
          <p:cNvSpPr/>
          <p:nvPr/>
        </p:nvSpPr>
        <p:spPr>
          <a:xfrm>
            <a:off x="3568446" y="208483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7" name="Text 15"/>
          <p:cNvSpPr/>
          <p:nvPr/>
        </p:nvSpPr>
        <p:spPr>
          <a:xfrm>
            <a:off x="3568446"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내 말로 채우기</a:t>
            </a:r>
            <a:endParaRPr lang="en-US" sz="1650" dirty="0"/>
          </a:p>
        </p:txBody>
      </p:sp>
      <p:sp>
        <p:nvSpPr>
          <p:cNvPr id="18" name="Text 16"/>
          <p:cNvSpPr/>
          <p:nvPr/>
        </p:nvSpPr>
        <p:spPr>
          <a:xfrm>
            <a:off x="3568446" y="2999232"/>
            <a:ext cx="2196846" cy="87782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표시는 지운다</a:t>
            </a:r>
            <a:endParaRPr lang="en-US" sz="1350" dirty="0"/>
          </a:p>
        </p:txBody>
      </p:sp>
      <p:sp>
        <p:nvSpPr>
          <p:cNvPr id="19" name="Text 17"/>
          <p:cNvSpPr/>
          <p:nvPr/>
        </p:nvSpPr>
        <p:spPr>
          <a:xfrm>
            <a:off x="5920740" y="265176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6240780" y="1920240"/>
            <a:ext cx="2562606" cy="2103120"/>
          </a:xfrm>
          <a:prstGeom prst="roundRect">
            <a:avLst>
              <a:gd name="adj" fmla="val 2391"/>
            </a:avLst>
          </a:prstGeom>
          <a:solidFill>
            <a:srgbClr val="F1F2F4"/>
          </a:solidFill>
          <a:ln w="12700">
            <a:solidFill>
              <a:srgbClr val="E0E3E7"/>
            </a:solidFill>
            <a:prstDash val="solid"/>
          </a:ln>
        </p:spPr>
      </p:sp>
      <p:sp>
        <p:nvSpPr>
          <p:cNvPr id="21" name="Text 19"/>
          <p:cNvSpPr/>
          <p:nvPr/>
        </p:nvSpPr>
        <p:spPr>
          <a:xfrm>
            <a:off x="6423660" y="208483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2" name="Text 20"/>
          <p:cNvSpPr/>
          <p:nvPr/>
        </p:nvSpPr>
        <p:spPr>
          <a:xfrm>
            <a:off x="6423660"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___ · 빈 콜론</a:t>
            </a:r>
            <a:endParaRPr lang="en-US" sz="1650" dirty="0"/>
          </a:p>
        </p:txBody>
      </p:sp>
      <p:sp>
        <p:nvSpPr>
          <p:cNvPr id="23" name="Text 21"/>
          <p:cNvSpPr/>
          <p:nvPr/>
        </p:nvSpPr>
        <p:spPr>
          <a:xfrm>
            <a:off x="6423660" y="2999232"/>
            <a:ext cx="2196846" cy="87782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같은 방법으로</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채우거나 「없음」</a:t>
            </a:r>
            <a:endParaRPr lang="en-US" sz="1350" dirty="0"/>
          </a:p>
        </p:txBody>
      </p:sp>
      <p:sp>
        <p:nvSpPr>
          <p:cNvPr id="24" name="Text 22"/>
          <p:cNvSpPr/>
          <p:nvPr/>
        </p:nvSpPr>
        <p:spPr>
          <a:xfrm>
            <a:off x="8775954" y="265176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9095994" y="1920240"/>
            <a:ext cx="2562606" cy="2103120"/>
          </a:xfrm>
          <a:prstGeom prst="roundRect">
            <a:avLst>
              <a:gd name="adj" fmla="val 2391"/>
            </a:avLst>
          </a:prstGeom>
          <a:solidFill>
            <a:srgbClr val="E7F2ED"/>
          </a:solidFill>
          <a:ln w="12700">
            <a:solidFill>
              <a:srgbClr val="0E7C86"/>
            </a:solidFill>
            <a:prstDash val="solid"/>
          </a:ln>
        </p:spPr>
      </p:sp>
      <p:sp>
        <p:nvSpPr>
          <p:cNvPr id="26" name="Text 24"/>
          <p:cNvSpPr/>
          <p:nvPr/>
        </p:nvSpPr>
        <p:spPr>
          <a:xfrm>
            <a:off x="9278874" y="2084832"/>
            <a:ext cx="2196846"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a:t>
            </a:r>
            <a:endParaRPr lang="en-US" sz="1800" dirty="0"/>
          </a:p>
        </p:txBody>
      </p:sp>
      <p:sp>
        <p:nvSpPr>
          <p:cNvPr id="27" name="Text 25"/>
          <p:cNvSpPr/>
          <p:nvPr/>
        </p:nvSpPr>
        <p:spPr>
          <a:xfrm>
            <a:off x="9278874"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Ctrl+S</a:t>
            </a:r>
            <a:endParaRPr lang="en-US" sz="1650" dirty="0"/>
          </a:p>
        </p:txBody>
      </p:sp>
      <p:sp>
        <p:nvSpPr>
          <p:cNvPr id="28" name="Text 26"/>
          <p:cNvSpPr/>
          <p:nvPr/>
        </p:nvSpPr>
        <p:spPr>
          <a:xfrm>
            <a:off x="9278874" y="2999232"/>
            <a:ext cx="2196846" cy="877824"/>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탭의 ●가</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없어지면 저장</a:t>
            </a:r>
            <a:endParaRPr lang="en-US" sz="1350" dirty="0"/>
          </a:p>
        </p:txBody>
      </p:sp>
      <p:sp>
        <p:nvSpPr>
          <p:cNvPr id="29" name="Shape 27"/>
          <p:cNvSpPr/>
          <p:nvPr/>
        </p:nvSpPr>
        <p:spPr>
          <a:xfrm>
            <a:off x="530352" y="4434840"/>
            <a:ext cx="11128248" cy="512064"/>
          </a:xfrm>
          <a:prstGeom prst="roundRect">
            <a:avLst>
              <a:gd name="adj" fmla="val 39286"/>
            </a:avLst>
          </a:prstGeom>
          <a:solidFill>
            <a:srgbClr val="EAF5FB"/>
          </a:solidFill>
          <a:ln w="12700">
            <a:solidFill>
              <a:srgbClr val="3D8DFF"/>
            </a:solidFill>
            <a:prstDash val="solid"/>
          </a:ln>
        </p:spPr>
      </p:sp>
      <p:sp>
        <p:nvSpPr>
          <p:cNvPr id="30" name="Text 28"/>
          <p:cNvSpPr/>
          <p:nvPr/>
        </p:nvSpPr>
        <p:spPr>
          <a:xfrm>
            <a:off x="731520" y="443484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편집 화면에서 찾는다 (미리 보기 아님)</a:t>
            </a:r>
            <a:endParaRPr lang="en-US" sz="1500" dirty="0"/>
          </a:p>
        </p:txBody>
      </p:sp>
      <p:sp>
        <p:nvSpPr>
          <p:cNvPr id="31" name="Shape 29"/>
          <p:cNvSpPr/>
          <p:nvPr/>
        </p:nvSpPr>
        <p:spPr>
          <a:xfrm>
            <a:off x="530352" y="5120640"/>
            <a:ext cx="11128248" cy="512064"/>
          </a:xfrm>
          <a:prstGeom prst="roundRect">
            <a:avLst>
              <a:gd name="adj" fmla="val 39286"/>
            </a:avLst>
          </a:prstGeom>
          <a:solidFill>
            <a:srgbClr val="FF5C00"/>
          </a:solidFill>
          <a:ln w="12700">
            <a:solidFill>
              <a:srgbClr val="FF5C00"/>
            </a:solidFill>
            <a:prstDash val="solid"/>
          </a:ln>
        </p:spPr>
      </p:sp>
      <p:sp>
        <p:nvSpPr>
          <p:cNvPr id="32" name="Text 30"/>
          <p:cNvSpPr/>
          <p:nvPr/>
        </p:nvSpPr>
        <p:spPr>
          <a:xfrm>
            <a:off x="731520" y="512064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지금은 빈칸만 · 서비스를 바꾸거나 새 기능을 넣지 않는다</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막히면 이 표에서 내 줄을 찾는다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07</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08-1 · 16쪽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14</a:t>
            </a:r>
            <a:endParaRPr lang="en-US" sz="900" dirty="0"/>
          </a:p>
        </p:txBody>
      </p:sp>
      <p:sp>
        <p:nvSpPr>
          <p:cNvPr id="10" name="Shape 8"/>
          <p:cNvSpPr/>
          <p:nvPr/>
        </p:nvSpPr>
        <p:spPr>
          <a:xfrm>
            <a:off x="530352" y="1783080"/>
            <a:ext cx="4673864" cy="402336"/>
          </a:xfrm>
          <a:prstGeom prst="rect">
            <a:avLst/>
          </a:prstGeom>
          <a:solidFill>
            <a:srgbClr val="1B1D21"/>
          </a:solidFill>
          <a:ln/>
        </p:spPr>
      </p:sp>
      <p:sp>
        <p:nvSpPr>
          <p:cNvPr id="11" name="Text 9"/>
          <p:cNvSpPr/>
          <p:nvPr/>
        </p:nvSpPr>
        <p:spPr>
          <a:xfrm>
            <a:off x="658368" y="1783080"/>
            <a:ext cx="441783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이런 상황이라면</a:t>
            </a:r>
            <a:endParaRPr lang="en-US" sz="1050" dirty="0"/>
          </a:p>
        </p:txBody>
      </p:sp>
      <p:sp>
        <p:nvSpPr>
          <p:cNvPr id="12" name="Shape 10"/>
          <p:cNvSpPr/>
          <p:nvPr/>
        </p:nvSpPr>
        <p:spPr>
          <a:xfrm>
            <a:off x="5204216" y="1783080"/>
            <a:ext cx="6454384" cy="402336"/>
          </a:xfrm>
          <a:prstGeom prst="rect">
            <a:avLst/>
          </a:prstGeom>
          <a:solidFill>
            <a:srgbClr val="1B1D21"/>
          </a:solidFill>
          <a:ln/>
        </p:spPr>
      </p:sp>
      <p:sp>
        <p:nvSpPr>
          <p:cNvPr id="13" name="Text 11"/>
          <p:cNvSpPr/>
          <p:nvPr/>
        </p:nvSpPr>
        <p:spPr>
          <a:xfrm>
            <a:off x="5332232" y="1783080"/>
            <a:ext cx="619835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이렇게 한다</a:t>
            </a:r>
            <a:endParaRPr lang="en-US" sz="1050" dirty="0"/>
          </a:p>
        </p:txBody>
      </p:sp>
      <p:sp>
        <p:nvSpPr>
          <p:cNvPr id="14" name="Shape 12"/>
          <p:cNvSpPr/>
          <p:nvPr/>
        </p:nvSpPr>
        <p:spPr>
          <a:xfrm>
            <a:off x="530352" y="2185416"/>
            <a:ext cx="11128248" cy="603504"/>
          </a:xfrm>
          <a:prstGeom prst="rect">
            <a:avLst/>
          </a:prstGeom>
          <a:solidFill>
            <a:srgbClr val="F1F2F4"/>
          </a:solidFill>
          <a:ln w="9525">
            <a:solidFill>
              <a:srgbClr val="E0E3E7"/>
            </a:solidFill>
            <a:prstDash val="solid"/>
          </a:ln>
        </p:spPr>
      </p:sp>
      <p:sp>
        <p:nvSpPr>
          <p:cNvPr id="15" name="Text 13"/>
          <p:cNvSpPr/>
          <p:nvPr/>
        </p:nvSpPr>
        <p:spPr>
          <a:xfrm>
            <a:off x="658368" y="2185416"/>
            <a:ext cx="4417832" cy="60350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06 폴더나 PRD.md가 없다</a:t>
            </a:r>
            <a:endParaRPr lang="en-US" sz="1350" dirty="0"/>
          </a:p>
        </p:txBody>
      </p:sp>
      <p:sp>
        <p:nvSpPr>
          <p:cNvPr id="16" name="Text 14"/>
          <p:cNvSpPr/>
          <p:nvPr/>
        </p:nvSpPr>
        <p:spPr>
          <a:xfrm>
            <a:off x="5332232" y="2185416"/>
            <a:ext cx="6198352" cy="60350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6-1 교과서에서 06 학생용 자료를 다시 받는다</a:t>
            </a:r>
            <a:endParaRPr lang="en-US" sz="1350" dirty="0"/>
          </a:p>
        </p:txBody>
      </p:sp>
      <p:sp>
        <p:nvSpPr>
          <p:cNvPr id="17" name="Shape 15"/>
          <p:cNvSpPr/>
          <p:nvPr/>
        </p:nvSpPr>
        <p:spPr>
          <a:xfrm>
            <a:off x="530352" y="2788920"/>
            <a:ext cx="11128248" cy="603504"/>
          </a:xfrm>
          <a:prstGeom prst="rect">
            <a:avLst/>
          </a:prstGeom>
          <a:solidFill>
            <a:srgbClr val="FFFFFF"/>
          </a:solidFill>
          <a:ln w="9525">
            <a:solidFill>
              <a:srgbClr val="E0E3E7"/>
            </a:solidFill>
            <a:prstDash val="solid"/>
          </a:ln>
        </p:spPr>
      </p:sp>
      <p:sp>
        <p:nvSpPr>
          <p:cNvPr id="18" name="Text 16"/>
          <p:cNvSpPr/>
          <p:nvPr/>
        </p:nvSpPr>
        <p:spPr>
          <a:xfrm>
            <a:off x="658368" y="2788920"/>
            <a:ext cx="4417832" cy="60350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Code(으)로 열기가 없다</a:t>
            </a:r>
            <a:endParaRPr lang="en-US" sz="1350" dirty="0"/>
          </a:p>
        </p:txBody>
      </p:sp>
      <p:sp>
        <p:nvSpPr>
          <p:cNvPr id="19" name="Text 17"/>
          <p:cNvSpPr/>
          <p:nvPr/>
        </p:nvSpPr>
        <p:spPr>
          <a:xfrm>
            <a:off x="5332232" y="2788920"/>
            <a:ext cx="6198352" cy="60350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VS Code → File → Open Folder → 06</a:t>
            </a:r>
            <a:endParaRPr lang="en-US" sz="1350" dirty="0"/>
          </a:p>
        </p:txBody>
      </p:sp>
      <p:sp>
        <p:nvSpPr>
          <p:cNvPr id="20" name="Shape 18"/>
          <p:cNvSpPr/>
          <p:nvPr/>
        </p:nvSpPr>
        <p:spPr>
          <a:xfrm>
            <a:off x="530352" y="3392424"/>
            <a:ext cx="11128248" cy="603504"/>
          </a:xfrm>
          <a:prstGeom prst="rect">
            <a:avLst/>
          </a:prstGeom>
          <a:solidFill>
            <a:srgbClr val="F1F2F4"/>
          </a:solidFill>
          <a:ln w="9525">
            <a:solidFill>
              <a:srgbClr val="E0E3E7"/>
            </a:solidFill>
            <a:prstDash val="solid"/>
          </a:ln>
        </p:spPr>
      </p:sp>
      <p:sp>
        <p:nvSpPr>
          <p:cNvPr id="21" name="Text 19"/>
          <p:cNvSpPr/>
          <p:nvPr/>
        </p:nvSpPr>
        <p:spPr>
          <a:xfrm>
            <a:off x="658368" y="3392424"/>
            <a:ext cx="4417832" cy="60350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탐색기 맨 위가 06이 아니다</a:t>
            </a:r>
            <a:endParaRPr lang="en-US" sz="1350" dirty="0"/>
          </a:p>
        </p:txBody>
      </p:sp>
      <p:sp>
        <p:nvSpPr>
          <p:cNvPr id="22" name="Text 20"/>
          <p:cNvSpPr/>
          <p:nvPr/>
        </p:nvSpPr>
        <p:spPr>
          <a:xfrm>
            <a:off x="5332232" y="3392424"/>
            <a:ext cx="6198352" cy="60350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File → Open Folder로 06을 다시 연다</a:t>
            </a:r>
            <a:endParaRPr lang="en-US" sz="1350" dirty="0"/>
          </a:p>
        </p:txBody>
      </p:sp>
      <p:sp>
        <p:nvSpPr>
          <p:cNvPr id="23" name="Shape 21"/>
          <p:cNvSpPr/>
          <p:nvPr/>
        </p:nvSpPr>
        <p:spPr>
          <a:xfrm>
            <a:off x="530352" y="3995928"/>
            <a:ext cx="11128248" cy="603504"/>
          </a:xfrm>
          <a:prstGeom prst="rect">
            <a:avLst/>
          </a:prstGeom>
          <a:solidFill>
            <a:srgbClr val="FFFFFF"/>
          </a:solidFill>
          <a:ln w="9525">
            <a:solidFill>
              <a:srgbClr val="E0E3E7"/>
            </a:solidFill>
            <a:prstDash val="solid"/>
          </a:ln>
        </p:spPr>
      </p:sp>
      <p:sp>
        <p:nvSpPr>
          <p:cNvPr id="24" name="Text 22"/>
          <p:cNvSpPr/>
          <p:nvPr/>
        </p:nvSpPr>
        <p:spPr>
          <a:xfrm>
            <a:off x="658368" y="3995928"/>
            <a:ext cx="4417832" cy="60350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미리 보기가 안 열린다</a:t>
            </a:r>
            <a:endParaRPr lang="en-US" sz="1350" dirty="0"/>
          </a:p>
        </p:txBody>
      </p:sp>
      <p:sp>
        <p:nvSpPr>
          <p:cNvPr id="25" name="Text 23"/>
          <p:cNvSpPr/>
          <p:nvPr/>
        </p:nvSpPr>
        <p:spPr>
          <a:xfrm>
            <a:off x="5332232" y="3995928"/>
            <a:ext cx="6198352" cy="60350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PRD.md 탭을 누른 뒤 Ctrl+Shift+V</a:t>
            </a:r>
            <a:endParaRPr lang="en-US" sz="1350" dirty="0"/>
          </a:p>
        </p:txBody>
      </p:sp>
      <p:sp>
        <p:nvSpPr>
          <p:cNvPr id="26" name="Shape 24"/>
          <p:cNvSpPr/>
          <p:nvPr/>
        </p:nvSpPr>
        <p:spPr>
          <a:xfrm>
            <a:off x="530352" y="4599432"/>
            <a:ext cx="11128248" cy="603504"/>
          </a:xfrm>
          <a:prstGeom prst="rect">
            <a:avLst/>
          </a:prstGeom>
          <a:solidFill>
            <a:srgbClr val="F1F2F4"/>
          </a:solidFill>
          <a:ln w="9525">
            <a:solidFill>
              <a:srgbClr val="E0E3E7"/>
            </a:solidFill>
            <a:prstDash val="solid"/>
          </a:ln>
        </p:spPr>
      </p:sp>
      <p:sp>
        <p:nvSpPr>
          <p:cNvPr id="27" name="Text 25"/>
          <p:cNvSpPr/>
          <p:nvPr/>
        </p:nvSpPr>
        <p:spPr>
          <a:xfrm>
            <a:off x="658368" y="4599432"/>
            <a:ext cx="4417832" cy="60350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「(확인 필요)」가 열 개가 넘는다</a:t>
            </a:r>
            <a:endParaRPr lang="en-US" sz="1350" dirty="0"/>
          </a:p>
        </p:txBody>
      </p:sp>
      <p:sp>
        <p:nvSpPr>
          <p:cNvPr id="28" name="Text 26"/>
          <p:cNvSpPr/>
          <p:nvPr/>
        </p:nvSpPr>
        <p:spPr>
          <a:xfrm>
            <a:off x="5332232" y="4599432"/>
            <a:ext cx="6198352" cy="60350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2 · 3 · 4항부터 채운다</a:t>
            </a:r>
            <a:endParaRPr lang="en-US" sz="1350" dirty="0"/>
          </a:p>
        </p:txBody>
      </p:sp>
      <p:sp>
        <p:nvSpPr>
          <p:cNvPr id="29" name="Shape 27"/>
          <p:cNvSpPr/>
          <p:nvPr/>
        </p:nvSpPr>
        <p:spPr>
          <a:xfrm>
            <a:off x="530352" y="5349240"/>
            <a:ext cx="11128248" cy="512064"/>
          </a:xfrm>
          <a:prstGeom prst="roundRect">
            <a:avLst>
              <a:gd name="adj" fmla="val 39286"/>
            </a:avLst>
          </a:prstGeom>
          <a:solidFill>
            <a:srgbClr val="FF5C00"/>
          </a:solidFill>
          <a:ln w="12700">
            <a:solidFill>
              <a:srgbClr val="FF5C00"/>
            </a:solidFill>
            <a:prstDash val="solid"/>
          </a:ln>
        </p:spPr>
      </p:sp>
      <p:sp>
        <p:nvSpPr>
          <p:cNvPr id="30" name="Text 28"/>
          <p:cNvSpPr/>
          <p:nvPr/>
        </p:nvSpPr>
        <p:spPr>
          <a:xfrm>
            <a:off x="731520" y="534924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8-2 전에 해결한다 · 안 되면 바로 손을 든다</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다음 차시 · 8-2</a:t>
            </a:r>
            <a:endParaRPr lang="en-US" sz="1200" dirty="0"/>
          </a:p>
        </p:txBody>
      </p:sp>
      <p:sp>
        <p:nvSpPr>
          <p:cNvPr id="4" name="Text 2"/>
          <p:cNvSpPr/>
          <p:nvPr/>
        </p:nvSpPr>
        <p:spPr>
          <a:xfrm>
            <a:off x="530352" y="1828800"/>
            <a:ext cx="10424160" cy="1920240"/>
          </a:xfrm>
          <a:prstGeom prst="rect">
            <a:avLst/>
          </a:prstGeom>
          <a:noFill/>
          <a:ln/>
        </p:spPr>
        <p:txBody>
          <a:bodyPr wrap="square" lIns="0" tIns="0" rIns="0" bIns="0" rtlCol="0" anchor="ctr"/>
          <a:lstStyle/>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저장하고</a:t>
            </a:r>
            <a:endParaRPr lang="en-US" sz="3800" dirty="0"/>
          </a:p>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바로 8-2로 갑니다</a:t>
            </a:r>
            <a:endParaRPr lang="en-US" sz="3800" dirty="0"/>
          </a:p>
        </p:txBody>
      </p:sp>
      <p:sp>
        <p:nvSpPr>
          <p:cNvPr id="5" name="Text 3"/>
          <p:cNvSpPr/>
          <p:nvPr/>
        </p:nvSpPr>
        <p:spPr>
          <a:xfrm>
            <a:off x="530352" y="379476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VS Code를 닫지 않는다 → 시작 요청문 → 항목 맞추기 → 06 ZIP 제출</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08-1 · 17쪽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2026-10-25T16:47:04Z</dcterms:created>
  <dcterms:modified xsi:type="dcterms:W3CDTF">2026-10-25T16:47:04Z</dcterms:modified>
</cp:coreProperties>
</file>