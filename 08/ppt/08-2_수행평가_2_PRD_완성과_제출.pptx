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[0–1분] 표지
오늘은 수행평가 시간이다. 새 내용을 길게 설명하지 않는다. 교과서 8-2를 옆에 띄워 두고 쪽 순서대로 하면 된다.
8-1에서 연 06 폴더와 PRD.md를 그대로 쓴다. 서비스를 바꾸거나 새 기능을 넣지 않는다. 남은 시간에 새로 쓰면 앞뒤가 더 어긋난다.
어려운 부분은 AI나 선생님의 도움을 받아도 된다. 다만 최종 내용은 내가 읽고 설명할 수 있어야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[1–2분] AGENTS.md
6-1에서 skill을 설치하고 SKILL.md를 열어 봤다. AI가 읽는 지시문 파일이었다.
AGENTS.md도 AI가 읽는 지시문 파일인데, 부르지 않아도 OpenCode를 그 폴더에서 켤 때마다 먼저 읽는다. 그래서 창을 닫았다 다시 켜도 규칙이 남는다.
오늘 적을 규칙은 두 가지다. 대화를 기록한다, 지난 대화를 정리한다.
Open Folder로 06을 열고 그 안에서 켠 OpenCode만 이 파일을 읽는다. 다른 주차 폴더에는 영향이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[2–3분] skill과 AGENTS.md
둘 다 AI가 읽는 지시문 파일이라 겉모양은 비슷하다. 다른 점은 무엇을 적는지와 어디서 쓰이는지다.
skill(6-1 spartan)은 어떻게 답할지를 적는다. 다른 사람이 만든 것을 받아 설치하고, 설치한 폴더면 어느 과제든 쓸 수 있다. /spartan으로 부르거나 AI가 골라서 읽는다. 6-1에서는 opencode.json으로 늘 읽게 해 두었다.
AGENTS.md는 이 폴더에서 지킬 일을 적는다. 흔히 이 폴더가 무엇인지, 파일을 어떻게 다룰지, 일하기 전에 지킬 약속을 적는다. 이 폴더에 맞게 직접 만들고(오늘은 OpenCode에게 시켜서), 설정 없이 켤 때마다 저절로 읽는다.
헷갈리면: 말투나 일하는 방식을 바꾸려면 skill, 이 폴더에서 꼭 지킬 일이면 AGENTS.md. 대화 기록은 이 과제 폴더의 규칙이라 AGENTS.md에 적는다.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[3–4분] 고정 요청문
교과서 4쪽의 요청문을 복사 버튼으로 복사해 고치지 말고 그대로 보낸다. 모두 같은 요청문이어야 대화 기록의 모양이 같아진다.
요청문은 두 가지를 시킨다. 7항에서 지워졌거나 없는 줄만 채우고(이미 적은 내용과 학생이 바꾼 양식은 그대로), AGENTS.md에 대화 기록 규칙과 지난 대화 정리 규칙을 적는다.
AI대화기록.md는 아직 만들지 않는다. 다시 켠 뒤 지난 대화 정리 규칙이 만들고, 이 요청문도 지난 대화로 옮겨진다.
「준비 완료」와 7항에서 채운 줄이 있는지가 나오면 다음 장으로.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[4–5분] 다시 켜기
AGENTS.md는 OpenCode가 켜질 때 읽는다. 그래서 만든 뒤에는 한 번 닫았다 다시 켜야 규칙이 적용된다.
다시 켠 뒤 첫 말을 보내면 AI대화기록.md가 생기고, 6-2·7-2와 방금 시작 요청문을 보낸 대화까지 06 폴더의 지난 대화를 맨 앞에 정리하고, 그다음부터 나누는 말이 모두 기록된다.
기다리지 말고 바로 1~3항 맞추기를 시작한다. 가끔 AI대화기록.md를 열어 기록이 늘고 있는지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[5–9분] 1~3항 맞추기
미리 보기를 옆에 두고 편집 화면에서 1항부터 고친다. 질문에 「아니요」가 나오면 그 자리를 고치고 다음 줄로 간다.
내 PRD의 항목 이름이나 순서가 달라도 괜찮다. 비슷한 부분을 찾아 같은 질문을 한다. 개수는 정해 두지 않는다.
「모든 사람」은 사용자가 아니다. 언제 쓰는지가 있어야 한다.
흐름에 「알림을 받는다」가 있는데 2항에 알림이 없다면, 기능을 더하기보다 흐름에서 그 단계를 빼는 편이 낫다. 범위가 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[9–12분] 4~5항 맞추기
4항은 3항의 흐름이 화면에서 어떻게 보이는지 글로 적은 것이고, 5항은 그 화면에서 생기는 기록이다. 그래서 3항과 같은 순서로 읽혀야 한다.
입력이 없거나 잘못되었을 때의 안내는 12회 테스트에서 그대로 시험한다.
AI가 SQL·코드·ERD를 넣었거나 4항에 색·글꼴·정확한 위치를 적었다면 지운다. 평가 범위가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[12–15분] 6항 맞추기
완성 기준은 12회와 13회에 내 서비스를 시험하는 문장이 된다. 「잘 작동한다」처럼 눈으로 확인할 수 없는 말은 쓰지 않는다.
기준마다 「다 만든 뒤에 이 문장을 손으로 해 볼 수 있는가?」를 물어보고, 안 되면 화면에 보이는 변화로 바꾼다.
기준의 개수는 정해 두지 않는다. 내 서비스에 맞게 정한다. 기록을 남기는 서비스라면 다시 열어도 그 기록이 보이는지 확인하는 기준을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[15–19분] 한 흐름으로 이어 읽기
항목을 따로따로 읽으면 각각은 괜찮아 보여서 어긋남이 보이지 않는다. 미리 보기에서 위 순서대로 이어서, 작게 소리 내어 읽는다.
말이 걸리는 곳이 고칠 곳이다. 걸리는 곳은 대개 표의 네 가지 가운데 하나다.
고친 뒤에는 한 번 더 처음부터 이어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[19–24분] AI 점검
내가 먼저 맞춘 다음에 AI에게 한 번 더 보게 한다. AI가 PRD.md를 직접 고쳐도 괜찮다.
다만 고친 곳을 줄마다 읽고, 남길지 되돌릴지는 내가 정한다. 그 판단이 수행평가에서 보는 부분이다.
AGENTS.md가 있으니 창을 닫았다 켜도 시작 요청문을 다시 보낼 필요가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[24–30분] 7항에 적기
AI는 대개 더 넣는 쪽으로 질문한다. 맞는 것은 남기고, 이 수업의 범위를 넘는 것은 되돌린다. 어느 쪽이든 이유와 함께 7항에 적는다.
6-2·7-2에서 적은 줄은 지우지 않고, 그 아래에 오늘 것을 이어서 쓴다.
이 7항과 대화 기록이 30점짜리 「AI 활용과 학생 판단」 영역이다.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[30–34분] 자기 설명
이수의 마지막 조건은 내가 PRD를 읽고 설명할 수 있는 것이다. 짝과 서로 물어봐도 좋다.
말이 막히는 항목은 AI의 문장을 그대로 옮겼거나 뜻을 정하지 않고 적은 곳이다. 지금 내 말로 다시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[34–37분] ZIP 만들기
새 파일을 만들지 않고, PRD.md · AI대화기록.md · mockup 폴더가 든 06 폴더를 통째로 묶는다.
파일 탐색기에서 JDH_VibeCoding_자기이름 폴더를 열고 06 폴더를 오른쪽 클릭 → 더 많은 옵션 표시 → 보내기 → 압축(ZIP) 폴더. 옆에 06.zip이 생긴다.
ZIP 이름만 바꾼다. 끝의 .zip을 지우지 않는다. ZIP을 두 번 눌러 안에 파일이 다 있는지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[37–39분] 제출 전 확인
교과서 18쪽의 체크 목록을 하나씩 본다. 8-1에서 읽은 평가 기준과 같은 내용이다.
ZIP을 만든 뒤에 PRD를 고쳤다면, 예전 ZIP을 지우고 다시 묶는다. 고치기 전의 파일이 제출되는 일이 가장 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[39–42분] 제출
교과서 15쪽의 「수행평가 2 제출 Form 열기」 버튼을 누른다. 브라우저 기록에서 5-2의 수행평가 1 Form을 다시 열지 않는다.
제출 버튼을 누르기 전에 화면에 보이는 파일 이름이 내 ZIP과 같은지 확인한다. 제출 완료 메시지가 나올 때까지 창을 닫지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[42–44분] 막힐 때
교과서 17쪽 표에서 내 상황과 같은 줄을 찾는다.
key를 찾지 못한다는 오류는 OpenCode Zen이 OpenCode Console로 합쳐지면서 생긴 문제다. 키를 다시 붙여 넣어도 되지 않는다.
교과서 20쪽대로 /exit → opencode auth logout → OpenCode Console 고르기 → opencode → /connect → OpenCode Console → 브라우저 로그인. AGENTS.md와 대화 기록은 남아 있으니 시작 요청문은 다시 보내지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[44–45분] 마무리
제출 완료 화면을 봤다면 수행평가 2는 끝이다. 06 폴더는 9회에 그대로 이어서 쓰니 지우거나 옮기지 않는다.
남길 것: 항목은 사용자 → 기능 → 흐름 → 화면 → 기록 → 완성 기준으로 이어 읽는다. 어긋나면 범위를 줄이는 쪽으로 고친다. AI가 고친 곳은 내가 정해 이유와 함께 7항에 적는다.
9회에는 오늘 낸 PRD를 AI에게 주고 사용자 흐름을 그린다. 그때 PRD는 만들어진 결과가 계획과 맞는지 확인하는 기준이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8회 · 둘째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수행평가 2</a:t>
            </a:r>
            <a:endParaRPr lang="en-US" sz="4000" dirty="0"/>
          </a:p>
          <a:p>
            <a:pPr indent="0" marL="0">
              <a:buNone/>
            </a:pPr>
            <a:r>
              <a:rPr lang="en-US" sz="4000" b="1" dirty="0">
                <a:solidFill>
                  <a:srgbClr val="FFFFFF"/>
                </a:solidFill>
                <a:latin typeface="IBM Plex Sans KR" pitchFamily="34" charset="0"/>
                <a:ea typeface="IBM Plex Sans KR" pitchFamily="34" charset="-122"/>
                <a:cs typeface="IBM Plex Sans KR" pitchFamily="34" charset="-120"/>
              </a:rPr>
              <a:t>PRD 완성·제출</a:t>
            </a:r>
            <a:endParaRPr lang="en-US" sz="40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교과서 8-2를 옆에 두고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순서대로 진행합니다.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AGENTS.md는 이 폴더에서 AI가 먼저 읽는 규칙이다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sp>
        <p:nvSpPr>
          <p:cNvPr id="10" name="Shape 8"/>
          <p:cNvSpPr/>
          <p:nvPr/>
        </p:nvSpPr>
        <p:spPr>
          <a:xfrm>
            <a:off x="530352" y="1783080"/>
            <a:ext cx="1780520" cy="402336"/>
          </a:xfrm>
          <a:prstGeom prst="rect">
            <a:avLst/>
          </a:prstGeom>
          <a:solidFill>
            <a:srgbClr val="1B1D21"/>
          </a:solidFill>
          <a:ln/>
        </p:spPr>
      </p:sp>
      <p:sp>
        <p:nvSpPr>
          <p:cNvPr id="11" name="Text 9"/>
          <p:cNvSpPr/>
          <p:nvPr/>
        </p:nvSpPr>
        <p:spPr>
          <a:xfrm>
            <a:off x="658368" y="1783080"/>
            <a:ext cx="1524488" cy="402336"/>
          </a:xfrm>
          <a:prstGeom prst="rect">
            <a:avLst/>
          </a:prstGeom>
          <a:noFill/>
          <a:ln/>
        </p:spPr>
        <p:txBody>
          <a:bodyPr wrap="square" lIns="0" tIns="0" rIns="0" bIns="0" rtlCol="0" anchor="ctr"/>
          <a:lstStyle/>
          <a:p>
            <a:pPr indent="0" marL="0">
              <a:buNone/>
            </a:pPr>
            <a:endParaRPr lang="en-US" sz="1050" dirty="0"/>
          </a:p>
        </p:txBody>
      </p:sp>
      <p:sp>
        <p:nvSpPr>
          <p:cNvPr id="12" name="Shape 10"/>
          <p:cNvSpPr/>
          <p:nvPr/>
        </p:nvSpPr>
        <p:spPr>
          <a:xfrm>
            <a:off x="2310872" y="1783080"/>
            <a:ext cx="2670780" cy="402336"/>
          </a:xfrm>
          <a:prstGeom prst="rect">
            <a:avLst/>
          </a:prstGeom>
          <a:solidFill>
            <a:srgbClr val="1B1D21"/>
          </a:solidFill>
          <a:ln/>
        </p:spPr>
      </p:sp>
      <p:sp>
        <p:nvSpPr>
          <p:cNvPr id="13" name="Text 11"/>
          <p:cNvSpPr/>
          <p:nvPr/>
        </p:nvSpPr>
        <p:spPr>
          <a:xfrm>
            <a:off x="2438888" y="1783080"/>
            <a:ext cx="241474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대화창 요청문</a:t>
            </a:r>
            <a:endParaRPr lang="en-US" sz="1050" dirty="0"/>
          </a:p>
        </p:txBody>
      </p:sp>
      <p:sp>
        <p:nvSpPr>
          <p:cNvPr id="14" name="Shape 12"/>
          <p:cNvSpPr/>
          <p:nvPr/>
        </p:nvSpPr>
        <p:spPr>
          <a:xfrm>
            <a:off x="4981651" y="1783080"/>
            <a:ext cx="3338474" cy="402336"/>
          </a:xfrm>
          <a:prstGeom prst="rect">
            <a:avLst/>
          </a:prstGeom>
          <a:solidFill>
            <a:srgbClr val="1B1D21"/>
          </a:solidFill>
          <a:ln/>
        </p:spPr>
      </p:sp>
      <p:sp>
        <p:nvSpPr>
          <p:cNvPr id="15" name="Text 13"/>
          <p:cNvSpPr/>
          <p:nvPr/>
        </p:nvSpPr>
        <p:spPr>
          <a:xfrm>
            <a:off x="5109667" y="1783080"/>
            <a:ext cx="308244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SKILL.md · 6-1</a:t>
            </a:r>
            <a:endParaRPr lang="en-US" sz="1050" dirty="0"/>
          </a:p>
        </p:txBody>
      </p:sp>
      <p:sp>
        <p:nvSpPr>
          <p:cNvPr id="16" name="Shape 14"/>
          <p:cNvSpPr/>
          <p:nvPr/>
        </p:nvSpPr>
        <p:spPr>
          <a:xfrm>
            <a:off x="8320126" y="1783080"/>
            <a:ext cx="3338474" cy="402336"/>
          </a:xfrm>
          <a:prstGeom prst="rect">
            <a:avLst/>
          </a:prstGeom>
          <a:solidFill>
            <a:srgbClr val="1B1D21"/>
          </a:solidFill>
          <a:ln/>
        </p:spPr>
      </p:sp>
      <p:sp>
        <p:nvSpPr>
          <p:cNvPr id="17" name="Text 15"/>
          <p:cNvSpPr/>
          <p:nvPr/>
        </p:nvSpPr>
        <p:spPr>
          <a:xfrm>
            <a:off x="8448142" y="1783080"/>
            <a:ext cx="308244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AGENTS.md · 오늘</a:t>
            </a:r>
            <a:endParaRPr lang="en-US" sz="1050" dirty="0"/>
          </a:p>
        </p:txBody>
      </p:sp>
      <p:sp>
        <p:nvSpPr>
          <p:cNvPr id="18" name="Shape 16"/>
          <p:cNvSpPr/>
          <p:nvPr/>
        </p:nvSpPr>
        <p:spPr>
          <a:xfrm>
            <a:off x="530352" y="2185416"/>
            <a:ext cx="11128248" cy="548640"/>
          </a:xfrm>
          <a:prstGeom prst="rect">
            <a:avLst/>
          </a:prstGeom>
          <a:solidFill>
            <a:srgbClr val="F1F2F4"/>
          </a:solidFill>
          <a:ln w="9525">
            <a:solidFill>
              <a:srgbClr val="E0E3E7"/>
            </a:solidFill>
            <a:prstDash val="solid"/>
          </a:ln>
        </p:spPr>
      </p:sp>
      <p:sp>
        <p:nvSpPr>
          <p:cNvPr id="19" name="Text 17"/>
          <p:cNvSpPr/>
          <p:nvPr/>
        </p:nvSpPr>
        <p:spPr>
          <a:xfrm>
            <a:off x="658368" y="2185416"/>
            <a:ext cx="1524488"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어디에</a:t>
            </a:r>
            <a:endParaRPr lang="en-US" sz="1350" dirty="0"/>
          </a:p>
        </p:txBody>
      </p:sp>
      <p:sp>
        <p:nvSpPr>
          <p:cNvPr id="20" name="Text 18"/>
          <p:cNvSpPr/>
          <p:nvPr/>
        </p:nvSpPr>
        <p:spPr>
          <a:xfrm>
            <a:off x="2438888" y="2185416"/>
            <a:ext cx="2414748"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대화창</a:t>
            </a:r>
            <a:endParaRPr lang="en-US" sz="1350" dirty="0"/>
          </a:p>
        </p:txBody>
      </p:sp>
      <p:sp>
        <p:nvSpPr>
          <p:cNvPr id="21" name="Text 19"/>
          <p:cNvSpPr/>
          <p:nvPr/>
        </p:nvSpPr>
        <p:spPr>
          <a:xfrm>
            <a:off x="5109667" y="218541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.agents\skills\…\SKILL.md</a:t>
            </a:r>
            <a:endParaRPr lang="en-US" sz="1350" dirty="0"/>
          </a:p>
        </p:txBody>
      </p:sp>
      <p:sp>
        <p:nvSpPr>
          <p:cNvPr id="22" name="Text 20"/>
          <p:cNvSpPr/>
          <p:nvPr/>
        </p:nvSpPr>
        <p:spPr>
          <a:xfrm>
            <a:off x="8448142" y="218541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06\AGENTS.md</a:t>
            </a:r>
            <a:endParaRPr lang="en-US" sz="1350" dirty="0"/>
          </a:p>
        </p:txBody>
      </p:sp>
      <p:sp>
        <p:nvSpPr>
          <p:cNvPr id="23" name="Shape 21"/>
          <p:cNvSpPr/>
          <p:nvPr/>
        </p:nvSpPr>
        <p:spPr>
          <a:xfrm>
            <a:off x="530352" y="2734056"/>
            <a:ext cx="11128248" cy="548640"/>
          </a:xfrm>
          <a:prstGeom prst="rect">
            <a:avLst/>
          </a:prstGeom>
          <a:solidFill>
            <a:srgbClr val="FFFFFF"/>
          </a:solidFill>
          <a:ln w="9525">
            <a:solidFill>
              <a:srgbClr val="E0E3E7"/>
            </a:solidFill>
            <a:prstDash val="solid"/>
          </a:ln>
        </p:spPr>
      </p:sp>
      <p:sp>
        <p:nvSpPr>
          <p:cNvPr id="24" name="Text 22"/>
          <p:cNvSpPr/>
          <p:nvPr/>
        </p:nvSpPr>
        <p:spPr>
          <a:xfrm>
            <a:off x="658368" y="2734056"/>
            <a:ext cx="1524488"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언제 읽나</a:t>
            </a:r>
            <a:endParaRPr lang="en-US" sz="1350" dirty="0"/>
          </a:p>
        </p:txBody>
      </p:sp>
      <p:sp>
        <p:nvSpPr>
          <p:cNvPr id="25" name="Text 23"/>
          <p:cNvSpPr/>
          <p:nvPr/>
        </p:nvSpPr>
        <p:spPr>
          <a:xfrm>
            <a:off x="2438888" y="2734056"/>
            <a:ext cx="2414748"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보낸 그 대화에서</a:t>
            </a:r>
            <a:endParaRPr lang="en-US" sz="1350" dirty="0"/>
          </a:p>
        </p:txBody>
      </p:sp>
      <p:sp>
        <p:nvSpPr>
          <p:cNvPr id="26" name="Text 24"/>
          <p:cNvSpPr/>
          <p:nvPr/>
        </p:nvSpPr>
        <p:spPr>
          <a:xfrm>
            <a:off x="5109667" y="273405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부르거나 AI가 골라서</a:t>
            </a:r>
            <a:endParaRPr lang="en-US" sz="1350" dirty="0"/>
          </a:p>
        </p:txBody>
      </p:sp>
      <p:sp>
        <p:nvSpPr>
          <p:cNvPr id="27" name="Text 25"/>
          <p:cNvSpPr/>
          <p:nvPr/>
        </p:nvSpPr>
        <p:spPr>
          <a:xfrm>
            <a:off x="8448142" y="273405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이 폴더에서 켤 때마다 먼저</a:t>
            </a:r>
            <a:endParaRPr lang="en-US" sz="1350" dirty="0"/>
          </a:p>
        </p:txBody>
      </p:sp>
      <p:sp>
        <p:nvSpPr>
          <p:cNvPr id="28" name="Shape 26"/>
          <p:cNvSpPr/>
          <p:nvPr/>
        </p:nvSpPr>
        <p:spPr>
          <a:xfrm>
            <a:off x="530352" y="3282696"/>
            <a:ext cx="11128248" cy="548640"/>
          </a:xfrm>
          <a:prstGeom prst="rect">
            <a:avLst/>
          </a:prstGeom>
          <a:solidFill>
            <a:srgbClr val="F1F2F4"/>
          </a:solidFill>
          <a:ln w="9525">
            <a:solidFill>
              <a:srgbClr val="E0E3E7"/>
            </a:solidFill>
            <a:prstDash val="solid"/>
          </a:ln>
        </p:spPr>
      </p:sp>
      <p:sp>
        <p:nvSpPr>
          <p:cNvPr id="29" name="Text 27"/>
          <p:cNvSpPr/>
          <p:nvPr/>
        </p:nvSpPr>
        <p:spPr>
          <a:xfrm>
            <a:off x="658368" y="3282696"/>
            <a:ext cx="1524488"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창을 닫으면</a:t>
            </a:r>
            <a:endParaRPr lang="en-US" sz="1350" dirty="0"/>
          </a:p>
        </p:txBody>
      </p:sp>
      <p:sp>
        <p:nvSpPr>
          <p:cNvPr id="30" name="Text 28"/>
          <p:cNvSpPr/>
          <p:nvPr/>
        </p:nvSpPr>
        <p:spPr>
          <a:xfrm>
            <a:off x="2438888" y="3282696"/>
            <a:ext cx="2414748"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잊는다</a:t>
            </a:r>
            <a:endParaRPr lang="en-US" sz="1350" dirty="0"/>
          </a:p>
        </p:txBody>
      </p:sp>
      <p:sp>
        <p:nvSpPr>
          <p:cNvPr id="31" name="Text 29"/>
          <p:cNvSpPr/>
          <p:nvPr/>
        </p:nvSpPr>
        <p:spPr>
          <a:xfrm>
            <a:off x="5109667" y="328269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남는다</a:t>
            </a:r>
            <a:endParaRPr lang="en-US" sz="1350" dirty="0"/>
          </a:p>
        </p:txBody>
      </p:sp>
      <p:sp>
        <p:nvSpPr>
          <p:cNvPr id="32" name="Text 30"/>
          <p:cNvSpPr/>
          <p:nvPr/>
        </p:nvSpPr>
        <p:spPr>
          <a:xfrm>
            <a:off x="8448142" y="328269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남는다</a:t>
            </a:r>
            <a:endParaRPr lang="en-US" sz="1350" dirty="0"/>
          </a:p>
        </p:txBody>
      </p:sp>
      <p:sp>
        <p:nvSpPr>
          <p:cNvPr id="33" name="Shape 31"/>
          <p:cNvSpPr/>
          <p:nvPr/>
        </p:nvSpPr>
        <p:spPr>
          <a:xfrm>
            <a:off x="530352" y="3831336"/>
            <a:ext cx="11128248" cy="548640"/>
          </a:xfrm>
          <a:prstGeom prst="rect">
            <a:avLst/>
          </a:prstGeom>
          <a:solidFill>
            <a:srgbClr val="FFFFFF"/>
          </a:solidFill>
          <a:ln w="9525">
            <a:solidFill>
              <a:srgbClr val="E0E3E7"/>
            </a:solidFill>
            <a:prstDash val="solid"/>
          </a:ln>
        </p:spPr>
      </p:sp>
      <p:sp>
        <p:nvSpPr>
          <p:cNvPr id="34" name="Text 32"/>
          <p:cNvSpPr/>
          <p:nvPr/>
        </p:nvSpPr>
        <p:spPr>
          <a:xfrm>
            <a:off x="658368" y="3831336"/>
            <a:ext cx="1524488" cy="54864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무엇을 적나</a:t>
            </a:r>
            <a:endParaRPr lang="en-US" sz="1350" dirty="0"/>
          </a:p>
        </p:txBody>
      </p:sp>
      <p:sp>
        <p:nvSpPr>
          <p:cNvPr id="35" name="Text 33"/>
          <p:cNvSpPr/>
          <p:nvPr/>
        </p:nvSpPr>
        <p:spPr>
          <a:xfrm>
            <a:off x="2438888" y="3831336"/>
            <a:ext cx="2414748"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지금 할 일</a:t>
            </a:r>
            <a:endParaRPr lang="en-US" sz="1350" dirty="0"/>
          </a:p>
        </p:txBody>
      </p:sp>
      <p:sp>
        <p:nvSpPr>
          <p:cNvPr id="36" name="Text 34"/>
          <p:cNvSpPr/>
          <p:nvPr/>
        </p:nvSpPr>
        <p:spPr>
          <a:xfrm>
            <a:off x="5109667" y="383133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일하는 방식</a:t>
            </a:r>
            <a:endParaRPr lang="en-US" sz="1350" dirty="0"/>
          </a:p>
        </p:txBody>
      </p:sp>
      <p:sp>
        <p:nvSpPr>
          <p:cNvPr id="37" name="Text 35"/>
          <p:cNvSpPr/>
          <p:nvPr/>
        </p:nvSpPr>
        <p:spPr>
          <a:xfrm>
            <a:off x="8448142" y="3831336"/>
            <a:ext cx="3082442" cy="54864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이 폴더의 규칙</a:t>
            </a:r>
            <a:endParaRPr lang="en-US" sz="1350" dirty="0"/>
          </a:p>
        </p:txBody>
      </p:sp>
      <p:sp>
        <p:nvSpPr>
          <p:cNvPr id="38" name="Shape 36"/>
          <p:cNvSpPr/>
          <p:nvPr/>
        </p:nvSpPr>
        <p:spPr>
          <a:xfrm>
            <a:off x="8320126" y="1783080"/>
            <a:ext cx="3338474" cy="2596896"/>
          </a:xfrm>
          <a:prstGeom prst="rect">
            <a:avLst/>
          </a:prstGeom>
          <a:noFill/>
          <a:ln w="28575">
            <a:solidFill>
              <a:srgbClr val="FF5C00"/>
            </a:solidFill>
            <a:prstDash val="solid"/>
          </a:ln>
        </p:spPr>
      </p:sp>
      <p:sp>
        <p:nvSpPr>
          <p:cNvPr id="39" name="Shape 37"/>
          <p:cNvSpPr/>
          <p:nvPr/>
        </p:nvSpPr>
        <p:spPr>
          <a:xfrm>
            <a:off x="530352" y="4983480"/>
            <a:ext cx="11128248" cy="512064"/>
          </a:xfrm>
          <a:prstGeom prst="roundRect">
            <a:avLst>
              <a:gd name="adj" fmla="val 39286"/>
            </a:avLst>
          </a:prstGeom>
          <a:solidFill>
            <a:srgbClr val="EAF5FB"/>
          </a:solidFill>
          <a:ln w="12700">
            <a:solidFill>
              <a:srgbClr val="3D8DFF"/>
            </a:solidFill>
            <a:prstDash val="solid"/>
          </a:ln>
        </p:spPr>
      </p:sp>
      <p:sp>
        <p:nvSpPr>
          <p:cNvPr id="40" name="Text 38"/>
          <p:cNvSpPr/>
          <p:nvPr/>
        </p:nvSpPr>
        <p:spPr>
          <a:xfrm>
            <a:off x="731520" y="4983480"/>
            <a:ext cx="10725912" cy="512064"/>
          </a:xfrm>
          <a:prstGeom prst="rect">
            <a:avLst/>
          </a:prstGeom>
          <a:noFill/>
          <a:ln/>
        </p:spPr>
        <p:txBody>
          <a:bodyPr wrap="square" lIns="0" tIns="0" rIns="0" bIns="0" rtlCol="0" anchor="ctr"/>
          <a:lstStyle/>
          <a:p>
            <a:pPr algn="ctr" indent="0" marL="0">
              <a:buNone/>
            </a:pPr>
            <a:r>
              <a:rPr lang="en-US" sz="1600" b="1" dirty="0">
                <a:solidFill>
                  <a:srgbClr val="34373D"/>
                </a:solidFill>
                <a:latin typeface="IBM Plex Sans KR" pitchFamily="34" charset="0"/>
                <a:ea typeface="IBM Plex Sans KR" pitchFamily="34" charset="-122"/>
                <a:cs typeface="IBM Plex Sans KR" pitchFamily="34" charset="-120"/>
              </a:rPr>
              <a:t>오늘 적을 규칙: 대화를 기록한다 · 지난 대화를 정리한다</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skill은 일하는 방법, AGENTS.md는 이 폴더의 규칙이다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Shape 8"/>
          <p:cNvSpPr/>
          <p:nvPr/>
        </p:nvSpPr>
        <p:spPr>
          <a:xfrm>
            <a:off x="530352" y="1783080"/>
            <a:ext cx="5417820" cy="2240280"/>
          </a:xfrm>
          <a:prstGeom prst="roundRect">
            <a:avLst>
              <a:gd name="adj" fmla="val 2041"/>
            </a:avLst>
          </a:prstGeom>
          <a:solidFill>
            <a:srgbClr val="24272C"/>
          </a:solidFill>
          <a:ln/>
        </p:spPr>
      </p:sp>
      <p:sp>
        <p:nvSpPr>
          <p:cNvPr id="11" name="Text 9"/>
          <p:cNvSpPr/>
          <p:nvPr/>
        </p:nvSpPr>
        <p:spPr>
          <a:xfrm>
            <a:off x="768096" y="1911096"/>
            <a:ext cx="494233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skill · .agents\skills\spartan\SKILL.md (예시)</a:t>
            </a:r>
            <a:endParaRPr lang="en-US" sz="950" dirty="0"/>
          </a:p>
        </p:txBody>
      </p:sp>
      <p:sp>
        <p:nvSpPr>
          <p:cNvPr id="12" name="Text 10"/>
          <p:cNvSpPr/>
          <p:nvPr/>
        </p:nvSpPr>
        <p:spPr>
          <a:xfrm>
            <a:off x="768096" y="2185416"/>
            <a:ext cx="4942332" cy="1691640"/>
          </a:xfrm>
          <a:prstGeom prst="rect">
            <a:avLst/>
          </a:prstGeom>
          <a:noFill/>
          <a:ln/>
        </p:spPr>
        <p:txBody>
          <a:bodyPr wrap="square" lIns="0" tIns="0" rIns="0" bIns="0" rtlCol="0" anchor="t"/>
          <a:lstStyle/>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name: spartan</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 첫 줄에 답을 한 문장으로</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 꼭 필요한 줄만 짧게</a:t>
            </a:r>
            <a:endParaRPr lang="en-US" sz="1350" dirty="0"/>
          </a:p>
        </p:txBody>
      </p:sp>
      <p:sp>
        <p:nvSpPr>
          <p:cNvPr id="13" name="Shape 11"/>
          <p:cNvSpPr/>
          <p:nvPr/>
        </p:nvSpPr>
        <p:spPr>
          <a:xfrm>
            <a:off x="6240780" y="1783080"/>
            <a:ext cx="5417820" cy="2240280"/>
          </a:xfrm>
          <a:prstGeom prst="roundRect">
            <a:avLst>
              <a:gd name="adj" fmla="val 2041"/>
            </a:avLst>
          </a:prstGeom>
          <a:solidFill>
            <a:srgbClr val="24272C"/>
          </a:solidFill>
          <a:ln/>
        </p:spPr>
      </p:sp>
      <p:sp>
        <p:nvSpPr>
          <p:cNvPr id="14" name="Text 12"/>
          <p:cNvSpPr/>
          <p:nvPr/>
        </p:nvSpPr>
        <p:spPr>
          <a:xfrm>
            <a:off x="6478524" y="1911096"/>
            <a:ext cx="494233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AGENTS.md · 프로젝트 폴더\AGENTS.md (예시)</a:t>
            </a:r>
            <a:endParaRPr lang="en-US" sz="950" dirty="0"/>
          </a:p>
        </p:txBody>
      </p:sp>
      <p:sp>
        <p:nvSpPr>
          <p:cNvPr id="15" name="Text 13"/>
          <p:cNvSpPr/>
          <p:nvPr/>
        </p:nvSpPr>
        <p:spPr>
          <a:xfrm>
            <a:off x="6478524" y="2185416"/>
            <a:ext cx="4942332" cy="1691640"/>
          </a:xfrm>
          <a:prstGeom prst="rect">
            <a:avLst/>
          </a:prstGeom>
          <a:noFill/>
          <a:ln/>
        </p:spPr>
        <p:txBody>
          <a:bodyPr wrap="square" lIns="0" tIns="0" rIns="0" bIns="0" rtlCol="0" anchor="t"/>
          <a:lstStyle/>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 이 프로젝트</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 학교 동아리 소개 웹사이트다</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 답은 한국어로 한다</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 새 화면은 pages 폴더에 만든다</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 고치기 전에 무엇을 고칠지 먼저 말한다</a:t>
            </a:r>
            <a:endParaRPr lang="en-US" sz="1350" dirty="0"/>
          </a:p>
        </p:txBody>
      </p:sp>
      <p:sp>
        <p:nvSpPr>
          <p:cNvPr id="16" name="Shape 14"/>
          <p:cNvSpPr/>
          <p:nvPr/>
        </p:nvSpPr>
        <p:spPr>
          <a:xfrm>
            <a:off x="530352" y="4206240"/>
            <a:ext cx="1780520" cy="402336"/>
          </a:xfrm>
          <a:prstGeom prst="rect">
            <a:avLst/>
          </a:prstGeom>
          <a:solidFill>
            <a:srgbClr val="1B1D21"/>
          </a:solidFill>
          <a:ln/>
        </p:spPr>
      </p:sp>
      <p:sp>
        <p:nvSpPr>
          <p:cNvPr id="17" name="Text 15"/>
          <p:cNvSpPr/>
          <p:nvPr/>
        </p:nvSpPr>
        <p:spPr>
          <a:xfrm>
            <a:off x="658368" y="4206240"/>
            <a:ext cx="1524488" cy="402336"/>
          </a:xfrm>
          <a:prstGeom prst="rect">
            <a:avLst/>
          </a:prstGeom>
          <a:noFill/>
          <a:ln/>
        </p:spPr>
        <p:txBody>
          <a:bodyPr wrap="square" lIns="0" tIns="0" rIns="0" bIns="0" rtlCol="0" anchor="ctr"/>
          <a:lstStyle/>
          <a:p>
            <a:pPr indent="0" marL="0">
              <a:buNone/>
            </a:pPr>
            <a:endParaRPr lang="en-US" sz="1050" dirty="0"/>
          </a:p>
        </p:txBody>
      </p:sp>
      <p:sp>
        <p:nvSpPr>
          <p:cNvPr id="18" name="Shape 16"/>
          <p:cNvSpPr/>
          <p:nvPr/>
        </p:nvSpPr>
        <p:spPr>
          <a:xfrm>
            <a:off x="2310872" y="4206240"/>
            <a:ext cx="4673864" cy="402336"/>
          </a:xfrm>
          <a:prstGeom prst="rect">
            <a:avLst/>
          </a:prstGeom>
          <a:solidFill>
            <a:srgbClr val="1B1D21"/>
          </a:solidFill>
          <a:ln/>
        </p:spPr>
      </p:sp>
      <p:sp>
        <p:nvSpPr>
          <p:cNvPr id="19" name="Text 17"/>
          <p:cNvSpPr/>
          <p:nvPr/>
        </p:nvSpPr>
        <p:spPr>
          <a:xfrm>
            <a:off x="2438888" y="420624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skill</a:t>
            </a:r>
            <a:endParaRPr lang="en-US" sz="1050" dirty="0"/>
          </a:p>
        </p:txBody>
      </p:sp>
      <p:sp>
        <p:nvSpPr>
          <p:cNvPr id="20" name="Shape 18"/>
          <p:cNvSpPr/>
          <p:nvPr/>
        </p:nvSpPr>
        <p:spPr>
          <a:xfrm>
            <a:off x="6984736" y="4206240"/>
            <a:ext cx="4673864" cy="402336"/>
          </a:xfrm>
          <a:prstGeom prst="rect">
            <a:avLst/>
          </a:prstGeom>
          <a:solidFill>
            <a:srgbClr val="1B1D21"/>
          </a:solidFill>
          <a:ln/>
        </p:spPr>
      </p:sp>
      <p:sp>
        <p:nvSpPr>
          <p:cNvPr id="21" name="Text 19"/>
          <p:cNvSpPr/>
          <p:nvPr/>
        </p:nvSpPr>
        <p:spPr>
          <a:xfrm>
            <a:off x="7112752" y="420624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AGENTS.md</a:t>
            </a:r>
            <a:endParaRPr lang="en-US" sz="1050" dirty="0"/>
          </a:p>
        </p:txBody>
      </p:sp>
      <p:sp>
        <p:nvSpPr>
          <p:cNvPr id="22" name="Shape 20"/>
          <p:cNvSpPr/>
          <p:nvPr/>
        </p:nvSpPr>
        <p:spPr>
          <a:xfrm>
            <a:off x="530352" y="4608576"/>
            <a:ext cx="11128248" cy="475488"/>
          </a:xfrm>
          <a:prstGeom prst="rect">
            <a:avLst/>
          </a:prstGeom>
          <a:solidFill>
            <a:srgbClr val="F1F2F4"/>
          </a:solidFill>
          <a:ln w="9525">
            <a:solidFill>
              <a:srgbClr val="E0E3E7"/>
            </a:solidFill>
            <a:prstDash val="solid"/>
          </a:ln>
        </p:spPr>
      </p:sp>
      <p:sp>
        <p:nvSpPr>
          <p:cNvPr id="23" name="Text 21"/>
          <p:cNvSpPr/>
          <p:nvPr/>
        </p:nvSpPr>
        <p:spPr>
          <a:xfrm>
            <a:off x="658368" y="4608576"/>
            <a:ext cx="1524488"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누가 만드나</a:t>
            </a:r>
            <a:endParaRPr lang="en-US" sz="1350" dirty="0"/>
          </a:p>
        </p:txBody>
      </p:sp>
      <p:sp>
        <p:nvSpPr>
          <p:cNvPr id="24" name="Text 22"/>
          <p:cNvSpPr/>
          <p:nvPr/>
        </p:nvSpPr>
        <p:spPr>
          <a:xfrm>
            <a:off x="2438888" y="4608576"/>
            <a:ext cx="441783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다른 사람이 만든 것을 받아 설치</a:t>
            </a:r>
            <a:endParaRPr lang="en-US" sz="1350" dirty="0"/>
          </a:p>
        </p:txBody>
      </p:sp>
      <p:sp>
        <p:nvSpPr>
          <p:cNvPr id="25" name="Text 23"/>
          <p:cNvSpPr/>
          <p:nvPr/>
        </p:nvSpPr>
        <p:spPr>
          <a:xfrm>
            <a:off x="7112752" y="4608576"/>
            <a:ext cx="441783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이 폴더에 맞게 직접 (오늘은 OpenCode에게)</a:t>
            </a:r>
            <a:endParaRPr lang="en-US" sz="1350" dirty="0"/>
          </a:p>
        </p:txBody>
      </p:sp>
      <p:sp>
        <p:nvSpPr>
          <p:cNvPr id="26" name="Shape 24"/>
          <p:cNvSpPr/>
          <p:nvPr/>
        </p:nvSpPr>
        <p:spPr>
          <a:xfrm>
            <a:off x="530352" y="5084064"/>
            <a:ext cx="11128248" cy="475488"/>
          </a:xfrm>
          <a:prstGeom prst="rect">
            <a:avLst/>
          </a:prstGeom>
          <a:solidFill>
            <a:srgbClr val="FFFFFF"/>
          </a:solidFill>
          <a:ln w="9525">
            <a:solidFill>
              <a:srgbClr val="E0E3E7"/>
            </a:solidFill>
            <a:prstDash val="solid"/>
          </a:ln>
        </p:spPr>
      </p:sp>
      <p:sp>
        <p:nvSpPr>
          <p:cNvPr id="27" name="Text 25"/>
          <p:cNvSpPr/>
          <p:nvPr/>
        </p:nvSpPr>
        <p:spPr>
          <a:xfrm>
            <a:off x="658368" y="5084064"/>
            <a:ext cx="1524488"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어디서 쓰나</a:t>
            </a:r>
            <a:endParaRPr lang="en-US" sz="1350" dirty="0"/>
          </a:p>
        </p:txBody>
      </p:sp>
      <p:sp>
        <p:nvSpPr>
          <p:cNvPr id="28" name="Text 26"/>
          <p:cNvSpPr/>
          <p:nvPr/>
        </p:nvSpPr>
        <p:spPr>
          <a:xfrm>
            <a:off x="2438888" y="5084064"/>
            <a:ext cx="441783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설치한 폴더면 어디서나</a:t>
            </a:r>
            <a:endParaRPr lang="en-US" sz="1350" dirty="0"/>
          </a:p>
        </p:txBody>
      </p:sp>
      <p:sp>
        <p:nvSpPr>
          <p:cNvPr id="29" name="Text 27"/>
          <p:cNvSpPr/>
          <p:nvPr/>
        </p:nvSpPr>
        <p:spPr>
          <a:xfrm>
            <a:off x="7112752" y="5084064"/>
            <a:ext cx="441783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이 폴더 하나에서만</a:t>
            </a:r>
            <a:endParaRPr lang="en-US" sz="1350" dirty="0"/>
          </a:p>
        </p:txBody>
      </p:sp>
      <p:sp>
        <p:nvSpPr>
          <p:cNvPr id="30" name="Shape 28"/>
          <p:cNvSpPr/>
          <p:nvPr/>
        </p:nvSpPr>
        <p:spPr>
          <a:xfrm>
            <a:off x="530352" y="5559552"/>
            <a:ext cx="11128248" cy="475488"/>
          </a:xfrm>
          <a:prstGeom prst="rect">
            <a:avLst/>
          </a:prstGeom>
          <a:solidFill>
            <a:srgbClr val="F1F2F4"/>
          </a:solidFill>
          <a:ln w="9525">
            <a:solidFill>
              <a:srgbClr val="E0E3E7"/>
            </a:solidFill>
            <a:prstDash val="solid"/>
          </a:ln>
        </p:spPr>
      </p:sp>
      <p:sp>
        <p:nvSpPr>
          <p:cNvPr id="31" name="Text 29"/>
          <p:cNvSpPr/>
          <p:nvPr/>
        </p:nvSpPr>
        <p:spPr>
          <a:xfrm>
            <a:off x="658368" y="5559552"/>
            <a:ext cx="1524488"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언제 읽나</a:t>
            </a:r>
            <a:endParaRPr lang="en-US" sz="1350" dirty="0"/>
          </a:p>
        </p:txBody>
      </p:sp>
      <p:sp>
        <p:nvSpPr>
          <p:cNvPr id="32" name="Text 30"/>
          <p:cNvSpPr/>
          <p:nvPr/>
        </p:nvSpPr>
        <p:spPr>
          <a:xfrm>
            <a:off x="2438888" y="5559552"/>
            <a:ext cx="441783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/spartan으로 부르거나 AI가 골라서</a:t>
            </a:r>
            <a:endParaRPr lang="en-US" sz="1350" dirty="0"/>
          </a:p>
        </p:txBody>
      </p:sp>
      <p:sp>
        <p:nvSpPr>
          <p:cNvPr id="33" name="Text 31"/>
          <p:cNvSpPr/>
          <p:nvPr/>
        </p:nvSpPr>
        <p:spPr>
          <a:xfrm>
            <a:off x="7112752" y="5559552"/>
            <a:ext cx="4417832"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설정 없이 켤 때마다 저절로</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모두 같은 요청문을 글자 그대로 보낸다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783080"/>
            <a:ext cx="11128248" cy="868680"/>
          </a:xfrm>
          <a:prstGeom prst="roundRect">
            <a:avLst>
              <a:gd name="adj" fmla="val 5263"/>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터미널 → 새 터미널 · 줄 끝이 …\06&gt; 인지 보고</a:t>
            </a:r>
            <a:endParaRPr lang="en-US" sz="950" dirty="0"/>
          </a:p>
        </p:txBody>
      </p:sp>
      <p:sp>
        <p:nvSpPr>
          <p:cNvPr id="12" name="Text 10"/>
          <p:cNvSpPr/>
          <p:nvPr/>
        </p:nvSpPr>
        <p:spPr>
          <a:xfrm>
            <a:off x="768096" y="2185416"/>
            <a:ext cx="10652760" cy="320040"/>
          </a:xfrm>
          <a:prstGeom prst="rect">
            <a:avLst/>
          </a:prstGeom>
          <a:noFill/>
          <a:ln/>
        </p:spPr>
        <p:txBody>
          <a:bodyPr wrap="square" lIns="0" tIns="0" rIns="0" bIns="0" rtlCol="0" anchor="t"/>
          <a:lstStyle/>
          <a:p>
            <a:pPr indent="0" marL="0">
              <a:lnSpc>
                <a:spcPts val="3060"/>
              </a:lnSpc>
              <a:buNone/>
            </a:pPr>
            <a:r>
              <a:rPr lang="en-US" sz="1800" b="1" dirty="0">
                <a:solidFill>
                  <a:srgbClr val="E8EAED"/>
                </a:solidFill>
                <a:latin typeface="IBM Plex Mono" pitchFamily="34" charset="0"/>
                <a:ea typeface="IBM Plex Mono" pitchFamily="34" charset="-122"/>
                <a:cs typeface="IBM Plex Mono" pitchFamily="34" charset="-120"/>
              </a:rPr>
              <a:t>opencode</a:t>
            </a:r>
            <a:endParaRPr lang="en-US" sz="1800" dirty="0"/>
          </a:p>
        </p:txBody>
      </p:sp>
      <p:sp>
        <p:nvSpPr>
          <p:cNvPr id="13" name="Shape 11"/>
          <p:cNvSpPr/>
          <p:nvPr/>
        </p:nvSpPr>
        <p:spPr>
          <a:xfrm>
            <a:off x="530352" y="2880360"/>
            <a:ext cx="5417820" cy="1828800"/>
          </a:xfrm>
          <a:prstGeom prst="roundRect">
            <a:avLst>
              <a:gd name="adj" fmla="val 2750"/>
            </a:avLst>
          </a:prstGeom>
          <a:solidFill>
            <a:srgbClr val="F1F2F4"/>
          </a:solidFill>
          <a:ln w="12700">
            <a:solidFill>
              <a:srgbClr val="E0E3E7"/>
            </a:solidFill>
            <a:prstDash val="solid"/>
          </a:ln>
        </p:spPr>
      </p:sp>
      <p:sp>
        <p:nvSpPr>
          <p:cNvPr id="14" name="Text 12"/>
          <p:cNvSpPr/>
          <p:nvPr/>
        </p:nvSpPr>
        <p:spPr>
          <a:xfrm>
            <a:off x="713232" y="3044952"/>
            <a:ext cx="505206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5" name="Text 13"/>
          <p:cNvSpPr/>
          <p:nvPr/>
        </p:nvSpPr>
        <p:spPr>
          <a:xfrm>
            <a:off x="713232" y="3465576"/>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7항</a:t>
            </a:r>
            <a:endParaRPr lang="en-US" sz="1650" dirty="0"/>
          </a:p>
        </p:txBody>
      </p:sp>
      <p:sp>
        <p:nvSpPr>
          <p:cNvPr id="16" name="Text 14"/>
          <p:cNvSpPr/>
          <p:nvPr/>
        </p:nvSpPr>
        <p:spPr>
          <a:xfrm>
            <a:off x="713232" y="3959352"/>
            <a:ext cx="5052060" cy="60350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빠진 줄만 채운다</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적은 내용·양식은 그대로</a:t>
            </a:r>
            <a:endParaRPr lang="en-US" sz="1350" dirty="0"/>
          </a:p>
        </p:txBody>
      </p:sp>
      <p:sp>
        <p:nvSpPr>
          <p:cNvPr id="17" name="Shape 15"/>
          <p:cNvSpPr/>
          <p:nvPr/>
        </p:nvSpPr>
        <p:spPr>
          <a:xfrm>
            <a:off x="6240780" y="2880360"/>
            <a:ext cx="5417820" cy="1828800"/>
          </a:xfrm>
          <a:prstGeom prst="roundRect">
            <a:avLst>
              <a:gd name="adj" fmla="val 2750"/>
            </a:avLst>
          </a:prstGeom>
          <a:solidFill>
            <a:srgbClr val="E7F2ED"/>
          </a:solidFill>
          <a:ln w="12700">
            <a:solidFill>
              <a:srgbClr val="0E7C86"/>
            </a:solidFill>
            <a:prstDash val="solid"/>
          </a:ln>
        </p:spPr>
      </p:sp>
      <p:sp>
        <p:nvSpPr>
          <p:cNvPr id="18" name="Text 16"/>
          <p:cNvSpPr/>
          <p:nvPr/>
        </p:nvSpPr>
        <p:spPr>
          <a:xfrm>
            <a:off x="6423660" y="3044952"/>
            <a:ext cx="5052060"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2</a:t>
            </a:r>
            <a:endParaRPr lang="en-US" sz="1800" dirty="0"/>
          </a:p>
        </p:txBody>
      </p:sp>
      <p:sp>
        <p:nvSpPr>
          <p:cNvPr id="19" name="Text 17"/>
          <p:cNvSpPr/>
          <p:nvPr/>
        </p:nvSpPr>
        <p:spPr>
          <a:xfrm>
            <a:off x="6423660" y="3465576"/>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AGENTS.md</a:t>
            </a:r>
            <a:endParaRPr lang="en-US" sz="1650" dirty="0"/>
          </a:p>
        </p:txBody>
      </p:sp>
      <p:sp>
        <p:nvSpPr>
          <p:cNvPr id="20" name="Text 18"/>
          <p:cNvSpPr/>
          <p:nvPr/>
        </p:nvSpPr>
        <p:spPr>
          <a:xfrm>
            <a:off x="6423660" y="3959352"/>
            <a:ext cx="5052060" cy="60350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대화 기록 규칙</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지난 대화 정리 규칙</a:t>
            </a:r>
            <a:endParaRPr lang="en-US" sz="1350" dirty="0"/>
          </a:p>
        </p:txBody>
      </p:sp>
      <p:sp>
        <p:nvSpPr>
          <p:cNvPr id="21" name="Shape 19"/>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22" name="Text 20"/>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교과서 4쪽의 요청문을 복사해 붙여 넣는다 · 「준비 완료」가 나오면 다음</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한 번 닫았다 켜야 AGENTS.md가 적용된다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920240"/>
            <a:ext cx="2562606" cy="2011680"/>
          </a:xfrm>
          <a:prstGeom prst="roundRect">
            <a:avLst>
              <a:gd name="adj" fmla="val 2500"/>
            </a:avLst>
          </a:prstGeom>
          <a:solidFill>
            <a:srgbClr val="F1F2F4"/>
          </a:solidFill>
          <a:ln w="12700">
            <a:solidFill>
              <a:srgbClr val="E0E3E7"/>
            </a:solidFill>
            <a:prstDash val="solid"/>
          </a:ln>
        </p:spPr>
      </p:sp>
      <p:sp>
        <p:nvSpPr>
          <p:cNvPr id="11" name="Text 9"/>
          <p:cNvSpPr/>
          <p:nvPr/>
        </p:nvSpPr>
        <p:spPr>
          <a:xfrm>
            <a:off x="713232"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확인</a:t>
            </a:r>
            <a:endParaRPr lang="en-US" sz="1650" dirty="0"/>
          </a:p>
        </p:txBody>
      </p:sp>
      <p:sp>
        <p:nvSpPr>
          <p:cNvPr id="13" name="Text 11"/>
          <p:cNvSpPr/>
          <p:nvPr/>
        </p:nvSpPr>
        <p:spPr>
          <a:xfrm>
            <a:off x="713232" y="299923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AGENTS.md</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생겼는지</a:t>
            </a:r>
            <a:endParaRPr lang="en-US" sz="1350" dirty="0"/>
          </a:p>
        </p:txBody>
      </p:sp>
      <p:sp>
        <p:nvSpPr>
          <p:cNvPr id="14" name="Text 12"/>
          <p:cNvSpPr/>
          <p:nvPr/>
        </p:nvSpPr>
        <p:spPr>
          <a:xfrm>
            <a:off x="3065526"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920240"/>
            <a:ext cx="2562606" cy="2011680"/>
          </a:xfrm>
          <a:prstGeom prst="roundRect">
            <a:avLst>
              <a:gd name="adj" fmla="val 2500"/>
            </a:avLst>
          </a:prstGeom>
          <a:solidFill>
            <a:srgbClr val="F1F2F4"/>
          </a:solidFill>
          <a:ln w="12700">
            <a:solidFill>
              <a:srgbClr val="E0E3E7"/>
            </a:solidFill>
            <a:prstDash val="solid"/>
          </a:ln>
        </p:spPr>
      </p:sp>
      <p:sp>
        <p:nvSpPr>
          <p:cNvPr id="16" name="Text 14"/>
          <p:cNvSpPr/>
          <p:nvPr/>
        </p:nvSpPr>
        <p:spPr>
          <a:xfrm>
            <a:off x="3568446"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/exit</a:t>
            </a:r>
            <a:endParaRPr lang="en-US" sz="1650" dirty="0"/>
          </a:p>
        </p:txBody>
      </p:sp>
      <p:sp>
        <p:nvSpPr>
          <p:cNvPr id="18" name="Text 16"/>
          <p:cNvSpPr/>
          <p:nvPr/>
        </p:nvSpPr>
        <p:spPr>
          <a:xfrm>
            <a:off x="3568446" y="299923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OpenCode 닫기</a:t>
            </a:r>
            <a:endParaRPr lang="en-US" sz="1350" dirty="0"/>
          </a:p>
        </p:txBody>
      </p:sp>
      <p:sp>
        <p:nvSpPr>
          <p:cNvPr id="19" name="Text 17"/>
          <p:cNvSpPr/>
          <p:nvPr/>
        </p:nvSpPr>
        <p:spPr>
          <a:xfrm>
            <a:off x="5920740"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920240"/>
            <a:ext cx="2562606" cy="2011680"/>
          </a:xfrm>
          <a:prstGeom prst="roundRect">
            <a:avLst>
              <a:gd name="adj" fmla="val 2500"/>
            </a:avLst>
          </a:prstGeom>
          <a:solidFill>
            <a:srgbClr val="F1F2F4"/>
          </a:solidFill>
          <a:ln w="12700">
            <a:solidFill>
              <a:srgbClr val="E0E3E7"/>
            </a:solidFill>
            <a:prstDash val="solid"/>
          </a:ln>
        </p:spPr>
      </p:sp>
      <p:sp>
        <p:nvSpPr>
          <p:cNvPr id="21" name="Text 19"/>
          <p:cNvSpPr/>
          <p:nvPr/>
        </p:nvSpPr>
        <p:spPr>
          <a:xfrm>
            <a:off x="6423660"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opencode</a:t>
            </a:r>
            <a:endParaRPr lang="en-US" sz="1650" dirty="0"/>
          </a:p>
        </p:txBody>
      </p:sp>
      <p:sp>
        <p:nvSpPr>
          <p:cNvPr id="23" name="Text 21"/>
          <p:cNvSpPr/>
          <p:nvPr/>
        </p:nvSpPr>
        <p:spPr>
          <a:xfrm>
            <a:off x="6423660" y="299923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터미널에서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다시 켜기</a:t>
            </a:r>
            <a:endParaRPr lang="en-US" sz="1350" dirty="0"/>
          </a:p>
        </p:txBody>
      </p:sp>
      <p:sp>
        <p:nvSpPr>
          <p:cNvPr id="24" name="Text 22"/>
          <p:cNvSpPr/>
          <p:nvPr/>
        </p:nvSpPr>
        <p:spPr>
          <a:xfrm>
            <a:off x="8775954"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920240"/>
            <a:ext cx="2562606" cy="2011680"/>
          </a:xfrm>
          <a:prstGeom prst="roundRect">
            <a:avLst>
              <a:gd name="adj" fmla="val 2500"/>
            </a:avLst>
          </a:prstGeom>
          <a:solidFill>
            <a:srgbClr val="E7F2ED"/>
          </a:solidFill>
          <a:ln w="12700">
            <a:solidFill>
              <a:srgbClr val="0E7C86"/>
            </a:solidFill>
            <a:prstDash val="solid"/>
          </a:ln>
        </p:spPr>
      </p:sp>
      <p:sp>
        <p:nvSpPr>
          <p:cNvPr id="26" name="Text 24"/>
          <p:cNvSpPr/>
          <p:nvPr/>
        </p:nvSpPr>
        <p:spPr>
          <a:xfrm>
            <a:off x="9278874" y="208483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첫 말 보내기</a:t>
            </a:r>
            <a:endParaRPr lang="en-US" sz="1650" dirty="0"/>
          </a:p>
        </p:txBody>
      </p:sp>
      <p:sp>
        <p:nvSpPr>
          <p:cNvPr id="28" name="Text 26"/>
          <p:cNvSpPr/>
          <p:nvPr/>
        </p:nvSpPr>
        <p:spPr>
          <a:xfrm>
            <a:off x="9278874" y="299923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아래 문장을</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복사해 보낸다</a:t>
            </a:r>
            <a:endParaRPr lang="en-US" sz="1350" dirty="0"/>
          </a:p>
        </p:txBody>
      </p:sp>
      <p:sp>
        <p:nvSpPr>
          <p:cNvPr id="29" name="Shape 27"/>
          <p:cNvSpPr/>
          <p:nvPr/>
        </p:nvSpPr>
        <p:spPr>
          <a:xfrm>
            <a:off x="530352" y="4206240"/>
            <a:ext cx="11128248" cy="868680"/>
          </a:xfrm>
          <a:prstGeom prst="roundRect">
            <a:avLst>
              <a:gd name="adj" fmla="val 5263"/>
            </a:avLst>
          </a:prstGeom>
          <a:solidFill>
            <a:srgbClr val="24272C"/>
          </a:solidFill>
          <a:ln/>
        </p:spPr>
      </p:sp>
      <p:sp>
        <p:nvSpPr>
          <p:cNvPr id="30" name="Text 28"/>
          <p:cNvSpPr/>
          <p:nvPr/>
        </p:nvSpPr>
        <p:spPr>
          <a:xfrm>
            <a:off x="768096" y="4334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다시 켠 뒤 첫 말</a:t>
            </a:r>
            <a:endParaRPr lang="en-US" sz="950" dirty="0"/>
          </a:p>
        </p:txBody>
      </p:sp>
      <p:sp>
        <p:nvSpPr>
          <p:cNvPr id="31" name="Text 29"/>
          <p:cNvSpPr/>
          <p:nvPr/>
        </p:nvSpPr>
        <p:spPr>
          <a:xfrm>
            <a:off x="768096" y="4608576"/>
            <a:ext cx="10652760" cy="320040"/>
          </a:xfrm>
          <a:prstGeom prst="rect">
            <a:avLst/>
          </a:prstGeom>
          <a:noFill/>
          <a:ln/>
        </p:spPr>
        <p:txBody>
          <a:bodyPr wrap="square" lIns="0" tIns="0" rIns="0" bIns="0" rtlCol="0" anchor="t"/>
          <a:lstStyle/>
          <a:p>
            <a:pPr indent="0" marL="0">
              <a:lnSpc>
                <a:spcPts val="2720"/>
              </a:lnSpc>
              <a:buNone/>
            </a:pPr>
            <a:r>
              <a:rPr lang="en-US" sz="1600" b="1" dirty="0">
                <a:solidFill>
                  <a:srgbClr val="E8EAED"/>
                </a:solidFill>
                <a:latin typeface="IBM Plex Mono" pitchFamily="34" charset="0"/>
                <a:ea typeface="IBM Plex Mono" pitchFamily="34" charset="-122"/>
                <a:cs typeface="IBM Plex Mono" pitchFamily="34" charset="-120"/>
              </a:rPr>
              <a:t>AGENTS.md 규칙대로 시작해 줘. 지난 대화를 몇 개 옮겼는지 알려 줘.</a:t>
            </a:r>
            <a:endParaRPr lang="en-US" sz="1600" dirty="0"/>
          </a:p>
        </p:txBody>
      </p:sp>
      <p:sp>
        <p:nvSpPr>
          <p:cNvPr id="32" name="Shape 30"/>
          <p:cNvSpPr/>
          <p:nvPr/>
        </p:nvSpPr>
        <p:spPr>
          <a:xfrm>
            <a:off x="530352" y="5349240"/>
            <a:ext cx="11128248" cy="512064"/>
          </a:xfrm>
          <a:prstGeom prst="roundRect">
            <a:avLst>
              <a:gd name="adj" fmla="val 39286"/>
            </a:avLst>
          </a:prstGeom>
          <a:solidFill>
            <a:srgbClr val="EAF5FB"/>
          </a:solidFill>
          <a:ln w="12700">
            <a:solidFill>
              <a:srgbClr val="3D8DFF"/>
            </a:solidFill>
            <a:prstDash val="solid"/>
          </a:ln>
        </p:spPr>
      </p:sp>
      <p:sp>
        <p:nvSpPr>
          <p:cNvPr id="33" name="Text 31"/>
          <p:cNvSpPr/>
          <p:nvPr/>
        </p:nvSpPr>
        <p:spPr>
          <a:xfrm>
            <a:off x="731520" y="534924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지난 대화를 옮기는 몇 분 동안 1~3항부터 시작한다</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1~3항: 누가, 무엇을, 어떤 순서로</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3514344" cy="2651760"/>
          </a:xfrm>
          <a:prstGeom prst="roundRect">
            <a:avLst>
              <a:gd name="adj" fmla="val 1897"/>
            </a:avLst>
          </a:prstGeom>
          <a:solidFill>
            <a:srgbClr val="F1F2F4"/>
          </a:solidFill>
          <a:ln w="12700">
            <a:solidFill>
              <a:srgbClr val="E0E3E7"/>
            </a:solidFill>
            <a:prstDash val="solid"/>
          </a:ln>
        </p:spPr>
      </p:sp>
      <p:sp>
        <p:nvSpPr>
          <p:cNvPr id="11" name="Text 9"/>
          <p:cNvSpPr/>
          <p:nvPr/>
        </p:nvSpPr>
        <p:spPr>
          <a:xfrm>
            <a:off x="713232" y="194767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 서비스 기본 정보</a:t>
            </a:r>
            <a:endParaRPr lang="en-US" sz="1650" dirty="0"/>
          </a:p>
        </p:txBody>
      </p:sp>
      <p:sp>
        <p:nvSpPr>
          <p:cNvPr id="12" name="Text 10"/>
          <p:cNvSpPr/>
          <p:nvPr/>
        </p:nvSpPr>
        <p:spPr>
          <a:xfrm>
            <a:off x="713232" y="2441448"/>
            <a:ext cx="3148584" cy="182880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사용자에 상황(언제)이 있는가</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필요와 한 문장 소개가 같은 이야기인가</a:t>
            </a:r>
            <a:endParaRPr lang="en-US" sz="1400" dirty="0"/>
          </a:p>
        </p:txBody>
      </p:sp>
      <p:sp>
        <p:nvSpPr>
          <p:cNvPr id="13" name="Shape 11"/>
          <p:cNvSpPr/>
          <p:nvPr/>
        </p:nvSpPr>
        <p:spPr>
          <a:xfrm>
            <a:off x="4337304" y="1783080"/>
            <a:ext cx="3514344" cy="2651760"/>
          </a:xfrm>
          <a:prstGeom prst="roundRect">
            <a:avLst>
              <a:gd name="adj" fmla="val 1897"/>
            </a:avLst>
          </a:prstGeom>
          <a:solidFill>
            <a:srgbClr val="F1F2F4"/>
          </a:solidFill>
          <a:ln w="12700">
            <a:solidFill>
              <a:srgbClr val="E0E3E7"/>
            </a:solidFill>
            <a:prstDash val="solid"/>
          </a:ln>
        </p:spPr>
      </p:sp>
      <p:sp>
        <p:nvSpPr>
          <p:cNvPr id="14" name="Text 12"/>
          <p:cNvSpPr/>
          <p:nvPr/>
        </p:nvSpPr>
        <p:spPr>
          <a:xfrm>
            <a:off x="4520184" y="194767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2. 기능 범위</a:t>
            </a:r>
            <a:endParaRPr lang="en-US" sz="1650" dirty="0"/>
          </a:p>
        </p:txBody>
      </p:sp>
      <p:sp>
        <p:nvSpPr>
          <p:cNvPr id="15" name="Text 13"/>
          <p:cNvSpPr/>
          <p:nvPr/>
        </p:nvSpPr>
        <p:spPr>
          <a:xfrm>
            <a:off x="4520184" y="2441448"/>
            <a:ext cx="3148584" cy="182880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가장 중요한 기능이 분명한가</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보조 기능은 없어도 된다</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뺀 기능이 있다면 이유가 있는가</a:t>
            </a:r>
            <a:endParaRPr lang="en-US" sz="1400" dirty="0"/>
          </a:p>
        </p:txBody>
      </p:sp>
      <p:sp>
        <p:nvSpPr>
          <p:cNvPr id="16" name="Shape 14"/>
          <p:cNvSpPr/>
          <p:nvPr/>
        </p:nvSpPr>
        <p:spPr>
          <a:xfrm>
            <a:off x="8144256" y="1783080"/>
            <a:ext cx="3514344" cy="2651760"/>
          </a:xfrm>
          <a:prstGeom prst="roundRect">
            <a:avLst>
              <a:gd name="adj" fmla="val 1897"/>
            </a:avLst>
          </a:prstGeom>
          <a:solidFill>
            <a:srgbClr val="F1F2F4"/>
          </a:solidFill>
          <a:ln w="12700">
            <a:solidFill>
              <a:srgbClr val="E0E3E7"/>
            </a:solidFill>
            <a:prstDash val="solid"/>
          </a:ln>
        </p:spPr>
      </p:sp>
      <p:sp>
        <p:nvSpPr>
          <p:cNvPr id="17" name="Text 15"/>
          <p:cNvSpPr/>
          <p:nvPr/>
        </p:nvSpPr>
        <p:spPr>
          <a:xfrm>
            <a:off x="8327136" y="1947672"/>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3. 대표 사용 흐름</a:t>
            </a:r>
            <a:endParaRPr lang="en-US" sz="1650" dirty="0"/>
          </a:p>
        </p:txBody>
      </p:sp>
      <p:sp>
        <p:nvSpPr>
          <p:cNvPr id="18" name="Text 16"/>
          <p:cNvSpPr/>
          <p:nvPr/>
        </p:nvSpPr>
        <p:spPr>
          <a:xfrm>
            <a:off x="8327136" y="2441448"/>
            <a:ext cx="3148584" cy="182880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열기부터 결과까지 끊기지 않는가</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2항에 없는 행동이 나오지 않는가</a:t>
            </a:r>
            <a:endParaRPr lang="en-US" sz="1400" dirty="0"/>
          </a:p>
        </p:txBody>
      </p:sp>
      <p:sp>
        <p:nvSpPr>
          <p:cNvPr id="19" name="Shape 17"/>
          <p:cNvSpPr/>
          <p:nvPr/>
        </p:nvSpPr>
        <p:spPr>
          <a:xfrm>
            <a:off x="530352" y="4800600"/>
            <a:ext cx="11128248" cy="512064"/>
          </a:xfrm>
          <a:prstGeom prst="roundRect">
            <a:avLst>
              <a:gd name="adj" fmla="val 39286"/>
            </a:avLst>
          </a:prstGeom>
          <a:solidFill>
            <a:srgbClr val="FF5C00"/>
          </a:solidFill>
          <a:ln w="12700">
            <a:solidFill>
              <a:srgbClr val="FF5C00"/>
            </a:solidFill>
            <a:prstDash val="solid"/>
          </a:ln>
        </p:spPr>
      </p:sp>
      <p:sp>
        <p:nvSpPr>
          <p:cNvPr id="20" name="Text 18"/>
          <p:cNvSpPr/>
          <p:nvPr/>
        </p:nvSpPr>
        <p:spPr>
          <a:xfrm>
            <a:off x="731520" y="4800600"/>
            <a:ext cx="10725912"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어긋나면 기능을 더하지 말고, 흐름에서 그 단계를 뺀다</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4~5항: 화면에서 하는 일과 기억할 기록</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783080"/>
            <a:ext cx="5440680" cy="2651760"/>
          </a:xfrm>
          <a:prstGeom prst="roundRect">
            <a:avLst>
              <a:gd name="adj" fmla="val 1897"/>
            </a:avLst>
          </a:prstGeom>
          <a:solidFill>
            <a:srgbClr val="F1F2F4"/>
          </a:solidFill>
          <a:ln w="12700">
            <a:solidFill>
              <a:srgbClr val="E0E3E7"/>
            </a:solidFill>
            <a:prstDash val="solid"/>
          </a:ln>
        </p:spPr>
      </p:sp>
      <p:sp>
        <p:nvSpPr>
          <p:cNvPr id="11" name="Text 9"/>
          <p:cNvSpPr/>
          <p:nvPr/>
        </p:nvSpPr>
        <p:spPr>
          <a:xfrm>
            <a:off x="713232" y="1947672"/>
            <a:ext cx="50749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4. 화면 구성 설명</a:t>
            </a:r>
            <a:endParaRPr lang="en-US" sz="1650" dirty="0"/>
          </a:p>
        </p:txBody>
      </p:sp>
      <p:sp>
        <p:nvSpPr>
          <p:cNvPr id="12" name="Text 10"/>
          <p:cNvSpPr/>
          <p:nvPr/>
        </p:nvSpPr>
        <p:spPr>
          <a:xfrm>
            <a:off x="713232" y="2441448"/>
            <a:ext cx="5074920" cy="182880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처음 화면부터 결과까지 이어지는가</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입력이 없거나 틀릴 때의 안내</a:t>
            </a:r>
            <a:endParaRPr lang="en-US" sz="1400" dirty="0"/>
          </a:p>
        </p:txBody>
      </p:sp>
      <p:sp>
        <p:nvSpPr>
          <p:cNvPr id="13" name="Shape 11"/>
          <p:cNvSpPr/>
          <p:nvPr/>
        </p:nvSpPr>
        <p:spPr>
          <a:xfrm>
            <a:off x="6217920" y="1783080"/>
            <a:ext cx="5440680" cy="2651760"/>
          </a:xfrm>
          <a:prstGeom prst="roundRect">
            <a:avLst>
              <a:gd name="adj" fmla="val 1897"/>
            </a:avLst>
          </a:prstGeom>
          <a:solidFill>
            <a:srgbClr val="F1F2F4"/>
          </a:solidFill>
          <a:ln w="12700">
            <a:solidFill>
              <a:srgbClr val="E0E3E7"/>
            </a:solidFill>
            <a:prstDash val="solid"/>
          </a:ln>
        </p:spPr>
      </p:sp>
      <p:sp>
        <p:nvSpPr>
          <p:cNvPr id="14" name="Text 12"/>
          <p:cNvSpPr/>
          <p:nvPr/>
        </p:nvSpPr>
        <p:spPr>
          <a:xfrm>
            <a:off x="6400800" y="1947672"/>
            <a:ext cx="50749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5. 데이터</a:t>
            </a:r>
            <a:endParaRPr lang="en-US" sz="1650" dirty="0"/>
          </a:p>
        </p:txBody>
      </p:sp>
      <p:sp>
        <p:nvSpPr>
          <p:cNvPr id="15" name="Text 13"/>
          <p:cNvSpPr/>
          <p:nvPr/>
        </p:nvSpPr>
        <p:spPr>
          <a:xfrm>
            <a:off x="6400800" y="2441448"/>
            <a:ext cx="5074920" cy="182880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핵심 기능을 쓰면 저절로 생기는 기록</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생기는 행동과 다시 보는 순간</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표를 두었다면 표마다 해설</a:t>
            </a:r>
            <a:endParaRPr lang="en-US" sz="1400" dirty="0"/>
          </a:p>
        </p:txBody>
      </p:sp>
      <p:sp>
        <p:nvSpPr>
          <p:cNvPr id="16" name="Shape 14"/>
          <p:cNvSpPr/>
          <p:nvPr/>
        </p:nvSpPr>
        <p:spPr>
          <a:xfrm>
            <a:off x="530352" y="480060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4800600"/>
            <a:ext cx="10725912"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SQL · 코드 · 색과 글꼴은 지운다 · 5항의 표는 두어도 된다</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6항: 다 만든 뒤에 손으로 해 볼 수 있는가</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783080"/>
            <a:ext cx="4206240" cy="2651760"/>
          </a:xfrm>
          <a:prstGeom prst="roundRect">
            <a:avLst>
              <a:gd name="adj" fmla="val 1897"/>
            </a:avLst>
          </a:prstGeom>
          <a:solidFill>
            <a:srgbClr val="FFF1E8"/>
          </a:solidFill>
          <a:ln w="12700">
            <a:solidFill>
              <a:srgbClr val="C24A00"/>
            </a:solidFill>
            <a:prstDash val="solid"/>
          </a:ln>
        </p:spPr>
      </p:sp>
      <p:sp>
        <p:nvSpPr>
          <p:cNvPr id="11" name="Text 9"/>
          <p:cNvSpPr/>
          <p:nvPr/>
        </p:nvSpPr>
        <p:spPr>
          <a:xfrm>
            <a:off x="713232" y="1947672"/>
            <a:ext cx="384048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확인할 수 없다</a:t>
            </a:r>
            <a:endParaRPr lang="en-US" sz="1050" dirty="0"/>
          </a:p>
        </p:txBody>
      </p:sp>
      <p:sp>
        <p:nvSpPr>
          <p:cNvPr id="12" name="Text 10"/>
          <p:cNvSpPr/>
          <p:nvPr/>
        </p:nvSpPr>
        <p:spPr>
          <a:xfrm>
            <a:off x="713232" y="2240280"/>
            <a:ext cx="384048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느낌을 적은 말</a:t>
            </a:r>
            <a:endParaRPr lang="en-US" sz="1650" dirty="0"/>
          </a:p>
        </p:txBody>
      </p:sp>
      <p:sp>
        <p:nvSpPr>
          <p:cNvPr id="13" name="Text 11"/>
          <p:cNvSpPr/>
          <p:nvPr/>
        </p:nvSpPr>
        <p:spPr>
          <a:xfrm>
            <a:off x="713232" y="2743200"/>
            <a:ext cx="3840480" cy="155448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잘 작동한다</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사용하기 편하다</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사용자가 만족한다</a:t>
            </a:r>
            <a:endParaRPr lang="en-US" sz="1400" dirty="0"/>
          </a:p>
        </p:txBody>
      </p:sp>
      <p:sp>
        <p:nvSpPr>
          <p:cNvPr id="14" name="Shape 12"/>
          <p:cNvSpPr/>
          <p:nvPr/>
        </p:nvSpPr>
        <p:spPr>
          <a:xfrm>
            <a:off x="4983480" y="1783080"/>
            <a:ext cx="6675120" cy="2651760"/>
          </a:xfrm>
          <a:prstGeom prst="roundRect">
            <a:avLst>
              <a:gd name="adj" fmla="val 1897"/>
            </a:avLst>
          </a:prstGeom>
          <a:solidFill>
            <a:srgbClr val="E7F2ED"/>
          </a:solidFill>
          <a:ln w="12700">
            <a:solidFill>
              <a:srgbClr val="0E7C86"/>
            </a:solidFill>
            <a:prstDash val="solid"/>
          </a:ln>
        </p:spPr>
      </p:sp>
      <p:sp>
        <p:nvSpPr>
          <p:cNvPr id="15" name="Text 13"/>
          <p:cNvSpPr/>
          <p:nvPr/>
        </p:nvSpPr>
        <p:spPr>
          <a:xfrm>
            <a:off x="5166360" y="1947672"/>
            <a:ext cx="630936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확인할 수 있다</a:t>
            </a:r>
            <a:endParaRPr lang="en-US" sz="1050" dirty="0"/>
          </a:p>
        </p:txBody>
      </p:sp>
      <p:sp>
        <p:nvSpPr>
          <p:cNvPr id="16" name="Text 14"/>
          <p:cNvSpPr/>
          <p:nvPr/>
        </p:nvSpPr>
        <p:spPr>
          <a:xfrm>
            <a:off x="5166360" y="2240280"/>
            <a:ext cx="63093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화면에 보이는 변화</a:t>
            </a:r>
            <a:endParaRPr lang="en-US" sz="1650" dirty="0"/>
          </a:p>
        </p:txBody>
      </p:sp>
      <p:sp>
        <p:nvSpPr>
          <p:cNvPr id="17" name="Text 15"/>
          <p:cNvSpPr/>
          <p:nvPr/>
        </p:nvSpPr>
        <p:spPr>
          <a:xfrm>
            <a:off x="5166360" y="2743200"/>
            <a:ext cx="6309360" cy="155448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단어를 입력하고 누르면 뜻이 나타난다</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입력이 비면 「단어를 입력하세요」가 나타난다</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다시 열어도 지난 검색 기록이 보인다</a:t>
            </a:r>
            <a:endParaRPr lang="en-US" sz="1400" dirty="0"/>
          </a:p>
        </p:txBody>
      </p:sp>
      <p:sp>
        <p:nvSpPr>
          <p:cNvPr id="18" name="Shape 16"/>
          <p:cNvSpPr/>
          <p:nvPr/>
        </p:nvSpPr>
        <p:spPr>
          <a:xfrm>
            <a:off x="530352" y="4800600"/>
            <a:ext cx="11128248" cy="512064"/>
          </a:xfrm>
          <a:prstGeom prst="roundRect">
            <a:avLst>
              <a:gd name="adj" fmla="val 39286"/>
            </a:avLst>
          </a:prstGeom>
          <a:solidFill>
            <a:srgbClr val="EAF5FB"/>
          </a:solidFill>
          <a:ln w="12700">
            <a:solidFill>
              <a:srgbClr val="3D8DFF"/>
            </a:solidFill>
            <a:prstDash val="solid"/>
          </a:ln>
        </p:spPr>
      </p:sp>
      <p:sp>
        <p:nvSpPr>
          <p:cNvPr id="19" name="Text 17"/>
          <p:cNvSpPr/>
          <p:nvPr/>
        </p:nvSpPr>
        <p:spPr>
          <a:xfrm>
            <a:off x="731520" y="4800600"/>
            <a:ext cx="10725912" cy="512064"/>
          </a:xfrm>
          <a:prstGeom prst="rect">
            <a:avLst/>
          </a:prstGeom>
          <a:noFill/>
          <a:ln/>
        </p:spPr>
        <p:txBody>
          <a:bodyPr wrap="square" lIns="0" tIns="0" rIns="0" bIns="0" rtlCol="0" anchor="ctr"/>
          <a:lstStyle/>
          <a:p>
            <a:pPr algn="ctr" indent="0" marL="0">
              <a:buNone/>
            </a:pPr>
            <a:r>
              <a:rPr lang="en-US" sz="1600" b="1" dirty="0">
                <a:solidFill>
                  <a:srgbClr val="34373D"/>
                </a:solidFill>
                <a:latin typeface="IBM Plex Sans KR" pitchFamily="34" charset="0"/>
                <a:ea typeface="IBM Plex Sans KR" pitchFamily="34" charset="-122"/>
                <a:cs typeface="IBM Plex Sans KR" pitchFamily="34" charset="-120"/>
              </a:rPr>
              <a:t>개수는 내 서비스에 맞게 · 기록이 있다면 「다시 열어도 보인다」도 확인</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처음부터 끝까지 소리 내어 이어 읽는다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9–10쪽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783080"/>
            <a:ext cx="1687068" cy="1051560"/>
          </a:xfrm>
          <a:prstGeom prst="roundRect">
            <a:avLst>
              <a:gd name="adj" fmla="val 4783"/>
            </a:avLst>
          </a:prstGeom>
          <a:solidFill>
            <a:srgbClr val="F1F2F4"/>
          </a:solidFill>
          <a:ln w="12700">
            <a:solidFill>
              <a:srgbClr val="E0E3E7"/>
            </a:solidFill>
            <a:prstDash val="solid"/>
          </a:ln>
        </p:spPr>
      </p:sp>
      <p:sp>
        <p:nvSpPr>
          <p:cNvPr id="11" name="Text 9"/>
          <p:cNvSpPr/>
          <p:nvPr/>
        </p:nvSpPr>
        <p:spPr>
          <a:xfrm>
            <a:off x="713232" y="1947672"/>
            <a:ext cx="1321308"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1항</a:t>
            </a:r>
            <a:endParaRPr lang="en-US" sz="1050" dirty="0"/>
          </a:p>
        </p:txBody>
      </p:sp>
      <p:sp>
        <p:nvSpPr>
          <p:cNvPr id="12" name="Text 10"/>
          <p:cNvSpPr/>
          <p:nvPr/>
        </p:nvSpPr>
        <p:spPr>
          <a:xfrm>
            <a:off x="713232" y="2240280"/>
            <a:ext cx="132130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사용자·필요</a:t>
            </a:r>
            <a:endParaRPr lang="en-US" sz="1650" dirty="0"/>
          </a:p>
        </p:txBody>
      </p:sp>
      <p:sp>
        <p:nvSpPr>
          <p:cNvPr id="13" name="Text 11"/>
          <p:cNvSpPr/>
          <p:nvPr/>
        </p:nvSpPr>
        <p:spPr>
          <a:xfrm>
            <a:off x="2144268" y="2103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4" name="Shape 12"/>
          <p:cNvSpPr/>
          <p:nvPr/>
        </p:nvSpPr>
        <p:spPr>
          <a:xfrm>
            <a:off x="2418588" y="1783080"/>
            <a:ext cx="1687068" cy="1051560"/>
          </a:xfrm>
          <a:prstGeom prst="roundRect">
            <a:avLst>
              <a:gd name="adj" fmla="val 4783"/>
            </a:avLst>
          </a:prstGeom>
          <a:solidFill>
            <a:srgbClr val="E7F2ED"/>
          </a:solidFill>
          <a:ln w="12700">
            <a:solidFill>
              <a:srgbClr val="0E7C86"/>
            </a:solidFill>
            <a:prstDash val="solid"/>
          </a:ln>
        </p:spPr>
      </p:sp>
      <p:sp>
        <p:nvSpPr>
          <p:cNvPr id="15" name="Text 13"/>
          <p:cNvSpPr/>
          <p:nvPr/>
        </p:nvSpPr>
        <p:spPr>
          <a:xfrm>
            <a:off x="2601468" y="1947672"/>
            <a:ext cx="1321308"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2항</a:t>
            </a:r>
            <a:endParaRPr lang="en-US" sz="1050" dirty="0"/>
          </a:p>
        </p:txBody>
      </p:sp>
      <p:sp>
        <p:nvSpPr>
          <p:cNvPr id="16" name="Text 14"/>
          <p:cNvSpPr/>
          <p:nvPr/>
        </p:nvSpPr>
        <p:spPr>
          <a:xfrm>
            <a:off x="2601468" y="2240280"/>
            <a:ext cx="132130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핵심 기능</a:t>
            </a:r>
            <a:endParaRPr lang="en-US" sz="1650" dirty="0"/>
          </a:p>
        </p:txBody>
      </p:sp>
      <p:sp>
        <p:nvSpPr>
          <p:cNvPr id="17" name="Text 15"/>
          <p:cNvSpPr/>
          <p:nvPr/>
        </p:nvSpPr>
        <p:spPr>
          <a:xfrm>
            <a:off x="4032504" y="2103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8" name="Shape 16"/>
          <p:cNvSpPr/>
          <p:nvPr/>
        </p:nvSpPr>
        <p:spPr>
          <a:xfrm>
            <a:off x="4306824" y="1783080"/>
            <a:ext cx="1687068" cy="1051560"/>
          </a:xfrm>
          <a:prstGeom prst="roundRect">
            <a:avLst>
              <a:gd name="adj" fmla="val 4783"/>
            </a:avLst>
          </a:prstGeom>
          <a:solidFill>
            <a:srgbClr val="F1F2F4"/>
          </a:solidFill>
          <a:ln w="12700">
            <a:solidFill>
              <a:srgbClr val="E0E3E7"/>
            </a:solidFill>
            <a:prstDash val="solid"/>
          </a:ln>
        </p:spPr>
      </p:sp>
      <p:sp>
        <p:nvSpPr>
          <p:cNvPr id="19" name="Text 17"/>
          <p:cNvSpPr/>
          <p:nvPr/>
        </p:nvSpPr>
        <p:spPr>
          <a:xfrm>
            <a:off x="4489704" y="1947672"/>
            <a:ext cx="1321308"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3항</a:t>
            </a:r>
            <a:endParaRPr lang="en-US" sz="1050" dirty="0"/>
          </a:p>
        </p:txBody>
      </p:sp>
      <p:sp>
        <p:nvSpPr>
          <p:cNvPr id="20" name="Text 18"/>
          <p:cNvSpPr/>
          <p:nvPr/>
        </p:nvSpPr>
        <p:spPr>
          <a:xfrm>
            <a:off x="4489704" y="2240280"/>
            <a:ext cx="132130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사용 흐름</a:t>
            </a:r>
            <a:endParaRPr lang="en-US" sz="1650" dirty="0"/>
          </a:p>
        </p:txBody>
      </p:sp>
      <p:sp>
        <p:nvSpPr>
          <p:cNvPr id="21" name="Text 19"/>
          <p:cNvSpPr/>
          <p:nvPr/>
        </p:nvSpPr>
        <p:spPr>
          <a:xfrm>
            <a:off x="5920740" y="2103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2" name="Shape 20"/>
          <p:cNvSpPr/>
          <p:nvPr/>
        </p:nvSpPr>
        <p:spPr>
          <a:xfrm>
            <a:off x="6195060" y="1783080"/>
            <a:ext cx="1687068" cy="1051560"/>
          </a:xfrm>
          <a:prstGeom prst="roundRect">
            <a:avLst>
              <a:gd name="adj" fmla="val 4783"/>
            </a:avLst>
          </a:prstGeom>
          <a:solidFill>
            <a:srgbClr val="E7F2ED"/>
          </a:solidFill>
          <a:ln w="12700">
            <a:solidFill>
              <a:srgbClr val="0E7C86"/>
            </a:solidFill>
            <a:prstDash val="solid"/>
          </a:ln>
        </p:spPr>
      </p:sp>
      <p:sp>
        <p:nvSpPr>
          <p:cNvPr id="23" name="Text 21"/>
          <p:cNvSpPr/>
          <p:nvPr/>
        </p:nvSpPr>
        <p:spPr>
          <a:xfrm>
            <a:off x="6377940" y="1947672"/>
            <a:ext cx="1321308"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4항</a:t>
            </a:r>
            <a:endParaRPr lang="en-US" sz="1050" dirty="0"/>
          </a:p>
        </p:txBody>
      </p:sp>
      <p:sp>
        <p:nvSpPr>
          <p:cNvPr id="24" name="Text 22"/>
          <p:cNvSpPr/>
          <p:nvPr/>
        </p:nvSpPr>
        <p:spPr>
          <a:xfrm>
            <a:off x="6377940" y="2240280"/>
            <a:ext cx="132130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화면</a:t>
            </a:r>
            <a:endParaRPr lang="en-US" sz="1650" dirty="0"/>
          </a:p>
        </p:txBody>
      </p:sp>
      <p:sp>
        <p:nvSpPr>
          <p:cNvPr id="25" name="Text 23"/>
          <p:cNvSpPr/>
          <p:nvPr/>
        </p:nvSpPr>
        <p:spPr>
          <a:xfrm>
            <a:off x="7808976" y="2103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6" name="Shape 24"/>
          <p:cNvSpPr/>
          <p:nvPr/>
        </p:nvSpPr>
        <p:spPr>
          <a:xfrm>
            <a:off x="8083296" y="1783080"/>
            <a:ext cx="1687068" cy="1051560"/>
          </a:xfrm>
          <a:prstGeom prst="roundRect">
            <a:avLst>
              <a:gd name="adj" fmla="val 4783"/>
            </a:avLst>
          </a:prstGeom>
          <a:solidFill>
            <a:srgbClr val="F1F2F4"/>
          </a:solidFill>
          <a:ln w="12700">
            <a:solidFill>
              <a:srgbClr val="E0E3E7"/>
            </a:solidFill>
            <a:prstDash val="solid"/>
          </a:ln>
        </p:spPr>
      </p:sp>
      <p:sp>
        <p:nvSpPr>
          <p:cNvPr id="27" name="Text 25"/>
          <p:cNvSpPr/>
          <p:nvPr/>
        </p:nvSpPr>
        <p:spPr>
          <a:xfrm>
            <a:off x="8266176" y="1947672"/>
            <a:ext cx="1321308"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5항</a:t>
            </a:r>
            <a:endParaRPr lang="en-US" sz="1050" dirty="0"/>
          </a:p>
        </p:txBody>
      </p:sp>
      <p:sp>
        <p:nvSpPr>
          <p:cNvPr id="28" name="Text 26"/>
          <p:cNvSpPr/>
          <p:nvPr/>
        </p:nvSpPr>
        <p:spPr>
          <a:xfrm>
            <a:off x="8266176" y="2240280"/>
            <a:ext cx="132130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기록</a:t>
            </a:r>
            <a:endParaRPr lang="en-US" sz="1650" dirty="0"/>
          </a:p>
        </p:txBody>
      </p:sp>
      <p:sp>
        <p:nvSpPr>
          <p:cNvPr id="29" name="Text 27"/>
          <p:cNvSpPr/>
          <p:nvPr/>
        </p:nvSpPr>
        <p:spPr>
          <a:xfrm>
            <a:off x="9697212" y="2103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30" name="Shape 28"/>
          <p:cNvSpPr/>
          <p:nvPr/>
        </p:nvSpPr>
        <p:spPr>
          <a:xfrm>
            <a:off x="9971532" y="1783080"/>
            <a:ext cx="1687068" cy="1051560"/>
          </a:xfrm>
          <a:prstGeom prst="roundRect">
            <a:avLst>
              <a:gd name="adj" fmla="val 4783"/>
            </a:avLst>
          </a:prstGeom>
          <a:solidFill>
            <a:srgbClr val="E7F2ED"/>
          </a:solidFill>
          <a:ln w="12700">
            <a:solidFill>
              <a:srgbClr val="0E7C86"/>
            </a:solidFill>
            <a:prstDash val="solid"/>
          </a:ln>
        </p:spPr>
      </p:sp>
      <p:sp>
        <p:nvSpPr>
          <p:cNvPr id="31" name="Text 29"/>
          <p:cNvSpPr/>
          <p:nvPr/>
        </p:nvSpPr>
        <p:spPr>
          <a:xfrm>
            <a:off x="10154412" y="1947672"/>
            <a:ext cx="1321308"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6항</a:t>
            </a:r>
            <a:endParaRPr lang="en-US" sz="1050" dirty="0"/>
          </a:p>
        </p:txBody>
      </p:sp>
      <p:sp>
        <p:nvSpPr>
          <p:cNvPr id="32" name="Text 30"/>
          <p:cNvSpPr/>
          <p:nvPr/>
        </p:nvSpPr>
        <p:spPr>
          <a:xfrm>
            <a:off x="10154412" y="2240280"/>
            <a:ext cx="132130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완성 기준</a:t>
            </a:r>
            <a:endParaRPr lang="en-US" sz="1650" dirty="0"/>
          </a:p>
        </p:txBody>
      </p:sp>
      <p:sp>
        <p:nvSpPr>
          <p:cNvPr id="33" name="Shape 31"/>
          <p:cNvSpPr/>
          <p:nvPr/>
        </p:nvSpPr>
        <p:spPr>
          <a:xfrm>
            <a:off x="530352" y="3108960"/>
            <a:ext cx="5786689" cy="402336"/>
          </a:xfrm>
          <a:prstGeom prst="rect">
            <a:avLst/>
          </a:prstGeom>
          <a:solidFill>
            <a:srgbClr val="1B1D21"/>
          </a:solidFill>
          <a:ln/>
        </p:spPr>
      </p:sp>
      <p:sp>
        <p:nvSpPr>
          <p:cNvPr id="34" name="Text 32"/>
          <p:cNvSpPr/>
          <p:nvPr/>
        </p:nvSpPr>
        <p:spPr>
          <a:xfrm>
            <a:off x="658368" y="3108960"/>
            <a:ext cx="553065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걸리는 곳</a:t>
            </a:r>
            <a:endParaRPr lang="en-US" sz="1050" dirty="0"/>
          </a:p>
        </p:txBody>
      </p:sp>
      <p:sp>
        <p:nvSpPr>
          <p:cNvPr id="35" name="Shape 33"/>
          <p:cNvSpPr/>
          <p:nvPr/>
        </p:nvSpPr>
        <p:spPr>
          <a:xfrm>
            <a:off x="6317041" y="3108960"/>
            <a:ext cx="5341559" cy="402336"/>
          </a:xfrm>
          <a:prstGeom prst="rect">
            <a:avLst/>
          </a:prstGeom>
          <a:solidFill>
            <a:srgbClr val="1B1D21"/>
          </a:solidFill>
          <a:ln/>
        </p:spPr>
      </p:sp>
      <p:sp>
        <p:nvSpPr>
          <p:cNvPr id="36" name="Text 34"/>
          <p:cNvSpPr/>
          <p:nvPr/>
        </p:nvSpPr>
        <p:spPr>
          <a:xfrm>
            <a:off x="6445057" y="3108960"/>
            <a:ext cx="508552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고친다</a:t>
            </a:r>
            <a:endParaRPr lang="en-US" sz="1050" dirty="0"/>
          </a:p>
        </p:txBody>
      </p:sp>
      <p:sp>
        <p:nvSpPr>
          <p:cNvPr id="37" name="Shape 35"/>
          <p:cNvSpPr/>
          <p:nvPr/>
        </p:nvSpPr>
        <p:spPr>
          <a:xfrm>
            <a:off x="530352" y="3511296"/>
            <a:ext cx="11128248" cy="420624"/>
          </a:xfrm>
          <a:prstGeom prst="rect">
            <a:avLst/>
          </a:prstGeom>
          <a:solidFill>
            <a:srgbClr val="F1F2F4"/>
          </a:solidFill>
          <a:ln w="9525">
            <a:solidFill>
              <a:srgbClr val="E0E3E7"/>
            </a:solidFill>
            <a:prstDash val="solid"/>
          </a:ln>
        </p:spPr>
      </p:sp>
      <p:sp>
        <p:nvSpPr>
          <p:cNvPr id="38" name="Text 36"/>
          <p:cNvSpPr/>
          <p:nvPr/>
        </p:nvSpPr>
        <p:spPr>
          <a:xfrm>
            <a:off x="658368" y="3511296"/>
            <a:ext cx="5530657" cy="42062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5항 기록은 있는데 3항에 다시 보는 순간이 없다</a:t>
            </a:r>
            <a:endParaRPr lang="en-US" sz="1250" dirty="0"/>
          </a:p>
        </p:txBody>
      </p:sp>
      <p:sp>
        <p:nvSpPr>
          <p:cNvPr id="39" name="Text 37"/>
          <p:cNvSpPr/>
          <p:nvPr/>
        </p:nvSpPr>
        <p:spPr>
          <a:xfrm>
            <a:off x="6445057" y="3511296"/>
            <a:ext cx="5085527" cy="42062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흐름 끝에 「지난 기록을 확인한다」</a:t>
            </a:r>
            <a:endParaRPr lang="en-US" sz="1250" dirty="0"/>
          </a:p>
        </p:txBody>
      </p:sp>
      <p:sp>
        <p:nvSpPr>
          <p:cNvPr id="40" name="Shape 38"/>
          <p:cNvSpPr/>
          <p:nvPr/>
        </p:nvSpPr>
        <p:spPr>
          <a:xfrm>
            <a:off x="530352" y="3931920"/>
            <a:ext cx="11128248" cy="420624"/>
          </a:xfrm>
          <a:prstGeom prst="rect">
            <a:avLst/>
          </a:prstGeom>
          <a:solidFill>
            <a:srgbClr val="FFFFFF"/>
          </a:solidFill>
          <a:ln w="9525">
            <a:solidFill>
              <a:srgbClr val="E0E3E7"/>
            </a:solidFill>
            <a:prstDash val="solid"/>
          </a:ln>
        </p:spPr>
      </p:sp>
      <p:sp>
        <p:nvSpPr>
          <p:cNvPr id="41" name="Text 39"/>
          <p:cNvSpPr/>
          <p:nvPr/>
        </p:nvSpPr>
        <p:spPr>
          <a:xfrm>
            <a:off x="658368" y="3931920"/>
            <a:ext cx="5530657" cy="42062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4항에 결과가 있는데 3항에 결과 확인이 없다</a:t>
            </a:r>
            <a:endParaRPr lang="en-US" sz="1250" dirty="0"/>
          </a:p>
        </p:txBody>
      </p:sp>
      <p:sp>
        <p:nvSpPr>
          <p:cNvPr id="42" name="Text 40"/>
          <p:cNvSpPr/>
          <p:nvPr/>
        </p:nvSpPr>
        <p:spPr>
          <a:xfrm>
            <a:off x="6445057" y="3931920"/>
            <a:ext cx="5085527" cy="42062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3항에 결과 확인 단계를 넣는다</a:t>
            </a:r>
            <a:endParaRPr lang="en-US" sz="1250" dirty="0"/>
          </a:p>
        </p:txBody>
      </p:sp>
      <p:sp>
        <p:nvSpPr>
          <p:cNvPr id="43" name="Shape 41"/>
          <p:cNvSpPr/>
          <p:nvPr/>
        </p:nvSpPr>
        <p:spPr>
          <a:xfrm>
            <a:off x="530352" y="4352544"/>
            <a:ext cx="11128248" cy="420624"/>
          </a:xfrm>
          <a:prstGeom prst="rect">
            <a:avLst/>
          </a:prstGeom>
          <a:solidFill>
            <a:srgbClr val="F1F2F4"/>
          </a:solidFill>
          <a:ln w="9525">
            <a:solidFill>
              <a:srgbClr val="E0E3E7"/>
            </a:solidFill>
            <a:prstDash val="solid"/>
          </a:ln>
        </p:spPr>
      </p:sp>
      <p:sp>
        <p:nvSpPr>
          <p:cNvPr id="44" name="Text 42"/>
          <p:cNvSpPr/>
          <p:nvPr/>
        </p:nvSpPr>
        <p:spPr>
          <a:xfrm>
            <a:off x="658368" y="4352544"/>
            <a:ext cx="5530657" cy="42062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1항 사용자와 2항 핵심 기능이 다른 이야기다</a:t>
            </a:r>
            <a:endParaRPr lang="en-US" sz="1250" dirty="0"/>
          </a:p>
        </p:txBody>
      </p:sp>
      <p:sp>
        <p:nvSpPr>
          <p:cNvPr id="45" name="Text 43"/>
          <p:cNvSpPr/>
          <p:nvPr/>
        </p:nvSpPr>
        <p:spPr>
          <a:xfrm>
            <a:off x="6445057" y="4352544"/>
            <a:ext cx="5085527" cy="42062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한 문장 소개를 읽고 하나를 맞춘다</a:t>
            </a:r>
            <a:endParaRPr lang="en-US" sz="1250" dirty="0"/>
          </a:p>
        </p:txBody>
      </p:sp>
      <p:sp>
        <p:nvSpPr>
          <p:cNvPr id="46" name="Shape 44"/>
          <p:cNvSpPr/>
          <p:nvPr/>
        </p:nvSpPr>
        <p:spPr>
          <a:xfrm>
            <a:off x="530352" y="4773168"/>
            <a:ext cx="11128248" cy="420624"/>
          </a:xfrm>
          <a:prstGeom prst="rect">
            <a:avLst/>
          </a:prstGeom>
          <a:solidFill>
            <a:srgbClr val="FFFFFF"/>
          </a:solidFill>
          <a:ln w="9525">
            <a:solidFill>
              <a:srgbClr val="E0E3E7"/>
            </a:solidFill>
            <a:prstDash val="solid"/>
          </a:ln>
        </p:spPr>
      </p:sp>
      <p:sp>
        <p:nvSpPr>
          <p:cNvPr id="47" name="Text 45"/>
          <p:cNvSpPr/>
          <p:nvPr/>
        </p:nvSpPr>
        <p:spPr>
          <a:xfrm>
            <a:off x="658368" y="4773168"/>
            <a:ext cx="5530657" cy="42062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6항 기준이 보조 기능 이야기뿐이다</a:t>
            </a:r>
            <a:endParaRPr lang="en-US" sz="1250" dirty="0"/>
          </a:p>
        </p:txBody>
      </p:sp>
      <p:sp>
        <p:nvSpPr>
          <p:cNvPr id="48" name="Text 46"/>
          <p:cNvSpPr/>
          <p:nvPr/>
        </p:nvSpPr>
        <p:spPr>
          <a:xfrm>
            <a:off x="6445057" y="4773168"/>
            <a:ext cx="5085527" cy="42062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핵심 기능의 결과를 확인하는 기준을 넣는다</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AI에게 서로 맞지 않는 곳만 질문하게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783080"/>
            <a:ext cx="6355080" cy="2743200"/>
          </a:xfrm>
          <a:prstGeom prst="roundRect">
            <a:avLst>
              <a:gd name="adj" fmla="val 1833"/>
            </a:avLst>
          </a:prstGeom>
          <a:solidFill>
            <a:srgbClr val="F1F2F4"/>
          </a:solidFill>
          <a:ln w="12700">
            <a:solidFill>
              <a:srgbClr val="E0E3E7"/>
            </a:solidFill>
            <a:prstDash val="solid"/>
          </a:ln>
        </p:spPr>
      </p:sp>
      <p:sp>
        <p:nvSpPr>
          <p:cNvPr id="11" name="Text 9"/>
          <p:cNvSpPr/>
          <p:nvPr/>
        </p:nvSpPr>
        <p:spPr>
          <a:xfrm>
            <a:off x="713232" y="1947672"/>
            <a:ext cx="598932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교과서 11쪽 요청문 · 복사해 보낸다</a:t>
            </a:r>
            <a:endParaRPr lang="en-US" sz="1050" dirty="0"/>
          </a:p>
        </p:txBody>
      </p:sp>
      <p:sp>
        <p:nvSpPr>
          <p:cNvPr id="12" name="Text 10"/>
          <p:cNvSpPr/>
          <p:nvPr/>
        </p:nvSpPr>
        <p:spPr>
          <a:xfrm>
            <a:off x="713232" y="2240280"/>
            <a:ext cx="59893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AI에게 시키는 것</a:t>
            </a:r>
            <a:endParaRPr lang="en-US" sz="1650" dirty="0"/>
          </a:p>
        </p:txBody>
      </p:sp>
      <p:sp>
        <p:nvSpPr>
          <p:cNvPr id="13" name="Text 11"/>
          <p:cNvSpPr/>
          <p:nvPr/>
        </p:nvSpPr>
        <p:spPr>
          <a:xfrm>
            <a:off x="713232" y="2743200"/>
            <a:ext cx="5989320" cy="1737360"/>
          </a:xfrm>
          <a:prstGeom prst="rect">
            <a:avLst/>
          </a:prstGeom>
          <a:noFill/>
          <a:ln/>
        </p:spPr>
        <p:txBody>
          <a:bodyPr wrap="square" lIns="0" tIns="0" rIns="0" bIns="0" rtlCol="0" anchor="t"/>
          <a:lstStyle/>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항목끼리 서로 맞지 않는 곳만</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쉬운 질문으로 번호를 붙여</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새 기능 · 코드 · SQL · 디자인은 제안하지 않기</a:t>
            </a:r>
            <a:endParaRPr lang="en-US" sz="1400" dirty="0"/>
          </a:p>
          <a:p>
            <a:pPr marL="203200" indent="-203200">
              <a:lnSpc>
                <a:spcPts val="260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고친 곳마다 무엇을 왜 고쳤는지 알리기</a:t>
            </a:r>
            <a:endParaRPr lang="en-US" sz="1400" dirty="0"/>
          </a:p>
        </p:txBody>
      </p:sp>
      <p:sp>
        <p:nvSpPr>
          <p:cNvPr id="14" name="Shape 12"/>
          <p:cNvSpPr/>
          <p:nvPr/>
        </p:nvSpPr>
        <p:spPr>
          <a:xfrm>
            <a:off x="7114032" y="1783080"/>
            <a:ext cx="4544568" cy="2743200"/>
          </a:xfrm>
          <a:prstGeom prst="roundRect">
            <a:avLst>
              <a:gd name="adj" fmla="val 1833"/>
            </a:avLst>
          </a:prstGeom>
          <a:solidFill>
            <a:srgbClr val="E7F2ED"/>
          </a:solidFill>
          <a:ln w="12700">
            <a:solidFill>
              <a:srgbClr val="0E7C86"/>
            </a:solidFill>
            <a:prstDash val="solid"/>
          </a:ln>
        </p:spPr>
      </p:sp>
      <p:sp>
        <p:nvSpPr>
          <p:cNvPr id="15" name="Text 13"/>
          <p:cNvSpPr/>
          <p:nvPr/>
        </p:nvSpPr>
        <p:spPr>
          <a:xfrm>
            <a:off x="7296912" y="1947672"/>
            <a:ext cx="4178808"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내가 하는 것</a:t>
            </a:r>
            <a:endParaRPr lang="en-US" sz="1050" dirty="0"/>
          </a:p>
        </p:txBody>
      </p:sp>
      <p:sp>
        <p:nvSpPr>
          <p:cNvPr id="16" name="Text 14"/>
          <p:cNvSpPr/>
          <p:nvPr/>
        </p:nvSpPr>
        <p:spPr>
          <a:xfrm>
            <a:off x="7296912" y="2240280"/>
            <a:ext cx="417880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고친 곳을 줄마다 읽는다</a:t>
            </a:r>
            <a:endParaRPr lang="en-US" sz="1650" dirty="0"/>
          </a:p>
        </p:txBody>
      </p:sp>
      <p:sp>
        <p:nvSpPr>
          <p:cNvPr id="17" name="Text 15"/>
          <p:cNvSpPr/>
          <p:nvPr/>
        </p:nvSpPr>
        <p:spPr>
          <a:xfrm>
            <a:off x="7296912" y="2734056"/>
            <a:ext cx="4178808" cy="1645920"/>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남길지 되돌릴지는</a:t>
            </a:r>
            <a:endParaRPr lang="en-US" sz="1400" dirty="0"/>
          </a:p>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내가 정한다</a:t>
            </a:r>
            <a:endParaRPr lang="en-US" sz="1400" dirty="0"/>
          </a:p>
          <a:p>
            <a:pPr indent="0" marL="0">
              <a:lnSpc>
                <a:spcPts val="1900"/>
              </a:lnSpc>
              <a:buNone/>
            </a:pPr>
            <a:endParaRPr lang="en-US" sz="1400" dirty="0"/>
          </a:p>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그 판단이 평가에서</a:t>
            </a:r>
            <a:endParaRPr lang="en-US" sz="1400" dirty="0"/>
          </a:p>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보는 부분이다</a:t>
            </a:r>
            <a:endParaRPr lang="en-US" sz="1400" dirty="0"/>
          </a:p>
        </p:txBody>
      </p:sp>
      <p:sp>
        <p:nvSpPr>
          <p:cNvPr id="18" name="Shape 16"/>
          <p:cNvSpPr/>
          <p:nvPr/>
        </p:nvSpPr>
        <p:spPr>
          <a:xfrm>
            <a:off x="530352" y="4846320"/>
            <a:ext cx="11128248" cy="512064"/>
          </a:xfrm>
          <a:prstGeom prst="roundRect">
            <a:avLst>
              <a:gd name="adj" fmla="val 39286"/>
            </a:avLst>
          </a:prstGeom>
          <a:solidFill>
            <a:srgbClr val="EAF5FB"/>
          </a:solidFill>
          <a:ln w="12700">
            <a:solidFill>
              <a:srgbClr val="3D8DFF"/>
            </a:solidFill>
            <a:prstDash val="solid"/>
          </a:ln>
        </p:spPr>
      </p:sp>
      <p:sp>
        <p:nvSpPr>
          <p:cNvPr id="19" name="Text 17"/>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창을 닫았다면 06에서 opencode를 다시 켜고 보낸다 · 시작 요청문은 다시 안 보낸다</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질문마다 내가 정하고, 이유와 함께 7항에 적는다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530352" y="1783080"/>
            <a:ext cx="3561039" cy="402336"/>
          </a:xfrm>
          <a:prstGeom prst="rect">
            <a:avLst/>
          </a:prstGeom>
          <a:solidFill>
            <a:srgbClr val="1B1D21"/>
          </a:solidFill>
          <a:ln/>
        </p:spPr>
      </p:sp>
      <p:sp>
        <p:nvSpPr>
          <p:cNvPr id="11" name="Text 9"/>
          <p:cNvSpPr/>
          <p:nvPr/>
        </p:nvSpPr>
        <p:spPr>
          <a:xfrm>
            <a:off x="658368" y="1783080"/>
            <a:ext cx="33050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7항의 줄</a:t>
            </a:r>
            <a:endParaRPr lang="en-US" sz="1050" dirty="0"/>
          </a:p>
        </p:txBody>
      </p:sp>
      <p:sp>
        <p:nvSpPr>
          <p:cNvPr id="12" name="Shape 10"/>
          <p:cNvSpPr/>
          <p:nvPr/>
        </p:nvSpPr>
        <p:spPr>
          <a:xfrm>
            <a:off x="4091391" y="1783080"/>
            <a:ext cx="7567209" cy="402336"/>
          </a:xfrm>
          <a:prstGeom prst="rect">
            <a:avLst/>
          </a:prstGeom>
          <a:solidFill>
            <a:srgbClr val="1B1D21"/>
          </a:solidFill>
          <a:ln/>
        </p:spPr>
      </p:sp>
      <p:sp>
        <p:nvSpPr>
          <p:cNvPr id="13" name="Text 11"/>
          <p:cNvSpPr/>
          <p:nvPr/>
        </p:nvSpPr>
        <p:spPr>
          <a:xfrm>
            <a:off x="4219407" y="1783080"/>
            <a:ext cx="731117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적는다 (예)</a:t>
            </a:r>
            <a:endParaRPr lang="en-US" sz="1050" dirty="0"/>
          </a:p>
        </p:txBody>
      </p:sp>
      <p:sp>
        <p:nvSpPr>
          <p:cNvPr id="14" name="Shape 12"/>
          <p:cNvSpPr/>
          <p:nvPr/>
        </p:nvSpPr>
        <p:spPr>
          <a:xfrm>
            <a:off x="530352" y="2185416"/>
            <a:ext cx="11128248" cy="512064"/>
          </a:xfrm>
          <a:prstGeom prst="rect">
            <a:avLst/>
          </a:prstGeom>
          <a:solidFill>
            <a:srgbClr val="F1F2F4"/>
          </a:solidFill>
          <a:ln w="9525">
            <a:solidFill>
              <a:srgbClr val="E0E3E7"/>
            </a:solidFill>
            <a:prstDash val="solid"/>
          </a:ln>
        </p:spPr>
      </p:sp>
      <p:sp>
        <p:nvSpPr>
          <p:cNvPr id="15" name="Text 13"/>
          <p:cNvSpPr/>
          <p:nvPr/>
        </p:nvSpPr>
        <p:spPr>
          <a:xfrm>
            <a:off x="658368" y="2185416"/>
            <a:ext cx="3305007" cy="51206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AI에게 확인을 요청한 내용</a:t>
            </a:r>
            <a:endParaRPr lang="en-US" sz="1250" dirty="0"/>
          </a:p>
        </p:txBody>
      </p:sp>
      <p:sp>
        <p:nvSpPr>
          <p:cNvPr id="16" name="Text 14"/>
          <p:cNvSpPr/>
          <p:nvPr/>
        </p:nvSpPr>
        <p:spPr>
          <a:xfrm>
            <a:off x="4219407" y="2185416"/>
            <a:ext cx="7311177" cy="51206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1~6항이 서로 맞지 않는 곳을 질문으로 알려 달라고 했다</a:t>
            </a:r>
            <a:endParaRPr lang="en-US" sz="1250" dirty="0"/>
          </a:p>
        </p:txBody>
      </p:sp>
      <p:sp>
        <p:nvSpPr>
          <p:cNvPr id="17" name="Shape 15"/>
          <p:cNvSpPr/>
          <p:nvPr/>
        </p:nvSpPr>
        <p:spPr>
          <a:xfrm>
            <a:off x="530352" y="2697480"/>
            <a:ext cx="11128248" cy="512064"/>
          </a:xfrm>
          <a:prstGeom prst="rect">
            <a:avLst/>
          </a:prstGeom>
          <a:solidFill>
            <a:srgbClr val="FFFFFF"/>
          </a:solidFill>
          <a:ln w="9525">
            <a:solidFill>
              <a:srgbClr val="E0E3E7"/>
            </a:solidFill>
            <a:prstDash val="solid"/>
          </a:ln>
        </p:spPr>
      </p:sp>
      <p:sp>
        <p:nvSpPr>
          <p:cNvPr id="18" name="Text 16"/>
          <p:cNvSpPr/>
          <p:nvPr/>
        </p:nvSpPr>
        <p:spPr>
          <a:xfrm>
            <a:off x="658368" y="2697480"/>
            <a:ext cx="3305007" cy="51206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AI가 제안하거나 질문한 내용</a:t>
            </a:r>
            <a:endParaRPr lang="en-US" sz="1250" dirty="0"/>
          </a:p>
        </p:txBody>
      </p:sp>
      <p:sp>
        <p:nvSpPr>
          <p:cNvPr id="19" name="Text 17"/>
          <p:cNvSpPr/>
          <p:nvPr/>
        </p:nvSpPr>
        <p:spPr>
          <a:xfrm>
            <a:off x="4219407" y="2697480"/>
            <a:ext cx="7311177" cy="51206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「지난 기록을 언제 다시 보나요?」 「알림 기능이 있으면 어떨까요?」</a:t>
            </a:r>
            <a:endParaRPr lang="en-US" sz="1250" dirty="0"/>
          </a:p>
        </p:txBody>
      </p:sp>
      <p:sp>
        <p:nvSpPr>
          <p:cNvPr id="20" name="Shape 18"/>
          <p:cNvSpPr/>
          <p:nvPr/>
        </p:nvSpPr>
        <p:spPr>
          <a:xfrm>
            <a:off x="530352" y="3209544"/>
            <a:ext cx="11128248" cy="512064"/>
          </a:xfrm>
          <a:prstGeom prst="rect">
            <a:avLst/>
          </a:prstGeom>
          <a:solidFill>
            <a:srgbClr val="F1F2F4"/>
          </a:solidFill>
          <a:ln w="9525">
            <a:solidFill>
              <a:srgbClr val="E0E3E7"/>
            </a:solidFill>
            <a:prstDash val="solid"/>
          </a:ln>
        </p:spPr>
      </p:sp>
      <p:sp>
        <p:nvSpPr>
          <p:cNvPr id="21" name="Text 19"/>
          <p:cNvSpPr/>
          <p:nvPr/>
        </p:nvSpPr>
        <p:spPr>
          <a:xfrm>
            <a:off x="658368" y="3209544"/>
            <a:ext cx="3305007" cy="51206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반영한 내용과 이유</a:t>
            </a:r>
            <a:endParaRPr lang="en-US" sz="1250" dirty="0"/>
          </a:p>
        </p:txBody>
      </p:sp>
      <p:sp>
        <p:nvSpPr>
          <p:cNvPr id="22" name="Text 20"/>
          <p:cNvSpPr/>
          <p:nvPr/>
        </p:nvSpPr>
        <p:spPr>
          <a:xfrm>
            <a:off x="4219407" y="3209544"/>
            <a:ext cx="7311177" cy="51206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3항 끝에 「지난 기록을 확인한다」를 넣었다 · 다시 보는 순간이 없었다</a:t>
            </a:r>
            <a:endParaRPr lang="en-US" sz="1250" dirty="0"/>
          </a:p>
        </p:txBody>
      </p:sp>
      <p:sp>
        <p:nvSpPr>
          <p:cNvPr id="23" name="Shape 21"/>
          <p:cNvSpPr/>
          <p:nvPr/>
        </p:nvSpPr>
        <p:spPr>
          <a:xfrm>
            <a:off x="530352" y="3721608"/>
            <a:ext cx="11128248" cy="512064"/>
          </a:xfrm>
          <a:prstGeom prst="rect">
            <a:avLst/>
          </a:prstGeom>
          <a:solidFill>
            <a:srgbClr val="FFFFFF"/>
          </a:solidFill>
          <a:ln w="9525">
            <a:solidFill>
              <a:srgbClr val="E0E3E7"/>
            </a:solidFill>
            <a:prstDash val="solid"/>
          </a:ln>
        </p:spPr>
      </p:sp>
      <p:sp>
        <p:nvSpPr>
          <p:cNvPr id="24" name="Text 22"/>
          <p:cNvSpPr/>
          <p:nvPr/>
        </p:nvSpPr>
        <p:spPr>
          <a:xfrm>
            <a:off x="658368" y="3721608"/>
            <a:ext cx="3305007" cy="51206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반영하지 않은 내용과 이유</a:t>
            </a:r>
            <a:endParaRPr lang="en-US" sz="1250" dirty="0"/>
          </a:p>
        </p:txBody>
      </p:sp>
      <p:sp>
        <p:nvSpPr>
          <p:cNvPr id="25" name="Text 23"/>
          <p:cNvSpPr/>
          <p:nvPr/>
        </p:nvSpPr>
        <p:spPr>
          <a:xfrm>
            <a:off x="4219407" y="3721608"/>
            <a:ext cx="7311177" cy="51206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알림은 넣지 않았다 · 로그인이 필요해 수업 범위를 넘는다</a:t>
            </a:r>
            <a:endParaRPr lang="en-US" sz="1250" dirty="0"/>
          </a:p>
        </p:txBody>
      </p:sp>
      <p:sp>
        <p:nvSpPr>
          <p:cNvPr id="26" name="Shape 24"/>
          <p:cNvSpPr/>
          <p:nvPr/>
        </p:nvSpPr>
        <p:spPr>
          <a:xfrm>
            <a:off x="530352" y="4233672"/>
            <a:ext cx="11128248" cy="512064"/>
          </a:xfrm>
          <a:prstGeom prst="rect">
            <a:avLst/>
          </a:prstGeom>
          <a:solidFill>
            <a:srgbClr val="F1F2F4"/>
          </a:solidFill>
          <a:ln w="9525">
            <a:solidFill>
              <a:srgbClr val="E0E3E7"/>
            </a:solidFill>
            <a:prstDash val="solid"/>
          </a:ln>
        </p:spPr>
      </p:sp>
      <p:sp>
        <p:nvSpPr>
          <p:cNvPr id="27" name="Text 25"/>
          <p:cNvSpPr/>
          <p:nvPr/>
        </p:nvSpPr>
        <p:spPr>
          <a:xfrm>
            <a:off x="658368" y="4233672"/>
            <a:ext cx="3305007" cy="512064"/>
          </a:xfrm>
          <a:prstGeom prst="rect">
            <a:avLst/>
          </a:prstGeom>
          <a:noFill/>
          <a:ln/>
        </p:spPr>
        <p:txBody>
          <a:bodyPr wrap="square" lIns="0" tIns="0" rIns="0" bIns="0" rtlCol="0" anchor="ctr"/>
          <a:lstStyle/>
          <a:p>
            <a:pPr indent="0" marL="0">
              <a:buNone/>
            </a:pPr>
            <a:r>
              <a:rPr lang="en-US" sz="1250" b="1" dirty="0">
                <a:solidFill>
                  <a:srgbClr val="1B1D21"/>
                </a:solidFill>
                <a:latin typeface="IBM Plex Sans KR" pitchFamily="34" charset="0"/>
                <a:ea typeface="IBM Plex Sans KR" pitchFamily="34" charset="-122"/>
                <a:cs typeface="IBM Plex Sans KR" pitchFamily="34" charset="-120"/>
              </a:rPr>
              <a:t>학생이 직접 결정한 부분</a:t>
            </a:r>
            <a:endParaRPr lang="en-US" sz="1250" dirty="0"/>
          </a:p>
        </p:txBody>
      </p:sp>
      <p:sp>
        <p:nvSpPr>
          <p:cNvPr id="28" name="Text 26"/>
          <p:cNvSpPr/>
          <p:nvPr/>
        </p:nvSpPr>
        <p:spPr>
          <a:xfrm>
            <a:off x="4219407" y="4233672"/>
            <a:ext cx="7311177" cy="512064"/>
          </a:xfrm>
          <a:prstGeom prst="rect">
            <a:avLst/>
          </a:prstGeom>
          <a:noFill/>
          <a:ln/>
        </p:spPr>
        <p:txBody>
          <a:bodyPr wrap="square" lIns="0" tIns="0" rIns="0" bIns="0" rtlCol="0" anchor="ctr"/>
          <a:lstStyle/>
          <a:p>
            <a:pPr indent="0" marL="0">
              <a:buNone/>
            </a:pPr>
            <a:r>
              <a:rPr lang="en-US" sz="1250" dirty="0">
                <a:solidFill>
                  <a:srgbClr val="6C7078"/>
                </a:solidFill>
                <a:latin typeface="IBM Plex Sans KR" pitchFamily="34" charset="0"/>
                <a:ea typeface="IBM Plex Sans KR" pitchFamily="34" charset="-122"/>
                <a:cs typeface="IBM Plex Sans KR" pitchFamily="34" charset="-120"/>
              </a:rPr>
              <a:t>테이블은 하나로 두었다 · 기억할 것이 검색 기록 하나뿐이다</a:t>
            </a:r>
            <a:endParaRPr lang="en-US" sz="1250" dirty="0"/>
          </a:p>
        </p:txBody>
      </p:sp>
      <p:sp>
        <p:nvSpPr>
          <p:cNvPr id="29" name="Shape 27"/>
          <p:cNvSpPr/>
          <p:nvPr/>
        </p:nvSpPr>
        <p:spPr>
          <a:xfrm>
            <a:off x="530352" y="5120640"/>
            <a:ext cx="11128248" cy="512064"/>
          </a:xfrm>
          <a:prstGeom prst="roundRect">
            <a:avLst>
              <a:gd name="adj" fmla="val 39286"/>
            </a:avLst>
          </a:prstGeom>
          <a:solidFill>
            <a:srgbClr val="FF5C00"/>
          </a:solidFill>
          <a:ln w="12700">
            <a:solidFill>
              <a:srgbClr val="FF5C00"/>
            </a:solidFill>
            <a:prstDash val="solid"/>
          </a:ln>
        </p:spPr>
      </p:sp>
      <p:sp>
        <p:nvSpPr>
          <p:cNvPr id="30" name="Text 28"/>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거절한 것도 판단이다 · 「반영하지 않은 내용」을 비워 두지 않는다 · 30점</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제출 전에 한 번 더 확인한다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783080"/>
            <a:ext cx="11128248" cy="2834640"/>
          </a:xfrm>
          <a:prstGeom prst="roundRect">
            <a:avLst>
              <a:gd name="adj" fmla="val 1774"/>
            </a:avLst>
          </a:prstGeom>
          <a:solidFill>
            <a:srgbClr val="F1F2F4"/>
          </a:solidFill>
          <a:ln w="12700">
            <a:solidFill>
              <a:srgbClr val="E0E3E7"/>
            </a:solidFill>
            <a:prstDash val="solid"/>
          </a:ln>
        </p:spPr>
      </p:sp>
      <p:sp>
        <p:nvSpPr>
          <p:cNvPr id="11" name="Text 9"/>
          <p:cNvSpPr/>
          <p:nvPr/>
        </p:nvSpPr>
        <p:spPr>
          <a:xfrm>
            <a:off x="713232" y="194767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다섯 가지 질문</a:t>
            </a:r>
            <a:endParaRPr lang="en-US" sz="1650" dirty="0"/>
          </a:p>
        </p:txBody>
      </p:sp>
      <p:sp>
        <p:nvSpPr>
          <p:cNvPr id="12" name="Text 10"/>
          <p:cNvSpPr/>
          <p:nvPr/>
        </p:nvSpPr>
        <p:spPr>
          <a:xfrm>
            <a:off x="713232" y="2441448"/>
            <a:ext cx="10762488" cy="2103120"/>
          </a:xfrm>
          <a:prstGeom prst="rect">
            <a:avLst/>
          </a:prstGeom>
          <a:noFill/>
          <a:ln/>
        </p:spPr>
        <p:txBody>
          <a:bodyPr wrap="square" lIns="0" tIns="0" rIns="0" bIns="0" rtlCol="0" anchor="t"/>
          <a:lstStyle/>
          <a:p>
            <a:pPr marL="203200" indent="-203200">
              <a:lnSpc>
                <a:spcPts val="26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가장 중요한 기능은 무엇인가?</a:t>
            </a:r>
            <a:endParaRPr lang="en-US" sz="1500" dirty="0"/>
          </a:p>
          <a:p>
            <a:pPr marL="203200" indent="-203200">
              <a:lnSpc>
                <a:spcPts val="26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사용자는 어떤 순서로 그 기능을 쓰는가?</a:t>
            </a:r>
            <a:endParaRPr lang="en-US" sz="1500" dirty="0"/>
          </a:p>
          <a:p>
            <a:pPr marL="203200" indent="-203200">
              <a:lnSpc>
                <a:spcPts val="26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화면에 무엇이 보이고, 누른 뒤 어떤 결과가 나타나는가?</a:t>
            </a:r>
            <a:endParaRPr lang="en-US" sz="1500" dirty="0"/>
          </a:p>
          <a:p>
            <a:pPr marL="203200" indent="-203200">
              <a:lnSpc>
                <a:spcPts val="26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어떤 기록을 기억하고, 사용자는 언제 다시 보는가?</a:t>
            </a:r>
            <a:endParaRPr lang="en-US" sz="1500" dirty="0"/>
          </a:p>
          <a:p>
            <a:pPr marL="203200" indent="-203200">
              <a:lnSpc>
                <a:spcPts val="2600"/>
              </a:lnSpc>
              <a:buSzPct val="100000"/>
              <a:buChar char="▪"/>
            </a:pPr>
            <a:r>
              <a:rPr lang="en-US" sz="1500" dirty="0">
                <a:solidFill>
                  <a:srgbClr val="34373D"/>
                </a:solidFill>
                <a:latin typeface="IBM Plex Sans KR" pitchFamily="34" charset="0"/>
                <a:ea typeface="IBM Plex Sans KR" pitchFamily="34" charset="-122"/>
                <a:cs typeface="IBM Plex Sans KR" pitchFamily="34" charset="-120"/>
              </a:rPr>
              <a:t>AI의 의견 가운데 받아들이거나 거절한 것은 무엇인가?</a:t>
            </a:r>
            <a:endParaRPr lang="en-US" sz="1500" dirty="0"/>
          </a:p>
        </p:txBody>
      </p:sp>
      <p:sp>
        <p:nvSpPr>
          <p:cNvPr id="13" name="Shape 11"/>
          <p:cNvSpPr/>
          <p:nvPr/>
        </p:nvSpPr>
        <p:spPr>
          <a:xfrm>
            <a:off x="530352" y="4937760"/>
            <a:ext cx="11128248" cy="512064"/>
          </a:xfrm>
          <a:prstGeom prst="roundRect">
            <a:avLst>
              <a:gd name="adj" fmla="val 39286"/>
            </a:avLst>
          </a:prstGeom>
          <a:solidFill>
            <a:srgbClr val="FF5C00"/>
          </a:solidFill>
          <a:ln w="12700">
            <a:solidFill>
              <a:srgbClr val="FF5C00"/>
            </a:solidFill>
            <a:prstDash val="solid"/>
          </a:ln>
        </p:spPr>
      </p:sp>
      <p:sp>
        <p:nvSpPr>
          <p:cNvPr id="14" name="Text 12"/>
          <p:cNvSpPr/>
          <p:nvPr/>
        </p:nvSpPr>
        <p:spPr>
          <a:xfrm>
            <a:off x="731520" y="49377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말이 막히는 항목 = AI 문장을 그대로 옮긴 곳 → 지금 내 말로 다시 쓴다</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저장하고, 06 폴더를 ZIP 하나로 묶는다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920240"/>
            <a:ext cx="2562606"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저장</a:t>
            </a:r>
            <a:endParaRPr lang="en-US" sz="1650" dirty="0"/>
          </a:p>
        </p:txBody>
      </p:sp>
      <p:sp>
        <p:nvSpPr>
          <p:cNvPr id="13" name="Text 11"/>
          <p:cNvSpPr/>
          <p:nvPr/>
        </p:nvSpPr>
        <p:spPr>
          <a:xfrm>
            <a:off x="713232"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Ctrl+S</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학생 ID · 이름 채우기</a:t>
            </a:r>
            <a:endParaRPr lang="en-US" sz="1300" dirty="0"/>
          </a:p>
        </p:txBody>
      </p:sp>
      <p:sp>
        <p:nvSpPr>
          <p:cNvPr id="14" name="Text 12"/>
          <p:cNvSpPr/>
          <p:nvPr/>
        </p:nvSpPr>
        <p:spPr>
          <a:xfrm>
            <a:off x="3065526"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920240"/>
            <a:ext cx="2562606" cy="2103120"/>
          </a:xfrm>
          <a:prstGeom prst="roundRect">
            <a:avLst>
              <a:gd name="adj" fmla="val 2391"/>
            </a:avLst>
          </a:prstGeom>
          <a:solidFill>
            <a:srgbClr val="F1F2F4"/>
          </a:solidFill>
          <a:ln w="12700">
            <a:solidFill>
              <a:srgbClr val="E0E3E7"/>
            </a:solidFill>
            <a:prstDash val="solid"/>
          </a:ln>
        </p:spPr>
      </p:sp>
      <p:sp>
        <p:nvSpPr>
          <p:cNvPr id="16" name="Text 14"/>
          <p:cNvSpPr/>
          <p:nvPr/>
        </p:nvSpPr>
        <p:spPr>
          <a:xfrm>
            <a:off x="3568446"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06 폴더</a:t>
            </a:r>
            <a:endParaRPr lang="en-US" sz="1650" dirty="0"/>
          </a:p>
        </p:txBody>
      </p:sp>
      <p:sp>
        <p:nvSpPr>
          <p:cNvPr id="18" name="Text 16"/>
          <p:cNvSpPr/>
          <p:nvPr/>
        </p:nvSpPr>
        <p:spPr>
          <a:xfrm>
            <a:off x="3568446"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오른쪽 클릭</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 더 많은 옵션 표시</a:t>
            </a:r>
            <a:endParaRPr lang="en-US" sz="1300" dirty="0"/>
          </a:p>
        </p:txBody>
      </p:sp>
      <p:sp>
        <p:nvSpPr>
          <p:cNvPr id="19" name="Text 17"/>
          <p:cNvSpPr/>
          <p:nvPr/>
        </p:nvSpPr>
        <p:spPr>
          <a:xfrm>
            <a:off x="5920740"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920240"/>
            <a:ext cx="2562606" cy="2103120"/>
          </a:xfrm>
          <a:prstGeom prst="roundRect">
            <a:avLst>
              <a:gd name="adj" fmla="val 2391"/>
            </a:avLst>
          </a:prstGeom>
          <a:solidFill>
            <a:srgbClr val="F1F2F4"/>
          </a:solidFill>
          <a:ln w="12700">
            <a:solidFill>
              <a:srgbClr val="E0E3E7"/>
            </a:solidFill>
            <a:prstDash val="solid"/>
          </a:ln>
        </p:spPr>
      </p:sp>
      <p:sp>
        <p:nvSpPr>
          <p:cNvPr id="21" name="Text 19"/>
          <p:cNvSpPr/>
          <p:nvPr/>
        </p:nvSpPr>
        <p:spPr>
          <a:xfrm>
            <a:off x="6423660"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보내기</a:t>
            </a:r>
            <a:endParaRPr lang="en-US" sz="1650" dirty="0"/>
          </a:p>
        </p:txBody>
      </p:sp>
      <p:sp>
        <p:nvSpPr>
          <p:cNvPr id="23" name="Text 21"/>
          <p:cNvSpPr/>
          <p:nvPr/>
        </p:nvSpPr>
        <p:spPr>
          <a:xfrm>
            <a:off x="6423660"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압축(ZIP) 폴더</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 06.zip</a:t>
            </a:r>
            <a:endParaRPr lang="en-US" sz="1300" dirty="0"/>
          </a:p>
        </p:txBody>
      </p:sp>
      <p:sp>
        <p:nvSpPr>
          <p:cNvPr id="24" name="Text 22"/>
          <p:cNvSpPr/>
          <p:nvPr/>
        </p:nvSpPr>
        <p:spPr>
          <a:xfrm>
            <a:off x="8775954"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920240"/>
            <a:ext cx="2562606" cy="2103120"/>
          </a:xfrm>
          <a:prstGeom prst="roundRect">
            <a:avLst>
              <a:gd name="adj" fmla="val 2391"/>
            </a:avLst>
          </a:prstGeom>
          <a:solidFill>
            <a:srgbClr val="E7F2ED"/>
          </a:solidFill>
          <a:ln w="12700">
            <a:solidFill>
              <a:srgbClr val="0E7C86"/>
            </a:solidFill>
            <a:prstDash val="solid"/>
          </a:ln>
        </p:spPr>
      </p:sp>
      <p:sp>
        <p:nvSpPr>
          <p:cNvPr id="26" name="Text 24"/>
          <p:cNvSpPr/>
          <p:nvPr/>
        </p:nvSpPr>
        <p:spPr>
          <a:xfrm>
            <a:off x="9278874" y="208483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이름 바꾸기</a:t>
            </a:r>
            <a:endParaRPr lang="en-US" sz="1650" dirty="0"/>
          </a:p>
        </p:txBody>
      </p:sp>
      <p:sp>
        <p:nvSpPr>
          <p:cNvPr id="28" name="Text 26"/>
          <p:cNvSpPr/>
          <p:nvPr/>
        </p:nvSpPr>
        <p:spPr>
          <a:xfrm>
            <a:off x="9278874"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08_assessment2_</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학생ID_이름.zip</a:t>
            </a:r>
            <a:endParaRPr lang="en-US" sz="1300" dirty="0"/>
          </a:p>
        </p:txBody>
      </p:sp>
      <p:sp>
        <p:nvSpPr>
          <p:cNvPr id="29" name="Shape 27"/>
          <p:cNvSpPr/>
          <p:nvPr/>
        </p:nvSpPr>
        <p:spPr>
          <a:xfrm>
            <a:off x="530352" y="434340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3434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안의 파일 이름은 그대로 · 06 폴더는 9회에 이어서 쓴다</a:t>
            </a:r>
            <a:endParaRPr lang="en-US" sz="1500" dirty="0"/>
          </a:p>
        </p:txBody>
      </p:sp>
      <p:sp>
        <p:nvSpPr>
          <p:cNvPr id="31" name="Shape 29"/>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32" name="Text 30"/>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ZIP 이름의 학생 ID · 이름 = PRD 맨 위의 학생 ID · 이름</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제출 버튼을 누르기 전에</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10" name="Shape 8"/>
          <p:cNvSpPr/>
          <p:nvPr/>
        </p:nvSpPr>
        <p:spPr>
          <a:xfrm>
            <a:off x="530352" y="1783080"/>
            <a:ext cx="5440680" cy="3108960"/>
          </a:xfrm>
          <a:prstGeom prst="roundRect">
            <a:avLst>
              <a:gd name="adj" fmla="val 1618"/>
            </a:avLst>
          </a:prstGeom>
          <a:solidFill>
            <a:srgbClr val="F1F2F4"/>
          </a:solidFill>
          <a:ln w="12700">
            <a:solidFill>
              <a:srgbClr val="E0E3E7"/>
            </a:solidFill>
            <a:prstDash val="solid"/>
          </a:ln>
        </p:spPr>
      </p:sp>
      <p:sp>
        <p:nvSpPr>
          <p:cNvPr id="11" name="Text 9"/>
          <p:cNvSpPr/>
          <p:nvPr/>
        </p:nvSpPr>
        <p:spPr>
          <a:xfrm>
            <a:off x="713232" y="1947672"/>
            <a:ext cx="50749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파일</a:t>
            </a:r>
            <a:endParaRPr lang="en-US" sz="1650" dirty="0"/>
          </a:p>
        </p:txBody>
      </p:sp>
      <p:sp>
        <p:nvSpPr>
          <p:cNvPr id="12" name="Text 10"/>
          <p:cNvSpPr/>
          <p:nvPr/>
        </p:nvSpPr>
        <p:spPr>
          <a:xfrm>
            <a:off x="713232" y="2441448"/>
            <a:ext cx="5074920" cy="2377440"/>
          </a:xfrm>
          <a:prstGeom prst="rect">
            <a:avLst/>
          </a:prstGeom>
          <a:noFill/>
          <a:ln/>
        </p:spPr>
        <p:txBody>
          <a:bodyPr wrap="square" lIns="0" tIns="0" rIns="0" bIns="0" rtlCol="0" anchor="t"/>
          <a:lstStyle/>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ZIP 이름 = PRD 맨 위 학생 ID · 이름</a:t>
            </a:r>
            <a:endParaRPr lang="en-US" sz="1350" dirty="0"/>
          </a:p>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ZIP 안에 PRD.md · AI대화기록.md · mockup</a:t>
            </a:r>
            <a:endParaRPr lang="en-US" sz="1350" dirty="0"/>
          </a:p>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빈 칸 · 「(확인 필요)」 없음</a:t>
            </a:r>
            <a:endParaRPr lang="en-US" sz="1350" dirty="0"/>
          </a:p>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SQL · 코드 · 그림 · 개인정보 없음</a:t>
            </a:r>
            <a:endParaRPr lang="en-US" sz="1350" dirty="0"/>
          </a:p>
        </p:txBody>
      </p:sp>
      <p:sp>
        <p:nvSpPr>
          <p:cNvPr id="13" name="Shape 11"/>
          <p:cNvSpPr/>
          <p:nvPr/>
        </p:nvSpPr>
        <p:spPr>
          <a:xfrm>
            <a:off x="6217920" y="1783080"/>
            <a:ext cx="5440680" cy="3108960"/>
          </a:xfrm>
          <a:prstGeom prst="roundRect">
            <a:avLst>
              <a:gd name="adj" fmla="val 1618"/>
            </a:avLst>
          </a:prstGeom>
          <a:solidFill>
            <a:srgbClr val="E7F2ED"/>
          </a:solidFill>
          <a:ln w="12700">
            <a:solidFill>
              <a:srgbClr val="0E7C86"/>
            </a:solidFill>
            <a:prstDash val="solid"/>
          </a:ln>
        </p:spPr>
      </p:sp>
      <p:sp>
        <p:nvSpPr>
          <p:cNvPr id="14" name="Text 12"/>
          <p:cNvSpPr/>
          <p:nvPr/>
        </p:nvSpPr>
        <p:spPr>
          <a:xfrm>
            <a:off x="6400800" y="1947672"/>
            <a:ext cx="507492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내용</a:t>
            </a:r>
            <a:endParaRPr lang="en-US" sz="1650" dirty="0"/>
          </a:p>
        </p:txBody>
      </p:sp>
      <p:sp>
        <p:nvSpPr>
          <p:cNvPr id="15" name="Text 13"/>
          <p:cNvSpPr/>
          <p:nvPr/>
        </p:nvSpPr>
        <p:spPr>
          <a:xfrm>
            <a:off x="6400800" y="2441448"/>
            <a:ext cx="5074920" cy="2377440"/>
          </a:xfrm>
          <a:prstGeom prst="rect">
            <a:avLst/>
          </a:prstGeom>
          <a:noFill/>
          <a:ln/>
        </p:spPr>
        <p:txBody>
          <a:bodyPr wrap="square" lIns="0" tIns="0" rIns="0" bIns="0" rtlCol="0" anchor="t"/>
          <a:lstStyle/>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가장 중요한 기능이 분명하다</a:t>
            </a:r>
            <a:endParaRPr lang="en-US" sz="1350" dirty="0"/>
          </a:p>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3항 흐름 = 4항 화면 순서</a:t>
            </a:r>
            <a:endParaRPr lang="en-US" sz="1350" dirty="0"/>
          </a:p>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5항에 생기는 순간 · 다시 보는 순간</a:t>
            </a:r>
            <a:endParaRPr lang="en-US" sz="1350" dirty="0"/>
          </a:p>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6항 기준을 손으로 해 볼 수 있음 · 7항에 이유</a:t>
            </a:r>
            <a:endParaRPr lang="en-US" sz="1350" dirty="0"/>
          </a:p>
          <a:p>
            <a:pPr marL="203200" indent="-203200">
              <a:lnSpc>
                <a:spcPts val="260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모든 문장을 내가 설명할 수 있다</a:t>
            </a:r>
            <a:endParaRPr lang="en-US" sz="1350" dirty="0"/>
          </a:p>
        </p:txBody>
      </p:sp>
      <p:sp>
        <p:nvSpPr>
          <p:cNvPr id="16" name="Shape 14"/>
          <p:cNvSpPr/>
          <p:nvPr/>
        </p:nvSpPr>
        <p:spPr>
          <a:xfrm>
            <a:off x="530352" y="516636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516636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하나라도 「아니요」면 고치고, 다시 ZIP을 만든다</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Google Form에 ZIP 하나를 올린다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15–16쪽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sp>
        <p:nvSpPr>
          <p:cNvPr id="10" name="Shape 8"/>
          <p:cNvSpPr/>
          <p:nvPr/>
        </p:nvSpPr>
        <p:spPr>
          <a:xfrm>
            <a:off x="530352" y="1920240"/>
            <a:ext cx="2562606" cy="2103120"/>
          </a:xfrm>
          <a:prstGeom prst="roundRect">
            <a:avLst>
              <a:gd name="adj" fmla="val 2391"/>
            </a:avLst>
          </a:prstGeom>
          <a:solidFill>
            <a:srgbClr val="F1F2F4"/>
          </a:solidFill>
          <a:ln w="12700">
            <a:solidFill>
              <a:srgbClr val="E0E3E7"/>
            </a:solidFill>
            <a:prstDash val="solid"/>
          </a:ln>
        </p:spPr>
      </p:sp>
      <p:sp>
        <p:nvSpPr>
          <p:cNvPr id="11" name="Text 9"/>
          <p:cNvSpPr/>
          <p:nvPr/>
        </p:nvSpPr>
        <p:spPr>
          <a:xfrm>
            <a:off x="713232"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Form 열기</a:t>
            </a:r>
            <a:endParaRPr lang="en-US" sz="1650" dirty="0"/>
          </a:p>
        </p:txBody>
      </p:sp>
      <p:sp>
        <p:nvSpPr>
          <p:cNvPr id="13" name="Text 11"/>
          <p:cNvSpPr/>
          <p:nvPr/>
        </p:nvSpPr>
        <p:spPr>
          <a:xfrm>
            <a:off x="713232"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교과서 15쪽</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제출 Form 열기 버튼</a:t>
            </a:r>
            <a:endParaRPr lang="en-US" sz="1300" dirty="0"/>
          </a:p>
        </p:txBody>
      </p:sp>
      <p:sp>
        <p:nvSpPr>
          <p:cNvPr id="14" name="Text 12"/>
          <p:cNvSpPr/>
          <p:nvPr/>
        </p:nvSpPr>
        <p:spPr>
          <a:xfrm>
            <a:off x="3065526"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920240"/>
            <a:ext cx="2562606" cy="2103120"/>
          </a:xfrm>
          <a:prstGeom prst="roundRect">
            <a:avLst>
              <a:gd name="adj" fmla="val 2391"/>
            </a:avLst>
          </a:prstGeom>
          <a:solidFill>
            <a:srgbClr val="F1F2F4"/>
          </a:solidFill>
          <a:ln w="12700">
            <a:solidFill>
              <a:srgbClr val="E0E3E7"/>
            </a:solidFill>
            <a:prstDash val="solid"/>
          </a:ln>
        </p:spPr>
      </p:sp>
      <p:sp>
        <p:nvSpPr>
          <p:cNvPr id="16" name="Text 14"/>
          <p:cNvSpPr/>
          <p:nvPr/>
        </p:nvSpPr>
        <p:spPr>
          <a:xfrm>
            <a:off x="3568446"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학년 · 이름</a:t>
            </a:r>
            <a:endParaRPr lang="en-US" sz="1650" dirty="0"/>
          </a:p>
        </p:txBody>
      </p:sp>
      <p:sp>
        <p:nvSpPr>
          <p:cNvPr id="18" name="Text 16"/>
          <p:cNvSpPr/>
          <p:nvPr/>
        </p:nvSpPr>
        <p:spPr>
          <a:xfrm>
            <a:off x="3568446"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입력</a:t>
            </a:r>
            <a:endParaRPr lang="en-US" sz="1300" dirty="0"/>
          </a:p>
        </p:txBody>
      </p:sp>
      <p:sp>
        <p:nvSpPr>
          <p:cNvPr id="19" name="Text 17"/>
          <p:cNvSpPr/>
          <p:nvPr/>
        </p:nvSpPr>
        <p:spPr>
          <a:xfrm>
            <a:off x="5920740"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920240"/>
            <a:ext cx="2562606" cy="2103120"/>
          </a:xfrm>
          <a:prstGeom prst="roundRect">
            <a:avLst>
              <a:gd name="adj" fmla="val 2391"/>
            </a:avLst>
          </a:prstGeom>
          <a:solidFill>
            <a:srgbClr val="F1F2F4"/>
          </a:solidFill>
          <a:ln w="12700">
            <a:solidFill>
              <a:srgbClr val="E0E3E7"/>
            </a:solidFill>
            <a:prstDash val="solid"/>
          </a:ln>
        </p:spPr>
      </p:sp>
      <p:sp>
        <p:nvSpPr>
          <p:cNvPr id="21" name="Text 19"/>
          <p:cNvSpPr/>
          <p:nvPr/>
        </p:nvSpPr>
        <p:spPr>
          <a:xfrm>
            <a:off x="6423660" y="208483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ZIP 올리기</a:t>
            </a:r>
            <a:endParaRPr lang="en-US" sz="1650" dirty="0"/>
          </a:p>
        </p:txBody>
      </p:sp>
      <p:sp>
        <p:nvSpPr>
          <p:cNvPr id="23" name="Text 21"/>
          <p:cNvSpPr/>
          <p:nvPr/>
        </p:nvSpPr>
        <p:spPr>
          <a:xfrm>
            <a:off x="6423660"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08_assessment2_</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학생ID_이름.zip</a:t>
            </a:r>
            <a:endParaRPr lang="en-US" sz="1300" dirty="0"/>
          </a:p>
        </p:txBody>
      </p:sp>
      <p:sp>
        <p:nvSpPr>
          <p:cNvPr id="24" name="Text 22"/>
          <p:cNvSpPr/>
          <p:nvPr/>
        </p:nvSpPr>
        <p:spPr>
          <a:xfrm>
            <a:off x="8775954" y="26517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920240"/>
            <a:ext cx="2562606" cy="2103120"/>
          </a:xfrm>
          <a:prstGeom prst="roundRect">
            <a:avLst>
              <a:gd name="adj" fmla="val 2391"/>
            </a:avLst>
          </a:prstGeom>
          <a:solidFill>
            <a:srgbClr val="E7F2ED"/>
          </a:solidFill>
          <a:ln w="12700">
            <a:solidFill>
              <a:srgbClr val="0E7C86"/>
            </a:solidFill>
            <a:prstDash val="solid"/>
          </a:ln>
        </p:spPr>
      </p:sp>
      <p:sp>
        <p:nvSpPr>
          <p:cNvPr id="26" name="Text 24"/>
          <p:cNvSpPr/>
          <p:nvPr/>
        </p:nvSpPr>
        <p:spPr>
          <a:xfrm>
            <a:off x="9278874" y="208483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50545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제출</a:t>
            </a:r>
            <a:endParaRPr lang="en-US" sz="1650" dirty="0"/>
          </a:p>
        </p:txBody>
      </p:sp>
      <p:sp>
        <p:nvSpPr>
          <p:cNvPr id="28" name="Text 26"/>
          <p:cNvSpPr/>
          <p:nvPr/>
        </p:nvSpPr>
        <p:spPr>
          <a:xfrm>
            <a:off x="9278874" y="2999232"/>
            <a:ext cx="2196846" cy="87782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완료 화면까지</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창을 닫지 않는다</a:t>
            </a:r>
            <a:endParaRPr lang="en-US" sz="1300" dirty="0"/>
          </a:p>
        </p:txBody>
      </p:sp>
      <p:sp>
        <p:nvSpPr>
          <p:cNvPr id="29" name="Shape 27"/>
          <p:cNvSpPr/>
          <p:nvPr/>
        </p:nvSpPr>
        <p:spPr>
          <a:xfrm>
            <a:off x="530352" y="434340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3434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Google 계정에 로그인해 있어야 파일을 올릴 수 있다</a:t>
            </a:r>
            <a:endParaRPr lang="en-US" sz="1500" dirty="0"/>
          </a:p>
        </p:txBody>
      </p:sp>
      <p:sp>
        <p:nvSpPr>
          <p:cNvPr id="31" name="Shape 29"/>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32" name="Text 30"/>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수행평가 1 Form에 내지 않는다 · Form 제목을 확인한다</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8-2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막히면 이 표에서 내 줄을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17·20쪽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16</a:t>
            </a:r>
            <a:endParaRPr lang="en-US" sz="900" dirty="0"/>
          </a:p>
        </p:txBody>
      </p:sp>
      <p:sp>
        <p:nvSpPr>
          <p:cNvPr id="9" name="Shape 7"/>
          <p:cNvSpPr/>
          <p:nvPr/>
        </p:nvSpPr>
        <p:spPr>
          <a:xfrm>
            <a:off x="530352" y="1783080"/>
            <a:ext cx="4673864" cy="402336"/>
          </a:xfrm>
          <a:prstGeom prst="rect">
            <a:avLst/>
          </a:prstGeom>
          <a:solidFill>
            <a:srgbClr val="1B1D21"/>
          </a:solidFill>
          <a:ln/>
        </p:spPr>
      </p:sp>
      <p:sp>
        <p:nvSpPr>
          <p:cNvPr id="10" name="Text 8"/>
          <p:cNvSpPr/>
          <p:nvPr/>
        </p:nvSpPr>
        <p:spPr>
          <a:xfrm>
            <a:off x="658368" y="1783080"/>
            <a:ext cx="441783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상황이라면</a:t>
            </a:r>
            <a:endParaRPr lang="en-US" sz="1050" dirty="0"/>
          </a:p>
        </p:txBody>
      </p:sp>
      <p:sp>
        <p:nvSpPr>
          <p:cNvPr id="11" name="Shape 9"/>
          <p:cNvSpPr/>
          <p:nvPr/>
        </p:nvSpPr>
        <p:spPr>
          <a:xfrm>
            <a:off x="5204216" y="1783080"/>
            <a:ext cx="6454384" cy="402336"/>
          </a:xfrm>
          <a:prstGeom prst="rect">
            <a:avLst/>
          </a:prstGeom>
          <a:solidFill>
            <a:srgbClr val="1B1D21"/>
          </a:solidFill>
          <a:ln/>
        </p:spPr>
      </p:sp>
      <p:sp>
        <p:nvSpPr>
          <p:cNvPr id="12" name="Text 10"/>
          <p:cNvSpPr/>
          <p:nvPr/>
        </p:nvSpPr>
        <p:spPr>
          <a:xfrm>
            <a:off x="5332232" y="1783080"/>
            <a:ext cx="619835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13" name="Shape 11"/>
          <p:cNvSpPr/>
          <p:nvPr/>
        </p:nvSpPr>
        <p:spPr>
          <a:xfrm>
            <a:off x="530352" y="2185416"/>
            <a:ext cx="11128248" cy="512064"/>
          </a:xfrm>
          <a:prstGeom prst="rect">
            <a:avLst/>
          </a:prstGeom>
          <a:solidFill>
            <a:srgbClr val="F1F2F4"/>
          </a:solidFill>
          <a:ln w="9525">
            <a:solidFill>
              <a:srgbClr val="E0E3E7"/>
            </a:solidFill>
            <a:prstDash val="solid"/>
          </a:ln>
        </p:spPr>
      </p:sp>
      <p:sp>
        <p:nvSpPr>
          <p:cNvPr id="14" name="Text 12"/>
          <p:cNvSpPr/>
          <p:nvPr/>
        </p:nvSpPr>
        <p:spPr>
          <a:xfrm>
            <a:off x="658368" y="2185416"/>
            <a:ext cx="441783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AI가 무엇을 고쳤는지 모르겠다</a:t>
            </a:r>
            <a:endParaRPr lang="en-US" sz="1300" dirty="0"/>
          </a:p>
        </p:txBody>
      </p:sp>
      <p:sp>
        <p:nvSpPr>
          <p:cNvPr id="15" name="Text 13"/>
          <p:cNvSpPr/>
          <p:nvPr/>
        </p:nvSpPr>
        <p:spPr>
          <a:xfrm>
            <a:off x="5332232" y="2185416"/>
            <a:ext cx="619835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「무엇을 어떻게 고쳤는지 줄마다 알려 줘」</a:t>
            </a:r>
            <a:endParaRPr lang="en-US" sz="1300" dirty="0"/>
          </a:p>
        </p:txBody>
      </p:sp>
      <p:sp>
        <p:nvSpPr>
          <p:cNvPr id="16" name="Shape 14"/>
          <p:cNvSpPr/>
          <p:nvPr/>
        </p:nvSpPr>
        <p:spPr>
          <a:xfrm>
            <a:off x="530352" y="2697480"/>
            <a:ext cx="11128248" cy="512064"/>
          </a:xfrm>
          <a:prstGeom prst="rect">
            <a:avLst/>
          </a:prstGeom>
          <a:solidFill>
            <a:srgbClr val="FFFFFF"/>
          </a:solidFill>
          <a:ln w="9525">
            <a:solidFill>
              <a:srgbClr val="E0E3E7"/>
            </a:solidFill>
            <a:prstDash val="solid"/>
          </a:ln>
        </p:spPr>
      </p:sp>
      <p:sp>
        <p:nvSpPr>
          <p:cNvPr id="17" name="Text 15"/>
          <p:cNvSpPr/>
          <p:nvPr/>
        </p:nvSpPr>
        <p:spPr>
          <a:xfrm>
            <a:off x="658368" y="2697480"/>
            <a:ext cx="441783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AI대화기록.md가 늘지 않는다</a:t>
            </a:r>
            <a:endParaRPr lang="en-US" sz="1300" dirty="0"/>
          </a:p>
        </p:txBody>
      </p:sp>
      <p:sp>
        <p:nvSpPr>
          <p:cNvPr id="18" name="Text 16"/>
          <p:cNvSpPr/>
          <p:nvPr/>
        </p:nvSpPr>
        <p:spPr>
          <a:xfrm>
            <a:off x="5332232" y="2697480"/>
            <a:ext cx="619835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「AGENTS.md 규칙대로 지금까지의 대화를 덧붙여 줘」</a:t>
            </a:r>
            <a:endParaRPr lang="en-US" sz="1300" dirty="0"/>
          </a:p>
        </p:txBody>
      </p:sp>
      <p:sp>
        <p:nvSpPr>
          <p:cNvPr id="19" name="Shape 17"/>
          <p:cNvSpPr/>
          <p:nvPr/>
        </p:nvSpPr>
        <p:spPr>
          <a:xfrm>
            <a:off x="530352" y="3209544"/>
            <a:ext cx="11128248" cy="512064"/>
          </a:xfrm>
          <a:prstGeom prst="rect">
            <a:avLst/>
          </a:prstGeom>
          <a:solidFill>
            <a:srgbClr val="F1F2F4"/>
          </a:solidFill>
          <a:ln w="9525">
            <a:solidFill>
              <a:srgbClr val="E0E3E7"/>
            </a:solidFill>
            <a:prstDash val="solid"/>
          </a:ln>
        </p:spPr>
      </p:sp>
      <p:sp>
        <p:nvSpPr>
          <p:cNvPr id="20" name="Text 18"/>
          <p:cNvSpPr/>
          <p:nvPr/>
        </p:nvSpPr>
        <p:spPr>
          <a:xfrm>
            <a:off x="658368" y="3209544"/>
            <a:ext cx="441783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FreeUsageLimitError · 429</a:t>
            </a:r>
            <a:endParaRPr lang="en-US" sz="1300" dirty="0"/>
          </a:p>
        </p:txBody>
      </p:sp>
      <p:sp>
        <p:nvSpPr>
          <p:cNvPr id="21" name="Text 19"/>
          <p:cNvSpPr/>
          <p:nvPr/>
        </p:nvSpPr>
        <p:spPr>
          <a:xfrm>
            <a:off x="5332232" y="3209544"/>
            <a:ext cx="619835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1~2분 기다렸다 같은 요청을 다시</a:t>
            </a:r>
            <a:endParaRPr lang="en-US" sz="1300" dirty="0"/>
          </a:p>
        </p:txBody>
      </p:sp>
      <p:sp>
        <p:nvSpPr>
          <p:cNvPr id="22" name="Shape 20"/>
          <p:cNvSpPr/>
          <p:nvPr/>
        </p:nvSpPr>
        <p:spPr>
          <a:xfrm>
            <a:off x="530352" y="3721608"/>
            <a:ext cx="11128248" cy="512064"/>
          </a:xfrm>
          <a:prstGeom prst="rect">
            <a:avLst/>
          </a:prstGeom>
          <a:solidFill>
            <a:srgbClr val="FFFFFF"/>
          </a:solidFill>
          <a:ln w="9525">
            <a:solidFill>
              <a:srgbClr val="E0E3E7"/>
            </a:solidFill>
            <a:prstDash val="solid"/>
          </a:ln>
        </p:spPr>
      </p:sp>
      <p:sp>
        <p:nvSpPr>
          <p:cNvPr id="23" name="Text 21"/>
          <p:cNvSpPr/>
          <p:nvPr/>
        </p:nvSpPr>
        <p:spPr>
          <a:xfrm>
            <a:off x="658368" y="3721608"/>
            <a:ext cx="441783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OpenCode가 key를 찾을 수 없다</a:t>
            </a:r>
            <a:endParaRPr lang="en-US" sz="1300" dirty="0"/>
          </a:p>
        </p:txBody>
      </p:sp>
      <p:sp>
        <p:nvSpPr>
          <p:cNvPr id="24" name="Text 22"/>
          <p:cNvSpPr/>
          <p:nvPr/>
        </p:nvSpPr>
        <p:spPr>
          <a:xfrm>
            <a:off x="5332232" y="3721608"/>
            <a:ext cx="619835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교과서 20쪽 · auth logout → /connect → 브라우저 로그인</a:t>
            </a:r>
            <a:endParaRPr lang="en-US" sz="1300" dirty="0"/>
          </a:p>
        </p:txBody>
      </p:sp>
      <p:sp>
        <p:nvSpPr>
          <p:cNvPr id="25" name="Shape 23"/>
          <p:cNvSpPr/>
          <p:nvPr/>
        </p:nvSpPr>
        <p:spPr>
          <a:xfrm>
            <a:off x="530352" y="4233672"/>
            <a:ext cx="11128248" cy="512064"/>
          </a:xfrm>
          <a:prstGeom prst="rect">
            <a:avLst/>
          </a:prstGeom>
          <a:solidFill>
            <a:srgbClr val="F1F2F4"/>
          </a:solidFill>
          <a:ln w="9525">
            <a:solidFill>
              <a:srgbClr val="E0E3E7"/>
            </a:solidFill>
            <a:prstDash val="solid"/>
          </a:ln>
        </p:spPr>
      </p:sp>
      <p:sp>
        <p:nvSpPr>
          <p:cNvPr id="26" name="Text 24"/>
          <p:cNvSpPr/>
          <p:nvPr/>
        </p:nvSpPr>
        <p:spPr>
          <a:xfrm>
            <a:off x="658368" y="4233672"/>
            <a:ext cx="4417832" cy="512064"/>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시간이 모자란다</a:t>
            </a:r>
            <a:endParaRPr lang="en-US" sz="1300" dirty="0"/>
          </a:p>
        </p:txBody>
      </p:sp>
      <p:sp>
        <p:nvSpPr>
          <p:cNvPr id="27" name="Text 25"/>
          <p:cNvSpPr/>
          <p:nvPr/>
        </p:nvSpPr>
        <p:spPr>
          <a:xfrm>
            <a:off x="5332232" y="4233672"/>
            <a:ext cx="6198352" cy="512064"/>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1~3항과 한 흐름 먼저 · 7항에 한 줄이라도 쓰고 제출</a:t>
            </a:r>
            <a:endParaRPr lang="en-US" sz="1300" dirty="0"/>
          </a:p>
        </p:txBody>
      </p:sp>
      <p:sp>
        <p:nvSpPr>
          <p:cNvPr id="28" name="Shape 26"/>
          <p:cNvSpPr/>
          <p:nvPr/>
        </p:nvSpPr>
        <p:spPr>
          <a:xfrm>
            <a:off x="530352" y="3721608"/>
            <a:ext cx="11128248" cy="512064"/>
          </a:xfrm>
          <a:prstGeom prst="rect">
            <a:avLst/>
          </a:prstGeom>
          <a:noFill/>
          <a:ln w="28575">
            <a:solidFill>
              <a:srgbClr val="FF5C00"/>
            </a:solidFill>
            <a:prstDash val="solid"/>
          </a:ln>
        </p:spPr>
      </p:sp>
      <p:sp>
        <p:nvSpPr>
          <p:cNvPr id="29" name="Shape 27"/>
          <p:cNvSpPr/>
          <p:nvPr/>
        </p:nvSpPr>
        <p:spPr>
          <a:xfrm>
            <a:off x="530352" y="5120640"/>
            <a:ext cx="11128248" cy="512064"/>
          </a:xfrm>
          <a:prstGeom prst="roundRect">
            <a:avLst>
              <a:gd name="adj" fmla="val 39286"/>
            </a:avLst>
          </a:prstGeom>
          <a:solidFill>
            <a:srgbClr val="FF5C00"/>
          </a:solidFill>
          <a:ln w="12700">
            <a:solidFill>
              <a:srgbClr val="FF5C00"/>
            </a:solidFill>
            <a:prstDash val="solid"/>
          </a:ln>
        </p:spPr>
      </p:sp>
      <p:sp>
        <p:nvSpPr>
          <p:cNvPr id="30" name="Text 28"/>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그래도 안 되면 손을 든다 · 미리 보기에서 한글이 깨지면 고치지 말고 바로 손</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다음 차시 · 9-1</a:t>
            </a:r>
            <a:endParaRPr lang="en-US" sz="1200" dirty="0"/>
          </a:p>
        </p:txBody>
      </p:sp>
      <p:sp>
        <p:nvSpPr>
          <p:cNvPr id="4" name="Text 2"/>
          <p:cNvSpPr/>
          <p:nvPr/>
        </p:nvSpPr>
        <p:spPr>
          <a:xfrm>
            <a:off x="530352" y="1828800"/>
            <a:ext cx="10424160" cy="192024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제출했으면</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수행평가 2는 끝</a:t>
            </a:r>
            <a:endParaRPr lang="en-US" sz="3800" dirty="0"/>
          </a:p>
        </p:txBody>
      </p:sp>
      <p:sp>
        <p:nvSpPr>
          <p:cNvPr id="5" name="Text 3"/>
          <p:cNvSpPr/>
          <p:nvPr/>
        </p:nvSpPr>
        <p:spPr>
          <a:xfrm>
            <a:off x="530352" y="37947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9회부터는 만듭니다.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오늘 낸 PRD가 AI에게 주는 설계도가 됩니다.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08-2 · 19쪽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2026-10-25T16:58:50Z</dcterms:created>
  <dcterms:modified xsi:type="dcterms:W3CDTF">2026-10-25T16:58:50Z</dcterms:modified>
</cp:coreProperties>
</file>