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계획 — 학생 화면에는 표시하지 않는다]
0–5분 도입(아폴로 13호) · 5–12분 수행평가 3 기준 · 12–15분 10 폴더 켜기 · 15–29분 고르기·요청·다시 시험·하지 않는 것 설명 · 29–40분 각자 고치는 시간 · 40–45분 끝낼 상태·오해·정리
설명은 짧게 끊고 29분부터는 반드시 학생이 손을 움직이게 한다. 밀리면 오해(교과서 17쪽)를 건너뛴다. 고치는 시간 11분은 줄이지 않는다.
[0–1분] 표지
오늘과 다음 시간, 13회 두 차시가 수행평가 3이다. 오늘은 새로 만들지 않는다. 12회에 시험하면서 적어 둔 기록을 보고, 가장 위험한 문제부터 하나씩 고친다.
다음 차시는 바로 이어서 한다. 그때는 고치지 않고 실행해 보이고, 설명을 쓰고, 제출한다.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[1–3분] 도입 — 아폴로 13호
13회 첫 시간이니 13이 붙은 이야기로 시작한다. 1970년 4월, 달로 가던 아폴로 13호에서 산소 탱크가 터졌다.
세 사람은 작은 달 착륙선으로 옮겨 탔는데, 착륙선의 공기 정화 장치는 두 사람이 이틀쯤 쓰도록 만든 것이었다. 세 사람이 오래 있으니 이산화탄소가 차올랐다.
사령선에 여분의 필터가 있었다. 그런데 네모났다. 착륙선의 끼울 자리는 둥글었다.
(그림을 가리키며) 지상의 기술자들은 우주선 안에 실제로 있는 물건만 탁자에 쏟아 놓았다. 비닐봉지, 설명서 표지, 호스, 테이프. 새 부품을 올려 보낼 방법이 없으니 이것만으로 이어야 했다.
[썰 — 시간이 남을 때만] 「휴스턴, 문제가 생겼다」는 이때 실제로 무전으로 한 말이다. 「실패는 선택지가 아니다」는 나중에 나온 영화의 대사다.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[3–5분] 아폴로 13호와 오늘
기술자들은 장치를 먼저 지상에서 만들어 시험했고, 순서를 무전으로 한 단계씩 불러 주었다. 붙이자 이산화탄소 수치가 내려갔다. 세 사람은 4월 17일에 무사히 돌아왔다.
표를 한 줄씩 읽는다. 오늘 할 일이 이 네 줄이다. 공기부터, 있는 것만으로, 다시 만들지 않고, 시험하고.
오늘 우리도 새 부품을 들여올 수 없고 처음부터 다시 만들 시간도 없다.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[5–8분] 평가 기준
새 서비스를 만드는 시험이 아니다. 9회부터 12회까지 만들고 시험한 서비스를, 내가 확인하고 판단한 과정을 보는 시험이다.
오른쪽은 평가하지 않는다. 기능이 하나여도 끝까지 이어지고 다시 켜도 기록이 남으면 된다. 오류를 많이 만났다고 감점하지 않는다.
선생님이 실행 환경이나 파일 위치를 도와준 것도 감점하지 않는다.
[예상 질문] Q. AI가 거의 다 만들었는데 괜찮아요? A. 괜찮다. 대신 그 결과를 내가 실행해 봤는지, 받아들일지 되돌릴지 내가 정했는지를 말할 수 있어야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[8–10분] 점수
교수학습·평가계획에 적힌 세 영역이다. 수행평가 3은 학기 성적의 40%라 세 번 가운데 가장 크다.
가장 큰 영역은 맨 아래, AI 활용과 나의 판단 40점이다. 오늘 AI의 제안을 받아들이거나 거절한 것이 모두 여기에 들어간다.
오른쪽 칸은 선생님이 어느 파일을 보는지다. 12_test_record.md 10항은 오늘 만들고, 13_explanation.md는 다음 차시에 만든다.
수행평가 1(30%) · 2(30%) · 3(40%)을 더해 40점 이상이면 이수다. 다른 학생과 비교하지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[10–12분] 두 차시
두 차시가 하는 일이 다르다. 지금은 고친다. 다음 차시에는 고치지 않는다. 실행해 보이고, 설명을 쓰고, ZIP으로 묶어 낸다.
그래서 13-1이 끝날 때 기능 수정도 끝난다. 다음 차시에 고치기 시작하면 다시 시험할 시간이 없다.
제출은 수행평가 1·2처럼 Google Form에 ZIP 하나다. Form 주소는 다음 차시에 알려 준다. 파일을 올리려면 Google 계정에 로그인해 있어야 한다.
[진행 메모] Form 주소가 아직 없다. 13-2 시작 전에 칠판이나 공지로 주소를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[12–15분] 시작 — 지금 손을 움직인다
오늘도 10 폴더다. 13회까지 쓰는 내 서비스 프로젝트다. 새로 받을 자료는 없다.
VS Code에서 파일 → 폴더 열기로 10 폴더 자체를 연다. 터미널 → 새 터미널, 줄 끝이 …\10&gt; 인지 보고 npm run dev. Ready가 보이면 브라우저에서 localhost:3000.
터미널 → 새 터미널을 한 번 더 눌러 두 번째 터미널을 연다. 거기서 opencode를 켠다.
docs\12_test_record.md를 열고 Ctrl+Shift+V로 미리 보기. 2항과 7항을 읽는다.
[진행 메모] 한 바퀴 돌며 서비스가 켜지는지 본다. 이 단계에서 서비스가 안 켜지는 학생은 그것이 오늘 고칠 첫 문제다.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[15–18분] 위험한 순서
7항에 적은 문제를 다 고칠 시간이 없을 수 있다. 그래서 고치기 쉬운 것부터가 아니라 사용자에게 위험한 것부터 고른다.
(주황 테두리를 가리키며) 맨 위가 개인정보와 안전이다. ZIP을 내는 순간 그 안의 기록이 그대로 다른 사람에게 간다.
두 번째가 핵심 흐름이 끊기는 것, 세 번째가 잘못 입력한 뒤 돌아오지 못하는 것, 네 번째가 기록이 사라지는 것.
버튼 글씨나 색처럼 눈에 띄는 것이 고치기는 쉽다. 그런데 그건 다섯째다.
[예상 질문] Q. 7항이 비어 있어요. A. 2항 다섯 줄을 본다. 「실패」나 「확인 필요」가 있는 줄이 고를 문제다.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[18–20분] 하나만 고른다
한 번에 문제 하나만 고친다. 둘을 같이 고치면 나아져도 왜 나아졌는지, 나빠져도 무엇 때문인지 모른다.
교과서 9쪽 틀을 복사해서 12_test_record.md 맨 아래, 9항 밑에 붙인다. 10항이 새로 생긴다.
지금은 고른 문제와 우선순위 두 줄만 채우고 Ctrl+S. 나머지 줄은 AI의 설명을 듣고, 다시 시험하면서 채운다.
고칠 문제가 없으면 「고른 문제: 없음」이라고 적고 「시간이 남으면」 쪽으로 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[20–22분] 요청 ① — 설명만
10회부터 해 온 두 번 나누기다. 첫 요청에는 「아직 고치지 마」가 들어 있다. 어느 파일을 어떻게 고칠지 가장 작은 수정 하나를 설명만 하게 한다.
요청문은 교과서 10쪽에서 복사한다. 빈칸은 새로 생각할 필요가 없다. 12회에 2항 표에 다 적었다. 아래 표대로 옮긴다.
요청문 끝에 「새 기능, 새 패키지, 프레임워크 변경, 표 구조 전체 변경은 제안하지 마」가 있다. 지우지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[22–24분] 진행 판단
AI가 설명을 내놓으면 바로 「진행해.」를 보내지 않는다. 네 가지를 본다. 파일이 한두 개인가, 내 문제 하나만인가, 새 기능이나 패키지가 끼어 있지 않은가, 「전체를 다시」 같은 말이 없는가.
하나라도 아니면 오른쪽 문장을 보낸다. 범위가 너무 크다, 더 작은 방법을 설명해 달라.
이 판단을 10항에 적는다. 점수에서 가장 큰 영역, AI 활용과 나의 판단 40점이 여기서 나온다. 받아들인 것만큼 거절한 것도 점수다.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[24–26분] 다시 시험
AI가 고쳤다고 말해도 아직 고쳐진 게 아니다. 아폴로 13호 기술자들도 수치가 내려가는 걸 보고서야 안심했다.
처음 실패했을 때와 같은 시작 상태에서, 같은 값으로, 같은 행동을 한다. 조건을 바꾸면 무엇 때문에 된 건지 모른다.
실패하면 「고쳤다고 했지만 아직 ___이 보여. 화면에 보인 그대로야」를 보내고 다시 설명부터 듣는다.
두 번 해도 안 되면 손을 든다. 10항에 「못 고침」과 이유를 적는다. 못 고친 것을 적는 것도 기록이고, 점수에 들어간다.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[26–27분] 흐름 전체
고친 단계가 통과해도 끝이 아니다. 한 곳을 고치다 다른 곳이 망가지는 일이 흔하다.
대표 정상 흐름을 처음부터 끝까지, 예외 뒤 다시 시도를 한 번, 그리고 서비스를 껐다 켜서 기록이 남는지 본다. 이 결과까지 10항 마지막 줄에 적는다.
그다음 문제가 있으면 10항에 ### 수정 2를 만들고 같은 순서로. 시간이 남는 만큼만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[27–29분] 하지 않는 것
AI는 가끔 「이참에 더 좋게」 하자고 한다. 평소면 괜찮은 제안일 수 있다. 오늘은 남은 시간이 다음 차시 하나다.
특히 「npm install 무엇」을 하자고 하면 실행하지 않는다. package.json이 바뀌면 선생님 PC에서 안 돌 수 있다.
계획과 결과가 다르면 PRD를 고치지 않는다. 그 차이와 이유를 다음 차시 설명 파일에 쓴다. 다른 것은 감점이 아니다. 이유 없이 지우면 비교를 못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[29–40분] 고치는 시간 — 학생 작업
이제 각자 한다. 교과서 8쪽부터 13쪽까지가 한 바퀴다. 고르기, 설명만 요청, 판단, 같은 조건으로 다시 시험, 10항에 적기.
한 바퀴를 제대로 돌았으면 다음 문제로. 40분이 되면 멈추고 끝낼 상태를 같이 본다.
[진행 메모] 순서대로 돌면서 세 가지만 본다. ① 요청문에 「아직 고치지 마」가 남아 있는가 ② AI가 npm install이나 전체 재작성을 제안했는데 진행하지 않았는가 ③ 10항에 판단과 다시 시험한 결과가 적히고 있는가.
[진행 메모] 서비스가 완전히 멈춘 학생은 마지막으로 고친 것만 되돌리게 한다(교과서 19쪽 둘째 줄). 그래도 안 되면 함께 본다.
[진행 메모] 고칠 문제가 없는 학생은 15쪽 「시간이 남으면」으로 보낸다.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[40–41분] 시간이 남으면
앞의 네 가지 문제가 없거나 다 고친 학생만 한다. 서비스를 처음 연 사람의 눈으로 첫 화면부터 읽는다.
한 번에 문장 하나씩 고치고 바로 다시 본다. 이것도 설명부터 듣고 진행한다.
색을 다 바꾸거나 애니메이션을 넣는 건 다듬기가 아니라 다시 만들기다.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[41–42분] 끝낼 상태
손을 멈추고 교과서 16쪽을 같이 본다. 「아니요」인 줄이 있으면 남은 시간에 그것부터.
여기서 기능 수정이 끝난다. 다음 차시에는 이 버전을 그대로 실행해 보이고 설명한다.
쉬는 시간에 컴퓨터를 끄지 않는다. 서비스와 OpenCode도 켜 둔 채로 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[42–43분] 오해
수행평가 날에 마음이 급하면 이렇게 생각하기 쉽다.
(주황 테두리를 가리키며) 세 번째가 제일 중요하다. AI가 「수정했습니다」라고 말한 것은 확인이 아니다. 내가 같은 조건으로 해 보고 화면에서 본 것이 확인이다.
[진행 메모] 시간이 밀리면 이 장은 건너뛴다.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[43–44분] 막힐 때
교과서 19쪽 표다. 고치는 시간 동안 막히면 여기서 내 줄을 찾는다.
가장 위험한 건 화면이 하얗게 되는 경우다. 더 고치려 하지 말고 방금 고친 것만 되돌린다.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[44–45분] 마무리
오늘 남길 것: 고칠 문제는 개인정보·안전, 핵심 흐름, 오류 뒤 복구, 기록 소실 순서로 고른다. 한 번에 하나, 설명부터 듣고 진행. 고친 뒤에는 같은 조건으로 다시 시험하고 흐름 전체를 본다. 거절한 것도 판단으로 적는다.
지금 이 버전이 제출할 버전이다. 다음 차시는 바로 이어서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13회 · 첫째 차시 · 수행평가 3</a:t>
            </a:r>
            <a:endParaRPr lang="en-US" sz="1200" dirty="0"/>
          </a:p>
        </p:txBody>
      </p:sp>
      <p:sp>
        <p:nvSpPr>
          <p:cNvPr id="4" name="Text 2"/>
          <p:cNvSpPr/>
          <p:nvPr/>
        </p:nvSpPr>
        <p:spPr>
          <a:xfrm>
            <a:off x="530352" y="1828800"/>
            <a:ext cx="10424160" cy="1828800"/>
          </a:xfrm>
          <a:prstGeom prst="rect">
            <a:avLst/>
          </a:prstGeom>
          <a:noFill/>
          <a:ln/>
        </p:spPr>
        <p:txBody>
          <a:bodyPr wrap="square" lIns="0" tIns="0" rIns="0" bIns="0" rtlCol="0" anchor="ctr"/>
          <a:lstStyle/>
          <a:p>
            <a:pPr indent="0" marL="0">
              <a:buNone/>
            </a:pPr>
            <a:r>
              <a:rPr lang="en-US" sz="4000" b="1" dirty="0">
                <a:solidFill>
                  <a:srgbClr val="FFFFFF"/>
                </a:solidFill>
                <a:latin typeface="IBM Plex Sans KR" pitchFamily="34" charset="0"/>
                <a:ea typeface="IBM Plex Sans KR" pitchFamily="34" charset="-122"/>
                <a:cs typeface="IBM Plex Sans KR" pitchFamily="34" charset="-120"/>
              </a:rPr>
              <a:t>수행평가 3 안내</a:t>
            </a:r>
            <a:endParaRPr lang="en-US" sz="4000" dirty="0"/>
          </a:p>
          <a:p>
            <a:pPr indent="0" marL="0">
              <a:buNone/>
            </a:pPr>
            <a:r>
              <a:rPr lang="en-US" sz="4000" b="1" dirty="0">
                <a:solidFill>
                  <a:srgbClr val="FFFFFF"/>
                </a:solidFill>
                <a:latin typeface="IBM Plex Sans KR" pitchFamily="34" charset="0"/>
                <a:ea typeface="IBM Plex Sans KR" pitchFamily="34" charset="-122"/>
                <a:cs typeface="IBM Plex Sans KR" pitchFamily="34" charset="-120"/>
              </a:rPr>
              <a:t>테스트 결과 반영과 마무리</a:t>
            </a:r>
            <a:endParaRPr lang="en-US" sz="4000" dirty="0"/>
          </a:p>
        </p:txBody>
      </p:sp>
      <p:sp>
        <p:nvSpPr>
          <p:cNvPr id="5" name="Text 3"/>
          <p:cNvSpPr/>
          <p:nvPr/>
        </p:nvSpPr>
        <p:spPr>
          <a:xfrm>
            <a:off x="530352" y="370332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새로 만들지 않습니다.</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가장 위험한 문제부터 하나씩 고치고 다시 시험합니다.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1쪽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새 부품은 없다. 있는 것만으로 이어야 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2쪽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02</a:t>
            </a:r>
            <a:endParaRPr lang="en-US" sz="900" dirty="0"/>
          </a:p>
        </p:txBody>
      </p:sp>
      <p:pic>
        <p:nvPicPr>
          <p:cNvPr id="9" name="Image 0" descr="/Users/cozy/Library/Mobile Documents/com~apple~CloudDocs/Obsidian Vault/31 장대현중고등학교/02 26.07. 정보와 디지털 문해력/11 수업구성/교과서_배포/assets/img/13-1-01-on-board.png">    </p:cNvPr>
          <p:cNvPicPr>
            <a:picLocks noChangeAspect="1"/>
          </p:cNvPicPr>
          <p:nvPr/>
        </p:nvPicPr>
        <p:blipFill>
          <a:blip r:embed="rId1"/>
          <a:stretch>
            <a:fillRect/>
          </a:stretch>
        </p:blipFill>
        <p:spPr>
          <a:xfrm>
            <a:off x="1562464" y="1737360"/>
            <a:ext cx="9064023" cy="3886200"/>
          </a:xfrm>
          <a:prstGeom prst="rect">
            <a:avLst/>
          </a:prstGeom>
        </p:spPr>
      </p:pic>
      <p:sp>
        <p:nvSpPr>
          <p:cNvPr id="10" name="Shape 7"/>
          <p:cNvSpPr/>
          <p:nvPr/>
        </p:nvSpPr>
        <p:spPr>
          <a:xfrm>
            <a:off x="530352" y="5742432"/>
            <a:ext cx="11128248" cy="457200"/>
          </a:xfrm>
          <a:prstGeom prst="roundRect">
            <a:avLst>
              <a:gd name="adj" fmla="val 44000"/>
            </a:avLst>
          </a:prstGeom>
          <a:solidFill>
            <a:srgbClr val="FF5C00"/>
          </a:solidFill>
          <a:ln w="12700">
            <a:solidFill>
              <a:srgbClr val="FF5C00"/>
            </a:solidFill>
            <a:prstDash val="solid"/>
          </a:ln>
        </p:spPr>
      </p:sp>
      <p:sp>
        <p:nvSpPr>
          <p:cNvPr id="11" name="Text 8"/>
          <p:cNvSpPr/>
          <p:nvPr/>
        </p:nvSpPr>
        <p:spPr>
          <a:xfrm>
            <a:off x="731520" y="5742432"/>
            <a:ext cx="10725912"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1970년 4월 · 아폴로 13호 · 네모난 필터를 둥근 구멍에 끼워야 했다</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오늘 우리 처지가 그 기술자들과 닮았다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3쪽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03</a:t>
            </a:r>
            <a:endParaRPr lang="en-US" sz="900" dirty="0"/>
          </a:p>
        </p:txBody>
      </p:sp>
      <p:sp>
        <p:nvSpPr>
          <p:cNvPr id="9" name="Shape 7"/>
          <p:cNvSpPr/>
          <p:nvPr/>
        </p:nvSpPr>
        <p:spPr>
          <a:xfrm>
            <a:off x="530352" y="1783080"/>
            <a:ext cx="5118994" cy="402336"/>
          </a:xfrm>
          <a:prstGeom prst="rect">
            <a:avLst/>
          </a:prstGeom>
          <a:solidFill>
            <a:srgbClr val="1B1D21"/>
          </a:solidFill>
          <a:ln/>
        </p:spPr>
      </p:sp>
      <p:sp>
        <p:nvSpPr>
          <p:cNvPr id="10" name="Text 8"/>
          <p:cNvSpPr/>
          <p:nvPr/>
        </p:nvSpPr>
        <p:spPr>
          <a:xfrm>
            <a:off x="658368" y="1783080"/>
            <a:ext cx="486296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아폴로 13호에서</a:t>
            </a:r>
            <a:endParaRPr lang="en-US" sz="1050" dirty="0"/>
          </a:p>
        </p:txBody>
      </p:sp>
      <p:sp>
        <p:nvSpPr>
          <p:cNvPr id="11" name="Shape 9"/>
          <p:cNvSpPr/>
          <p:nvPr/>
        </p:nvSpPr>
        <p:spPr>
          <a:xfrm>
            <a:off x="5649346" y="1783080"/>
            <a:ext cx="6009254" cy="402336"/>
          </a:xfrm>
          <a:prstGeom prst="rect">
            <a:avLst/>
          </a:prstGeom>
          <a:solidFill>
            <a:srgbClr val="1B1D21"/>
          </a:solidFill>
          <a:ln/>
        </p:spPr>
      </p:sp>
      <p:sp>
        <p:nvSpPr>
          <p:cNvPr id="12" name="Text 10"/>
          <p:cNvSpPr/>
          <p:nvPr/>
        </p:nvSpPr>
        <p:spPr>
          <a:xfrm>
            <a:off x="5777362" y="1783080"/>
            <a:ext cx="575322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오늘 내 서비스에서</a:t>
            </a:r>
            <a:endParaRPr lang="en-US" sz="1050" dirty="0"/>
          </a:p>
        </p:txBody>
      </p:sp>
      <p:sp>
        <p:nvSpPr>
          <p:cNvPr id="13" name="Shape 11"/>
          <p:cNvSpPr/>
          <p:nvPr/>
        </p:nvSpPr>
        <p:spPr>
          <a:xfrm>
            <a:off x="530352" y="2185416"/>
            <a:ext cx="11128248" cy="603504"/>
          </a:xfrm>
          <a:prstGeom prst="rect">
            <a:avLst/>
          </a:prstGeom>
          <a:solidFill>
            <a:srgbClr val="F1F2F4"/>
          </a:solidFill>
          <a:ln w="9525">
            <a:solidFill>
              <a:srgbClr val="E0E3E7"/>
            </a:solidFill>
            <a:prstDash val="solid"/>
          </a:ln>
        </p:spPr>
      </p:sp>
      <p:sp>
        <p:nvSpPr>
          <p:cNvPr id="14" name="Text 12"/>
          <p:cNvSpPr/>
          <p:nvPr/>
        </p:nvSpPr>
        <p:spPr>
          <a:xfrm>
            <a:off x="658368" y="2185416"/>
            <a:ext cx="4862962" cy="603504"/>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숨 쉬는 공기부터 지켰다</a:t>
            </a:r>
            <a:endParaRPr lang="en-US" sz="1450" dirty="0"/>
          </a:p>
        </p:txBody>
      </p:sp>
      <p:sp>
        <p:nvSpPr>
          <p:cNvPr id="15" name="Text 13"/>
          <p:cNvSpPr/>
          <p:nvPr/>
        </p:nvSpPr>
        <p:spPr>
          <a:xfrm>
            <a:off x="5777362" y="2185416"/>
            <a:ext cx="5753222" cy="603504"/>
          </a:xfrm>
          <a:prstGeom prst="rect">
            <a:avLst/>
          </a:prstGeom>
          <a:noFill/>
          <a:ln/>
        </p:spPr>
        <p:txBody>
          <a:bodyPr wrap="square" lIns="0" tIns="0" rIns="0" bIns="0" rtlCol="0" anchor="ctr"/>
          <a:lstStyle/>
          <a:p>
            <a:pPr indent="0" marL="0">
              <a:buNone/>
            </a:pPr>
            <a:r>
              <a:rPr lang="en-US" sz="1450" dirty="0">
                <a:solidFill>
                  <a:srgbClr val="6C7078"/>
                </a:solidFill>
                <a:latin typeface="IBM Plex Sans KR" pitchFamily="34" charset="0"/>
                <a:ea typeface="IBM Plex Sans KR" pitchFamily="34" charset="-122"/>
                <a:cs typeface="IBM Plex Sans KR" pitchFamily="34" charset="-120"/>
              </a:rPr>
              <a:t>개인정보·안전과 핵심 흐름부터 고친다</a:t>
            </a:r>
            <a:endParaRPr lang="en-US" sz="1450" dirty="0"/>
          </a:p>
        </p:txBody>
      </p:sp>
      <p:sp>
        <p:nvSpPr>
          <p:cNvPr id="16" name="Shape 14"/>
          <p:cNvSpPr/>
          <p:nvPr/>
        </p:nvSpPr>
        <p:spPr>
          <a:xfrm>
            <a:off x="530352" y="2788920"/>
            <a:ext cx="11128248" cy="603504"/>
          </a:xfrm>
          <a:prstGeom prst="rect">
            <a:avLst/>
          </a:prstGeom>
          <a:solidFill>
            <a:srgbClr val="FFFFFF"/>
          </a:solidFill>
          <a:ln w="9525">
            <a:solidFill>
              <a:srgbClr val="E0E3E7"/>
            </a:solidFill>
            <a:prstDash val="solid"/>
          </a:ln>
        </p:spPr>
      </p:sp>
      <p:sp>
        <p:nvSpPr>
          <p:cNvPr id="17" name="Text 15"/>
          <p:cNvSpPr/>
          <p:nvPr/>
        </p:nvSpPr>
        <p:spPr>
          <a:xfrm>
            <a:off x="658368" y="2788920"/>
            <a:ext cx="4862962" cy="603504"/>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우주선에 있는 물건만 썼다</a:t>
            </a:r>
            <a:endParaRPr lang="en-US" sz="1450" dirty="0"/>
          </a:p>
        </p:txBody>
      </p:sp>
      <p:sp>
        <p:nvSpPr>
          <p:cNvPr id="18" name="Text 16"/>
          <p:cNvSpPr/>
          <p:nvPr/>
        </p:nvSpPr>
        <p:spPr>
          <a:xfrm>
            <a:off x="5777362" y="2788920"/>
            <a:ext cx="5753222" cy="603504"/>
          </a:xfrm>
          <a:prstGeom prst="rect">
            <a:avLst/>
          </a:prstGeom>
          <a:noFill/>
          <a:ln/>
        </p:spPr>
        <p:txBody>
          <a:bodyPr wrap="square" lIns="0" tIns="0" rIns="0" bIns="0" rtlCol="0" anchor="ctr"/>
          <a:lstStyle/>
          <a:p>
            <a:pPr indent="0" marL="0">
              <a:buNone/>
            </a:pPr>
            <a:r>
              <a:rPr lang="en-US" sz="1450" dirty="0">
                <a:solidFill>
                  <a:srgbClr val="6C7078"/>
                </a:solidFill>
                <a:latin typeface="IBM Plex Sans KR" pitchFamily="34" charset="0"/>
                <a:ea typeface="IBM Plex Sans KR" pitchFamily="34" charset="-122"/>
                <a:cs typeface="IBM Plex Sans KR" pitchFamily="34" charset="-120"/>
              </a:rPr>
              <a:t>새 패키지·새 기능 없이 10 폴더에 있는 것만</a:t>
            </a:r>
            <a:endParaRPr lang="en-US" sz="1450" dirty="0"/>
          </a:p>
        </p:txBody>
      </p:sp>
      <p:sp>
        <p:nvSpPr>
          <p:cNvPr id="19" name="Shape 17"/>
          <p:cNvSpPr/>
          <p:nvPr/>
        </p:nvSpPr>
        <p:spPr>
          <a:xfrm>
            <a:off x="530352" y="3392424"/>
            <a:ext cx="11128248" cy="603504"/>
          </a:xfrm>
          <a:prstGeom prst="rect">
            <a:avLst/>
          </a:prstGeom>
          <a:solidFill>
            <a:srgbClr val="F1F2F4"/>
          </a:solidFill>
          <a:ln w="9525">
            <a:solidFill>
              <a:srgbClr val="E0E3E7"/>
            </a:solidFill>
            <a:prstDash val="solid"/>
          </a:ln>
        </p:spPr>
      </p:sp>
      <p:sp>
        <p:nvSpPr>
          <p:cNvPr id="20" name="Text 18"/>
          <p:cNvSpPr/>
          <p:nvPr/>
        </p:nvSpPr>
        <p:spPr>
          <a:xfrm>
            <a:off x="658368" y="3392424"/>
            <a:ext cx="4862962" cy="603504"/>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우주선을 다시 만들지 않았다</a:t>
            </a:r>
            <a:endParaRPr lang="en-US" sz="1450" dirty="0"/>
          </a:p>
        </p:txBody>
      </p:sp>
      <p:sp>
        <p:nvSpPr>
          <p:cNvPr id="21" name="Text 19"/>
          <p:cNvSpPr/>
          <p:nvPr/>
        </p:nvSpPr>
        <p:spPr>
          <a:xfrm>
            <a:off x="5777362" y="3392424"/>
            <a:ext cx="5753222" cy="603504"/>
          </a:xfrm>
          <a:prstGeom prst="rect">
            <a:avLst/>
          </a:prstGeom>
          <a:noFill/>
          <a:ln/>
        </p:spPr>
        <p:txBody>
          <a:bodyPr wrap="square" lIns="0" tIns="0" rIns="0" bIns="0" rtlCol="0" anchor="ctr"/>
          <a:lstStyle/>
          <a:p>
            <a:pPr indent="0" marL="0">
              <a:buNone/>
            </a:pPr>
            <a:r>
              <a:rPr lang="en-US" sz="1450" dirty="0">
                <a:solidFill>
                  <a:srgbClr val="6C7078"/>
                </a:solidFill>
                <a:latin typeface="IBM Plex Sans KR" pitchFamily="34" charset="0"/>
                <a:ea typeface="IBM Plex Sans KR" pitchFamily="34" charset="-122"/>
                <a:cs typeface="IBM Plex Sans KR" pitchFamily="34" charset="-120"/>
              </a:rPr>
              <a:t>처음 달라진 한 곳만 고친다</a:t>
            </a:r>
            <a:endParaRPr lang="en-US" sz="1450" dirty="0"/>
          </a:p>
        </p:txBody>
      </p:sp>
      <p:sp>
        <p:nvSpPr>
          <p:cNvPr id="22" name="Shape 20"/>
          <p:cNvSpPr/>
          <p:nvPr/>
        </p:nvSpPr>
        <p:spPr>
          <a:xfrm>
            <a:off x="530352" y="3995928"/>
            <a:ext cx="11128248" cy="603504"/>
          </a:xfrm>
          <a:prstGeom prst="rect">
            <a:avLst/>
          </a:prstGeom>
          <a:solidFill>
            <a:srgbClr val="FFFFFF"/>
          </a:solidFill>
          <a:ln w="9525">
            <a:solidFill>
              <a:srgbClr val="E0E3E7"/>
            </a:solidFill>
            <a:prstDash val="solid"/>
          </a:ln>
        </p:spPr>
      </p:sp>
      <p:sp>
        <p:nvSpPr>
          <p:cNvPr id="23" name="Text 21"/>
          <p:cNvSpPr/>
          <p:nvPr/>
        </p:nvSpPr>
        <p:spPr>
          <a:xfrm>
            <a:off x="658368" y="3995928"/>
            <a:ext cx="4862962" cy="603504"/>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지상에서 먼저 시험했다</a:t>
            </a:r>
            <a:endParaRPr lang="en-US" sz="1450" dirty="0"/>
          </a:p>
        </p:txBody>
      </p:sp>
      <p:sp>
        <p:nvSpPr>
          <p:cNvPr id="24" name="Text 22"/>
          <p:cNvSpPr/>
          <p:nvPr/>
        </p:nvSpPr>
        <p:spPr>
          <a:xfrm>
            <a:off x="5777362" y="3995928"/>
            <a:ext cx="5753222" cy="603504"/>
          </a:xfrm>
          <a:prstGeom prst="rect">
            <a:avLst/>
          </a:prstGeom>
          <a:noFill/>
          <a:ln/>
        </p:spPr>
        <p:txBody>
          <a:bodyPr wrap="square" lIns="0" tIns="0" rIns="0" bIns="0" rtlCol="0" anchor="ctr"/>
          <a:lstStyle/>
          <a:p>
            <a:pPr indent="0" marL="0">
              <a:buNone/>
            </a:pPr>
            <a:r>
              <a:rPr lang="en-US" sz="1450" dirty="0">
                <a:solidFill>
                  <a:srgbClr val="6C7078"/>
                </a:solidFill>
                <a:latin typeface="IBM Plex Sans KR" pitchFamily="34" charset="0"/>
                <a:ea typeface="IBM Plex Sans KR" pitchFamily="34" charset="-122"/>
                <a:cs typeface="IBM Plex Sans KR" pitchFamily="34" charset="-120"/>
              </a:rPr>
              <a:t>같은 시작 상태 · 같은 행동으로 다시 시험한다</a:t>
            </a:r>
            <a:endParaRPr lang="en-US" sz="1450" dirty="0"/>
          </a:p>
        </p:txBody>
      </p:sp>
      <p:sp>
        <p:nvSpPr>
          <p:cNvPr id="25" name="Shape 23"/>
          <p:cNvSpPr/>
          <p:nvPr/>
        </p:nvSpPr>
        <p:spPr>
          <a:xfrm>
            <a:off x="530352" y="5074920"/>
            <a:ext cx="11128248" cy="512064"/>
          </a:xfrm>
          <a:prstGeom prst="roundRect">
            <a:avLst>
              <a:gd name="adj" fmla="val 39286"/>
            </a:avLst>
          </a:prstGeom>
          <a:solidFill>
            <a:srgbClr val="FF5C00"/>
          </a:solidFill>
          <a:ln w="12700">
            <a:solidFill>
              <a:srgbClr val="FF5C00"/>
            </a:solidFill>
            <a:prstDash val="solid"/>
          </a:ln>
        </p:spPr>
      </p:sp>
      <p:sp>
        <p:nvSpPr>
          <p:cNvPr id="26" name="Text 24"/>
          <p:cNvSpPr/>
          <p:nvPr/>
        </p:nvSpPr>
        <p:spPr>
          <a:xfrm>
            <a:off x="731520" y="5074920"/>
            <a:ext cx="10725912"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IBM Plex Sans KR" pitchFamily="34" charset="0"/>
                <a:ea typeface="IBM Plex Sans KR" pitchFamily="34" charset="-122"/>
                <a:cs typeface="IBM Plex Sans KR" pitchFamily="34" charset="-120"/>
              </a:rPr>
              <a:t>남은 시간은 이 차시 하나 · 무엇을 먼저, 얼마나 작게 고칠까?</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만든 것을 확인하고 판단한 과정을 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04</a:t>
            </a:r>
            <a:endParaRPr lang="en-US" sz="900" dirty="0"/>
          </a:p>
        </p:txBody>
      </p:sp>
      <p:sp>
        <p:nvSpPr>
          <p:cNvPr id="10" name="Shape 8"/>
          <p:cNvSpPr/>
          <p:nvPr/>
        </p:nvSpPr>
        <p:spPr>
          <a:xfrm>
            <a:off x="530352" y="1783080"/>
            <a:ext cx="5417820" cy="3383280"/>
          </a:xfrm>
          <a:prstGeom prst="roundRect">
            <a:avLst>
              <a:gd name="adj" fmla="val 1486"/>
            </a:avLst>
          </a:prstGeom>
          <a:solidFill>
            <a:srgbClr val="E7F2ED"/>
          </a:solidFill>
          <a:ln w="12700">
            <a:solidFill>
              <a:srgbClr val="0E7C86"/>
            </a:solidFill>
            <a:prstDash val="solid"/>
          </a:ln>
        </p:spPr>
      </p:sp>
      <p:sp>
        <p:nvSpPr>
          <p:cNvPr id="11" name="Text 9"/>
          <p:cNvSpPr/>
          <p:nvPr/>
        </p:nvSpPr>
        <p:spPr>
          <a:xfrm>
            <a:off x="713232" y="194767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평가하는 것</a:t>
            </a:r>
            <a:endParaRPr lang="en-US" sz="1650" dirty="0"/>
          </a:p>
        </p:txBody>
      </p:sp>
      <p:sp>
        <p:nvSpPr>
          <p:cNvPr id="12" name="Text 10"/>
          <p:cNvSpPr/>
          <p:nvPr/>
        </p:nvSpPr>
        <p:spPr>
          <a:xfrm>
            <a:off x="713232" y="2496312"/>
            <a:ext cx="5052060" cy="2514600"/>
          </a:xfrm>
          <a:prstGeom prst="rect">
            <a:avLst/>
          </a:prstGeom>
          <a:noFill/>
          <a:ln/>
        </p:spPr>
        <p:txBody>
          <a:bodyPr wrap="square" lIns="0" tIns="0" rIns="0" bIns="0" rtlCol="0" anchor="t"/>
          <a:lstStyle/>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대표 흐름이 핵심 결과까지 실행된다</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잘못 입력한 뒤 정상으로 돌아온다</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기록이 SQLite에 남고, 다시 켜도 보인다</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테스트 기록과 고친 내용이 이어진다</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AI가 한 일과 내가 한 일을 나눠 말한다</a:t>
            </a:r>
            <a:endParaRPr lang="en-US" sz="1450" dirty="0"/>
          </a:p>
        </p:txBody>
      </p:sp>
      <p:sp>
        <p:nvSpPr>
          <p:cNvPr id="13" name="Shape 11"/>
          <p:cNvSpPr/>
          <p:nvPr/>
        </p:nvSpPr>
        <p:spPr>
          <a:xfrm>
            <a:off x="6240780" y="1783080"/>
            <a:ext cx="5417820" cy="3383280"/>
          </a:xfrm>
          <a:prstGeom prst="roundRect">
            <a:avLst>
              <a:gd name="adj" fmla="val 1486"/>
            </a:avLst>
          </a:prstGeom>
          <a:solidFill>
            <a:srgbClr val="F1F2F4"/>
          </a:solidFill>
          <a:ln w="12700">
            <a:solidFill>
              <a:srgbClr val="E0E3E7"/>
            </a:solidFill>
            <a:prstDash val="solid"/>
          </a:ln>
        </p:spPr>
      </p:sp>
      <p:sp>
        <p:nvSpPr>
          <p:cNvPr id="14" name="Text 12"/>
          <p:cNvSpPr/>
          <p:nvPr/>
        </p:nvSpPr>
        <p:spPr>
          <a:xfrm>
            <a:off x="6423660" y="194767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평가하지 않는 것</a:t>
            </a:r>
            <a:endParaRPr lang="en-US" sz="1650" dirty="0"/>
          </a:p>
        </p:txBody>
      </p:sp>
      <p:sp>
        <p:nvSpPr>
          <p:cNvPr id="15" name="Text 13"/>
          <p:cNvSpPr/>
          <p:nvPr/>
        </p:nvSpPr>
        <p:spPr>
          <a:xfrm>
            <a:off x="6423660" y="2496312"/>
            <a:ext cx="5052060" cy="2514600"/>
          </a:xfrm>
          <a:prstGeom prst="rect">
            <a:avLst/>
          </a:prstGeom>
          <a:noFill/>
          <a:ln/>
        </p:spPr>
        <p:txBody>
          <a:bodyPr wrap="square" lIns="0" tIns="0" rIns="0" bIns="0" rtlCol="0" anchor="t"/>
          <a:lstStyle/>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코드의 양 · 직접 썼는지</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기능의 수 · 화면의 화려함</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테이블 수 · DB 구조의 복잡함</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오류를 몇 번 만났는지 · 고친 속도</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외부 공개 배포</a:t>
            </a:r>
            <a:endParaRPr lang="en-US" sz="1450" dirty="0"/>
          </a:p>
        </p:txBody>
      </p:sp>
      <p:sp>
        <p:nvSpPr>
          <p:cNvPr id="16" name="Shape 14"/>
          <p:cNvSpPr/>
          <p:nvPr/>
        </p:nvSpPr>
        <p:spPr>
          <a:xfrm>
            <a:off x="530352" y="5394960"/>
            <a:ext cx="11128248" cy="512064"/>
          </a:xfrm>
          <a:prstGeom prst="roundRect">
            <a:avLst>
              <a:gd name="adj" fmla="val 39286"/>
            </a:avLst>
          </a:prstGeom>
          <a:solidFill>
            <a:srgbClr val="EAF5FB"/>
          </a:solidFill>
          <a:ln w="12700">
            <a:solidFill>
              <a:srgbClr val="3D8DFF"/>
            </a:solidFill>
            <a:prstDash val="solid"/>
          </a:ln>
        </p:spPr>
      </p:sp>
      <p:sp>
        <p:nvSpPr>
          <p:cNvPr id="17" name="Text 15"/>
          <p:cNvSpPr/>
          <p:nvPr/>
        </p:nvSpPr>
        <p:spPr>
          <a:xfrm>
            <a:off x="731520" y="5394960"/>
            <a:ext cx="10725912" cy="512064"/>
          </a:xfrm>
          <a:prstGeom prst="rect">
            <a:avLst/>
          </a:prstGeom>
          <a:noFill/>
          <a:ln/>
        </p:spPr>
        <p:txBody>
          <a:bodyPr wrap="square" lIns="0" tIns="0" rIns="0" bIns="0" rtlCol="0" anchor="ctr"/>
          <a:lstStyle/>
          <a:p>
            <a:pPr algn="ctr" indent="0" marL="0">
              <a:buNone/>
            </a:pPr>
            <a:r>
              <a:rPr lang="en-US" sz="1450" b="1" dirty="0">
                <a:solidFill>
                  <a:srgbClr val="34373D"/>
                </a:solidFill>
                <a:latin typeface="IBM Plex Sans KR" pitchFamily="34" charset="0"/>
                <a:ea typeface="IBM Plex Sans KR" pitchFamily="34" charset="-122"/>
                <a:cs typeface="IBM Plex Sans KR" pitchFamily="34" charset="-120"/>
              </a:rPr>
              <a:t>AI가 코드를 거의 다 써도 감점 없음 · 받아들이거나 되돌린 근거를 말할 수 있으면 된다</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점수는 세 영역 · 100점 · 학기 성적의 40%</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05</a:t>
            </a:r>
            <a:endParaRPr lang="en-US" sz="900" dirty="0"/>
          </a:p>
        </p:txBody>
      </p:sp>
      <p:sp>
        <p:nvSpPr>
          <p:cNvPr id="10" name="Shape 8"/>
          <p:cNvSpPr/>
          <p:nvPr/>
        </p:nvSpPr>
        <p:spPr>
          <a:xfrm>
            <a:off x="530352" y="1783080"/>
            <a:ext cx="3004627" cy="402336"/>
          </a:xfrm>
          <a:prstGeom prst="rect">
            <a:avLst/>
          </a:prstGeom>
          <a:solidFill>
            <a:srgbClr val="1B1D21"/>
          </a:solidFill>
          <a:ln/>
        </p:spPr>
      </p:sp>
      <p:sp>
        <p:nvSpPr>
          <p:cNvPr id="11" name="Text 9"/>
          <p:cNvSpPr/>
          <p:nvPr/>
        </p:nvSpPr>
        <p:spPr>
          <a:xfrm>
            <a:off x="658368" y="1783080"/>
            <a:ext cx="2748595"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영역</a:t>
            </a:r>
            <a:endParaRPr lang="en-US" sz="1050" dirty="0"/>
          </a:p>
        </p:txBody>
      </p:sp>
      <p:sp>
        <p:nvSpPr>
          <p:cNvPr id="12" name="Shape 10"/>
          <p:cNvSpPr/>
          <p:nvPr/>
        </p:nvSpPr>
        <p:spPr>
          <a:xfrm>
            <a:off x="3534979" y="1783080"/>
            <a:ext cx="5564124" cy="402336"/>
          </a:xfrm>
          <a:prstGeom prst="rect">
            <a:avLst/>
          </a:prstGeom>
          <a:solidFill>
            <a:srgbClr val="1B1D21"/>
          </a:solidFill>
          <a:ln/>
        </p:spPr>
      </p:sp>
      <p:sp>
        <p:nvSpPr>
          <p:cNvPr id="13" name="Text 11"/>
          <p:cNvSpPr/>
          <p:nvPr/>
        </p:nvSpPr>
        <p:spPr>
          <a:xfrm>
            <a:off x="3662995" y="1783080"/>
            <a:ext cx="530809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가장 높은 점수를 받는 경우</a:t>
            </a:r>
            <a:endParaRPr lang="en-US" sz="1050" dirty="0"/>
          </a:p>
        </p:txBody>
      </p:sp>
      <p:sp>
        <p:nvSpPr>
          <p:cNvPr id="14" name="Shape 12"/>
          <p:cNvSpPr/>
          <p:nvPr/>
        </p:nvSpPr>
        <p:spPr>
          <a:xfrm>
            <a:off x="9099103" y="1783080"/>
            <a:ext cx="2559497" cy="402336"/>
          </a:xfrm>
          <a:prstGeom prst="rect">
            <a:avLst/>
          </a:prstGeom>
          <a:solidFill>
            <a:srgbClr val="1B1D21"/>
          </a:solidFill>
          <a:ln/>
        </p:spPr>
      </p:sp>
      <p:sp>
        <p:nvSpPr>
          <p:cNvPr id="15" name="Text 13"/>
          <p:cNvSpPr/>
          <p:nvPr/>
        </p:nvSpPr>
        <p:spPr>
          <a:xfrm>
            <a:off x="9227119" y="1783080"/>
            <a:ext cx="2303465"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어디에서 보나</a:t>
            </a:r>
            <a:endParaRPr lang="en-US" sz="1050" dirty="0"/>
          </a:p>
        </p:txBody>
      </p:sp>
      <p:sp>
        <p:nvSpPr>
          <p:cNvPr id="16" name="Shape 14"/>
          <p:cNvSpPr/>
          <p:nvPr/>
        </p:nvSpPr>
        <p:spPr>
          <a:xfrm>
            <a:off x="530352" y="2185416"/>
            <a:ext cx="11128248" cy="896112"/>
          </a:xfrm>
          <a:prstGeom prst="rect">
            <a:avLst/>
          </a:prstGeom>
          <a:solidFill>
            <a:srgbClr val="F1F2F4"/>
          </a:solidFill>
          <a:ln w="9525">
            <a:solidFill>
              <a:srgbClr val="E0E3E7"/>
            </a:solidFill>
            <a:prstDash val="solid"/>
          </a:ln>
        </p:spPr>
      </p:sp>
      <p:sp>
        <p:nvSpPr>
          <p:cNvPr id="17" name="Text 15"/>
          <p:cNvSpPr/>
          <p:nvPr/>
        </p:nvSpPr>
        <p:spPr>
          <a:xfrm>
            <a:off x="658368" y="2185416"/>
            <a:ext cx="2748595" cy="896112"/>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흐름 실행과 결과 확인 · 30</a:t>
            </a:r>
            <a:endParaRPr lang="en-US" sz="1300" dirty="0"/>
          </a:p>
        </p:txBody>
      </p:sp>
      <p:sp>
        <p:nvSpPr>
          <p:cNvPr id="18" name="Text 16"/>
          <p:cNvSpPr/>
          <p:nvPr/>
        </p:nvSpPr>
        <p:spPr>
          <a:xfrm>
            <a:off x="3662995" y="2185416"/>
            <a:ext cx="5308092" cy="896112"/>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대표 흐름을 시작 → 행동 → 결과로 실행해 보이고, 그 사이의 API 요청·응답을 내 말로 설명한다</a:t>
            </a:r>
            <a:endParaRPr lang="en-US" sz="1300" dirty="0"/>
          </a:p>
        </p:txBody>
      </p:sp>
      <p:sp>
        <p:nvSpPr>
          <p:cNvPr id="19" name="Text 17"/>
          <p:cNvSpPr/>
          <p:nvPr/>
        </p:nvSpPr>
        <p:spPr>
          <a:xfrm>
            <a:off x="9227119" y="2185416"/>
            <a:ext cx="2303465" cy="896112"/>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실행 · 13_explanation.md</a:t>
            </a:r>
            <a:endParaRPr lang="en-US" sz="1300" dirty="0"/>
          </a:p>
        </p:txBody>
      </p:sp>
      <p:sp>
        <p:nvSpPr>
          <p:cNvPr id="20" name="Shape 18"/>
          <p:cNvSpPr/>
          <p:nvPr/>
        </p:nvSpPr>
        <p:spPr>
          <a:xfrm>
            <a:off x="530352" y="3081528"/>
            <a:ext cx="11128248" cy="896112"/>
          </a:xfrm>
          <a:prstGeom prst="rect">
            <a:avLst/>
          </a:prstGeom>
          <a:solidFill>
            <a:srgbClr val="FFFFFF"/>
          </a:solidFill>
          <a:ln w="9525">
            <a:solidFill>
              <a:srgbClr val="E0E3E7"/>
            </a:solidFill>
            <a:prstDash val="solid"/>
          </a:ln>
        </p:spPr>
      </p:sp>
      <p:sp>
        <p:nvSpPr>
          <p:cNvPr id="21" name="Text 19"/>
          <p:cNvSpPr/>
          <p:nvPr/>
        </p:nvSpPr>
        <p:spPr>
          <a:xfrm>
            <a:off x="658368" y="3081528"/>
            <a:ext cx="2748595" cy="896112"/>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SQLite 기록과 흐름 테스트 · 30</a:t>
            </a:r>
            <a:endParaRPr lang="en-US" sz="1300" dirty="0"/>
          </a:p>
        </p:txBody>
      </p:sp>
      <p:sp>
        <p:nvSpPr>
          <p:cNvPr id="22" name="Text 20"/>
          <p:cNvSpPr/>
          <p:nvPr/>
        </p:nvSpPr>
        <p:spPr>
          <a:xfrm>
            <a:off x="3662995" y="3081528"/>
            <a:ext cx="5308092" cy="896112"/>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기록이 다시 켜도 보이는지 확인하고, 정상·예외·다시 방문의 예상과 실제, 고친 것과 못 고친 것을 남긴다</a:t>
            </a:r>
            <a:endParaRPr lang="en-US" sz="1300" dirty="0"/>
          </a:p>
        </p:txBody>
      </p:sp>
      <p:sp>
        <p:nvSpPr>
          <p:cNvPr id="23" name="Text 21"/>
          <p:cNvSpPr/>
          <p:nvPr/>
        </p:nvSpPr>
        <p:spPr>
          <a:xfrm>
            <a:off x="9227119" y="3081528"/>
            <a:ext cx="2303465" cy="896112"/>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app.db · 12_test_record.md</a:t>
            </a:r>
            <a:endParaRPr lang="en-US" sz="1300" dirty="0"/>
          </a:p>
        </p:txBody>
      </p:sp>
      <p:sp>
        <p:nvSpPr>
          <p:cNvPr id="24" name="Shape 22"/>
          <p:cNvSpPr/>
          <p:nvPr/>
        </p:nvSpPr>
        <p:spPr>
          <a:xfrm>
            <a:off x="530352" y="3977640"/>
            <a:ext cx="11128248" cy="896112"/>
          </a:xfrm>
          <a:prstGeom prst="rect">
            <a:avLst/>
          </a:prstGeom>
          <a:solidFill>
            <a:srgbClr val="F1F2F4"/>
          </a:solidFill>
          <a:ln w="9525">
            <a:solidFill>
              <a:srgbClr val="E0E3E7"/>
            </a:solidFill>
            <a:prstDash val="solid"/>
          </a:ln>
        </p:spPr>
      </p:sp>
      <p:sp>
        <p:nvSpPr>
          <p:cNvPr id="25" name="Text 23"/>
          <p:cNvSpPr/>
          <p:nvPr/>
        </p:nvSpPr>
        <p:spPr>
          <a:xfrm>
            <a:off x="658368" y="3977640"/>
            <a:ext cx="2748595" cy="896112"/>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AI 활용과 나의 판단 · 40</a:t>
            </a:r>
            <a:endParaRPr lang="en-US" sz="1300" dirty="0"/>
          </a:p>
        </p:txBody>
      </p:sp>
      <p:sp>
        <p:nvSpPr>
          <p:cNvPr id="26" name="Text 24"/>
          <p:cNvSpPr/>
          <p:nvPr/>
        </p:nvSpPr>
        <p:spPr>
          <a:xfrm>
            <a:off x="3662995" y="3977640"/>
            <a:ext cx="5308092" cy="896112"/>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AI가 도운 부분, 내가 확인한 결과, 받아들이거나 멈춘 판단, 남은 한계를 이어서 설명한다</a:t>
            </a:r>
            <a:endParaRPr lang="en-US" sz="1300" dirty="0"/>
          </a:p>
        </p:txBody>
      </p:sp>
      <p:sp>
        <p:nvSpPr>
          <p:cNvPr id="27" name="Text 25"/>
          <p:cNvSpPr/>
          <p:nvPr/>
        </p:nvSpPr>
        <p:spPr>
          <a:xfrm>
            <a:off x="9227119" y="3977640"/>
            <a:ext cx="2303465" cy="896112"/>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AI대화기록.md · 10항 · 설명 파일</a:t>
            </a:r>
            <a:endParaRPr lang="en-US" sz="1300" dirty="0"/>
          </a:p>
        </p:txBody>
      </p:sp>
      <p:sp>
        <p:nvSpPr>
          <p:cNvPr id="28" name="Shape 26"/>
          <p:cNvSpPr/>
          <p:nvPr/>
        </p:nvSpPr>
        <p:spPr>
          <a:xfrm>
            <a:off x="530352" y="5349240"/>
            <a:ext cx="11128248" cy="512064"/>
          </a:xfrm>
          <a:prstGeom prst="roundRect">
            <a:avLst>
              <a:gd name="adj" fmla="val 39286"/>
            </a:avLst>
          </a:prstGeom>
          <a:solidFill>
            <a:srgbClr val="EAF5FB"/>
          </a:solidFill>
          <a:ln w="12700">
            <a:solidFill>
              <a:srgbClr val="3D8DFF"/>
            </a:solidFill>
            <a:prstDash val="solid"/>
          </a:ln>
        </p:spPr>
      </p:sp>
      <p:sp>
        <p:nvSpPr>
          <p:cNvPr id="29" name="Text 27"/>
          <p:cNvSpPr/>
          <p:nvPr/>
        </p:nvSpPr>
        <p:spPr>
          <a:xfrm>
            <a:off x="731520" y="5349240"/>
            <a:ext cx="10725912" cy="512064"/>
          </a:xfrm>
          <a:prstGeom prst="rect">
            <a:avLst/>
          </a:prstGeom>
          <a:noFill/>
          <a:ln/>
        </p:spPr>
        <p:txBody>
          <a:bodyPr wrap="square" lIns="0" tIns="0" rIns="0" bIns="0" rtlCol="0" anchor="ctr"/>
          <a:lstStyle/>
          <a:p>
            <a:pPr algn="ctr" indent="0" marL="0">
              <a:buNone/>
            </a:pPr>
            <a:r>
              <a:rPr lang="en-US" sz="1450" b="1" dirty="0">
                <a:solidFill>
                  <a:srgbClr val="34373D"/>
                </a:solidFill>
                <a:latin typeface="IBM Plex Sans KR" pitchFamily="34" charset="0"/>
                <a:ea typeface="IBM Plex Sans KR" pitchFamily="34" charset="-122"/>
                <a:cs typeface="IBM Plex Sans KR" pitchFamily="34" charset="-120"/>
              </a:rPr>
              <a:t>수행평가 1 · 2 · 3을 더해 40점 이상이면 이수 · 글이 어려우면 말로 설명해도 된다</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지금은 고치고, 다음 차시에는 바꾸지 않고 보여 준다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06</a:t>
            </a:r>
            <a:endParaRPr lang="en-US" sz="900" dirty="0"/>
          </a:p>
        </p:txBody>
      </p:sp>
      <p:sp>
        <p:nvSpPr>
          <p:cNvPr id="10" name="Shape 8"/>
          <p:cNvSpPr/>
          <p:nvPr/>
        </p:nvSpPr>
        <p:spPr>
          <a:xfrm>
            <a:off x="530352" y="1783080"/>
            <a:ext cx="5417820" cy="2926080"/>
          </a:xfrm>
          <a:prstGeom prst="roundRect">
            <a:avLst>
              <a:gd name="adj" fmla="val 1719"/>
            </a:avLst>
          </a:prstGeom>
          <a:solidFill>
            <a:srgbClr val="E7F2ED"/>
          </a:solidFill>
          <a:ln w="12700">
            <a:solidFill>
              <a:srgbClr val="0E7C86"/>
            </a:solidFill>
            <a:prstDash val="solid"/>
          </a:ln>
        </p:spPr>
      </p:sp>
      <p:sp>
        <p:nvSpPr>
          <p:cNvPr id="11" name="Text 9"/>
          <p:cNvSpPr/>
          <p:nvPr/>
        </p:nvSpPr>
        <p:spPr>
          <a:xfrm>
            <a:off x="713232" y="194767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13-1 · 지금</a:t>
            </a:r>
            <a:endParaRPr lang="en-US" sz="1650" dirty="0"/>
          </a:p>
        </p:txBody>
      </p:sp>
      <p:sp>
        <p:nvSpPr>
          <p:cNvPr id="12" name="Text 10"/>
          <p:cNvSpPr/>
          <p:nvPr/>
        </p:nvSpPr>
        <p:spPr>
          <a:xfrm>
            <a:off x="713232" y="2496312"/>
            <a:ext cx="5052060" cy="2057400"/>
          </a:xfrm>
          <a:prstGeom prst="rect">
            <a:avLst/>
          </a:prstGeom>
          <a:noFill/>
          <a:ln/>
        </p:spPr>
        <p:txBody>
          <a:bodyPr wrap="square" lIns="0" tIns="0" rIns="0" bIns="0" rtlCol="0" anchor="t"/>
          <a:lstStyle/>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고칠 문제 하나를 고른다</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AI에게 설명부터 듣고 진행시킨다</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같은 조건으로 다시 시험한다</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12_test_record.md 10항에 적는다</a:t>
            </a:r>
            <a:endParaRPr lang="en-US" sz="1450" dirty="0"/>
          </a:p>
        </p:txBody>
      </p:sp>
      <p:sp>
        <p:nvSpPr>
          <p:cNvPr id="13" name="Shape 11"/>
          <p:cNvSpPr/>
          <p:nvPr/>
        </p:nvSpPr>
        <p:spPr>
          <a:xfrm>
            <a:off x="6240780" y="1783080"/>
            <a:ext cx="5417820" cy="2926080"/>
          </a:xfrm>
          <a:prstGeom prst="roundRect">
            <a:avLst>
              <a:gd name="adj" fmla="val 1719"/>
            </a:avLst>
          </a:prstGeom>
          <a:solidFill>
            <a:srgbClr val="F1F2F4"/>
          </a:solidFill>
          <a:ln w="12700">
            <a:solidFill>
              <a:srgbClr val="E0E3E7"/>
            </a:solidFill>
            <a:prstDash val="solid"/>
          </a:ln>
        </p:spPr>
      </p:sp>
      <p:sp>
        <p:nvSpPr>
          <p:cNvPr id="14" name="Text 12"/>
          <p:cNvSpPr/>
          <p:nvPr/>
        </p:nvSpPr>
        <p:spPr>
          <a:xfrm>
            <a:off x="6423660" y="194767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13-2 · 다음 차시</a:t>
            </a:r>
            <a:endParaRPr lang="en-US" sz="1650" dirty="0"/>
          </a:p>
        </p:txBody>
      </p:sp>
      <p:sp>
        <p:nvSpPr>
          <p:cNvPr id="15" name="Text 13"/>
          <p:cNvSpPr/>
          <p:nvPr/>
        </p:nvSpPr>
        <p:spPr>
          <a:xfrm>
            <a:off x="6423660" y="2496312"/>
            <a:ext cx="5052060" cy="2057400"/>
          </a:xfrm>
          <a:prstGeom prst="rect">
            <a:avLst/>
          </a:prstGeom>
          <a:noFill/>
          <a:ln/>
        </p:spPr>
        <p:txBody>
          <a:bodyPr wrap="square" lIns="0" tIns="0" rIns="0" bIns="0" rtlCol="0" anchor="t"/>
          <a:lstStyle/>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세 흐름을 실행해 본다</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13_explanation.md에 설명을 쓴다</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비밀정보·개인정보를 확인한다</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npm run pack → 이름 바꾸기 → Form</a:t>
            </a:r>
            <a:endParaRPr lang="en-US" sz="1450" dirty="0"/>
          </a:p>
        </p:txBody>
      </p:sp>
      <p:sp>
        <p:nvSpPr>
          <p:cNvPr id="16" name="Shape 14"/>
          <p:cNvSpPr/>
          <p:nvPr/>
        </p:nvSpPr>
        <p:spPr>
          <a:xfrm>
            <a:off x="530352" y="4937760"/>
            <a:ext cx="11128248" cy="512064"/>
          </a:xfrm>
          <a:prstGeom prst="roundRect">
            <a:avLst>
              <a:gd name="adj" fmla="val 39286"/>
            </a:avLst>
          </a:prstGeom>
          <a:solidFill>
            <a:srgbClr val="FF5C00"/>
          </a:solidFill>
          <a:ln w="12700">
            <a:solidFill>
              <a:srgbClr val="FF5C00"/>
            </a:solidFill>
            <a:prstDash val="solid"/>
          </a:ln>
        </p:spPr>
      </p:sp>
      <p:sp>
        <p:nvSpPr>
          <p:cNvPr id="17" name="Text 15"/>
          <p:cNvSpPr/>
          <p:nvPr/>
        </p:nvSpPr>
        <p:spPr>
          <a:xfrm>
            <a:off x="731520" y="4937760"/>
            <a:ext cx="10725912"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IBM Plex Sans KR" pitchFamily="34" charset="0"/>
                <a:ea typeface="IBM Plex Sans KR" pitchFamily="34" charset="-122"/>
                <a:cs typeface="IBM Plex Sans KR" pitchFamily="34" charset="-120"/>
              </a:rPr>
              <a:t>13-1이 끝나면 기능 수정도 끝난다</a:t>
            </a:r>
            <a:endParaRPr lang="en-US" sz="1600" dirty="0"/>
          </a:p>
        </p:txBody>
      </p:sp>
      <p:sp>
        <p:nvSpPr>
          <p:cNvPr id="18" name="Shape 16"/>
          <p:cNvSpPr/>
          <p:nvPr/>
        </p:nvSpPr>
        <p:spPr>
          <a:xfrm>
            <a:off x="530352" y="5577840"/>
            <a:ext cx="11128248" cy="457200"/>
          </a:xfrm>
          <a:prstGeom prst="roundRect">
            <a:avLst>
              <a:gd name="adj" fmla="val 44000"/>
            </a:avLst>
          </a:prstGeom>
          <a:solidFill>
            <a:srgbClr val="EAF5FB"/>
          </a:solidFill>
          <a:ln w="12700">
            <a:solidFill>
              <a:srgbClr val="3D8DFF"/>
            </a:solidFill>
            <a:prstDash val="solid"/>
          </a:ln>
        </p:spPr>
      </p:sp>
      <p:sp>
        <p:nvSpPr>
          <p:cNvPr id="19" name="Text 17"/>
          <p:cNvSpPr/>
          <p:nvPr/>
        </p:nvSpPr>
        <p:spPr>
          <a:xfrm>
            <a:off x="731520" y="5577840"/>
            <a:ext cx="10725912" cy="457200"/>
          </a:xfrm>
          <a:prstGeom prst="rect">
            <a:avLst/>
          </a:prstGeom>
          <a:noFill/>
          <a:ln/>
        </p:spPr>
        <p:txBody>
          <a:bodyPr wrap="square" lIns="0" tIns="0" rIns="0" bIns="0" rtlCol="0" anchor="ctr"/>
          <a:lstStyle/>
          <a:p>
            <a:pPr algn="ctr" indent="0" marL="0">
              <a:buNone/>
            </a:pPr>
            <a:r>
              <a:rPr lang="en-US" sz="1350" b="1" dirty="0">
                <a:solidFill>
                  <a:srgbClr val="34373D"/>
                </a:solidFill>
                <a:latin typeface="IBM Plex Sans KR" pitchFamily="34" charset="0"/>
                <a:ea typeface="IBM Plex Sans KR" pitchFamily="34" charset="-122"/>
                <a:cs typeface="IBM Plex Sans KR" pitchFamily="34" charset="-120"/>
              </a:rPr>
              <a:t>제출 · 선생님이 알려 준 수행평가 3 Form에 13_assessment3_학생ID_이름.zip 하나</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10 폴더를 열고, 터미널 두 개를 켠다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07</a:t>
            </a:r>
            <a:endParaRPr lang="en-US" sz="900" dirty="0"/>
          </a:p>
        </p:txBody>
      </p:sp>
      <p:sp>
        <p:nvSpPr>
          <p:cNvPr id="10" name="Shape 8"/>
          <p:cNvSpPr/>
          <p:nvPr/>
        </p:nvSpPr>
        <p:spPr>
          <a:xfrm>
            <a:off x="530352" y="1783080"/>
            <a:ext cx="2562606" cy="2057400"/>
          </a:xfrm>
          <a:prstGeom prst="roundRect">
            <a:avLst>
              <a:gd name="adj" fmla="val 2444"/>
            </a:avLst>
          </a:prstGeom>
          <a:solidFill>
            <a:srgbClr val="F1F2F4"/>
          </a:solidFill>
          <a:ln w="12700">
            <a:solidFill>
              <a:srgbClr val="E0E3E7"/>
            </a:solidFill>
            <a:prstDash val="solid"/>
          </a:ln>
        </p:spPr>
      </p:sp>
      <p:sp>
        <p:nvSpPr>
          <p:cNvPr id="11" name="Text 9"/>
          <p:cNvSpPr/>
          <p:nvPr/>
        </p:nvSpPr>
        <p:spPr>
          <a:xfrm>
            <a:off x="713232"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10 폴더 열기</a:t>
            </a:r>
            <a:endParaRPr lang="en-US" sz="1650" dirty="0"/>
          </a:p>
        </p:txBody>
      </p:sp>
      <p:sp>
        <p:nvSpPr>
          <p:cNvPr id="13" name="Text 11"/>
          <p:cNvSpPr/>
          <p:nvPr/>
        </p:nvSpPr>
        <p:spPr>
          <a:xfrm>
            <a:off x="713232" y="2862072"/>
            <a:ext cx="2196846" cy="83210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파일 → 폴더 열기</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맨 위에 10</a:t>
            </a:r>
            <a:endParaRPr lang="en-US" sz="1350" dirty="0"/>
          </a:p>
        </p:txBody>
      </p:sp>
      <p:sp>
        <p:nvSpPr>
          <p:cNvPr id="14" name="Text 12"/>
          <p:cNvSpPr/>
          <p:nvPr/>
        </p:nvSpPr>
        <p:spPr>
          <a:xfrm>
            <a:off x="3065526"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85566" y="1783080"/>
            <a:ext cx="2562606" cy="2057400"/>
          </a:xfrm>
          <a:prstGeom prst="roundRect">
            <a:avLst>
              <a:gd name="adj" fmla="val 2444"/>
            </a:avLst>
          </a:prstGeom>
          <a:solidFill>
            <a:srgbClr val="F1F2F4"/>
          </a:solidFill>
          <a:ln w="12700">
            <a:solidFill>
              <a:srgbClr val="E0E3E7"/>
            </a:solidFill>
            <a:prstDash val="solid"/>
          </a:ln>
        </p:spPr>
      </p:sp>
      <p:sp>
        <p:nvSpPr>
          <p:cNvPr id="16" name="Text 14"/>
          <p:cNvSpPr/>
          <p:nvPr/>
        </p:nvSpPr>
        <p:spPr>
          <a:xfrm>
            <a:off x="3568446"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3568446"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터미널 ①</a:t>
            </a:r>
            <a:endParaRPr lang="en-US" sz="1650" dirty="0"/>
          </a:p>
        </p:txBody>
      </p:sp>
      <p:sp>
        <p:nvSpPr>
          <p:cNvPr id="18" name="Text 16"/>
          <p:cNvSpPr/>
          <p:nvPr/>
        </p:nvSpPr>
        <p:spPr>
          <a:xfrm>
            <a:off x="3568446" y="2862072"/>
            <a:ext cx="2196846" cy="83210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npm run dev</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Ready → localhost:3000</a:t>
            </a:r>
            <a:endParaRPr lang="en-US" sz="1350" dirty="0"/>
          </a:p>
        </p:txBody>
      </p:sp>
      <p:sp>
        <p:nvSpPr>
          <p:cNvPr id="19" name="Text 17"/>
          <p:cNvSpPr/>
          <p:nvPr/>
        </p:nvSpPr>
        <p:spPr>
          <a:xfrm>
            <a:off x="5920740"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240780" y="1783080"/>
            <a:ext cx="2562606" cy="2057400"/>
          </a:xfrm>
          <a:prstGeom prst="roundRect">
            <a:avLst>
              <a:gd name="adj" fmla="val 2444"/>
            </a:avLst>
          </a:prstGeom>
          <a:solidFill>
            <a:srgbClr val="F1F2F4"/>
          </a:solidFill>
          <a:ln w="12700">
            <a:solidFill>
              <a:srgbClr val="E0E3E7"/>
            </a:solidFill>
            <a:prstDash val="solid"/>
          </a:ln>
        </p:spPr>
      </p:sp>
      <p:sp>
        <p:nvSpPr>
          <p:cNvPr id="21" name="Text 19"/>
          <p:cNvSpPr/>
          <p:nvPr/>
        </p:nvSpPr>
        <p:spPr>
          <a:xfrm>
            <a:off x="6423660"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6423660"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터미널 ②</a:t>
            </a:r>
            <a:endParaRPr lang="en-US" sz="1650" dirty="0"/>
          </a:p>
        </p:txBody>
      </p:sp>
      <p:sp>
        <p:nvSpPr>
          <p:cNvPr id="23" name="Text 21"/>
          <p:cNvSpPr/>
          <p:nvPr/>
        </p:nvSpPr>
        <p:spPr>
          <a:xfrm>
            <a:off x="6423660" y="2862072"/>
            <a:ext cx="2196846" cy="83210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새 터미널 한 번 더</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opencode</a:t>
            </a:r>
            <a:endParaRPr lang="en-US" sz="1350" dirty="0"/>
          </a:p>
        </p:txBody>
      </p:sp>
      <p:sp>
        <p:nvSpPr>
          <p:cNvPr id="24" name="Text 22"/>
          <p:cNvSpPr/>
          <p:nvPr/>
        </p:nvSpPr>
        <p:spPr>
          <a:xfrm>
            <a:off x="8775954"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95994" y="1783080"/>
            <a:ext cx="2562606" cy="2057400"/>
          </a:xfrm>
          <a:prstGeom prst="roundRect">
            <a:avLst>
              <a:gd name="adj" fmla="val 2444"/>
            </a:avLst>
          </a:prstGeom>
          <a:solidFill>
            <a:srgbClr val="E7F2ED"/>
          </a:solidFill>
          <a:ln w="12700">
            <a:solidFill>
              <a:srgbClr val="0E7C86"/>
            </a:solidFill>
            <a:prstDash val="solid"/>
          </a:ln>
        </p:spPr>
      </p:sp>
      <p:sp>
        <p:nvSpPr>
          <p:cNvPr id="26" name="Text 24"/>
          <p:cNvSpPr/>
          <p:nvPr/>
        </p:nvSpPr>
        <p:spPr>
          <a:xfrm>
            <a:off x="9278874" y="194767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9278874"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기록 읽기</a:t>
            </a:r>
            <a:endParaRPr lang="en-US" sz="1650" dirty="0"/>
          </a:p>
        </p:txBody>
      </p:sp>
      <p:sp>
        <p:nvSpPr>
          <p:cNvPr id="28" name="Text 26"/>
          <p:cNvSpPr/>
          <p:nvPr/>
        </p:nvSpPr>
        <p:spPr>
          <a:xfrm>
            <a:off x="9278874" y="2862072"/>
            <a:ext cx="2196846" cy="83210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12_test_record.md</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2항 · 7항</a:t>
            </a:r>
            <a:endParaRPr lang="en-US" sz="1350" dirty="0"/>
          </a:p>
        </p:txBody>
      </p:sp>
      <p:sp>
        <p:nvSpPr>
          <p:cNvPr id="29" name="Shape 27"/>
          <p:cNvSpPr/>
          <p:nvPr/>
        </p:nvSpPr>
        <p:spPr>
          <a:xfrm>
            <a:off x="530352" y="4069080"/>
            <a:ext cx="11128248" cy="960120"/>
          </a:xfrm>
          <a:prstGeom prst="roundRect">
            <a:avLst>
              <a:gd name="adj" fmla="val 4762"/>
            </a:avLst>
          </a:prstGeom>
          <a:solidFill>
            <a:srgbClr val="24272C"/>
          </a:solidFill>
          <a:ln/>
        </p:spPr>
      </p:sp>
      <p:sp>
        <p:nvSpPr>
          <p:cNvPr id="30" name="Text 28"/>
          <p:cNvSpPr/>
          <p:nvPr/>
        </p:nvSpPr>
        <p:spPr>
          <a:xfrm>
            <a:off x="768096" y="419709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터미널 ① · 줄 끝이 …\10&gt; 인지 보고</a:t>
            </a:r>
            <a:endParaRPr lang="en-US" sz="950" dirty="0"/>
          </a:p>
        </p:txBody>
      </p:sp>
      <p:sp>
        <p:nvSpPr>
          <p:cNvPr id="31" name="Text 29"/>
          <p:cNvSpPr/>
          <p:nvPr/>
        </p:nvSpPr>
        <p:spPr>
          <a:xfrm>
            <a:off x="768096" y="4471416"/>
            <a:ext cx="10652760" cy="411480"/>
          </a:xfrm>
          <a:prstGeom prst="rect">
            <a:avLst/>
          </a:prstGeom>
          <a:noFill/>
          <a:ln/>
        </p:spPr>
        <p:txBody>
          <a:bodyPr wrap="square" lIns="0" tIns="0" rIns="0" bIns="0" rtlCol="0" anchor="t"/>
          <a:lstStyle/>
          <a:p>
            <a:pPr indent="0" marL="0">
              <a:lnSpc>
                <a:spcPts val="3060"/>
              </a:lnSpc>
              <a:buNone/>
            </a:pPr>
            <a:r>
              <a:rPr lang="en-US" sz="1800" b="1" dirty="0">
                <a:solidFill>
                  <a:srgbClr val="E8EAED"/>
                </a:solidFill>
                <a:latin typeface="IBM Plex Mono" pitchFamily="34" charset="0"/>
                <a:ea typeface="IBM Plex Mono" pitchFamily="34" charset="-122"/>
                <a:cs typeface="IBM Plex Mono" pitchFamily="34" charset="-120"/>
              </a:rPr>
              <a:t>npm run dev</a:t>
            </a:r>
            <a:endParaRPr lang="en-US" sz="1800" dirty="0"/>
          </a:p>
        </p:txBody>
      </p:sp>
      <p:sp>
        <p:nvSpPr>
          <p:cNvPr id="32" name="Shape 30"/>
          <p:cNvSpPr/>
          <p:nvPr/>
        </p:nvSpPr>
        <p:spPr>
          <a:xfrm>
            <a:off x="530352" y="5257800"/>
            <a:ext cx="11128248" cy="512064"/>
          </a:xfrm>
          <a:prstGeom prst="roundRect">
            <a:avLst>
              <a:gd name="adj" fmla="val 39286"/>
            </a:avLst>
          </a:prstGeom>
          <a:solidFill>
            <a:srgbClr val="EAF5FB"/>
          </a:solidFill>
          <a:ln w="12700">
            <a:solidFill>
              <a:srgbClr val="3D8DFF"/>
            </a:solidFill>
            <a:prstDash val="solid"/>
          </a:ln>
        </p:spPr>
      </p:sp>
      <p:sp>
        <p:nvSpPr>
          <p:cNvPr id="33" name="Text 31"/>
          <p:cNvSpPr/>
          <p:nvPr/>
        </p:nvSpPr>
        <p:spPr>
          <a:xfrm>
            <a:off x="731520" y="5257800"/>
            <a:ext cx="10725912" cy="512064"/>
          </a:xfrm>
          <a:prstGeom prst="rect">
            <a:avLst/>
          </a:prstGeom>
          <a:noFill/>
          <a:ln/>
        </p:spPr>
        <p:txBody>
          <a:bodyPr wrap="square" lIns="0" tIns="0" rIns="0" bIns="0" rtlCol="0" anchor="ctr"/>
          <a:lstStyle/>
          <a:p>
            <a:pPr algn="ctr" indent="0" marL="0">
              <a:buNone/>
            </a:pPr>
            <a:r>
              <a:rPr lang="en-US" sz="1450" b="1" dirty="0">
                <a:solidFill>
                  <a:srgbClr val="34373D"/>
                </a:solidFill>
                <a:latin typeface="IBM Plex Sans KR" pitchFamily="34" charset="0"/>
                <a:ea typeface="IBM Plex Sans KR" pitchFamily="34" charset="-122"/>
                <a:cs typeface="IBM Plex Sans KR" pitchFamily="34" charset="-120"/>
              </a:rPr>
              <a:t>서비스를 켠 터미널에서는 OpenCode를 켜지 않는다 · 목록에서 두 번째 터미널을 고른다</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고칠 문제는 고치기 쉬운 순서가 아니라 위험한 순서로</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8쪽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08</a:t>
            </a:r>
            <a:endParaRPr lang="en-US" sz="900" dirty="0"/>
          </a:p>
        </p:txBody>
      </p:sp>
      <p:sp>
        <p:nvSpPr>
          <p:cNvPr id="10" name="Shape 8"/>
          <p:cNvSpPr/>
          <p:nvPr/>
        </p:nvSpPr>
        <p:spPr>
          <a:xfrm>
            <a:off x="530352" y="1783080"/>
            <a:ext cx="2893344" cy="402336"/>
          </a:xfrm>
          <a:prstGeom prst="rect">
            <a:avLst/>
          </a:prstGeom>
          <a:solidFill>
            <a:srgbClr val="1B1D21"/>
          </a:solidFill>
          <a:ln/>
        </p:spPr>
      </p:sp>
      <p:sp>
        <p:nvSpPr>
          <p:cNvPr id="11" name="Text 9"/>
          <p:cNvSpPr/>
          <p:nvPr/>
        </p:nvSpPr>
        <p:spPr>
          <a:xfrm>
            <a:off x="658368" y="1783080"/>
            <a:ext cx="263731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순서</a:t>
            </a:r>
            <a:endParaRPr lang="en-US" sz="1050" dirty="0"/>
          </a:p>
        </p:txBody>
      </p:sp>
      <p:sp>
        <p:nvSpPr>
          <p:cNvPr id="12" name="Shape 10"/>
          <p:cNvSpPr/>
          <p:nvPr/>
        </p:nvSpPr>
        <p:spPr>
          <a:xfrm>
            <a:off x="3423696" y="1783080"/>
            <a:ext cx="4896429" cy="402336"/>
          </a:xfrm>
          <a:prstGeom prst="rect">
            <a:avLst/>
          </a:prstGeom>
          <a:solidFill>
            <a:srgbClr val="1B1D21"/>
          </a:solidFill>
          <a:ln/>
        </p:spPr>
      </p:sp>
      <p:sp>
        <p:nvSpPr>
          <p:cNvPr id="13" name="Text 11"/>
          <p:cNvSpPr/>
          <p:nvPr/>
        </p:nvSpPr>
        <p:spPr>
          <a:xfrm>
            <a:off x="3551712" y="1783080"/>
            <a:ext cx="464039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이런 문제</a:t>
            </a:r>
            <a:endParaRPr lang="en-US" sz="1050" dirty="0"/>
          </a:p>
        </p:txBody>
      </p:sp>
      <p:sp>
        <p:nvSpPr>
          <p:cNvPr id="14" name="Shape 12"/>
          <p:cNvSpPr/>
          <p:nvPr/>
        </p:nvSpPr>
        <p:spPr>
          <a:xfrm>
            <a:off x="8320126" y="1783080"/>
            <a:ext cx="3338474" cy="402336"/>
          </a:xfrm>
          <a:prstGeom prst="rect">
            <a:avLst/>
          </a:prstGeom>
          <a:solidFill>
            <a:srgbClr val="1B1D21"/>
          </a:solidFill>
          <a:ln/>
        </p:spPr>
      </p:sp>
      <p:sp>
        <p:nvSpPr>
          <p:cNvPr id="15" name="Text 13"/>
          <p:cNvSpPr/>
          <p:nvPr/>
        </p:nvSpPr>
        <p:spPr>
          <a:xfrm>
            <a:off x="8448142" y="1783080"/>
            <a:ext cx="308244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기록에서 찾는 곳</a:t>
            </a:r>
            <a:endParaRPr lang="en-US" sz="1050" dirty="0"/>
          </a:p>
        </p:txBody>
      </p:sp>
      <p:sp>
        <p:nvSpPr>
          <p:cNvPr id="16" name="Shape 14"/>
          <p:cNvSpPr/>
          <p:nvPr/>
        </p:nvSpPr>
        <p:spPr>
          <a:xfrm>
            <a:off x="530352" y="2185416"/>
            <a:ext cx="11128248" cy="640080"/>
          </a:xfrm>
          <a:prstGeom prst="rect">
            <a:avLst/>
          </a:prstGeom>
          <a:solidFill>
            <a:srgbClr val="F1F2F4"/>
          </a:solidFill>
          <a:ln w="9525">
            <a:solidFill>
              <a:srgbClr val="E0E3E7"/>
            </a:solidFill>
            <a:prstDash val="solid"/>
          </a:ln>
        </p:spPr>
      </p:sp>
      <p:sp>
        <p:nvSpPr>
          <p:cNvPr id="17" name="Text 15"/>
          <p:cNvSpPr/>
          <p:nvPr/>
        </p:nvSpPr>
        <p:spPr>
          <a:xfrm>
            <a:off x="658368" y="2185416"/>
            <a:ext cx="2637312" cy="64008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1 · 개인정보·안전</a:t>
            </a:r>
            <a:endParaRPr lang="en-US" sz="1350" dirty="0"/>
          </a:p>
        </p:txBody>
      </p:sp>
      <p:sp>
        <p:nvSpPr>
          <p:cNvPr id="18" name="Text 16"/>
          <p:cNvSpPr/>
          <p:nvPr/>
        </p:nvSpPr>
        <p:spPr>
          <a:xfrm>
            <a:off x="3551712" y="2185416"/>
            <a:ext cx="4640397" cy="64008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진짜 이름·전화번호 · 코드 속 비밀번호·API 키</a:t>
            </a:r>
            <a:endParaRPr lang="en-US" sz="1350" dirty="0"/>
          </a:p>
        </p:txBody>
      </p:sp>
      <p:sp>
        <p:nvSpPr>
          <p:cNvPr id="19" name="Text 17"/>
          <p:cNvSpPr/>
          <p:nvPr/>
        </p:nvSpPr>
        <p:spPr>
          <a:xfrm>
            <a:off x="8448142" y="2185416"/>
            <a:ext cx="3082442" cy="64008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8항 마지막 줄 · app.db</a:t>
            </a:r>
            <a:endParaRPr lang="en-US" sz="1350" dirty="0"/>
          </a:p>
        </p:txBody>
      </p:sp>
      <p:sp>
        <p:nvSpPr>
          <p:cNvPr id="20" name="Shape 18"/>
          <p:cNvSpPr/>
          <p:nvPr/>
        </p:nvSpPr>
        <p:spPr>
          <a:xfrm>
            <a:off x="530352" y="2825496"/>
            <a:ext cx="11128248" cy="640080"/>
          </a:xfrm>
          <a:prstGeom prst="rect">
            <a:avLst/>
          </a:prstGeom>
          <a:solidFill>
            <a:srgbClr val="FFFFFF"/>
          </a:solidFill>
          <a:ln w="9525">
            <a:solidFill>
              <a:srgbClr val="E0E3E7"/>
            </a:solidFill>
            <a:prstDash val="solid"/>
          </a:ln>
        </p:spPr>
      </p:sp>
      <p:sp>
        <p:nvSpPr>
          <p:cNvPr id="21" name="Text 19"/>
          <p:cNvSpPr/>
          <p:nvPr/>
        </p:nvSpPr>
        <p:spPr>
          <a:xfrm>
            <a:off x="658368" y="2825496"/>
            <a:ext cx="2637312" cy="64008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2 · 핵심 흐름 중단</a:t>
            </a:r>
            <a:endParaRPr lang="en-US" sz="1350" dirty="0"/>
          </a:p>
        </p:txBody>
      </p:sp>
      <p:sp>
        <p:nvSpPr>
          <p:cNvPr id="22" name="Text 20"/>
          <p:cNvSpPr/>
          <p:nvPr/>
        </p:nvSpPr>
        <p:spPr>
          <a:xfrm>
            <a:off x="3551712" y="2825496"/>
            <a:ext cx="4640397" cy="64008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무엇부터 할지 모른다 · 결과가 안 나온다</a:t>
            </a:r>
            <a:endParaRPr lang="en-US" sz="1350" dirty="0"/>
          </a:p>
        </p:txBody>
      </p:sp>
      <p:sp>
        <p:nvSpPr>
          <p:cNvPr id="23" name="Text 21"/>
          <p:cNvSpPr/>
          <p:nvPr/>
        </p:nvSpPr>
        <p:spPr>
          <a:xfrm>
            <a:off x="8448142" y="2825496"/>
            <a:ext cx="3082442" cy="64008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7항 첫째 묶음 · 2항</a:t>
            </a:r>
            <a:endParaRPr lang="en-US" sz="1350" dirty="0"/>
          </a:p>
        </p:txBody>
      </p:sp>
      <p:sp>
        <p:nvSpPr>
          <p:cNvPr id="24" name="Shape 22"/>
          <p:cNvSpPr/>
          <p:nvPr/>
        </p:nvSpPr>
        <p:spPr>
          <a:xfrm>
            <a:off x="530352" y="3465576"/>
            <a:ext cx="11128248" cy="640080"/>
          </a:xfrm>
          <a:prstGeom prst="rect">
            <a:avLst/>
          </a:prstGeom>
          <a:solidFill>
            <a:srgbClr val="F1F2F4"/>
          </a:solidFill>
          <a:ln w="9525">
            <a:solidFill>
              <a:srgbClr val="E0E3E7"/>
            </a:solidFill>
            <a:prstDash val="solid"/>
          </a:ln>
        </p:spPr>
      </p:sp>
      <p:sp>
        <p:nvSpPr>
          <p:cNvPr id="25" name="Text 23"/>
          <p:cNvSpPr/>
          <p:nvPr/>
        </p:nvSpPr>
        <p:spPr>
          <a:xfrm>
            <a:off x="658368" y="3465576"/>
            <a:ext cx="2637312" cy="64008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3 · 오류 뒤 복구 불가</a:t>
            </a:r>
            <a:endParaRPr lang="en-US" sz="1350" dirty="0"/>
          </a:p>
        </p:txBody>
      </p:sp>
      <p:sp>
        <p:nvSpPr>
          <p:cNvPr id="26" name="Text 24"/>
          <p:cNvSpPr/>
          <p:nvPr/>
        </p:nvSpPr>
        <p:spPr>
          <a:xfrm>
            <a:off x="3551712" y="3465576"/>
            <a:ext cx="4640397" cy="64008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잘못 입력한 뒤 정상으로 못 돌아온다</a:t>
            </a:r>
            <a:endParaRPr lang="en-US" sz="1350" dirty="0"/>
          </a:p>
        </p:txBody>
      </p:sp>
      <p:sp>
        <p:nvSpPr>
          <p:cNvPr id="27" name="Text 25"/>
          <p:cNvSpPr/>
          <p:nvPr/>
        </p:nvSpPr>
        <p:spPr>
          <a:xfrm>
            <a:off x="8448142" y="3465576"/>
            <a:ext cx="3082442" cy="64008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7항 둘째 묶음 · 2항</a:t>
            </a:r>
            <a:endParaRPr lang="en-US" sz="1350" dirty="0"/>
          </a:p>
        </p:txBody>
      </p:sp>
      <p:sp>
        <p:nvSpPr>
          <p:cNvPr id="28" name="Shape 26"/>
          <p:cNvSpPr/>
          <p:nvPr/>
        </p:nvSpPr>
        <p:spPr>
          <a:xfrm>
            <a:off x="530352" y="4105656"/>
            <a:ext cx="11128248" cy="640080"/>
          </a:xfrm>
          <a:prstGeom prst="rect">
            <a:avLst/>
          </a:prstGeom>
          <a:solidFill>
            <a:srgbClr val="FFFFFF"/>
          </a:solidFill>
          <a:ln w="9525">
            <a:solidFill>
              <a:srgbClr val="E0E3E7"/>
            </a:solidFill>
            <a:prstDash val="solid"/>
          </a:ln>
        </p:spPr>
      </p:sp>
      <p:sp>
        <p:nvSpPr>
          <p:cNvPr id="29" name="Text 27"/>
          <p:cNvSpPr/>
          <p:nvPr/>
        </p:nvSpPr>
        <p:spPr>
          <a:xfrm>
            <a:off x="658368" y="4105656"/>
            <a:ext cx="2637312" cy="64008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4 · 저장 기록 소실</a:t>
            </a:r>
            <a:endParaRPr lang="en-US" sz="1350" dirty="0"/>
          </a:p>
        </p:txBody>
      </p:sp>
      <p:sp>
        <p:nvSpPr>
          <p:cNvPr id="30" name="Text 28"/>
          <p:cNvSpPr/>
          <p:nvPr/>
        </p:nvSpPr>
        <p:spPr>
          <a:xfrm>
            <a:off x="3551712" y="4105656"/>
            <a:ext cx="4640397" cy="64008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새로고침·다시 켜기 뒤 기록이 사라진다</a:t>
            </a:r>
            <a:endParaRPr lang="en-US" sz="1350" dirty="0"/>
          </a:p>
        </p:txBody>
      </p:sp>
      <p:sp>
        <p:nvSpPr>
          <p:cNvPr id="31" name="Text 29"/>
          <p:cNvSpPr/>
          <p:nvPr/>
        </p:nvSpPr>
        <p:spPr>
          <a:xfrm>
            <a:off x="8448142" y="4105656"/>
            <a:ext cx="3082442" cy="64008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2항 「새로고침·다시 방문」</a:t>
            </a:r>
            <a:endParaRPr lang="en-US" sz="1350" dirty="0"/>
          </a:p>
        </p:txBody>
      </p:sp>
      <p:sp>
        <p:nvSpPr>
          <p:cNvPr id="32" name="Shape 30"/>
          <p:cNvSpPr/>
          <p:nvPr/>
        </p:nvSpPr>
        <p:spPr>
          <a:xfrm>
            <a:off x="530352" y="2185416"/>
            <a:ext cx="11128248" cy="640080"/>
          </a:xfrm>
          <a:prstGeom prst="rect">
            <a:avLst/>
          </a:prstGeom>
          <a:noFill/>
          <a:ln w="28575">
            <a:solidFill>
              <a:srgbClr val="FF5C00"/>
            </a:solidFill>
            <a:prstDash val="solid"/>
          </a:ln>
        </p:spPr>
      </p:sp>
      <p:sp>
        <p:nvSpPr>
          <p:cNvPr id="33" name="Shape 31"/>
          <p:cNvSpPr/>
          <p:nvPr/>
        </p:nvSpPr>
        <p:spPr>
          <a:xfrm>
            <a:off x="530352" y="5074920"/>
            <a:ext cx="11128248" cy="512064"/>
          </a:xfrm>
          <a:prstGeom prst="roundRect">
            <a:avLst>
              <a:gd name="adj" fmla="val 39286"/>
            </a:avLst>
          </a:prstGeom>
          <a:solidFill>
            <a:srgbClr val="EAF5FB"/>
          </a:solidFill>
          <a:ln w="12700">
            <a:solidFill>
              <a:srgbClr val="3D8DFF"/>
            </a:solidFill>
            <a:prstDash val="solid"/>
          </a:ln>
        </p:spPr>
      </p:sp>
      <p:sp>
        <p:nvSpPr>
          <p:cNvPr id="34" name="Text 32"/>
          <p:cNvSpPr/>
          <p:nvPr/>
        </p:nvSpPr>
        <p:spPr>
          <a:xfrm>
            <a:off x="731520" y="507492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다섯째 · 안내 문장 · 버튼 이름 · 배치는 위의 넷이 없을 때만</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한 번에 문제 하나 · 고른 문제는 10항에 적는다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9쪽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09</a:t>
            </a:r>
            <a:endParaRPr lang="en-US" sz="900" dirty="0"/>
          </a:p>
        </p:txBody>
      </p:sp>
      <p:sp>
        <p:nvSpPr>
          <p:cNvPr id="10" name="Shape 8"/>
          <p:cNvSpPr/>
          <p:nvPr/>
        </p:nvSpPr>
        <p:spPr>
          <a:xfrm>
            <a:off x="530352" y="1783080"/>
            <a:ext cx="4206240" cy="3246120"/>
          </a:xfrm>
          <a:prstGeom prst="roundRect">
            <a:avLst>
              <a:gd name="adj" fmla="val 1549"/>
            </a:avLst>
          </a:prstGeom>
          <a:solidFill>
            <a:srgbClr val="FFF1E8"/>
          </a:solidFill>
          <a:ln w="12700">
            <a:solidFill>
              <a:srgbClr val="C24A00"/>
            </a:solidFill>
            <a:prstDash val="solid"/>
          </a:ln>
        </p:spPr>
      </p:sp>
      <p:sp>
        <p:nvSpPr>
          <p:cNvPr id="11" name="Text 9"/>
          <p:cNvSpPr/>
          <p:nvPr/>
        </p:nvSpPr>
        <p:spPr>
          <a:xfrm>
            <a:off x="713232" y="1947672"/>
            <a:ext cx="3840480"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둘을 한꺼번에 고치면</a:t>
            </a:r>
            <a:endParaRPr lang="en-US" sz="1650" dirty="0"/>
          </a:p>
        </p:txBody>
      </p:sp>
      <p:sp>
        <p:nvSpPr>
          <p:cNvPr id="12" name="Text 10"/>
          <p:cNvSpPr/>
          <p:nvPr/>
        </p:nvSpPr>
        <p:spPr>
          <a:xfrm>
            <a:off x="713232" y="2441448"/>
            <a:ext cx="3840480" cy="2441448"/>
          </a:xfrm>
          <a:prstGeom prst="rect">
            <a:avLst/>
          </a:prstGeom>
          <a:noFill/>
          <a:ln/>
        </p:spPr>
        <p:txBody>
          <a:bodyPr wrap="square" lIns="0" tIns="0" rIns="0" bIns="0" rtlCol="0" anchor="t"/>
          <a:lstStyle/>
          <a:p>
            <a:pPr indent="0" marL="0">
              <a:lnSpc>
                <a:spcPts val="1900"/>
              </a:lnSpc>
              <a:buNone/>
            </a:pPr>
            <a:r>
              <a:rPr lang="en-US" sz="1450" dirty="0">
                <a:solidFill>
                  <a:srgbClr val="34373D"/>
                </a:solidFill>
                <a:latin typeface="IBM Plex Sans KR" pitchFamily="34" charset="0"/>
                <a:ea typeface="IBM Plex Sans KR" pitchFamily="34" charset="-122"/>
                <a:cs typeface="IBM Plex Sans KR" pitchFamily="34" charset="-120"/>
              </a:rPr>
              <a:t>나아졌을 때 무엇이 고쳤는지</a:t>
            </a:r>
            <a:endParaRPr lang="en-US" sz="1450" dirty="0"/>
          </a:p>
          <a:p>
            <a:pPr indent="0" marL="0">
              <a:lnSpc>
                <a:spcPts val="1900"/>
              </a:lnSpc>
              <a:buNone/>
            </a:pPr>
            <a:r>
              <a:rPr lang="en-US" sz="1450" dirty="0">
                <a:solidFill>
                  <a:srgbClr val="34373D"/>
                </a:solidFill>
                <a:latin typeface="IBM Plex Sans KR" pitchFamily="34" charset="0"/>
                <a:ea typeface="IBM Plex Sans KR" pitchFamily="34" charset="-122"/>
                <a:cs typeface="IBM Plex Sans KR" pitchFamily="34" charset="-120"/>
              </a:rPr>
              <a:t>나빠졌을 때 무엇이 망가뜨렸는지</a:t>
            </a:r>
            <a:endParaRPr lang="en-US" sz="1450" dirty="0"/>
          </a:p>
          <a:p>
            <a:pPr indent="0" marL="0">
              <a:lnSpc>
                <a:spcPts val="1900"/>
              </a:lnSpc>
              <a:buNone/>
            </a:pPr>
            <a:r>
              <a:rPr lang="en-US" sz="1450" dirty="0">
                <a:solidFill>
                  <a:srgbClr val="34373D"/>
                </a:solidFill>
                <a:latin typeface="IBM Plex Sans KR" pitchFamily="34" charset="0"/>
                <a:ea typeface="IBM Plex Sans KR" pitchFamily="34" charset="-122"/>
                <a:cs typeface="IBM Plex Sans KR" pitchFamily="34" charset="-120"/>
              </a:rPr>
              <a:t>알 수 없다</a:t>
            </a:r>
            <a:endParaRPr lang="en-US" sz="1450" dirty="0"/>
          </a:p>
        </p:txBody>
      </p:sp>
      <p:sp>
        <p:nvSpPr>
          <p:cNvPr id="13" name="Shape 11"/>
          <p:cNvSpPr/>
          <p:nvPr/>
        </p:nvSpPr>
        <p:spPr>
          <a:xfrm>
            <a:off x="5010912" y="1783080"/>
            <a:ext cx="6647688" cy="3246120"/>
          </a:xfrm>
          <a:prstGeom prst="roundRect">
            <a:avLst>
              <a:gd name="adj" fmla="val 1408"/>
            </a:avLst>
          </a:prstGeom>
          <a:solidFill>
            <a:srgbClr val="24272C"/>
          </a:solidFill>
          <a:ln/>
        </p:spPr>
      </p:sp>
      <p:sp>
        <p:nvSpPr>
          <p:cNvPr id="14" name="Text 12"/>
          <p:cNvSpPr/>
          <p:nvPr/>
        </p:nvSpPr>
        <p:spPr>
          <a:xfrm>
            <a:off x="5248656" y="1911096"/>
            <a:ext cx="617220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12_test_record.md 맨 아래 · 틀은 교과서 9쪽에서 복사</a:t>
            </a:r>
            <a:endParaRPr lang="en-US" sz="950" dirty="0"/>
          </a:p>
        </p:txBody>
      </p:sp>
      <p:sp>
        <p:nvSpPr>
          <p:cNvPr id="15" name="Text 13"/>
          <p:cNvSpPr/>
          <p:nvPr/>
        </p:nvSpPr>
        <p:spPr>
          <a:xfrm>
            <a:off x="5248656" y="2185416"/>
            <a:ext cx="6172200" cy="2697480"/>
          </a:xfrm>
          <a:prstGeom prst="rect">
            <a:avLst/>
          </a:prstGeom>
          <a:noFill/>
          <a:ln/>
        </p:spPr>
        <p:txBody>
          <a:bodyPr wrap="square" lIns="0" tIns="0" rIns="0" bIns="0" rtlCol="0" anchor="t"/>
          <a:lstStyle/>
          <a:p>
            <a:pPr indent="0" marL="0">
              <a:lnSpc>
                <a:spcPts val="2465"/>
              </a:lnSpc>
              <a:buNone/>
            </a:pPr>
            <a:r>
              <a:rPr lang="en-US" sz="1450" b="1" dirty="0">
                <a:solidFill>
                  <a:srgbClr val="E8EAED"/>
                </a:solidFill>
                <a:latin typeface="IBM Plex Mono" pitchFamily="34" charset="0"/>
                <a:ea typeface="IBM Plex Mono" pitchFamily="34" charset="-122"/>
                <a:cs typeface="IBM Plex Mono" pitchFamily="34" charset="-120"/>
              </a:rPr>
              <a:t>## 10. 13회 수정과 재시험</a:t>
            </a:r>
            <a:endParaRPr lang="en-US" sz="1450" dirty="0"/>
          </a:p>
          <a:p>
            <a:pPr indent="0" marL="0">
              <a:lnSpc>
                <a:spcPts val="2465"/>
              </a:lnSpc>
              <a:buNone/>
            </a:pPr>
            <a:endParaRPr lang="en-US" sz="1450" dirty="0"/>
          </a:p>
          <a:p>
            <a:pPr indent="0" marL="0">
              <a:lnSpc>
                <a:spcPts val="2465"/>
              </a:lnSpc>
              <a:buNone/>
            </a:pPr>
            <a:r>
              <a:rPr lang="en-US" sz="1450" b="1" dirty="0">
                <a:solidFill>
                  <a:srgbClr val="E8EAED"/>
                </a:solidFill>
                <a:latin typeface="IBM Plex Mono" pitchFamily="34" charset="0"/>
                <a:ea typeface="IBM Plex Mono" pitchFamily="34" charset="-122"/>
                <a:cs typeface="IBM Plex Mono" pitchFamily="34" charset="-120"/>
              </a:rPr>
              <a:t>### 수정 1</a:t>
            </a:r>
            <a:endParaRPr lang="en-US" sz="1450" dirty="0"/>
          </a:p>
          <a:p>
            <a:pPr indent="0" marL="0">
              <a:lnSpc>
                <a:spcPts val="2465"/>
              </a:lnSpc>
              <a:buNone/>
            </a:pPr>
            <a:r>
              <a:rPr lang="en-US" sz="1450" b="1" dirty="0">
                <a:solidFill>
                  <a:srgbClr val="FFB27F"/>
                </a:solidFill>
                <a:latin typeface="IBM Plex Mono" pitchFamily="34" charset="0"/>
                <a:ea typeface="IBM Plex Mono" pitchFamily="34" charset="-122"/>
                <a:cs typeface="IBM Plex Mono" pitchFamily="34" charset="-120"/>
              </a:rPr>
              <a:t>- 고른 문제:</a:t>
            </a:r>
            <a:endParaRPr lang="en-US" sz="1450" dirty="0"/>
          </a:p>
          <a:p>
            <a:pPr indent="0" marL="0">
              <a:lnSpc>
                <a:spcPts val="2465"/>
              </a:lnSpc>
              <a:buNone/>
            </a:pPr>
            <a:r>
              <a:rPr lang="en-US" sz="1450" b="1" dirty="0">
                <a:solidFill>
                  <a:srgbClr val="FFB27F"/>
                </a:solidFill>
                <a:latin typeface="IBM Plex Mono" pitchFamily="34" charset="0"/>
                <a:ea typeface="IBM Plex Mono" pitchFamily="34" charset="-122"/>
                <a:cs typeface="IBM Plex Mono" pitchFamily="34" charset="-120"/>
              </a:rPr>
              <a:t>- 우선순위:</a:t>
            </a:r>
            <a:endParaRPr lang="en-US" sz="1450" dirty="0"/>
          </a:p>
          <a:p>
            <a:pPr indent="0" marL="0">
              <a:lnSpc>
                <a:spcPts val="2465"/>
              </a:lnSpc>
              <a:buNone/>
            </a:pPr>
            <a:r>
              <a:rPr lang="en-US" sz="1450" b="1" dirty="0">
                <a:solidFill>
                  <a:srgbClr val="E8EAED"/>
                </a:solidFill>
                <a:latin typeface="IBM Plex Mono" pitchFamily="34" charset="0"/>
                <a:ea typeface="IBM Plex Mono" pitchFamily="34" charset="-122"/>
                <a:cs typeface="IBM Plex Mono" pitchFamily="34" charset="-120"/>
              </a:rPr>
              <a:t>- 처음 달라진 단계 …</a:t>
            </a:r>
            <a:endParaRPr lang="en-US" sz="1450" dirty="0"/>
          </a:p>
          <a:p>
            <a:pPr indent="0" marL="0">
              <a:lnSpc>
                <a:spcPts val="2465"/>
              </a:lnSpc>
              <a:buNone/>
            </a:pPr>
            <a:r>
              <a:rPr lang="en-US" sz="1450" b="1" dirty="0">
                <a:solidFill>
                  <a:srgbClr val="E8EAED"/>
                </a:solidFill>
                <a:latin typeface="IBM Plex Mono" pitchFamily="34" charset="0"/>
                <a:ea typeface="IBM Plex Mono" pitchFamily="34" charset="-122"/>
                <a:cs typeface="IBM Plex Mono" pitchFamily="34" charset="-120"/>
              </a:rPr>
              <a:t>- 다시 시험한 결과 …</a:t>
            </a:r>
            <a:endParaRPr lang="en-US" sz="1450" dirty="0"/>
          </a:p>
        </p:txBody>
      </p:sp>
      <p:sp>
        <p:nvSpPr>
          <p:cNvPr id="16" name="Shape 14"/>
          <p:cNvSpPr/>
          <p:nvPr/>
        </p:nvSpPr>
        <p:spPr>
          <a:xfrm>
            <a:off x="530352" y="5303520"/>
            <a:ext cx="11128248" cy="512064"/>
          </a:xfrm>
          <a:prstGeom prst="roundRect">
            <a:avLst>
              <a:gd name="adj" fmla="val 39286"/>
            </a:avLst>
          </a:prstGeom>
          <a:solidFill>
            <a:srgbClr val="EAF5FB"/>
          </a:solidFill>
          <a:ln w="12700">
            <a:solidFill>
              <a:srgbClr val="3D8DFF"/>
            </a:solidFill>
            <a:prstDash val="solid"/>
          </a:ln>
        </p:spPr>
      </p:sp>
      <p:sp>
        <p:nvSpPr>
          <p:cNvPr id="17" name="Text 15"/>
          <p:cNvSpPr/>
          <p:nvPr/>
        </p:nvSpPr>
        <p:spPr>
          <a:xfrm>
            <a:off x="731520" y="530352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지금 채울 것은 「고른 문제」 「우선순위」 두 줄 · 나머지는 고치면서</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먼저 설명만 듣고, 확인한 뒤에 고치게 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06</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10쪽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10</a:t>
            </a:r>
            <a:endParaRPr lang="en-US" sz="900" dirty="0"/>
          </a:p>
        </p:txBody>
      </p:sp>
      <p:sp>
        <p:nvSpPr>
          <p:cNvPr id="10" name="Shape 8"/>
          <p:cNvSpPr/>
          <p:nvPr/>
        </p:nvSpPr>
        <p:spPr>
          <a:xfrm>
            <a:off x="530352" y="1783080"/>
            <a:ext cx="2562606" cy="1828800"/>
          </a:xfrm>
          <a:prstGeom prst="roundRect">
            <a:avLst>
              <a:gd name="adj" fmla="val 2750"/>
            </a:avLst>
          </a:prstGeom>
          <a:solidFill>
            <a:srgbClr val="F1F2F4"/>
          </a:solidFill>
          <a:ln w="12700">
            <a:solidFill>
              <a:srgbClr val="E0E3E7"/>
            </a:solidFill>
            <a:prstDash val="solid"/>
          </a:ln>
        </p:spPr>
      </p:sp>
      <p:sp>
        <p:nvSpPr>
          <p:cNvPr id="11" name="Text 9"/>
          <p:cNvSpPr/>
          <p:nvPr/>
        </p:nvSpPr>
        <p:spPr>
          <a:xfrm>
            <a:off x="713232"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요청 ①</a:t>
            </a:r>
            <a:endParaRPr lang="en-US" sz="1650" dirty="0"/>
          </a:p>
        </p:txBody>
      </p:sp>
      <p:sp>
        <p:nvSpPr>
          <p:cNvPr id="13" name="Text 11"/>
          <p:cNvSpPr/>
          <p:nvPr/>
        </p:nvSpPr>
        <p:spPr>
          <a:xfrm>
            <a:off x="713232" y="2862072"/>
            <a:ext cx="2196846" cy="60350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아직 고치지 마</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가장 작은 수정 설명</a:t>
            </a:r>
            <a:endParaRPr lang="en-US" sz="1350" dirty="0"/>
          </a:p>
        </p:txBody>
      </p:sp>
      <p:sp>
        <p:nvSpPr>
          <p:cNvPr id="14" name="Text 12"/>
          <p:cNvSpPr/>
          <p:nvPr/>
        </p:nvSpPr>
        <p:spPr>
          <a:xfrm>
            <a:off x="3065526"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85566" y="1783080"/>
            <a:ext cx="2562606" cy="1828800"/>
          </a:xfrm>
          <a:prstGeom prst="roundRect">
            <a:avLst>
              <a:gd name="adj" fmla="val 2750"/>
            </a:avLst>
          </a:prstGeom>
          <a:solidFill>
            <a:srgbClr val="F1F2F4"/>
          </a:solidFill>
          <a:ln w="12700">
            <a:solidFill>
              <a:srgbClr val="E0E3E7"/>
            </a:solidFill>
            <a:prstDash val="solid"/>
          </a:ln>
        </p:spPr>
      </p:sp>
      <p:sp>
        <p:nvSpPr>
          <p:cNvPr id="16" name="Text 14"/>
          <p:cNvSpPr/>
          <p:nvPr/>
        </p:nvSpPr>
        <p:spPr>
          <a:xfrm>
            <a:off x="3568446"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3568446"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내가 읽는다</a:t>
            </a:r>
            <a:endParaRPr lang="en-US" sz="1650" dirty="0"/>
          </a:p>
        </p:txBody>
      </p:sp>
      <p:sp>
        <p:nvSpPr>
          <p:cNvPr id="18" name="Text 16"/>
          <p:cNvSpPr/>
          <p:nvPr/>
        </p:nvSpPr>
        <p:spPr>
          <a:xfrm>
            <a:off x="3568446" y="2862072"/>
            <a:ext cx="2196846" cy="60350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파일 · 범위 확인</a:t>
            </a:r>
            <a:endParaRPr lang="en-US" sz="1350" dirty="0"/>
          </a:p>
        </p:txBody>
      </p:sp>
      <p:sp>
        <p:nvSpPr>
          <p:cNvPr id="19" name="Text 17"/>
          <p:cNvSpPr/>
          <p:nvPr/>
        </p:nvSpPr>
        <p:spPr>
          <a:xfrm>
            <a:off x="5920740"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240780" y="1783080"/>
            <a:ext cx="2562606" cy="1828800"/>
          </a:xfrm>
          <a:prstGeom prst="roundRect">
            <a:avLst>
              <a:gd name="adj" fmla="val 2750"/>
            </a:avLst>
          </a:prstGeom>
          <a:solidFill>
            <a:srgbClr val="F1F2F4"/>
          </a:solidFill>
          <a:ln w="12700">
            <a:solidFill>
              <a:srgbClr val="E0E3E7"/>
            </a:solidFill>
            <a:prstDash val="solid"/>
          </a:ln>
        </p:spPr>
      </p:sp>
      <p:sp>
        <p:nvSpPr>
          <p:cNvPr id="21" name="Text 19"/>
          <p:cNvSpPr/>
          <p:nvPr/>
        </p:nvSpPr>
        <p:spPr>
          <a:xfrm>
            <a:off x="6423660"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6423660"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요청 ②</a:t>
            </a:r>
            <a:endParaRPr lang="en-US" sz="1650" dirty="0"/>
          </a:p>
        </p:txBody>
      </p:sp>
      <p:sp>
        <p:nvSpPr>
          <p:cNvPr id="23" name="Text 21"/>
          <p:cNvSpPr/>
          <p:nvPr/>
        </p:nvSpPr>
        <p:spPr>
          <a:xfrm>
            <a:off x="6423660" y="2862072"/>
            <a:ext cx="2196846" cy="60350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진행해.</a:t>
            </a:r>
            <a:endParaRPr lang="en-US" sz="1350" dirty="0"/>
          </a:p>
        </p:txBody>
      </p:sp>
      <p:sp>
        <p:nvSpPr>
          <p:cNvPr id="24" name="Text 22"/>
          <p:cNvSpPr/>
          <p:nvPr/>
        </p:nvSpPr>
        <p:spPr>
          <a:xfrm>
            <a:off x="8775954"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95994" y="1783080"/>
            <a:ext cx="2562606" cy="1828800"/>
          </a:xfrm>
          <a:prstGeom prst="roundRect">
            <a:avLst>
              <a:gd name="adj" fmla="val 2750"/>
            </a:avLst>
          </a:prstGeom>
          <a:solidFill>
            <a:srgbClr val="E7F2ED"/>
          </a:solidFill>
          <a:ln w="12700">
            <a:solidFill>
              <a:srgbClr val="0E7C86"/>
            </a:solidFill>
            <a:prstDash val="solid"/>
          </a:ln>
        </p:spPr>
      </p:sp>
      <p:sp>
        <p:nvSpPr>
          <p:cNvPr id="26" name="Text 24"/>
          <p:cNvSpPr/>
          <p:nvPr/>
        </p:nvSpPr>
        <p:spPr>
          <a:xfrm>
            <a:off x="9278874" y="194767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9278874"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화면으로 확인</a:t>
            </a:r>
            <a:endParaRPr lang="en-US" sz="1650" dirty="0"/>
          </a:p>
        </p:txBody>
      </p:sp>
      <p:sp>
        <p:nvSpPr>
          <p:cNvPr id="28" name="Text 26"/>
          <p:cNvSpPr/>
          <p:nvPr/>
        </p:nvSpPr>
        <p:spPr>
          <a:xfrm>
            <a:off x="9278874" y="2862072"/>
            <a:ext cx="2196846" cy="60350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같은 조건으로</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다시 시험</a:t>
            </a:r>
            <a:endParaRPr lang="en-US" sz="1350" dirty="0"/>
          </a:p>
        </p:txBody>
      </p:sp>
      <p:sp>
        <p:nvSpPr>
          <p:cNvPr id="29" name="Shape 27"/>
          <p:cNvSpPr/>
          <p:nvPr/>
        </p:nvSpPr>
        <p:spPr>
          <a:xfrm>
            <a:off x="530352" y="3840480"/>
            <a:ext cx="3561039" cy="402336"/>
          </a:xfrm>
          <a:prstGeom prst="rect">
            <a:avLst/>
          </a:prstGeom>
          <a:solidFill>
            <a:srgbClr val="1B1D21"/>
          </a:solidFill>
          <a:ln/>
        </p:spPr>
      </p:sp>
      <p:sp>
        <p:nvSpPr>
          <p:cNvPr id="30" name="Text 28"/>
          <p:cNvSpPr/>
          <p:nvPr/>
        </p:nvSpPr>
        <p:spPr>
          <a:xfrm>
            <a:off x="658368" y="3840480"/>
            <a:ext cx="330500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요청문의 빈칸</a:t>
            </a:r>
            <a:endParaRPr lang="en-US" sz="1050" dirty="0"/>
          </a:p>
        </p:txBody>
      </p:sp>
      <p:sp>
        <p:nvSpPr>
          <p:cNvPr id="31" name="Shape 29"/>
          <p:cNvSpPr/>
          <p:nvPr/>
        </p:nvSpPr>
        <p:spPr>
          <a:xfrm>
            <a:off x="4091391" y="3840480"/>
            <a:ext cx="7567209" cy="402336"/>
          </a:xfrm>
          <a:prstGeom prst="rect">
            <a:avLst/>
          </a:prstGeom>
          <a:solidFill>
            <a:srgbClr val="1B1D21"/>
          </a:solidFill>
          <a:ln/>
        </p:spPr>
      </p:sp>
      <p:sp>
        <p:nvSpPr>
          <p:cNvPr id="32" name="Text 30"/>
          <p:cNvSpPr/>
          <p:nvPr/>
        </p:nvSpPr>
        <p:spPr>
          <a:xfrm>
            <a:off x="4219407" y="3840480"/>
            <a:ext cx="731117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12_test_record.md 2항에서 옮겨 오는 칸</a:t>
            </a:r>
            <a:endParaRPr lang="en-US" sz="1050" dirty="0"/>
          </a:p>
        </p:txBody>
      </p:sp>
      <p:sp>
        <p:nvSpPr>
          <p:cNvPr id="33" name="Shape 31"/>
          <p:cNvSpPr/>
          <p:nvPr/>
        </p:nvSpPr>
        <p:spPr>
          <a:xfrm>
            <a:off x="530352" y="4242816"/>
            <a:ext cx="11128248" cy="420624"/>
          </a:xfrm>
          <a:prstGeom prst="rect">
            <a:avLst/>
          </a:prstGeom>
          <a:solidFill>
            <a:srgbClr val="F1F2F4"/>
          </a:solidFill>
          <a:ln w="9525">
            <a:solidFill>
              <a:srgbClr val="E0E3E7"/>
            </a:solidFill>
            <a:prstDash val="solid"/>
          </a:ln>
        </p:spPr>
      </p:sp>
      <p:sp>
        <p:nvSpPr>
          <p:cNvPr id="34" name="Text 32"/>
          <p:cNvSpPr/>
          <p:nvPr/>
        </p:nvSpPr>
        <p:spPr>
          <a:xfrm>
            <a:off x="658368" y="4242816"/>
            <a:ext cx="3305007" cy="42062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원래 약속</a:t>
            </a:r>
            <a:endParaRPr lang="en-US" sz="1350" dirty="0"/>
          </a:p>
        </p:txBody>
      </p:sp>
      <p:sp>
        <p:nvSpPr>
          <p:cNvPr id="35" name="Text 33"/>
          <p:cNvSpPr/>
          <p:nvPr/>
        </p:nvSpPr>
        <p:spPr>
          <a:xfrm>
            <a:off x="4219407" y="4242816"/>
            <a:ext cx="7311177" cy="42062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예상한 서비스 반응</a:t>
            </a:r>
            <a:endParaRPr lang="en-US" sz="1350" dirty="0"/>
          </a:p>
        </p:txBody>
      </p:sp>
      <p:sp>
        <p:nvSpPr>
          <p:cNvPr id="36" name="Shape 34"/>
          <p:cNvSpPr/>
          <p:nvPr/>
        </p:nvSpPr>
        <p:spPr>
          <a:xfrm>
            <a:off x="530352" y="4663440"/>
            <a:ext cx="11128248" cy="420624"/>
          </a:xfrm>
          <a:prstGeom prst="rect">
            <a:avLst/>
          </a:prstGeom>
          <a:solidFill>
            <a:srgbClr val="FFFFFF"/>
          </a:solidFill>
          <a:ln w="9525">
            <a:solidFill>
              <a:srgbClr val="E0E3E7"/>
            </a:solidFill>
            <a:prstDash val="solid"/>
          </a:ln>
        </p:spPr>
      </p:sp>
      <p:sp>
        <p:nvSpPr>
          <p:cNvPr id="37" name="Text 35"/>
          <p:cNvSpPr/>
          <p:nvPr/>
        </p:nvSpPr>
        <p:spPr>
          <a:xfrm>
            <a:off x="658368" y="4663440"/>
            <a:ext cx="3305007" cy="42062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내가 한 행동</a:t>
            </a:r>
            <a:endParaRPr lang="en-US" sz="1350" dirty="0"/>
          </a:p>
        </p:txBody>
      </p:sp>
      <p:sp>
        <p:nvSpPr>
          <p:cNvPr id="38" name="Text 36"/>
          <p:cNvSpPr/>
          <p:nvPr/>
        </p:nvSpPr>
        <p:spPr>
          <a:xfrm>
            <a:off x="4219407" y="4663440"/>
            <a:ext cx="7311177" cy="42062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시작 상태 + 사용자가 한 행동</a:t>
            </a:r>
            <a:endParaRPr lang="en-US" sz="1350" dirty="0"/>
          </a:p>
        </p:txBody>
      </p:sp>
      <p:sp>
        <p:nvSpPr>
          <p:cNvPr id="39" name="Shape 37"/>
          <p:cNvSpPr/>
          <p:nvPr/>
        </p:nvSpPr>
        <p:spPr>
          <a:xfrm>
            <a:off x="530352" y="5084064"/>
            <a:ext cx="11128248" cy="420624"/>
          </a:xfrm>
          <a:prstGeom prst="rect">
            <a:avLst/>
          </a:prstGeom>
          <a:solidFill>
            <a:srgbClr val="F1F2F4"/>
          </a:solidFill>
          <a:ln w="9525">
            <a:solidFill>
              <a:srgbClr val="E0E3E7"/>
            </a:solidFill>
            <a:prstDash val="solid"/>
          </a:ln>
        </p:spPr>
      </p:sp>
      <p:sp>
        <p:nvSpPr>
          <p:cNvPr id="40" name="Text 38"/>
          <p:cNvSpPr/>
          <p:nvPr/>
        </p:nvSpPr>
        <p:spPr>
          <a:xfrm>
            <a:off x="658368" y="5084064"/>
            <a:ext cx="3305007" cy="42062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화면에 보인 것</a:t>
            </a:r>
            <a:endParaRPr lang="en-US" sz="1350" dirty="0"/>
          </a:p>
        </p:txBody>
      </p:sp>
      <p:sp>
        <p:nvSpPr>
          <p:cNvPr id="41" name="Text 39"/>
          <p:cNvSpPr/>
          <p:nvPr/>
        </p:nvSpPr>
        <p:spPr>
          <a:xfrm>
            <a:off x="4219407" y="5084064"/>
            <a:ext cx="7311177" cy="42062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실제 결과 (5항이 있으면 처음 달라진 단계도)</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「진행해.」를 보낼지는 내가 정한다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06</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11쪽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11</a:t>
            </a:r>
            <a:endParaRPr lang="en-US" sz="900" dirty="0"/>
          </a:p>
        </p:txBody>
      </p:sp>
      <p:sp>
        <p:nvSpPr>
          <p:cNvPr id="10" name="Shape 8"/>
          <p:cNvSpPr/>
          <p:nvPr/>
        </p:nvSpPr>
        <p:spPr>
          <a:xfrm>
            <a:off x="530352" y="1783080"/>
            <a:ext cx="2617470" cy="1737360"/>
          </a:xfrm>
          <a:prstGeom prst="roundRect">
            <a:avLst>
              <a:gd name="adj" fmla="val 2895"/>
            </a:avLst>
          </a:prstGeom>
          <a:solidFill>
            <a:srgbClr val="F1F2F4"/>
          </a:solidFill>
          <a:ln w="12700">
            <a:solidFill>
              <a:srgbClr val="E0E3E7"/>
            </a:solidFill>
            <a:prstDash val="solid"/>
          </a:ln>
        </p:spPr>
      </p:sp>
      <p:sp>
        <p:nvSpPr>
          <p:cNvPr id="11" name="Text 9"/>
          <p:cNvSpPr/>
          <p:nvPr/>
        </p:nvSpPr>
        <p:spPr>
          <a:xfrm>
            <a:off x="713232" y="1947672"/>
            <a:ext cx="225171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파일</a:t>
            </a:r>
            <a:endParaRPr lang="en-US" sz="1650" dirty="0"/>
          </a:p>
        </p:txBody>
      </p:sp>
      <p:sp>
        <p:nvSpPr>
          <p:cNvPr id="12" name="Text 10"/>
          <p:cNvSpPr/>
          <p:nvPr/>
        </p:nvSpPr>
        <p:spPr>
          <a:xfrm>
            <a:off x="713232" y="2441448"/>
            <a:ext cx="2251710" cy="932688"/>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한두 개이고</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이름이 나와 있다</a:t>
            </a:r>
            <a:endParaRPr lang="en-US" sz="1350" dirty="0"/>
          </a:p>
        </p:txBody>
      </p:sp>
      <p:sp>
        <p:nvSpPr>
          <p:cNvPr id="13" name="Shape 11"/>
          <p:cNvSpPr/>
          <p:nvPr/>
        </p:nvSpPr>
        <p:spPr>
          <a:xfrm>
            <a:off x="3367278" y="1783080"/>
            <a:ext cx="2617470" cy="1737360"/>
          </a:xfrm>
          <a:prstGeom prst="roundRect">
            <a:avLst>
              <a:gd name="adj" fmla="val 2895"/>
            </a:avLst>
          </a:prstGeom>
          <a:solidFill>
            <a:srgbClr val="F1F2F4"/>
          </a:solidFill>
          <a:ln w="12700">
            <a:solidFill>
              <a:srgbClr val="E0E3E7"/>
            </a:solidFill>
            <a:prstDash val="solid"/>
          </a:ln>
        </p:spPr>
      </p:sp>
      <p:sp>
        <p:nvSpPr>
          <p:cNvPr id="14" name="Text 12"/>
          <p:cNvSpPr/>
          <p:nvPr/>
        </p:nvSpPr>
        <p:spPr>
          <a:xfrm>
            <a:off x="3550158" y="1947672"/>
            <a:ext cx="225171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범위</a:t>
            </a:r>
            <a:endParaRPr lang="en-US" sz="1650" dirty="0"/>
          </a:p>
        </p:txBody>
      </p:sp>
      <p:sp>
        <p:nvSpPr>
          <p:cNvPr id="15" name="Text 13"/>
          <p:cNvSpPr/>
          <p:nvPr/>
        </p:nvSpPr>
        <p:spPr>
          <a:xfrm>
            <a:off x="3550158" y="2441448"/>
            <a:ext cx="2251710" cy="932688"/>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내가 고른</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문제 하나만</a:t>
            </a:r>
            <a:endParaRPr lang="en-US" sz="1350" dirty="0"/>
          </a:p>
        </p:txBody>
      </p:sp>
      <p:sp>
        <p:nvSpPr>
          <p:cNvPr id="16" name="Shape 14"/>
          <p:cNvSpPr/>
          <p:nvPr/>
        </p:nvSpPr>
        <p:spPr>
          <a:xfrm>
            <a:off x="6204204" y="1783080"/>
            <a:ext cx="2617470" cy="1737360"/>
          </a:xfrm>
          <a:prstGeom prst="roundRect">
            <a:avLst>
              <a:gd name="adj" fmla="val 2895"/>
            </a:avLst>
          </a:prstGeom>
          <a:solidFill>
            <a:srgbClr val="F1F2F4"/>
          </a:solidFill>
          <a:ln w="12700">
            <a:solidFill>
              <a:srgbClr val="E0E3E7"/>
            </a:solidFill>
            <a:prstDash val="solid"/>
          </a:ln>
        </p:spPr>
      </p:sp>
      <p:sp>
        <p:nvSpPr>
          <p:cNvPr id="17" name="Text 15"/>
          <p:cNvSpPr/>
          <p:nvPr/>
        </p:nvSpPr>
        <p:spPr>
          <a:xfrm>
            <a:off x="6387084" y="1947672"/>
            <a:ext cx="225171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끼어든 것</a:t>
            </a:r>
            <a:endParaRPr lang="en-US" sz="1650" dirty="0"/>
          </a:p>
        </p:txBody>
      </p:sp>
      <p:sp>
        <p:nvSpPr>
          <p:cNvPr id="18" name="Text 16"/>
          <p:cNvSpPr/>
          <p:nvPr/>
        </p:nvSpPr>
        <p:spPr>
          <a:xfrm>
            <a:off x="6387084" y="2441448"/>
            <a:ext cx="2251710" cy="932688"/>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새 기능·패키지·</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로그인·외부 API 없음</a:t>
            </a:r>
            <a:endParaRPr lang="en-US" sz="1350" dirty="0"/>
          </a:p>
        </p:txBody>
      </p:sp>
      <p:sp>
        <p:nvSpPr>
          <p:cNvPr id="19" name="Shape 17"/>
          <p:cNvSpPr/>
          <p:nvPr/>
        </p:nvSpPr>
        <p:spPr>
          <a:xfrm>
            <a:off x="9041130" y="1783080"/>
            <a:ext cx="2617470" cy="1737360"/>
          </a:xfrm>
          <a:prstGeom prst="roundRect">
            <a:avLst>
              <a:gd name="adj" fmla="val 2895"/>
            </a:avLst>
          </a:prstGeom>
          <a:solidFill>
            <a:srgbClr val="F1F2F4"/>
          </a:solidFill>
          <a:ln w="12700">
            <a:solidFill>
              <a:srgbClr val="E0E3E7"/>
            </a:solidFill>
            <a:prstDash val="solid"/>
          </a:ln>
        </p:spPr>
      </p:sp>
      <p:sp>
        <p:nvSpPr>
          <p:cNvPr id="20" name="Text 18"/>
          <p:cNvSpPr/>
          <p:nvPr/>
        </p:nvSpPr>
        <p:spPr>
          <a:xfrm>
            <a:off x="9224010" y="1947672"/>
            <a:ext cx="225171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말</a:t>
            </a:r>
            <a:endParaRPr lang="en-US" sz="1650" dirty="0"/>
          </a:p>
        </p:txBody>
      </p:sp>
      <p:sp>
        <p:nvSpPr>
          <p:cNvPr id="21" name="Text 19"/>
          <p:cNvSpPr/>
          <p:nvPr/>
        </p:nvSpPr>
        <p:spPr>
          <a:xfrm>
            <a:off x="9224010" y="2441448"/>
            <a:ext cx="2251710" cy="932688"/>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「전체를 다시」</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「구조를 바꾸면」 없음</a:t>
            </a:r>
            <a:endParaRPr lang="en-US" sz="1350" dirty="0"/>
          </a:p>
        </p:txBody>
      </p:sp>
      <p:sp>
        <p:nvSpPr>
          <p:cNvPr id="22" name="Shape 20"/>
          <p:cNvSpPr/>
          <p:nvPr/>
        </p:nvSpPr>
        <p:spPr>
          <a:xfrm>
            <a:off x="530352" y="3749040"/>
            <a:ext cx="3291840" cy="1143000"/>
          </a:xfrm>
          <a:prstGeom prst="roundRect">
            <a:avLst>
              <a:gd name="adj" fmla="val 4000"/>
            </a:avLst>
          </a:prstGeom>
          <a:solidFill>
            <a:srgbClr val="24272C"/>
          </a:solidFill>
          <a:ln/>
        </p:spPr>
      </p:sp>
      <p:sp>
        <p:nvSpPr>
          <p:cNvPr id="23" name="Text 21"/>
          <p:cNvSpPr/>
          <p:nvPr/>
        </p:nvSpPr>
        <p:spPr>
          <a:xfrm>
            <a:off x="768096" y="3877056"/>
            <a:ext cx="281635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모두 「예」면</a:t>
            </a:r>
            <a:endParaRPr lang="en-US" sz="950" dirty="0"/>
          </a:p>
        </p:txBody>
      </p:sp>
      <p:sp>
        <p:nvSpPr>
          <p:cNvPr id="24" name="Text 22"/>
          <p:cNvSpPr/>
          <p:nvPr/>
        </p:nvSpPr>
        <p:spPr>
          <a:xfrm>
            <a:off x="768096" y="4151376"/>
            <a:ext cx="2816352" cy="594360"/>
          </a:xfrm>
          <a:prstGeom prst="rect">
            <a:avLst/>
          </a:prstGeom>
          <a:noFill/>
          <a:ln/>
        </p:spPr>
        <p:txBody>
          <a:bodyPr wrap="square" lIns="0" tIns="0" rIns="0" bIns="0" rtlCol="0" anchor="t"/>
          <a:lstStyle/>
          <a:p>
            <a:pPr indent="0" marL="0">
              <a:lnSpc>
                <a:spcPts val="3060"/>
              </a:lnSpc>
              <a:buNone/>
            </a:pPr>
            <a:r>
              <a:rPr lang="en-US" sz="1800" b="1" dirty="0">
                <a:solidFill>
                  <a:srgbClr val="E8EAED"/>
                </a:solidFill>
                <a:latin typeface="IBM Plex Mono" pitchFamily="34" charset="0"/>
                <a:ea typeface="IBM Plex Mono" pitchFamily="34" charset="-122"/>
                <a:cs typeface="IBM Plex Mono" pitchFamily="34" charset="-120"/>
              </a:rPr>
              <a:t>진행해.</a:t>
            </a:r>
            <a:endParaRPr lang="en-US" sz="1800" dirty="0"/>
          </a:p>
        </p:txBody>
      </p:sp>
      <p:sp>
        <p:nvSpPr>
          <p:cNvPr id="25" name="Shape 23"/>
          <p:cNvSpPr/>
          <p:nvPr/>
        </p:nvSpPr>
        <p:spPr>
          <a:xfrm>
            <a:off x="4096512" y="3749040"/>
            <a:ext cx="7562088" cy="1143000"/>
          </a:xfrm>
          <a:prstGeom prst="roundRect">
            <a:avLst>
              <a:gd name="adj" fmla="val 4000"/>
            </a:avLst>
          </a:prstGeom>
          <a:solidFill>
            <a:srgbClr val="24272C"/>
          </a:solidFill>
          <a:ln/>
        </p:spPr>
      </p:sp>
      <p:sp>
        <p:nvSpPr>
          <p:cNvPr id="26" name="Text 24"/>
          <p:cNvSpPr/>
          <p:nvPr/>
        </p:nvSpPr>
        <p:spPr>
          <a:xfrm>
            <a:off x="4334256" y="3877056"/>
            <a:ext cx="708660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하나라도 「아니요」면 · 교과서 11쪽</a:t>
            </a:r>
            <a:endParaRPr lang="en-US" sz="950" dirty="0"/>
          </a:p>
        </p:txBody>
      </p:sp>
      <p:sp>
        <p:nvSpPr>
          <p:cNvPr id="27" name="Text 25"/>
          <p:cNvSpPr/>
          <p:nvPr/>
        </p:nvSpPr>
        <p:spPr>
          <a:xfrm>
            <a:off x="4334256" y="4151376"/>
            <a:ext cx="7086600" cy="594360"/>
          </a:xfrm>
          <a:prstGeom prst="rect">
            <a:avLst/>
          </a:prstGeom>
          <a:noFill/>
          <a:ln/>
        </p:spPr>
        <p:txBody>
          <a:bodyPr wrap="square" lIns="0" tIns="0" rIns="0" bIns="0" rtlCol="0" anchor="t"/>
          <a:lstStyle/>
          <a:p>
            <a:pPr indent="0" marL="0">
              <a:lnSpc>
                <a:spcPts val="2380"/>
              </a:lnSpc>
              <a:buNone/>
            </a:pPr>
            <a:r>
              <a:rPr lang="en-US" sz="1400" b="1" dirty="0">
                <a:solidFill>
                  <a:srgbClr val="E8EAED"/>
                </a:solidFill>
                <a:latin typeface="IBM Plex Mono" pitchFamily="34" charset="0"/>
                <a:ea typeface="IBM Plex Mono" pitchFamily="34" charset="-122"/>
                <a:cs typeface="IBM Plex Mono" pitchFamily="34" charset="-120"/>
              </a:rPr>
              <a:t>그건 범위가 너무 커. … 더 작은 방법을 설명해 줘.</a:t>
            </a:r>
            <a:endParaRPr lang="en-US" sz="1400" dirty="0"/>
          </a:p>
          <a:p>
            <a:pPr indent="0" marL="0">
              <a:lnSpc>
                <a:spcPts val="2380"/>
              </a:lnSpc>
              <a:buNone/>
            </a:pPr>
            <a:r>
              <a:rPr lang="en-US" sz="1400" b="1" dirty="0">
                <a:solidFill>
                  <a:srgbClr val="E8EAED"/>
                </a:solidFill>
                <a:latin typeface="IBM Plex Mono" pitchFamily="34" charset="0"/>
                <a:ea typeface="IBM Plex Mono" pitchFamily="34" charset="-122"/>
                <a:cs typeface="IBM Plex Mono" pitchFamily="34" charset="-120"/>
              </a:rPr>
              <a:t>아직 고치지 마.</a:t>
            </a:r>
            <a:endParaRPr lang="en-US" sz="1400" dirty="0"/>
          </a:p>
        </p:txBody>
      </p:sp>
      <p:sp>
        <p:nvSpPr>
          <p:cNvPr id="28" name="Shape 26"/>
          <p:cNvSpPr/>
          <p:nvPr/>
        </p:nvSpPr>
        <p:spPr>
          <a:xfrm>
            <a:off x="530352" y="5120640"/>
            <a:ext cx="11128248" cy="512064"/>
          </a:xfrm>
          <a:prstGeom prst="roundRect">
            <a:avLst>
              <a:gd name="adj" fmla="val 39286"/>
            </a:avLst>
          </a:prstGeom>
          <a:solidFill>
            <a:srgbClr val="FF5C00"/>
          </a:solidFill>
          <a:ln w="12700">
            <a:solidFill>
              <a:srgbClr val="FF5C00"/>
            </a:solidFill>
            <a:prstDash val="solid"/>
          </a:ln>
        </p:spPr>
      </p:sp>
      <p:sp>
        <p:nvSpPr>
          <p:cNvPr id="29" name="Text 27"/>
          <p:cNvSpPr/>
          <p:nvPr/>
        </p:nvSpPr>
        <p:spPr>
          <a:xfrm>
            <a:off x="731520" y="5120640"/>
            <a:ext cx="10725912"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IBM Plex Sans KR" pitchFamily="34" charset="0"/>
                <a:ea typeface="IBM Plex Sans KR" pitchFamily="34" charset="-122"/>
                <a:cs typeface="IBM Plex Sans KR" pitchFamily="34" charset="-120"/>
              </a:rPr>
              <a:t>거절한 것도 판단 · 10항 「AI가 설명한 수정」 「내 판단」에 적는다 · 40점 영역의 재료</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같은 시작 상태, 같은 행동으로 다시 해 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07</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12쪽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12</a:t>
            </a:r>
            <a:endParaRPr lang="en-US" sz="900" dirty="0"/>
          </a:p>
        </p:txBody>
      </p:sp>
      <p:sp>
        <p:nvSpPr>
          <p:cNvPr id="10" name="Shape 8"/>
          <p:cNvSpPr/>
          <p:nvPr/>
        </p:nvSpPr>
        <p:spPr>
          <a:xfrm>
            <a:off x="530352" y="1783080"/>
            <a:ext cx="2562606" cy="2103120"/>
          </a:xfrm>
          <a:prstGeom prst="roundRect">
            <a:avLst>
              <a:gd name="adj" fmla="val 2391"/>
            </a:avLst>
          </a:prstGeom>
          <a:solidFill>
            <a:srgbClr val="F1F2F4"/>
          </a:solidFill>
          <a:ln w="12700">
            <a:solidFill>
              <a:srgbClr val="E0E3E7"/>
            </a:solidFill>
            <a:prstDash val="solid"/>
          </a:ln>
        </p:spPr>
      </p:sp>
      <p:sp>
        <p:nvSpPr>
          <p:cNvPr id="11" name="Text 9"/>
          <p:cNvSpPr/>
          <p:nvPr/>
        </p:nvSpPr>
        <p:spPr>
          <a:xfrm>
            <a:off x="713232"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새로고침</a:t>
            </a:r>
            <a:endParaRPr lang="en-US" sz="1650" dirty="0"/>
          </a:p>
        </p:txBody>
      </p:sp>
      <p:sp>
        <p:nvSpPr>
          <p:cNvPr id="13" name="Text 11"/>
          <p:cNvSpPr/>
          <p:nvPr/>
        </p:nvSpPr>
        <p:spPr>
          <a:xfrm>
            <a:off x="713232" y="2862072"/>
            <a:ext cx="2196846" cy="87782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그대로면</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Ctrl+C → npm run dev</a:t>
            </a:r>
            <a:endParaRPr lang="en-US" sz="1350" dirty="0"/>
          </a:p>
        </p:txBody>
      </p:sp>
      <p:sp>
        <p:nvSpPr>
          <p:cNvPr id="14" name="Text 12"/>
          <p:cNvSpPr/>
          <p:nvPr/>
        </p:nvSpPr>
        <p:spPr>
          <a:xfrm>
            <a:off x="3065526"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85566" y="1783080"/>
            <a:ext cx="2562606" cy="2103120"/>
          </a:xfrm>
          <a:prstGeom prst="roundRect">
            <a:avLst>
              <a:gd name="adj" fmla="val 2391"/>
            </a:avLst>
          </a:prstGeom>
          <a:solidFill>
            <a:srgbClr val="F1F2F4"/>
          </a:solidFill>
          <a:ln w="12700">
            <a:solidFill>
              <a:srgbClr val="E0E3E7"/>
            </a:solidFill>
            <a:prstDash val="solid"/>
          </a:ln>
        </p:spPr>
      </p:sp>
      <p:sp>
        <p:nvSpPr>
          <p:cNvPr id="16" name="Text 14"/>
          <p:cNvSpPr/>
          <p:nvPr/>
        </p:nvSpPr>
        <p:spPr>
          <a:xfrm>
            <a:off x="3568446"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3568446"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같은 시작 상태</a:t>
            </a:r>
            <a:endParaRPr lang="en-US" sz="1650" dirty="0"/>
          </a:p>
        </p:txBody>
      </p:sp>
      <p:sp>
        <p:nvSpPr>
          <p:cNvPr id="18" name="Text 16"/>
          <p:cNvSpPr/>
          <p:nvPr/>
        </p:nvSpPr>
        <p:spPr>
          <a:xfrm>
            <a:off x="3568446" y="2862072"/>
            <a:ext cx="2196846" cy="87782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2항 「시작 상태」</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그대로 만들기</a:t>
            </a:r>
            <a:endParaRPr lang="en-US" sz="1350" dirty="0"/>
          </a:p>
        </p:txBody>
      </p:sp>
      <p:sp>
        <p:nvSpPr>
          <p:cNvPr id="19" name="Text 17"/>
          <p:cNvSpPr/>
          <p:nvPr/>
        </p:nvSpPr>
        <p:spPr>
          <a:xfrm>
            <a:off x="5920740"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240780" y="1783080"/>
            <a:ext cx="2562606" cy="2103120"/>
          </a:xfrm>
          <a:prstGeom prst="roundRect">
            <a:avLst>
              <a:gd name="adj" fmla="val 2391"/>
            </a:avLst>
          </a:prstGeom>
          <a:solidFill>
            <a:srgbClr val="F1F2F4"/>
          </a:solidFill>
          <a:ln w="12700">
            <a:solidFill>
              <a:srgbClr val="E0E3E7"/>
            </a:solidFill>
            <a:prstDash val="solid"/>
          </a:ln>
        </p:spPr>
      </p:sp>
      <p:sp>
        <p:nvSpPr>
          <p:cNvPr id="21" name="Text 19"/>
          <p:cNvSpPr/>
          <p:nvPr/>
        </p:nvSpPr>
        <p:spPr>
          <a:xfrm>
            <a:off x="6423660"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6423660"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같은 행동</a:t>
            </a:r>
            <a:endParaRPr lang="en-US" sz="1650" dirty="0"/>
          </a:p>
        </p:txBody>
      </p:sp>
      <p:sp>
        <p:nvSpPr>
          <p:cNvPr id="23" name="Text 21"/>
          <p:cNvSpPr/>
          <p:nvPr/>
        </p:nvSpPr>
        <p:spPr>
          <a:xfrm>
            <a:off x="6423660" y="2862072"/>
            <a:ext cx="2196846" cy="87782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같은 값을</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글자까지 같게</a:t>
            </a:r>
            <a:endParaRPr lang="en-US" sz="1350" dirty="0"/>
          </a:p>
        </p:txBody>
      </p:sp>
      <p:sp>
        <p:nvSpPr>
          <p:cNvPr id="24" name="Text 22"/>
          <p:cNvSpPr/>
          <p:nvPr/>
        </p:nvSpPr>
        <p:spPr>
          <a:xfrm>
            <a:off x="8775954"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95994" y="1783080"/>
            <a:ext cx="2562606" cy="2103120"/>
          </a:xfrm>
          <a:prstGeom prst="roundRect">
            <a:avLst>
              <a:gd name="adj" fmla="val 2391"/>
            </a:avLst>
          </a:prstGeom>
          <a:solidFill>
            <a:srgbClr val="E7F2ED"/>
          </a:solidFill>
          <a:ln w="12700">
            <a:solidFill>
              <a:srgbClr val="0E7C86"/>
            </a:solidFill>
            <a:prstDash val="solid"/>
          </a:ln>
        </p:spPr>
      </p:sp>
      <p:sp>
        <p:nvSpPr>
          <p:cNvPr id="26" name="Text 24"/>
          <p:cNvSpPr/>
          <p:nvPr/>
        </p:nvSpPr>
        <p:spPr>
          <a:xfrm>
            <a:off x="9278874" y="194767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9278874"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비교 · 적기</a:t>
            </a:r>
            <a:endParaRPr lang="en-US" sz="1650" dirty="0"/>
          </a:p>
        </p:txBody>
      </p:sp>
      <p:sp>
        <p:nvSpPr>
          <p:cNvPr id="28" name="Text 26"/>
          <p:cNvSpPr/>
          <p:nvPr/>
        </p:nvSpPr>
        <p:spPr>
          <a:xfrm>
            <a:off x="9278874" y="2862072"/>
            <a:ext cx="2196846" cy="87782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예상과 화면</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통과 / 실패 → 10항</a:t>
            </a:r>
            <a:endParaRPr lang="en-US" sz="1350" dirty="0"/>
          </a:p>
        </p:txBody>
      </p:sp>
      <p:sp>
        <p:nvSpPr>
          <p:cNvPr id="29" name="Shape 27"/>
          <p:cNvSpPr/>
          <p:nvPr/>
        </p:nvSpPr>
        <p:spPr>
          <a:xfrm>
            <a:off x="530352" y="4160520"/>
            <a:ext cx="11128248" cy="512064"/>
          </a:xfrm>
          <a:prstGeom prst="roundRect">
            <a:avLst>
              <a:gd name="adj" fmla="val 39286"/>
            </a:avLst>
          </a:prstGeom>
          <a:solidFill>
            <a:srgbClr val="EAF5FB"/>
          </a:solidFill>
          <a:ln w="12700">
            <a:solidFill>
              <a:srgbClr val="3D8DFF"/>
            </a:solidFill>
            <a:prstDash val="solid"/>
          </a:ln>
        </p:spPr>
      </p:sp>
      <p:sp>
        <p:nvSpPr>
          <p:cNvPr id="30" name="Text 28"/>
          <p:cNvSpPr/>
          <p:nvPr/>
        </p:nvSpPr>
        <p:spPr>
          <a:xfrm>
            <a:off x="731520" y="416052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조건을 바꾸면 · 고쳐서 된 것인지, 조건이 달라서 된 것인지 모른다</a:t>
            </a:r>
            <a:endParaRPr lang="en-US" sz="1500" dirty="0"/>
          </a:p>
        </p:txBody>
      </p:sp>
      <p:sp>
        <p:nvSpPr>
          <p:cNvPr id="31" name="Shape 29"/>
          <p:cNvSpPr/>
          <p:nvPr/>
        </p:nvSpPr>
        <p:spPr>
          <a:xfrm>
            <a:off x="530352" y="4846320"/>
            <a:ext cx="11128248" cy="512064"/>
          </a:xfrm>
          <a:prstGeom prst="roundRect">
            <a:avLst>
              <a:gd name="adj" fmla="val 39286"/>
            </a:avLst>
          </a:prstGeom>
          <a:solidFill>
            <a:srgbClr val="FF5C00"/>
          </a:solidFill>
          <a:ln w="12700">
            <a:solidFill>
              <a:srgbClr val="FF5C00"/>
            </a:solidFill>
            <a:prstDash val="solid"/>
          </a:ln>
        </p:spPr>
      </p:sp>
      <p:sp>
        <p:nvSpPr>
          <p:cNvPr id="32" name="Text 30"/>
          <p:cNvSpPr/>
          <p:nvPr/>
        </p:nvSpPr>
        <p:spPr>
          <a:xfrm>
            <a:off x="731520" y="4846320"/>
            <a:ext cx="10725912"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IBM Plex Sans KR" pitchFamily="34" charset="0"/>
                <a:ea typeface="IBM Plex Sans KR" pitchFamily="34" charset="-122"/>
                <a:cs typeface="IBM Plex Sans KR" pitchFamily="34" charset="-120"/>
              </a:rPr>
              <a:t>실패 → 화면에 보인 그대로 다시 알린다 · 두 번 안 되면 손 · 「못 고침」과 이유도 기록</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고친 곳만이 아니라 흐름 전체와 기록을 다시 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07</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13쪽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13</a:t>
            </a:r>
            <a:endParaRPr lang="en-US" sz="900" dirty="0"/>
          </a:p>
        </p:txBody>
      </p:sp>
      <p:sp>
        <p:nvSpPr>
          <p:cNvPr id="10" name="Shape 8"/>
          <p:cNvSpPr/>
          <p:nvPr/>
        </p:nvSpPr>
        <p:spPr>
          <a:xfrm>
            <a:off x="530352" y="1783080"/>
            <a:ext cx="3115909" cy="402336"/>
          </a:xfrm>
          <a:prstGeom prst="rect">
            <a:avLst/>
          </a:prstGeom>
          <a:solidFill>
            <a:srgbClr val="1B1D21"/>
          </a:solidFill>
          <a:ln/>
        </p:spPr>
      </p:sp>
      <p:sp>
        <p:nvSpPr>
          <p:cNvPr id="11" name="Text 9"/>
          <p:cNvSpPr/>
          <p:nvPr/>
        </p:nvSpPr>
        <p:spPr>
          <a:xfrm>
            <a:off x="658368" y="1783080"/>
            <a:ext cx="285987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다시 볼 것</a:t>
            </a:r>
            <a:endParaRPr lang="en-US" sz="1050" dirty="0"/>
          </a:p>
        </p:txBody>
      </p:sp>
      <p:sp>
        <p:nvSpPr>
          <p:cNvPr id="12" name="Shape 10"/>
          <p:cNvSpPr/>
          <p:nvPr/>
        </p:nvSpPr>
        <p:spPr>
          <a:xfrm>
            <a:off x="3646261" y="1783080"/>
            <a:ext cx="8012339" cy="402336"/>
          </a:xfrm>
          <a:prstGeom prst="rect">
            <a:avLst/>
          </a:prstGeom>
          <a:solidFill>
            <a:srgbClr val="1B1D21"/>
          </a:solidFill>
          <a:ln/>
        </p:spPr>
      </p:sp>
      <p:sp>
        <p:nvSpPr>
          <p:cNvPr id="13" name="Text 11"/>
          <p:cNvSpPr/>
          <p:nvPr/>
        </p:nvSpPr>
        <p:spPr>
          <a:xfrm>
            <a:off x="3774277" y="1783080"/>
            <a:ext cx="775630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이렇게 본다</a:t>
            </a:r>
            <a:endParaRPr lang="en-US" sz="1050" dirty="0"/>
          </a:p>
        </p:txBody>
      </p:sp>
      <p:sp>
        <p:nvSpPr>
          <p:cNvPr id="14" name="Shape 12"/>
          <p:cNvSpPr/>
          <p:nvPr/>
        </p:nvSpPr>
        <p:spPr>
          <a:xfrm>
            <a:off x="530352" y="2185416"/>
            <a:ext cx="11128248" cy="658368"/>
          </a:xfrm>
          <a:prstGeom prst="rect">
            <a:avLst/>
          </a:prstGeom>
          <a:solidFill>
            <a:srgbClr val="F1F2F4"/>
          </a:solidFill>
          <a:ln w="9525">
            <a:solidFill>
              <a:srgbClr val="E0E3E7"/>
            </a:solidFill>
            <a:prstDash val="solid"/>
          </a:ln>
        </p:spPr>
      </p:sp>
      <p:sp>
        <p:nvSpPr>
          <p:cNvPr id="15" name="Text 13"/>
          <p:cNvSpPr/>
          <p:nvPr/>
        </p:nvSpPr>
        <p:spPr>
          <a:xfrm>
            <a:off x="658368" y="2185416"/>
            <a:ext cx="2859877" cy="65836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대표 정상 흐름</a:t>
            </a:r>
            <a:endParaRPr lang="en-US" sz="1400" dirty="0"/>
          </a:p>
        </p:txBody>
      </p:sp>
      <p:sp>
        <p:nvSpPr>
          <p:cNvPr id="16" name="Text 14"/>
          <p:cNvSpPr/>
          <p:nvPr/>
        </p:nvSpPr>
        <p:spPr>
          <a:xfrm>
            <a:off x="3774277" y="2185416"/>
            <a:ext cx="7756307" cy="65836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첫 화면부터 핵심 결과까지 · 09_development_plan.md 3항 순서대로</a:t>
            </a:r>
            <a:endParaRPr lang="en-US" sz="1400" dirty="0"/>
          </a:p>
        </p:txBody>
      </p:sp>
      <p:sp>
        <p:nvSpPr>
          <p:cNvPr id="17" name="Shape 15"/>
          <p:cNvSpPr/>
          <p:nvPr/>
        </p:nvSpPr>
        <p:spPr>
          <a:xfrm>
            <a:off x="530352" y="2843784"/>
            <a:ext cx="11128248" cy="658368"/>
          </a:xfrm>
          <a:prstGeom prst="rect">
            <a:avLst/>
          </a:prstGeom>
          <a:solidFill>
            <a:srgbClr val="FFFFFF"/>
          </a:solidFill>
          <a:ln w="9525">
            <a:solidFill>
              <a:srgbClr val="E0E3E7"/>
            </a:solidFill>
            <a:prstDash val="solid"/>
          </a:ln>
        </p:spPr>
      </p:sp>
      <p:sp>
        <p:nvSpPr>
          <p:cNvPr id="18" name="Text 16"/>
          <p:cNvSpPr/>
          <p:nvPr/>
        </p:nvSpPr>
        <p:spPr>
          <a:xfrm>
            <a:off x="658368" y="2843784"/>
            <a:ext cx="2859877" cy="65836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예외 뒤 다시 시도</a:t>
            </a:r>
            <a:endParaRPr lang="en-US" sz="1400" dirty="0"/>
          </a:p>
        </p:txBody>
      </p:sp>
      <p:sp>
        <p:nvSpPr>
          <p:cNvPr id="19" name="Text 17"/>
          <p:cNvSpPr/>
          <p:nvPr/>
        </p:nvSpPr>
        <p:spPr>
          <a:xfrm>
            <a:off x="3774277" y="2843784"/>
            <a:ext cx="7756307" cy="65836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잘못된 값 → 안내 → 고쳐서 다시 → 정상 결과</a:t>
            </a:r>
            <a:endParaRPr lang="en-US" sz="1400" dirty="0"/>
          </a:p>
        </p:txBody>
      </p:sp>
      <p:sp>
        <p:nvSpPr>
          <p:cNvPr id="20" name="Shape 18"/>
          <p:cNvSpPr/>
          <p:nvPr/>
        </p:nvSpPr>
        <p:spPr>
          <a:xfrm>
            <a:off x="530352" y="3502152"/>
            <a:ext cx="11128248" cy="658368"/>
          </a:xfrm>
          <a:prstGeom prst="rect">
            <a:avLst/>
          </a:prstGeom>
          <a:solidFill>
            <a:srgbClr val="F1F2F4"/>
          </a:solidFill>
          <a:ln w="9525">
            <a:solidFill>
              <a:srgbClr val="E0E3E7"/>
            </a:solidFill>
            <a:prstDash val="solid"/>
          </a:ln>
        </p:spPr>
      </p:sp>
      <p:sp>
        <p:nvSpPr>
          <p:cNvPr id="21" name="Text 19"/>
          <p:cNvSpPr/>
          <p:nvPr/>
        </p:nvSpPr>
        <p:spPr>
          <a:xfrm>
            <a:off x="658368" y="3502152"/>
            <a:ext cx="2859877" cy="65836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다시 켜도 남는 기록</a:t>
            </a:r>
            <a:endParaRPr lang="en-US" sz="1400" dirty="0"/>
          </a:p>
        </p:txBody>
      </p:sp>
      <p:sp>
        <p:nvSpPr>
          <p:cNvPr id="22" name="Text 20"/>
          <p:cNvSpPr/>
          <p:nvPr/>
        </p:nvSpPr>
        <p:spPr>
          <a:xfrm>
            <a:off x="3774277" y="3502152"/>
            <a:ext cx="7756307" cy="65836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Ctrl+C → npm run dev → 새로고침 · SQLite Viewer로 app.db</a:t>
            </a:r>
            <a:endParaRPr lang="en-US" sz="1400" dirty="0"/>
          </a:p>
        </p:txBody>
      </p:sp>
      <p:sp>
        <p:nvSpPr>
          <p:cNvPr id="23" name="Shape 21"/>
          <p:cNvSpPr/>
          <p:nvPr/>
        </p:nvSpPr>
        <p:spPr>
          <a:xfrm>
            <a:off x="530352" y="4480560"/>
            <a:ext cx="11128248" cy="512064"/>
          </a:xfrm>
          <a:prstGeom prst="roundRect">
            <a:avLst>
              <a:gd name="adj" fmla="val 39286"/>
            </a:avLst>
          </a:prstGeom>
          <a:solidFill>
            <a:srgbClr val="EAF5FB"/>
          </a:solidFill>
          <a:ln w="12700">
            <a:solidFill>
              <a:srgbClr val="3D8DFF"/>
            </a:solidFill>
            <a:prstDash val="solid"/>
          </a:ln>
        </p:spPr>
      </p:sp>
      <p:sp>
        <p:nvSpPr>
          <p:cNvPr id="24" name="Text 22"/>
          <p:cNvSpPr/>
          <p:nvPr/>
        </p:nvSpPr>
        <p:spPr>
          <a:xfrm>
            <a:off x="731520" y="448056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한 곳을 고치다 다른 곳이 망가지는 일이 흔하다</a:t>
            </a:r>
            <a:endParaRPr lang="en-US" sz="1500" dirty="0"/>
          </a:p>
        </p:txBody>
      </p:sp>
      <p:sp>
        <p:nvSpPr>
          <p:cNvPr id="25" name="Shape 23"/>
          <p:cNvSpPr/>
          <p:nvPr/>
        </p:nvSpPr>
        <p:spPr>
          <a:xfrm>
            <a:off x="530352" y="5166360"/>
            <a:ext cx="11128248" cy="512064"/>
          </a:xfrm>
          <a:prstGeom prst="roundRect">
            <a:avLst>
              <a:gd name="adj" fmla="val 39286"/>
            </a:avLst>
          </a:prstGeom>
          <a:solidFill>
            <a:srgbClr val="FF5C00"/>
          </a:solidFill>
          <a:ln w="12700">
            <a:solidFill>
              <a:srgbClr val="FF5C00"/>
            </a:solidFill>
            <a:prstDash val="solid"/>
          </a:ln>
        </p:spPr>
      </p:sp>
      <p:sp>
        <p:nvSpPr>
          <p:cNvPr id="26" name="Text 24"/>
          <p:cNvSpPr/>
          <p:nvPr/>
        </p:nvSpPr>
        <p:spPr>
          <a:xfrm>
            <a:off x="731520" y="516636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하나를 끝까지 확인한 것 &gt; 셋을 반쯤 고친 것 · 다음은 「### 수정 2」</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오늘 하지 않는 것</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08</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14쪽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14</a:t>
            </a:r>
            <a:endParaRPr lang="en-US" sz="900" dirty="0"/>
          </a:p>
        </p:txBody>
      </p:sp>
      <p:sp>
        <p:nvSpPr>
          <p:cNvPr id="10" name="Shape 8"/>
          <p:cNvSpPr/>
          <p:nvPr/>
        </p:nvSpPr>
        <p:spPr>
          <a:xfrm>
            <a:off x="530352" y="1783080"/>
            <a:ext cx="4673864" cy="402336"/>
          </a:xfrm>
          <a:prstGeom prst="rect">
            <a:avLst/>
          </a:prstGeom>
          <a:solidFill>
            <a:srgbClr val="1B1D21"/>
          </a:solidFill>
          <a:ln/>
        </p:spPr>
      </p:sp>
      <p:sp>
        <p:nvSpPr>
          <p:cNvPr id="11" name="Text 9"/>
          <p:cNvSpPr/>
          <p:nvPr/>
        </p:nvSpPr>
        <p:spPr>
          <a:xfrm>
            <a:off x="658368" y="1783080"/>
            <a:ext cx="441783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하지 않는 것</a:t>
            </a:r>
            <a:endParaRPr lang="en-US" sz="1050" dirty="0"/>
          </a:p>
        </p:txBody>
      </p:sp>
      <p:sp>
        <p:nvSpPr>
          <p:cNvPr id="12" name="Shape 10"/>
          <p:cNvSpPr/>
          <p:nvPr/>
        </p:nvSpPr>
        <p:spPr>
          <a:xfrm>
            <a:off x="5204216" y="1783080"/>
            <a:ext cx="6454384" cy="402336"/>
          </a:xfrm>
          <a:prstGeom prst="rect">
            <a:avLst/>
          </a:prstGeom>
          <a:solidFill>
            <a:srgbClr val="1B1D21"/>
          </a:solidFill>
          <a:ln/>
        </p:spPr>
      </p:sp>
      <p:sp>
        <p:nvSpPr>
          <p:cNvPr id="13" name="Text 11"/>
          <p:cNvSpPr/>
          <p:nvPr/>
        </p:nvSpPr>
        <p:spPr>
          <a:xfrm>
            <a:off x="5332232" y="1783080"/>
            <a:ext cx="619835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하면 생기는 일</a:t>
            </a:r>
            <a:endParaRPr lang="en-US" sz="1050" dirty="0"/>
          </a:p>
        </p:txBody>
      </p:sp>
      <p:sp>
        <p:nvSpPr>
          <p:cNvPr id="14" name="Shape 12"/>
          <p:cNvSpPr/>
          <p:nvPr/>
        </p:nvSpPr>
        <p:spPr>
          <a:xfrm>
            <a:off x="530352" y="2185416"/>
            <a:ext cx="11128248" cy="475488"/>
          </a:xfrm>
          <a:prstGeom prst="rect">
            <a:avLst/>
          </a:prstGeom>
          <a:solidFill>
            <a:srgbClr val="F1F2F4"/>
          </a:solidFill>
          <a:ln w="9525">
            <a:solidFill>
              <a:srgbClr val="E0E3E7"/>
            </a:solidFill>
            <a:prstDash val="solid"/>
          </a:ln>
        </p:spPr>
      </p:sp>
      <p:sp>
        <p:nvSpPr>
          <p:cNvPr id="15" name="Text 13"/>
          <p:cNvSpPr/>
          <p:nvPr/>
        </p:nvSpPr>
        <p:spPr>
          <a:xfrm>
            <a:off x="658368" y="2185416"/>
            <a:ext cx="4417832"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새 핵심 기능 추가</a:t>
            </a:r>
            <a:endParaRPr lang="en-US" sz="1350" dirty="0"/>
          </a:p>
        </p:txBody>
      </p:sp>
      <p:sp>
        <p:nvSpPr>
          <p:cNvPr id="16" name="Text 14"/>
          <p:cNvSpPr/>
          <p:nvPr/>
        </p:nvSpPr>
        <p:spPr>
          <a:xfrm>
            <a:off x="5332232" y="2185416"/>
            <a:ext cx="6198352"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시험하지 않은 흐름이 제출본에 들어간다</a:t>
            </a:r>
            <a:endParaRPr lang="en-US" sz="1350" dirty="0"/>
          </a:p>
        </p:txBody>
      </p:sp>
      <p:sp>
        <p:nvSpPr>
          <p:cNvPr id="17" name="Shape 15"/>
          <p:cNvSpPr/>
          <p:nvPr/>
        </p:nvSpPr>
        <p:spPr>
          <a:xfrm>
            <a:off x="530352" y="2660904"/>
            <a:ext cx="11128248" cy="475488"/>
          </a:xfrm>
          <a:prstGeom prst="rect">
            <a:avLst/>
          </a:prstGeom>
          <a:solidFill>
            <a:srgbClr val="FFFFFF"/>
          </a:solidFill>
          <a:ln w="9525">
            <a:solidFill>
              <a:srgbClr val="E0E3E7"/>
            </a:solidFill>
            <a:prstDash val="solid"/>
          </a:ln>
        </p:spPr>
      </p:sp>
      <p:sp>
        <p:nvSpPr>
          <p:cNvPr id="18" name="Text 16"/>
          <p:cNvSpPr/>
          <p:nvPr/>
        </p:nvSpPr>
        <p:spPr>
          <a:xfrm>
            <a:off x="658368" y="2660904"/>
            <a:ext cx="4417832"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프로젝트 전체 다시 만들기</a:t>
            </a:r>
            <a:endParaRPr lang="en-US" sz="1350" dirty="0"/>
          </a:p>
        </p:txBody>
      </p:sp>
      <p:sp>
        <p:nvSpPr>
          <p:cNvPr id="19" name="Text 17"/>
          <p:cNvSpPr/>
          <p:nvPr/>
        </p:nvSpPr>
        <p:spPr>
          <a:xfrm>
            <a:off x="5332232" y="2660904"/>
            <a:ext cx="6198352"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12회에 확인한 결과가 모두 쓸모없어진다</a:t>
            </a:r>
            <a:endParaRPr lang="en-US" sz="1350" dirty="0"/>
          </a:p>
        </p:txBody>
      </p:sp>
      <p:sp>
        <p:nvSpPr>
          <p:cNvPr id="20" name="Shape 18"/>
          <p:cNvSpPr/>
          <p:nvPr/>
        </p:nvSpPr>
        <p:spPr>
          <a:xfrm>
            <a:off x="530352" y="3136392"/>
            <a:ext cx="11128248" cy="475488"/>
          </a:xfrm>
          <a:prstGeom prst="rect">
            <a:avLst/>
          </a:prstGeom>
          <a:solidFill>
            <a:srgbClr val="F1F2F4"/>
          </a:solidFill>
          <a:ln w="9525">
            <a:solidFill>
              <a:srgbClr val="E0E3E7"/>
            </a:solidFill>
            <a:prstDash val="solid"/>
          </a:ln>
        </p:spPr>
      </p:sp>
      <p:sp>
        <p:nvSpPr>
          <p:cNvPr id="21" name="Text 19"/>
          <p:cNvSpPr/>
          <p:nvPr/>
        </p:nvSpPr>
        <p:spPr>
          <a:xfrm>
            <a:off x="658368" y="3136392"/>
            <a:ext cx="4417832"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다른 프레임워크 · TypeScript로</a:t>
            </a:r>
            <a:endParaRPr lang="en-US" sz="1350" dirty="0"/>
          </a:p>
        </p:txBody>
      </p:sp>
      <p:sp>
        <p:nvSpPr>
          <p:cNvPr id="22" name="Text 20"/>
          <p:cNvSpPr/>
          <p:nvPr/>
        </p:nvSpPr>
        <p:spPr>
          <a:xfrm>
            <a:off x="5332232" y="3136392"/>
            <a:ext cx="6198352"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다시 실행되는지조차 확인할 시간이 없다</a:t>
            </a:r>
            <a:endParaRPr lang="en-US" sz="1350" dirty="0"/>
          </a:p>
        </p:txBody>
      </p:sp>
      <p:sp>
        <p:nvSpPr>
          <p:cNvPr id="23" name="Shape 21"/>
          <p:cNvSpPr/>
          <p:nvPr/>
        </p:nvSpPr>
        <p:spPr>
          <a:xfrm>
            <a:off x="530352" y="3611880"/>
            <a:ext cx="11128248" cy="475488"/>
          </a:xfrm>
          <a:prstGeom prst="rect">
            <a:avLst/>
          </a:prstGeom>
          <a:solidFill>
            <a:srgbClr val="FFFFFF"/>
          </a:solidFill>
          <a:ln w="9525">
            <a:solidFill>
              <a:srgbClr val="E0E3E7"/>
            </a:solidFill>
            <a:prstDash val="solid"/>
          </a:ln>
        </p:spPr>
      </p:sp>
      <p:sp>
        <p:nvSpPr>
          <p:cNvPr id="24" name="Text 22"/>
          <p:cNvSpPr/>
          <p:nvPr/>
        </p:nvSpPr>
        <p:spPr>
          <a:xfrm>
            <a:off x="658368" y="3611880"/>
            <a:ext cx="4417832"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새 패키지 설치 (npm install 이름)</a:t>
            </a:r>
            <a:endParaRPr lang="en-US" sz="1350" dirty="0"/>
          </a:p>
        </p:txBody>
      </p:sp>
      <p:sp>
        <p:nvSpPr>
          <p:cNvPr id="25" name="Text 23"/>
          <p:cNvSpPr/>
          <p:nvPr/>
        </p:nvSpPr>
        <p:spPr>
          <a:xfrm>
            <a:off x="5332232" y="3611880"/>
            <a:ext cx="6198352"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선생님 PC에서 실행되지 않을 수 있다</a:t>
            </a:r>
            <a:endParaRPr lang="en-US" sz="1350" dirty="0"/>
          </a:p>
        </p:txBody>
      </p:sp>
      <p:sp>
        <p:nvSpPr>
          <p:cNvPr id="26" name="Shape 24"/>
          <p:cNvSpPr/>
          <p:nvPr/>
        </p:nvSpPr>
        <p:spPr>
          <a:xfrm>
            <a:off x="530352" y="4087368"/>
            <a:ext cx="11128248" cy="475488"/>
          </a:xfrm>
          <a:prstGeom prst="rect">
            <a:avLst/>
          </a:prstGeom>
          <a:solidFill>
            <a:srgbClr val="F1F2F4"/>
          </a:solidFill>
          <a:ln w="9525">
            <a:solidFill>
              <a:srgbClr val="E0E3E7"/>
            </a:solidFill>
            <a:prstDash val="solid"/>
          </a:ln>
        </p:spPr>
      </p:sp>
      <p:sp>
        <p:nvSpPr>
          <p:cNvPr id="27" name="Text 25"/>
          <p:cNvSpPr/>
          <p:nvPr/>
        </p:nvSpPr>
        <p:spPr>
          <a:xfrm>
            <a:off x="658368" y="4087368"/>
            <a:ext cx="4417832"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표 구조 전체 바꾸기</a:t>
            </a:r>
            <a:endParaRPr lang="en-US" sz="1350" dirty="0"/>
          </a:p>
        </p:txBody>
      </p:sp>
      <p:sp>
        <p:nvSpPr>
          <p:cNvPr id="28" name="Text 26"/>
          <p:cNvSpPr/>
          <p:nvPr/>
        </p:nvSpPr>
        <p:spPr>
          <a:xfrm>
            <a:off x="5332232" y="4087368"/>
            <a:ext cx="6198352"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지금까지 저장한 기록을 다시 볼 수 없다</a:t>
            </a:r>
            <a:endParaRPr lang="en-US" sz="1350" dirty="0"/>
          </a:p>
        </p:txBody>
      </p:sp>
      <p:sp>
        <p:nvSpPr>
          <p:cNvPr id="29" name="Shape 27"/>
          <p:cNvSpPr/>
          <p:nvPr/>
        </p:nvSpPr>
        <p:spPr>
          <a:xfrm>
            <a:off x="530352" y="4562856"/>
            <a:ext cx="11128248" cy="475488"/>
          </a:xfrm>
          <a:prstGeom prst="rect">
            <a:avLst/>
          </a:prstGeom>
          <a:solidFill>
            <a:srgbClr val="FFFFFF"/>
          </a:solidFill>
          <a:ln w="9525">
            <a:solidFill>
              <a:srgbClr val="E0E3E7"/>
            </a:solidFill>
            <a:prstDash val="solid"/>
          </a:ln>
        </p:spPr>
      </p:sp>
      <p:sp>
        <p:nvSpPr>
          <p:cNvPr id="30" name="Text 28"/>
          <p:cNvSpPr/>
          <p:nvPr/>
        </p:nvSpPr>
        <p:spPr>
          <a:xfrm>
            <a:off x="658368" y="4562856"/>
            <a:ext cx="4417832"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로그인 · 외부 API · 파일 올리기</a:t>
            </a:r>
            <a:endParaRPr lang="en-US" sz="1350" dirty="0"/>
          </a:p>
        </p:txBody>
      </p:sp>
      <p:sp>
        <p:nvSpPr>
          <p:cNvPr id="31" name="Text 29"/>
          <p:cNvSpPr/>
          <p:nvPr/>
        </p:nvSpPr>
        <p:spPr>
          <a:xfrm>
            <a:off x="5332232" y="4562856"/>
            <a:ext cx="6198352"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계획에 없던 안전 문제가 생긴다</a:t>
            </a:r>
            <a:endParaRPr lang="en-US" sz="1350" dirty="0"/>
          </a:p>
        </p:txBody>
      </p:sp>
      <p:sp>
        <p:nvSpPr>
          <p:cNvPr id="32" name="Shape 30"/>
          <p:cNvSpPr/>
          <p:nvPr/>
        </p:nvSpPr>
        <p:spPr>
          <a:xfrm>
            <a:off x="530352" y="5212080"/>
            <a:ext cx="11128248" cy="512064"/>
          </a:xfrm>
          <a:prstGeom prst="roundRect">
            <a:avLst>
              <a:gd name="adj" fmla="val 39286"/>
            </a:avLst>
          </a:prstGeom>
          <a:solidFill>
            <a:srgbClr val="EAF5FB"/>
          </a:solidFill>
          <a:ln w="12700">
            <a:solidFill>
              <a:srgbClr val="3D8DFF"/>
            </a:solidFill>
            <a:prstDash val="solid"/>
          </a:ln>
        </p:spPr>
      </p:sp>
      <p:sp>
        <p:nvSpPr>
          <p:cNvPr id="33" name="Text 31"/>
          <p:cNvSpPr/>
          <p:nvPr/>
        </p:nvSpPr>
        <p:spPr>
          <a:xfrm>
            <a:off x="731520" y="521208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PRD는 결과에 맞춰 고치지 않는다 · 달라진 것과 이유는 13-2 설명에</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지금부터 각자 고치는 시간</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8–13쪽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15</a:t>
            </a:r>
            <a:endParaRPr lang="en-US" sz="900" dirty="0"/>
          </a:p>
        </p:txBody>
      </p:sp>
      <p:sp>
        <p:nvSpPr>
          <p:cNvPr id="9" name="Shape 7"/>
          <p:cNvSpPr/>
          <p:nvPr/>
        </p:nvSpPr>
        <p:spPr>
          <a:xfrm>
            <a:off x="530352" y="1783080"/>
            <a:ext cx="1991563" cy="2194560"/>
          </a:xfrm>
          <a:prstGeom prst="roundRect">
            <a:avLst>
              <a:gd name="adj" fmla="val 2525"/>
            </a:avLst>
          </a:prstGeom>
          <a:solidFill>
            <a:srgbClr val="F1F2F4"/>
          </a:solidFill>
          <a:ln w="12700">
            <a:solidFill>
              <a:srgbClr val="E0E3E7"/>
            </a:solidFill>
            <a:prstDash val="solid"/>
          </a:ln>
        </p:spPr>
      </p:sp>
      <p:sp>
        <p:nvSpPr>
          <p:cNvPr id="10" name="Text 8"/>
          <p:cNvSpPr/>
          <p:nvPr/>
        </p:nvSpPr>
        <p:spPr>
          <a:xfrm>
            <a:off x="713232" y="19476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1" name="Text 9"/>
          <p:cNvSpPr/>
          <p:nvPr/>
        </p:nvSpPr>
        <p:spPr>
          <a:xfrm>
            <a:off x="713232" y="23682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고르기</a:t>
            </a:r>
            <a:endParaRPr lang="en-US" sz="1650" dirty="0"/>
          </a:p>
        </p:txBody>
      </p:sp>
      <p:sp>
        <p:nvSpPr>
          <p:cNvPr id="12" name="Text 10"/>
          <p:cNvSpPr/>
          <p:nvPr/>
        </p:nvSpPr>
        <p:spPr>
          <a:xfrm>
            <a:off x="713232" y="2862072"/>
            <a:ext cx="1625803" cy="96926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위험한 순서로</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문제 하나</a:t>
            </a:r>
            <a:endParaRPr lang="en-US" sz="1350" dirty="0"/>
          </a:p>
        </p:txBody>
      </p:sp>
      <p:sp>
        <p:nvSpPr>
          <p:cNvPr id="13" name="Text 11"/>
          <p:cNvSpPr/>
          <p:nvPr/>
        </p:nvSpPr>
        <p:spPr>
          <a:xfrm>
            <a:off x="2494483"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4" name="Shape 12"/>
          <p:cNvSpPr/>
          <p:nvPr/>
        </p:nvSpPr>
        <p:spPr>
          <a:xfrm>
            <a:off x="2814523" y="1783080"/>
            <a:ext cx="1991563" cy="2194560"/>
          </a:xfrm>
          <a:prstGeom prst="roundRect">
            <a:avLst>
              <a:gd name="adj" fmla="val 2525"/>
            </a:avLst>
          </a:prstGeom>
          <a:solidFill>
            <a:srgbClr val="F1F2F4"/>
          </a:solidFill>
          <a:ln w="12700">
            <a:solidFill>
              <a:srgbClr val="E0E3E7"/>
            </a:solidFill>
            <a:prstDash val="solid"/>
          </a:ln>
        </p:spPr>
      </p:sp>
      <p:sp>
        <p:nvSpPr>
          <p:cNvPr id="15" name="Text 13"/>
          <p:cNvSpPr/>
          <p:nvPr/>
        </p:nvSpPr>
        <p:spPr>
          <a:xfrm>
            <a:off x="2997403" y="19476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6" name="Text 14"/>
          <p:cNvSpPr/>
          <p:nvPr/>
        </p:nvSpPr>
        <p:spPr>
          <a:xfrm>
            <a:off x="2997403" y="23682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설명만</a:t>
            </a:r>
            <a:endParaRPr lang="en-US" sz="1650" dirty="0"/>
          </a:p>
        </p:txBody>
      </p:sp>
      <p:sp>
        <p:nvSpPr>
          <p:cNvPr id="17" name="Text 15"/>
          <p:cNvSpPr/>
          <p:nvPr/>
        </p:nvSpPr>
        <p:spPr>
          <a:xfrm>
            <a:off x="2997403" y="2862072"/>
            <a:ext cx="1625803" cy="96926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요청 ①</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아직 고치지 마</a:t>
            </a:r>
            <a:endParaRPr lang="en-US" sz="1350" dirty="0"/>
          </a:p>
        </p:txBody>
      </p:sp>
      <p:sp>
        <p:nvSpPr>
          <p:cNvPr id="18" name="Text 16"/>
          <p:cNvSpPr/>
          <p:nvPr/>
        </p:nvSpPr>
        <p:spPr>
          <a:xfrm>
            <a:off x="4778654"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9" name="Shape 17"/>
          <p:cNvSpPr/>
          <p:nvPr/>
        </p:nvSpPr>
        <p:spPr>
          <a:xfrm>
            <a:off x="5098694" y="1783080"/>
            <a:ext cx="1991563" cy="2194560"/>
          </a:xfrm>
          <a:prstGeom prst="roundRect">
            <a:avLst>
              <a:gd name="adj" fmla="val 2525"/>
            </a:avLst>
          </a:prstGeom>
          <a:solidFill>
            <a:srgbClr val="F1F2F4"/>
          </a:solidFill>
          <a:ln w="12700">
            <a:solidFill>
              <a:srgbClr val="E0E3E7"/>
            </a:solidFill>
            <a:prstDash val="solid"/>
          </a:ln>
        </p:spPr>
      </p:sp>
      <p:sp>
        <p:nvSpPr>
          <p:cNvPr id="20" name="Text 18"/>
          <p:cNvSpPr/>
          <p:nvPr/>
        </p:nvSpPr>
        <p:spPr>
          <a:xfrm>
            <a:off x="5281574" y="19476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1" name="Text 19"/>
          <p:cNvSpPr/>
          <p:nvPr/>
        </p:nvSpPr>
        <p:spPr>
          <a:xfrm>
            <a:off x="5281574" y="23682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판단</a:t>
            </a:r>
            <a:endParaRPr lang="en-US" sz="1650" dirty="0"/>
          </a:p>
        </p:txBody>
      </p:sp>
      <p:sp>
        <p:nvSpPr>
          <p:cNvPr id="22" name="Text 20"/>
          <p:cNvSpPr/>
          <p:nvPr/>
        </p:nvSpPr>
        <p:spPr>
          <a:xfrm>
            <a:off x="5281574" y="2862072"/>
            <a:ext cx="1625803" cy="96926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진행해.</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또는 더 작게</a:t>
            </a:r>
            <a:endParaRPr lang="en-US" sz="1350" dirty="0"/>
          </a:p>
        </p:txBody>
      </p:sp>
      <p:sp>
        <p:nvSpPr>
          <p:cNvPr id="23" name="Text 21"/>
          <p:cNvSpPr/>
          <p:nvPr/>
        </p:nvSpPr>
        <p:spPr>
          <a:xfrm>
            <a:off x="7062826"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4" name="Shape 22"/>
          <p:cNvSpPr/>
          <p:nvPr/>
        </p:nvSpPr>
        <p:spPr>
          <a:xfrm>
            <a:off x="7382866" y="1783080"/>
            <a:ext cx="1991563" cy="2194560"/>
          </a:xfrm>
          <a:prstGeom prst="roundRect">
            <a:avLst>
              <a:gd name="adj" fmla="val 2525"/>
            </a:avLst>
          </a:prstGeom>
          <a:solidFill>
            <a:srgbClr val="F1F2F4"/>
          </a:solidFill>
          <a:ln w="12700">
            <a:solidFill>
              <a:srgbClr val="E0E3E7"/>
            </a:solidFill>
            <a:prstDash val="solid"/>
          </a:ln>
        </p:spPr>
      </p:sp>
      <p:sp>
        <p:nvSpPr>
          <p:cNvPr id="25" name="Text 23"/>
          <p:cNvSpPr/>
          <p:nvPr/>
        </p:nvSpPr>
        <p:spPr>
          <a:xfrm>
            <a:off x="7565746" y="19476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4</a:t>
            </a:r>
            <a:endParaRPr lang="en-US" sz="1800" dirty="0"/>
          </a:p>
        </p:txBody>
      </p:sp>
      <p:sp>
        <p:nvSpPr>
          <p:cNvPr id="26" name="Text 24"/>
          <p:cNvSpPr/>
          <p:nvPr/>
        </p:nvSpPr>
        <p:spPr>
          <a:xfrm>
            <a:off x="7565746" y="23682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다시 시험</a:t>
            </a:r>
            <a:endParaRPr lang="en-US" sz="1650" dirty="0"/>
          </a:p>
        </p:txBody>
      </p:sp>
      <p:sp>
        <p:nvSpPr>
          <p:cNvPr id="27" name="Text 25"/>
          <p:cNvSpPr/>
          <p:nvPr/>
        </p:nvSpPr>
        <p:spPr>
          <a:xfrm>
            <a:off x="7565746" y="2862072"/>
            <a:ext cx="1625803" cy="96926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같은 조건</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흐름 전체</a:t>
            </a:r>
            <a:endParaRPr lang="en-US" sz="1350" dirty="0"/>
          </a:p>
        </p:txBody>
      </p:sp>
      <p:sp>
        <p:nvSpPr>
          <p:cNvPr id="28" name="Text 26"/>
          <p:cNvSpPr/>
          <p:nvPr/>
        </p:nvSpPr>
        <p:spPr>
          <a:xfrm>
            <a:off x="9346997"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9" name="Shape 27"/>
          <p:cNvSpPr/>
          <p:nvPr/>
        </p:nvSpPr>
        <p:spPr>
          <a:xfrm>
            <a:off x="9667037" y="1783080"/>
            <a:ext cx="1991563" cy="2194560"/>
          </a:xfrm>
          <a:prstGeom prst="roundRect">
            <a:avLst>
              <a:gd name="adj" fmla="val 2525"/>
            </a:avLst>
          </a:prstGeom>
          <a:solidFill>
            <a:srgbClr val="E7F2ED"/>
          </a:solidFill>
          <a:ln w="12700">
            <a:solidFill>
              <a:srgbClr val="0E7C86"/>
            </a:solidFill>
            <a:prstDash val="solid"/>
          </a:ln>
        </p:spPr>
      </p:sp>
      <p:sp>
        <p:nvSpPr>
          <p:cNvPr id="30" name="Text 28"/>
          <p:cNvSpPr/>
          <p:nvPr/>
        </p:nvSpPr>
        <p:spPr>
          <a:xfrm>
            <a:off x="9849917" y="1947672"/>
            <a:ext cx="1625803"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5</a:t>
            </a:r>
            <a:endParaRPr lang="en-US" sz="1800" dirty="0"/>
          </a:p>
        </p:txBody>
      </p:sp>
      <p:sp>
        <p:nvSpPr>
          <p:cNvPr id="31" name="Text 29"/>
          <p:cNvSpPr/>
          <p:nvPr/>
        </p:nvSpPr>
        <p:spPr>
          <a:xfrm>
            <a:off x="9849917" y="23682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10항</a:t>
            </a:r>
            <a:endParaRPr lang="en-US" sz="1650" dirty="0"/>
          </a:p>
        </p:txBody>
      </p:sp>
      <p:sp>
        <p:nvSpPr>
          <p:cNvPr id="32" name="Text 30"/>
          <p:cNvSpPr/>
          <p:nvPr/>
        </p:nvSpPr>
        <p:spPr>
          <a:xfrm>
            <a:off x="9849917" y="2862072"/>
            <a:ext cx="1625803" cy="96926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판단과 결과</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못 고친 것도</a:t>
            </a:r>
            <a:endParaRPr lang="en-US" sz="1350" dirty="0"/>
          </a:p>
        </p:txBody>
      </p:sp>
      <p:sp>
        <p:nvSpPr>
          <p:cNvPr id="33" name="Shape 31"/>
          <p:cNvSpPr/>
          <p:nvPr/>
        </p:nvSpPr>
        <p:spPr>
          <a:xfrm>
            <a:off x="530352" y="4251960"/>
            <a:ext cx="11128248" cy="512064"/>
          </a:xfrm>
          <a:prstGeom prst="roundRect">
            <a:avLst>
              <a:gd name="adj" fmla="val 39286"/>
            </a:avLst>
          </a:prstGeom>
          <a:solidFill>
            <a:srgbClr val="FF5C00"/>
          </a:solidFill>
          <a:ln w="12700">
            <a:solidFill>
              <a:srgbClr val="FF5C00"/>
            </a:solidFill>
            <a:prstDash val="solid"/>
          </a:ln>
        </p:spPr>
      </p:sp>
      <p:sp>
        <p:nvSpPr>
          <p:cNvPr id="34" name="Text 32"/>
          <p:cNvSpPr/>
          <p:nvPr/>
        </p:nvSpPr>
        <p:spPr>
          <a:xfrm>
            <a:off x="731520" y="425196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수정 1을 마치면 「### 수정 2」로 · 40분에 멈추고 끝낼 상태를 본다</a:t>
            </a:r>
            <a:endParaRPr lang="en-US" sz="1500" dirty="0"/>
          </a:p>
        </p:txBody>
      </p:sp>
      <p:sp>
        <p:nvSpPr>
          <p:cNvPr id="35" name="Shape 33"/>
          <p:cNvSpPr/>
          <p:nvPr/>
        </p:nvSpPr>
        <p:spPr>
          <a:xfrm>
            <a:off x="530352" y="4937760"/>
            <a:ext cx="11128248" cy="512064"/>
          </a:xfrm>
          <a:prstGeom prst="roundRect">
            <a:avLst>
              <a:gd name="adj" fmla="val 39286"/>
            </a:avLst>
          </a:prstGeom>
          <a:solidFill>
            <a:srgbClr val="EAF5FB"/>
          </a:solidFill>
          <a:ln w="12700">
            <a:solidFill>
              <a:srgbClr val="3D8DFF"/>
            </a:solidFill>
            <a:prstDash val="solid"/>
          </a:ln>
        </p:spPr>
      </p:sp>
      <p:sp>
        <p:nvSpPr>
          <p:cNvPr id="36" name="Text 34"/>
          <p:cNvSpPr/>
          <p:nvPr/>
        </p:nvSpPr>
        <p:spPr>
          <a:xfrm>
            <a:off x="731520" y="4937760"/>
            <a:ext cx="10725912" cy="512064"/>
          </a:xfrm>
          <a:prstGeom prst="rect">
            <a:avLst/>
          </a:prstGeom>
          <a:noFill/>
          <a:ln/>
        </p:spPr>
        <p:txBody>
          <a:bodyPr wrap="square" lIns="0" tIns="0" rIns="0" bIns="0" rtlCol="0" anchor="ctr"/>
          <a:lstStyle/>
          <a:p>
            <a:pPr algn="ctr" indent="0" marL="0">
              <a:buNone/>
            </a:pPr>
            <a:r>
              <a:rPr lang="en-US" sz="1450" b="1" dirty="0">
                <a:solidFill>
                  <a:srgbClr val="34373D"/>
                </a:solidFill>
                <a:latin typeface="IBM Plex Sans KR" pitchFamily="34" charset="0"/>
                <a:ea typeface="IBM Plex Sans KR" pitchFamily="34" charset="-122"/>
                <a:cs typeface="IBM Plex Sans KR" pitchFamily="34" charset="-120"/>
              </a:rPr>
              <a:t>막히면 교과서 19쪽 「막힐 때」 · 서비스가 아예 안 켜지면 고치지 말고 바로 손</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위험한 문제가 없을 때만 표현을 다듬는다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09</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15쪽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16</a:t>
            </a:r>
            <a:endParaRPr lang="en-US" sz="900" dirty="0"/>
          </a:p>
        </p:txBody>
      </p:sp>
      <p:sp>
        <p:nvSpPr>
          <p:cNvPr id="10" name="Shape 8"/>
          <p:cNvSpPr/>
          <p:nvPr/>
        </p:nvSpPr>
        <p:spPr>
          <a:xfrm>
            <a:off x="530352" y="1783080"/>
            <a:ext cx="6035040" cy="3200400"/>
          </a:xfrm>
          <a:prstGeom prst="roundRect">
            <a:avLst>
              <a:gd name="adj" fmla="val 1571"/>
            </a:avLst>
          </a:prstGeom>
          <a:solidFill>
            <a:srgbClr val="F1F2F4"/>
          </a:solidFill>
          <a:ln w="12700">
            <a:solidFill>
              <a:srgbClr val="E0E3E7"/>
            </a:solidFill>
            <a:prstDash val="solid"/>
          </a:ln>
        </p:spPr>
      </p:sp>
      <p:sp>
        <p:nvSpPr>
          <p:cNvPr id="11" name="Text 9"/>
          <p:cNvSpPr/>
          <p:nvPr/>
        </p:nvSpPr>
        <p:spPr>
          <a:xfrm>
            <a:off x="713232" y="1947672"/>
            <a:ext cx="566928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처음 쓰는 사람의 눈으로</a:t>
            </a:r>
            <a:endParaRPr lang="en-US" sz="1650" dirty="0"/>
          </a:p>
        </p:txBody>
      </p:sp>
      <p:sp>
        <p:nvSpPr>
          <p:cNvPr id="12" name="Text 10"/>
          <p:cNvSpPr/>
          <p:nvPr/>
        </p:nvSpPr>
        <p:spPr>
          <a:xfrm>
            <a:off x="713232" y="2395728"/>
            <a:ext cx="5669280" cy="2514600"/>
          </a:xfrm>
          <a:prstGeom prst="rect">
            <a:avLst/>
          </a:prstGeom>
          <a:noFill/>
          <a:ln/>
        </p:spPr>
        <p:txBody>
          <a:bodyPr wrap="square" lIns="0" tIns="0" rIns="0" bIns="0" rtlCol="0" anchor="t"/>
          <a:lstStyle/>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서비스 이름과 하는 일이 보이는가</a:t>
            </a:r>
            <a:endParaRPr lang="en-US" sz="1400" dirty="0"/>
          </a:p>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처음 할 행동을 알 수 있는가</a:t>
            </a:r>
            <a:endParaRPr lang="en-US" sz="1400" dirty="0"/>
          </a:p>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누른 뒤 무엇이 일어났는지 보이는가</a:t>
            </a:r>
            <a:endParaRPr lang="en-US" sz="1400" dirty="0"/>
          </a:p>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예외 안내가 고칠 방법을 알려 주는가</a:t>
            </a:r>
            <a:endParaRPr lang="en-US" sz="1400" dirty="0"/>
          </a:p>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「여기에 입력」 같은 예시 글이 남았는가</a:t>
            </a:r>
            <a:endParaRPr lang="en-US" sz="1400" dirty="0"/>
          </a:p>
        </p:txBody>
      </p:sp>
      <p:sp>
        <p:nvSpPr>
          <p:cNvPr id="13" name="Shape 11"/>
          <p:cNvSpPr/>
          <p:nvPr/>
        </p:nvSpPr>
        <p:spPr>
          <a:xfrm>
            <a:off x="6839712" y="1783080"/>
            <a:ext cx="4818888" cy="3200400"/>
          </a:xfrm>
          <a:prstGeom prst="roundRect">
            <a:avLst>
              <a:gd name="adj" fmla="val 1429"/>
            </a:avLst>
          </a:prstGeom>
          <a:solidFill>
            <a:srgbClr val="24272C"/>
          </a:solidFill>
          <a:ln/>
        </p:spPr>
      </p:sp>
      <p:sp>
        <p:nvSpPr>
          <p:cNvPr id="14" name="Text 12"/>
          <p:cNvSpPr/>
          <p:nvPr/>
        </p:nvSpPr>
        <p:spPr>
          <a:xfrm>
            <a:off x="7077456" y="1911096"/>
            <a:ext cx="434340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이것도 설명부터 · 교과서 15쪽</a:t>
            </a:r>
            <a:endParaRPr lang="en-US" sz="950" dirty="0"/>
          </a:p>
        </p:txBody>
      </p:sp>
      <p:sp>
        <p:nvSpPr>
          <p:cNvPr id="15" name="Text 13"/>
          <p:cNvSpPr/>
          <p:nvPr/>
        </p:nvSpPr>
        <p:spPr>
          <a:xfrm>
            <a:off x="7077456" y="2185416"/>
            <a:ext cx="4343400" cy="2651760"/>
          </a:xfrm>
          <a:prstGeom prst="rect">
            <a:avLst/>
          </a:prstGeom>
          <a:noFill/>
          <a:ln/>
        </p:spPr>
        <p:txBody>
          <a:bodyPr wrap="square" lIns="0" tIns="0" rIns="0" bIns="0" rtlCol="0" anchor="t"/>
          <a:lstStyle/>
          <a:p>
            <a:pPr indent="0" marL="0">
              <a:lnSpc>
                <a:spcPts val="2465"/>
              </a:lnSpc>
              <a:buNone/>
            </a:pPr>
            <a:r>
              <a:rPr lang="en-US" sz="1450" b="1" dirty="0">
                <a:solidFill>
                  <a:srgbClr val="E8EAED"/>
                </a:solidFill>
                <a:latin typeface="IBM Plex Mono" pitchFamily="34" charset="0"/>
                <a:ea typeface="IBM Plex Mono" pitchFamily="34" charset="-122"/>
                <a:cs typeface="IBM Plex Mono" pitchFamily="34" charset="-120"/>
              </a:rPr>
              <a:t>「___」 문장을</a:t>
            </a:r>
            <a:endParaRPr lang="en-US" sz="1450" dirty="0"/>
          </a:p>
          <a:p>
            <a:pPr indent="0" marL="0">
              <a:lnSpc>
                <a:spcPts val="2465"/>
              </a:lnSpc>
              <a:buNone/>
            </a:pPr>
            <a:r>
              <a:rPr lang="en-US" sz="1450" b="1" dirty="0">
                <a:solidFill>
                  <a:srgbClr val="E8EAED"/>
                </a:solidFill>
                <a:latin typeface="IBM Plex Mono" pitchFamily="34" charset="0"/>
                <a:ea typeface="IBM Plex Mono" pitchFamily="34" charset="-122"/>
                <a:cs typeface="IBM Plex Mono" pitchFamily="34" charset="-120"/>
              </a:rPr>
              <a:t>「___」로 바꾸려고 해.</a:t>
            </a:r>
            <a:endParaRPr lang="en-US" sz="1450" dirty="0"/>
          </a:p>
          <a:p>
            <a:pPr indent="0" marL="0">
              <a:lnSpc>
                <a:spcPts val="2465"/>
              </a:lnSpc>
              <a:buNone/>
            </a:pPr>
            <a:r>
              <a:rPr lang="en-US" sz="1450" b="1" dirty="0">
                <a:solidFill>
                  <a:srgbClr val="E8EAED"/>
                </a:solidFill>
                <a:latin typeface="IBM Plex Mono" pitchFamily="34" charset="0"/>
                <a:ea typeface="IBM Plex Mono" pitchFamily="34" charset="-122"/>
                <a:cs typeface="IBM Plex Mono" pitchFamily="34" charset="-120"/>
              </a:rPr>
              <a:t>아직 고치지 마.</a:t>
            </a:r>
            <a:endParaRPr lang="en-US" sz="1450" dirty="0"/>
          </a:p>
          <a:p>
            <a:pPr indent="0" marL="0">
              <a:lnSpc>
                <a:spcPts val="2465"/>
              </a:lnSpc>
              <a:buNone/>
            </a:pPr>
            <a:r>
              <a:rPr lang="en-US" sz="1450" b="1" dirty="0">
                <a:solidFill>
                  <a:srgbClr val="E8EAED"/>
                </a:solidFill>
                <a:latin typeface="IBM Plex Mono" pitchFamily="34" charset="0"/>
                <a:ea typeface="IBM Plex Mono" pitchFamily="34" charset="-122"/>
                <a:cs typeface="IBM Plex Mono" pitchFamily="34" charset="-120"/>
              </a:rPr>
              <a:t>어느 파일 몇째 줄인지</a:t>
            </a:r>
            <a:endParaRPr lang="en-US" sz="1450" dirty="0"/>
          </a:p>
          <a:p>
            <a:pPr indent="0" marL="0">
              <a:lnSpc>
                <a:spcPts val="2465"/>
              </a:lnSpc>
              <a:buNone/>
            </a:pPr>
            <a:r>
              <a:rPr lang="en-US" sz="1450" b="1" dirty="0">
                <a:solidFill>
                  <a:srgbClr val="E8EAED"/>
                </a:solidFill>
                <a:latin typeface="IBM Plex Mono" pitchFamily="34" charset="0"/>
                <a:ea typeface="IBM Plex Mono" pitchFamily="34" charset="-122"/>
                <a:cs typeface="IBM Plex Mono" pitchFamily="34" charset="-120"/>
              </a:rPr>
              <a:t>먼저 알려 줘.</a:t>
            </a:r>
            <a:endParaRPr lang="en-US" sz="1450" dirty="0"/>
          </a:p>
        </p:txBody>
      </p:sp>
      <p:sp>
        <p:nvSpPr>
          <p:cNvPr id="16" name="Shape 14"/>
          <p:cNvSpPr/>
          <p:nvPr/>
        </p:nvSpPr>
        <p:spPr>
          <a:xfrm>
            <a:off x="530352" y="5212080"/>
            <a:ext cx="11128248" cy="512064"/>
          </a:xfrm>
          <a:prstGeom prst="roundRect">
            <a:avLst>
              <a:gd name="adj" fmla="val 39286"/>
            </a:avLst>
          </a:prstGeom>
          <a:solidFill>
            <a:srgbClr val="FF5C00"/>
          </a:solidFill>
          <a:ln w="12700">
            <a:solidFill>
              <a:srgbClr val="FF5C00"/>
            </a:solidFill>
            <a:prstDash val="solid"/>
          </a:ln>
        </p:spPr>
      </p:sp>
      <p:sp>
        <p:nvSpPr>
          <p:cNvPr id="17" name="Text 15"/>
          <p:cNvSpPr/>
          <p:nvPr/>
        </p:nvSpPr>
        <p:spPr>
          <a:xfrm>
            <a:off x="731520" y="521208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색 전체 · 애니메이션 · 화면 배치 새로 짜기는 하지 않는다</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13-1이 끝날 때 이 상태면 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10</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16쪽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17</a:t>
            </a:r>
            <a:endParaRPr lang="en-US" sz="900" dirty="0"/>
          </a:p>
        </p:txBody>
      </p:sp>
      <p:sp>
        <p:nvSpPr>
          <p:cNvPr id="10" name="Shape 8"/>
          <p:cNvSpPr/>
          <p:nvPr/>
        </p:nvSpPr>
        <p:spPr>
          <a:xfrm>
            <a:off x="530352" y="1783080"/>
            <a:ext cx="5417820" cy="3063240"/>
          </a:xfrm>
          <a:prstGeom prst="roundRect">
            <a:avLst>
              <a:gd name="adj" fmla="val 1642"/>
            </a:avLst>
          </a:prstGeom>
          <a:solidFill>
            <a:srgbClr val="E7F2ED"/>
          </a:solidFill>
          <a:ln w="12700">
            <a:solidFill>
              <a:srgbClr val="0E7C86"/>
            </a:solidFill>
            <a:prstDash val="solid"/>
          </a:ln>
        </p:spPr>
      </p:sp>
      <p:sp>
        <p:nvSpPr>
          <p:cNvPr id="11" name="Text 9"/>
          <p:cNvSpPr/>
          <p:nvPr/>
        </p:nvSpPr>
        <p:spPr>
          <a:xfrm>
            <a:off x="713232" y="194767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기록</a:t>
            </a:r>
            <a:endParaRPr lang="en-US" sz="1650" dirty="0"/>
          </a:p>
        </p:txBody>
      </p:sp>
      <p:sp>
        <p:nvSpPr>
          <p:cNvPr id="12" name="Text 10"/>
          <p:cNvSpPr/>
          <p:nvPr/>
        </p:nvSpPr>
        <p:spPr>
          <a:xfrm>
            <a:off x="713232" y="2496312"/>
            <a:ext cx="5052060" cy="2194560"/>
          </a:xfrm>
          <a:prstGeom prst="rect">
            <a:avLst/>
          </a:prstGeom>
          <a:noFill/>
          <a:ln/>
        </p:spPr>
        <p:txBody>
          <a:bodyPr wrap="square" lIns="0" tIns="0" rIns="0" bIns="0" rtlCol="0" anchor="t"/>
          <a:lstStyle/>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10항에 고친 문제마다 다시 시험한 결과</a:t>
            </a:r>
            <a:endParaRPr lang="en-US" sz="1400" dirty="0"/>
          </a:p>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못 고친 문제는 「못 고침」과 이유</a:t>
            </a:r>
            <a:endParaRPr lang="en-US" sz="1400" dirty="0"/>
          </a:p>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탭 옆에 ●가 없다 · 모두 저장</a:t>
            </a:r>
            <a:endParaRPr lang="en-US" sz="1400" dirty="0"/>
          </a:p>
        </p:txBody>
      </p:sp>
      <p:sp>
        <p:nvSpPr>
          <p:cNvPr id="13" name="Shape 11"/>
          <p:cNvSpPr/>
          <p:nvPr/>
        </p:nvSpPr>
        <p:spPr>
          <a:xfrm>
            <a:off x="6240780" y="1783080"/>
            <a:ext cx="5417820" cy="3063240"/>
          </a:xfrm>
          <a:prstGeom prst="roundRect">
            <a:avLst>
              <a:gd name="adj" fmla="val 1642"/>
            </a:avLst>
          </a:prstGeom>
          <a:solidFill>
            <a:srgbClr val="F1F2F4"/>
          </a:solidFill>
          <a:ln w="12700">
            <a:solidFill>
              <a:srgbClr val="E0E3E7"/>
            </a:solidFill>
            <a:prstDash val="solid"/>
          </a:ln>
        </p:spPr>
      </p:sp>
      <p:sp>
        <p:nvSpPr>
          <p:cNvPr id="14" name="Text 12"/>
          <p:cNvSpPr/>
          <p:nvPr/>
        </p:nvSpPr>
        <p:spPr>
          <a:xfrm>
            <a:off x="6423660" y="194767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서비스</a:t>
            </a:r>
            <a:endParaRPr lang="en-US" sz="1650" dirty="0"/>
          </a:p>
        </p:txBody>
      </p:sp>
      <p:sp>
        <p:nvSpPr>
          <p:cNvPr id="15" name="Text 13"/>
          <p:cNvSpPr/>
          <p:nvPr/>
        </p:nvSpPr>
        <p:spPr>
          <a:xfrm>
            <a:off x="6423660" y="2496312"/>
            <a:ext cx="5052060" cy="2194560"/>
          </a:xfrm>
          <a:prstGeom prst="rect">
            <a:avLst/>
          </a:prstGeom>
          <a:noFill/>
          <a:ln/>
        </p:spPr>
        <p:txBody>
          <a:bodyPr wrap="square" lIns="0" tIns="0" rIns="0" bIns="0" rtlCol="0" anchor="t"/>
          <a:lstStyle/>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대표 정상 흐름이 끝까지 이어진다</a:t>
            </a:r>
            <a:endParaRPr lang="en-US" sz="1400" dirty="0"/>
          </a:p>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껐다 켜도 기록이 화면 · SQLite Viewer에</a:t>
            </a:r>
            <a:endParaRPr lang="en-US" sz="1400" dirty="0"/>
          </a:p>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새 기능 · 새 패키지 · 전체 재작성 없음</a:t>
            </a:r>
            <a:endParaRPr lang="en-US" sz="1400" dirty="0"/>
          </a:p>
        </p:txBody>
      </p:sp>
      <p:sp>
        <p:nvSpPr>
          <p:cNvPr id="16" name="Shape 14"/>
          <p:cNvSpPr/>
          <p:nvPr/>
        </p:nvSpPr>
        <p:spPr>
          <a:xfrm>
            <a:off x="530352" y="5074920"/>
            <a:ext cx="11128248" cy="512064"/>
          </a:xfrm>
          <a:prstGeom prst="roundRect">
            <a:avLst>
              <a:gd name="adj" fmla="val 39286"/>
            </a:avLst>
          </a:prstGeom>
          <a:solidFill>
            <a:srgbClr val="FF5C00"/>
          </a:solidFill>
          <a:ln w="12700">
            <a:solidFill>
              <a:srgbClr val="FF5C00"/>
            </a:solidFill>
            <a:prstDash val="solid"/>
          </a:ln>
        </p:spPr>
      </p:sp>
      <p:sp>
        <p:nvSpPr>
          <p:cNvPr id="17" name="Text 15"/>
          <p:cNvSpPr/>
          <p:nvPr/>
        </p:nvSpPr>
        <p:spPr>
          <a:xfrm>
            <a:off x="731520" y="507492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여기서 기능 수정은 끝 · 13-2는 바로 이어서 · VS Code와 터미널은 그대로</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흔한 오해 세 가지</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17쪽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18</a:t>
            </a:r>
            <a:endParaRPr lang="en-US" sz="900" dirty="0"/>
          </a:p>
        </p:txBody>
      </p:sp>
      <p:sp>
        <p:nvSpPr>
          <p:cNvPr id="10" name="Shape 8"/>
          <p:cNvSpPr/>
          <p:nvPr/>
        </p:nvSpPr>
        <p:spPr>
          <a:xfrm>
            <a:off x="530352" y="1783080"/>
            <a:ext cx="4673864" cy="402336"/>
          </a:xfrm>
          <a:prstGeom prst="rect">
            <a:avLst/>
          </a:prstGeom>
          <a:solidFill>
            <a:srgbClr val="1B1D21"/>
          </a:solidFill>
          <a:ln/>
        </p:spPr>
      </p:sp>
      <p:sp>
        <p:nvSpPr>
          <p:cNvPr id="11" name="Text 9"/>
          <p:cNvSpPr/>
          <p:nvPr/>
        </p:nvSpPr>
        <p:spPr>
          <a:xfrm>
            <a:off x="658368" y="1783080"/>
            <a:ext cx="441783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오해</a:t>
            </a:r>
            <a:endParaRPr lang="en-US" sz="1050" dirty="0"/>
          </a:p>
        </p:txBody>
      </p:sp>
      <p:sp>
        <p:nvSpPr>
          <p:cNvPr id="12" name="Shape 10"/>
          <p:cNvSpPr/>
          <p:nvPr/>
        </p:nvSpPr>
        <p:spPr>
          <a:xfrm>
            <a:off x="5204216" y="1783080"/>
            <a:ext cx="6454384" cy="402336"/>
          </a:xfrm>
          <a:prstGeom prst="rect">
            <a:avLst/>
          </a:prstGeom>
          <a:solidFill>
            <a:srgbClr val="1B1D21"/>
          </a:solidFill>
          <a:ln/>
        </p:spPr>
      </p:sp>
      <p:sp>
        <p:nvSpPr>
          <p:cNvPr id="13" name="Text 11"/>
          <p:cNvSpPr/>
          <p:nvPr/>
        </p:nvSpPr>
        <p:spPr>
          <a:xfrm>
            <a:off x="5332232" y="1783080"/>
            <a:ext cx="619835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사실</a:t>
            </a:r>
            <a:endParaRPr lang="en-US" sz="1050" dirty="0"/>
          </a:p>
        </p:txBody>
      </p:sp>
      <p:sp>
        <p:nvSpPr>
          <p:cNvPr id="14" name="Shape 12"/>
          <p:cNvSpPr/>
          <p:nvPr/>
        </p:nvSpPr>
        <p:spPr>
          <a:xfrm>
            <a:off x="530352" y="2185416"/>
            <a:ext cx="11128248" cy="731520"/>
          </a:xfrm>
          <a:prstGeom prst="rect">
            <a:avLst/>
          </a:prstGeom>
          <a:solidFill>
            <a:srgbClr val="F1F2F4"/>
          </a:solidFill>
          <a:ln w="9525">
            <a:solidFill>
              <a:srgbClr val="E0E3E7"/>
            </a:solidFill>
            <a:prstDash val="solid"/>
          </a:ln>
        </p:spPr>
      </p:sp>
      <p:sp>
        <p:nvSpPr>
          <p:cNvPr id="15" name="Text 13"/>
          <p:cNvSpPr/>
          <p:nvPr/>
        </p:nvSpPr>
        <p:spPr>
          <a:xfrm>
            <a:off x="658368" y="2185416"/>
            <a:ext cx="4417832" cy="731520"/>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오류가 하나라도 남으면 미이수다</a:t>
            </a:r>
            <a:endParaRPr lang="en-US" sz="1400" dirty="0"/>
          </a:p>
        </p:txBody>
      </p:sp>
      <p:sp>
        <p:nvSpPr>
          <p:cNvPr id="16" name="Text 14"/>
          <p:cNvSpPr/>
          <p:nvPr/>
        </p:nvSpPr>
        <p:spPr>
          <a:xfrm>
            <a:off x="5332232" y="2185416"/>
            <a:ext cx="6198352" cy="731520"/>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오류를 만났는지는 평가하지 않는다 · 남은 이유를 설명하면 된다</a:t>
            </a:r>
            <a:endParaRPr lang="en-US" sz="1400" dirty="0"/>
          </a:p>
        </p:txBody>
      </p:sp>
      <p:sp>
        <p:nvSpPr>
          <p:cNvPr id="17" name="Shape 15"/>
          <p:cNvSpPr/>
          <p:nvPr/>
        </p:nvSpPr>
        <p:spPr>
          <a:xfrm>
            <a:off x="530352" y="2916936"/>
            <a:ext cx="11128248" cy="731520"/>
          </a:xfrm>
          <a:prstGeom prst="rect">
            <a:avLst/>
          </a:prstGeom>
          <a:solidFill>
            <a:srgbClr val="FFFFFF"/>
          </a:solidFill>
          <a:ln w="9525">
            <a:solidFill>
              <a:srgbClr val="E0E3E7"/>
            </a:solidFill>
            <a:prstDash val="solid"/>
          </a:ln>
        </p:spPr>
      </p:sp>
      <p:sp>
        <p:nvSpPr>
          <p:cNvPr id="18" name="Text 16"/>
          <p:cNvSpPr/>
          <p:nvPr/>
        </p:nvSpPr>
        <p:spPr>
          <a:xfrm>
            <a:off x="658368" y="2916936"/>
            <a:ext cx="4417832" cy="731520"/>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AI의 개선 제안을 많이 받을수록 좋다</a:t>
            </a:r>
            <a:endParaRPr lang="en-US" sz="1400" dirty="0"/>
          </a:p>
        </p:txBody>
      </p:sp>
      <p:sp>
        <p:nvSpPr>
          <p:cNvPr id="19" name="Text 17"/>
          <p:cNvSpPr/>
          <p:nvPr/>
        </p:nvSpPr>
        <p:spPr>
          <a:xfrm>
            <a:off x="5332232" y="2916936"/>
            <a:ext cx="6198352" cy="731520"/>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오늘은 거절한 것도 중요하다 · 이유와 함께 10항에</a:t>
            </a:r>
            <a:endParaRPr lang="en-US" sz="1400" dirty="0"/>
          </a:p>
        </p:txBody>
      </p:sp>
      <p:sp>
        <p:nvSpPr>
          <p:cNvPr id="20" name="Shape 18"/>
          <p:cNvSpPr/>
          <p:nvPr/>
        </p:nvSpPr>
        <p:spPr>
          <a:xfrm>
            <a:off x="530352" y="3648456"/>
            <a:ext cx="11128248" cy="731520"/>
          </a:xfrm>
          <a:prstGeom prst="rect">
            <a:avLst/>
          </a:prstGeom>
          <a:solidFill>
            <a:srgbClr val="F1F2F4"/>
          </a:solidFill>
          <a:ln w="9525">
            <a:solidFill>
              <a:srgbClr val="E0E3E7"/>
            </a:solidFill>
            <a:prstDash val="solid"/>
          </a:ln>
        </p:spPr>
      </p:sp>
      <p:sp>
        <p:nvSpPr>
          <p:cNvPr id="21" name="Text 19"/>
          <p:cNvSpPr/>
          <p:nvPr/>
        </p:nvSpPr>
        <p:spPr>
          <a:xfrm>
            <a:off x="658368" y="3648456"/>
            <a:ext cx="4417832" cy="731520"/>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AI가 고쳤다고 했으니 고쳐졌다</a:t>
            </a:r>
            <a:endParaRPr lang="en-US" sz="1400" dirty="0"/>
          </a:p>
        </p:txBody>
      </p:sp>
      <p:sp>
        <p:nvSpPr>
          <p:cNvPr id="22" name="Text 20"/>
          <p:cNvSpPr/>
          <p:nvPr/>
        </p:nvSpPr>
        <p:spPr>
          <a:xfrm>
            <a:off x="5332232" y="3648456"/>
            <a:ext cx="6198352" cy="731520"/>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확인은 내가 같은 조건으로 다시 해 보고 화면에서 본 결과</a:t>
            </a:r>
            <a:endParaRPr lang="en-US" sz="1400" dirty="0"/>
          </a:p>
        </p:txBody>
      </p:sp>
      <p:sp>
        <p:nvSpPr>
          <p:cNvPr id="23" name="Shape 21"/>
          <p:cNvSpPr/>
          <p:nvPr/>
        </p:nvSpPr>
        <p:spPr>
          <a:xfrm>
            <a:off x="530352" y="3648456"/>
            <a:ext cx="11128248" cy="731520"/>
          </a:xfrm>
          <a:prstGeom prst="rect">
            <a:avLst/>
          </a:prstGeom>
          <a:noFill/>
          <a:ln w="28575">
            <a:solidFill>
              <a:srgbClr val="FF5C00"/>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13-1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막히면 이 표에서 내 줄을 찾는다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19쪽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19</a:t>
            </a:r>
            <a:endParaRPr lang="en-US" sz="900" dirty="0"/>
          </a:p>
        </p:txBody>
      </p:sp>
      <p:sp>
        <p:nvSpPr>
          <p:cNvPr id="9" name="Shape 7"/>
          <p:cNvSpPr/>
          <p:nvPr/>
        </p:nvSpPr>
        <p:spPr>
          <a:xfrm>
            <a:off x="530352" y="1783080"/>
            <a:ext cx="4451299" cy="402336"/>
          </a:xfrm>
          <a:prstGeom prst="rect">
            <a:avLst/>
          </a:prstGeom>
          <a:solidFill>
            <a:srgbClr val="1B1D21"/>
          </a:solidFill>
          <a:ln/>
        </p:spPr>
      </p:sp>
      <p:sp>
        <p:nvSpPr>
          <p:cNvPr id="10" name="Text 8"/>
          <p:cNvSpPr/>
          <p:nvPr/>
        </p:nvSpPr>
        <p:spPr>
          <a:xfrm>
            <a:off x="658368" y="1783080"/>
            <a:ext cx="419526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이런 상황이라면</a:t>
            </a:r>
            <a:endParaRPr lang="en-US" sz="1050" dirty="0"/>
          </a:p>
        </p:txBody>
      </p:sp>
      <p:sp>
        <p:nvSpPr>
          <p:cNvPr id="11" name="Shape 9"/>
          <p:cNvSpPr/>
          <p:nvPr/>
        </p:nvSpPr>
        <p:spPr>
          <a:xfrm>
            <a:off x="4981651" y="1783080"/>
            <a:ext cx="6676949" cy="402336"/>
          </a:xfrm>
          <a:prstGeom prst="rect">
            <a:avLst/>
          </a:prstGeom>
          <a:solidFill>
            <a:srgbClr val="1B1D21"/>
          </a:solidFill>
          <a:ln/>
        </p:spPr>
      </p:sp>
      <p:sp>
        <p:nvSpPr>
          <p:cNvPr id="12" name="Text 10"/>
          <p:cNvSpPr/>
          <p:nvPr/>
        </p:nvSpPr>
        <p:spPr>
          <a:xfrm>
            <a:off x="5109667" y="1783080"/>
            <a:ext cx="642091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이렇게 한다</a:t>
            </a:r>
            <a:endParaRPr lang="en-US" sz="1050" dirty="0"/>
          </a:p>
        </p:txBody>
      </p:sp>
      <p:sp>
        <p:nvSpPr>
          <p:cNvPr id="13" name="Shape 11"/>
          <p:cNvSpPr/>
          <p:nvPr/>
        </p:nvSpPr>
        <p:spPr>
          <a:xfrm>
            <a:off x="530352" y="2185416"/>
            <a:ext cx="11128248" cy="512064"/>
          </a:xfrm>
          <a:prstGeom prst="rect">
            <a:avLst/>
          </a:prstGeom>
          <a:solidFill>
            <a:srgbClr val="F1F2F4"/>
          </a:solidFill>
          <a:ln w="9525">
            <a:solidFill>
              <a:srgbClr val="E0E3E7"/>
            </a:solidFill>
            <a:prstDash val="solid"/>
          </a:ln>
        </p:spPr>
      </p:sp>
      <p:sp>
        <p:nvSpPr>
          <p:cNvPr id="14" name="Text 12"/>
          <p:cNvSpPr/>
          <p:nvPr/>
        </p:nvSpPr>
        <p:spPr>
          <a:xfrm>
            <a:off x="658368" y="2185416"/>
            <a:ext cx="4195267"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고쳤는데 화면이 그대로다</a:t>
            </a:r>
            <a:endParaRPr lang="en-US" sz="1300" dirty="0"/>
          </a:p>
        </p:txBody>
      </p:sp>
      <p:sp>
        <p:nvSpPr>
          <p:cNvPr id="15" name="Text 13"/>
          <p:cNvSpPr/>
          <p:nvPr/>
        </p:nvSpPr>
        <p:spPr>
          <a:xfrm>
            <a:off x="5109667" y="2185416"/>
            <a:ext cx="6420917"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새로고침 → 그래도면 Ctrl+C → npm run dev</a:t>
            </a:r>
            <a:endParaRPr lang="en-US" sz="1300" dirty="0"/>
          </a:p>
        </p:txBody>
      </p:sp>
      <p:sp>
        <p:nvSpPr>
          <p:cNvPr id="16" name="Shape 14"/>
          <p:cNvSpPr/>
          <p:nvPr/>
        </p:nvSpPr>
        <p:spPr>
          <a:xfrm>
            <a:off x="530352" y="2697480"/>
            <a:ext cx="11128248" cy="512064"/>
          </a:xfrm>
          <a:prstGeom prst="rect">
            <a:avLst/>
          </a:prstGeom>
          <a:solidFill>
            <a:srgbClr val="FFFFFF"/>
          </a:solidFill>
          <a:ln w="9525">
            <a:solidFill>
              <a:srgbClr val="E0E3E7"/>
            </a:solidFill>
            <a:prstDash val="solid"/>
          </a:ln>
        </p:spPr>
      </p:sp>
      <p:sp>
        <p:nvSpPr>
          <p:cNvPr id="17" name="Text 15"/>
          <p:cNvSpPr/>
          <p:nvPr/>
        </p:nvSpPr>
        <p:spPr>
          <a:xfrm>
            <a:off x="658368" y="2697480"/>
            <a:ext cx="4195267"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화면이 하얗고 빨간 글씨</a:t>
            </a:r>
            <a:endParaRPr lang="en-US" sz="1300" dirty="0"/>
          </a:p>
        </p:txBody>
      </p:sp>
      <p:sp>
        <p:nvSpPr>
          <p:cNvPr id="18" name="Text 16"/>
          <p:cNvSpPr/>
          <p:nvPr/>
        </p:nvSpPr>
        <p:spPr>
          <a:xfrm>
            <a:off x="5109667" y="2697480"/>
            <a:ext cx="6420917"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빨간 글씨를 붙이고 「방금 고친 것만 되돌려 줘」</a:t>
            </a:r>
            <a:endParaRPr lang="en-US" sz="1300" dirty="0"/>
          </a:p>
        </p:txBody>
      </p:sp>
      <p:sp>
        <p:nvSpPr>
          <p:cNvPr id="19" name="Shape 17"/>
          <p:cNvSpPr/>
          <p:nvPr/>
        </p:nvSpPr>
        <p:spPr>
          <a:xfrm>
            <a:off x="530352" y="3209544"/>
            <a:ext cx="11128248" cy="512064"/>
          </a:xfrm>
          <a:prstGeom prst="rect">
            <a:avLst/>
          </a:prstGeom>
          <a:solidFill>
            <a:srgbClr val="F1F2F4"/>
          </a:solidFill>
          <a:ln w="9525">
            <a:solidFill>
              <a:srgbClr val="E0E3E7"/>
            </a:solidFill>
            <a:prstDash val="solid"/>
          </a:ln>
        </p:spPr>
      </p:sp>
      <p:sp>
        <p:nvSpPr>
          <p:cNvPr id="20" name="Text 18"/>
          <p:cNvSpPr/>
          <p:nvPr/>
        </p:nvSpPr>
        <p:spPr>
          <a:xfrm>
            <a:off x="658368" y="3209544"/>
            <a:ext cx="4195267"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AI가 여러 파일을 고쳤다</a:t>
            </a:r>
            <a:endParaRPr lang="en-US" sz="1300" dirty="0"/>
          </a:p>
        </p:txBody>
      </p:sp>
      <p:sp>
        <p:nvSpPr>
          <p:cNvPr id="21" name="Text 19"/>
          <p:cNvSpPr/>
          <p:nvPr/>
        </p:nvSpPr>
        <p:spPr>
          <a:xfrm>
            <a:off x="5109667" y="3209544"/>
            <a:ext cx="6420917"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「고친 파일과 줄을 모두 알려 줘」 → 되돌리기</a:t>
            </a:r>
            <a:endParaRPr lang="en-US" sz="1300" dirty="0"/>
          </a:p>
        </p:txBody>
      </p:sp>
      <p:sp>
        <p:nvSpPr>
          <p:cNvPr id="22" name="Shape 20"/>
          <p:cNvSpPr/>
          <p:nvPr/>
        </p:nvSpPr>
        <p:spPr>
          <a:xfrm>
            <a:off x="530352" y="3721608"/>
            <a:ext cx="11128248" cy="512064"/>
          </a:xfrm>
          <a:prstGeom prst="rect">
            <a:avLst/>
          </a:prstGeom>
          <a:solidFill>
            <a:srgbClr val="FFFFFF"/>
          </a:solidFill>
          <a:ln w="9525">
            <a:solidFill>
              <a:srgbClr val="E0E3E7"/>
            </a:solidFill>
            <a:prstDash val="solid"/>
          </a:ln>
        </p:spPr>
      </p:sp>
      <p:sp>
        <p:nvSpPr>
          <p:cNvPr id="23" name="Text 21"/>
          <p:cNvSpPr/>
          <p:nvPr/>
        </p:nvSpPr>
        <p:spPr>
          <a:xfrm>
            <a:off x="658368" y="3721608"/>
            <a:ext cx="4195267"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AI가 npm install을 하자고 한다</a:t>
            </a:r>
            <a:endParaRPr lang="en-US" sz="1300" dirty="0"/>
          </a:p>
        </p:txBody>
      </p:sp>
      <p:sp>
        <p:nvSpPr>
          <p:cNvPr id="24" name="Text 22"/>
          <p:cNvSpPr/>
          <p:nvPr/>
        </p:nvSpPr>
        <p:spPr>
          <a:xfrm>
            <a:off x="5109667" y="3721608"/>
            <a:ext cx="6420917"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하지 않는다 · 「새 패키지 없이 하는 방법」</a:t>
            </a:r>
            <a:endParaRPr lang="en-US" sz="1300" dirty="0"/>
          </a:p>
        </p:txBody>
      </p:sp>
      <p:sp>
        <p:nvSpPr>
          <p:cNvPr id="25" name="Shape 23"/>
          <p:cNvSpPr/>
          <p:nvPr/>
        </p:nvSpPr>
        <p:spPr>
          <a:xfrm>
            <a:off x="530352" y="4233672"/>
            <a:ext cx="11128248" cy="512064"/>
          </a:xfrm>
          <a:prstGeom prst="rect">
            <a:avLst/>
          </a:prstGeom>
          <a:solidFill>
            <a:srgbClr val="F1F2F4"/>
          </a:solidFill>
          <a:ln w="9525">
            <a:solidFill>
              <a:srgbClr val="E0E3E7"/>
            </a:solidFill>
            <a:prstDash val="solid"/>
          </a:ln>
        </p:spPr>
      </p:sp>
      <p:sp>
        <p:nvSpPr>
          <p:cNvPr id="26" name="Text 24"/>
          <p:cNvSpPr/>
          <p:nvPr/>
        </p:nvSpPr>
        <p:spPr>
          <a:xfrm>
            <a:off x="658368" y="4233672"/>
            <a:ext cx="4195267"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12_test_record.md가 거의 비었다</a:t>
            </a:r>
            <a:endParaRPr lang="en-US" sz="1300" dirty="0"/>
          </a:p>
        </p:txBody>
      </p:sp>
      <p:sp>
        <p:nvSpPr>
          <p:cNvPr id="27" name="Text 25"/>
          <p:cNvSpPr/>
          <p:nvPr/>
        </p:nvSpPr>
        <p:spPr>
          <a:xfrm>
            <a:off x="5109667" y="4233672"/>
            <a:ext cx="6420917"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대표 정상 흐름을 지금 해 보고 2항부터</a:t>
            </a:r>
            <a:endParaRPr lang="en-US" sz="1300" dirty="0"/>
          </a:p>
        </p:txBody>
      </p:sp>
      <p:sp>
        <p:nvSpPr>
          <p:cNvPr id="28" name="Shape 26"/>
          <p:cNvSpPr/>
          <p:nvPr/>
        </p:nvSpPr>
        <p:spPr>
          <a:xfrm>
            <a:off x="530352" y="4745736"/>
            <a:ext cx="11128248" cy="512064"/>
          </a:xfrm>
          <a:prstGeom prst="rect">
            <a:avLst/>
          </a:prstGeom>
          <a:solidFill>
            <a:srgbClr val="FFFFFF"/>
          </a:solidFill>
          <a:ln w="9525">
            <a:solidFill>
              <a:srgbClr val="E0E3E7"/>
            </a:solidFill>
            <a:prstDash val="solid"/>
          </a:ln>
        </p:spPr>
      </p:sp>
      <p:sp>
        <p:nvSpPr>
          <p:cNvPr id="29" name="Text 27"/>
          <p:cNvSpPr/>
          <p:nvPr/>
        </p:nvSpPr>
        <p:spPr>
          <a:xfrm>
            <a:off x="658368" y="4745736"/>
            <a:ext cx="4195267"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FreeUsageLimitError · 429</a:t>
            </a:r>
            <a:endParaRPr lang="en-US" sz="1300" dirty="0"/>
          </a:p>
        </p:txBody>
      </p:sp>
      <p:sp>
        <p:nvSpPr>
          <p:cNvPr id="30" name="Text 28"/>
          <p:cNvSpPr/>
          <p:nvPr/>
        </p:nvSpPr>
        <p:spPr>
          <a:xfrm>
            <a:off x="5109667" y="4745736"/>
            <a:ext cx="6420917"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1~2분 기다렸다 같은 요청 · 그동안 10항</a:t>
            </a:r>
            <a:endParaRPr lang="en-US" sz="1300" dirty="0"/>
          </a:p>
        </p:txBody>
      </p:sp>
      <p:sp>
        <p:nvSpPr>
          <p:cNvPr id="31" name="Shape 29"/>
          <p:cNvSpPr/>
          <p:nvPr/>
        </p:nvSpPr>
        <p:spPr>
          <a:xfrm>
            <a:off x="530352" y="5349240"/>
            <a:ext cx="11128248" cy="457200"/>
          </a:xfrm>
          <a:prstGeom prst="roundRect">
            <a:avLst>
              <a:gd name="adj" fmla="val 44000"/>
            </a:avLst>
          </a:prstGeom>
          <a:solidFill>
            <a:srgbClr val="FF5C00"/>
          </a:solidFill>
          <a:ln w="12700">
            <a:solidFill>
              <a:srgbClr val="FF5C00"/>
            </a:solidFill>
            <a:prstDash val="solid"/>
          </a:ln>
        </p:spPr>
      </p:sp>
      <p:sp>
        <p:nvSpPr>
          <p:cNvPr id="32" name="Text 30"/>
          <p:cNvSpPr/>
          <p:nvPr/>
        </p:nvSpPr>
        <p:spPr>
          <a:xfrm>
            <a:off x="731520" y="5349240"/>
            <a:ext cx="10725912"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IBM Plex Sans KR" pitchFamily="34" charset="0"/>
                <a:ea typeface="IBM Plex Sans KR" pitchFamily="34" charset="-122"/>
                <a:cs typeface="IBM Plex Sans KR" pitchFamily="34" charset="-120"/>
              </a:rPr>
              <a:t>서비스가 아예 켜지지 않으면 더 고치지 말고 바로 손을 든다</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다음 차시 · 13-2 (바로 이어서)</a:t>
            </a:r>
            <a:endParaRPr lang="en-US" sz="1200" dirty="0"/>
          </a:p>
        </p:txBody>
      </p:sp>
      <p:sp>
        <p:nvSpPr>
          <p:cNvPr id="4" name="Text 2"/>
          <p:cNvSpPr/>
          <p:nvPr/>
        </p:nvSpPr>
        <p:spPr>
          <a:xfrm>
            <a:off x="530352" y="1828800"/>
            <a:ext cx="10424160" cy="1920240"/>
          </a:xfrm>
          <a:prstGeom prst="rect">
            <a:avLst/>
          </a:prstGeom>
          <a:noFill/>
          <a:ln/>
        </p:spPr>
        <p:txBody>
          <a:bodyPr wrap="square" lIns="0" tIns="0" rIns="0" bIns="0" rtlCol="0" anchor="ctr"/>
          <a:lstStyle/>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가장 위험한 것부터</a:t>
            </a:r>
            <a:endParaRPr lang="en-US" sz="3800" dirty="0"/>
          </a:p>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가장 작게, 같은 조건으로</a:t>
            </a:r>
            <a:endParaRPr lang="en-US" sz="3800" dirty="0"/>
          </a:p>
        </p:txBody>
      </p:sp>
      <p:sp>
        <p:nvSpPr>
          <p:cNvPr id="5" name="Text 3"/>
          <p:cNvSpPr/>
          <p:nvPr/>
        </p:nvSpPr>
        <p:spPr>
          <a:xfrm>
            <a:off x="530352" y="379476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다음 차시에는 고치지 않고</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실행해 보이고, 설명을 쓰고, ZIP으로 냅니다.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13-1 · 18쪽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2026-10-29T11:54:18Z</dcterms:created>
  <dcterms:modified xsi:type="dcterms:W3CDTF">2026-10-29T11:54:18Z</dcterms:modified>
</cp:coreProperties>
</file>