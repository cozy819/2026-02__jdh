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32c222fbc641e7" /><Relationship Type="http://schemas.openxmlformats.org/officeDocument/2006/relationships/extended-properties" Target="/docProps/app.xml" Id="R0d67f7a338e048a9" /><Relationship Type="http://schemas.openxmlformats.org/officeDocument/2006/relationships/officeDocument" Target="/ppt/presentation.xml" Id="R1ae8012487f44f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d50ececb8a4383"/>
  </p:sldMasterIdLst>
  <p:notesMasterIdLst>
    <p:notesMasterId xmlns:r="http://schemas.openxmlformats.org/officeDocument/2006/relationships" r:id="Ra319be44a36746a3"/>
  </p:notesMasterIdLst>
  <p:sldIdLst>
    <p:sldId xmlns:r="http://schemas.openxmlformats.org/officeDocument/2006/relationships" id="256" r:id="Re3edbbc5e3554ef3"/>
    <p:sldId xmlns:r="http://schemas.openxmlformats.org/officeDocument/2006/relationships" id="257" r:id="Rb247d287a14445c0"/>
    <p:sldId xmlns:r="http://schemas.openxmlformats.org/officeDocument/2006/relationships" id="258" r:id="R767767c46b224e62"/>
    <p:sldId xmlns:r="http://schemas.openxmlformats.org/officeDocument/2006/relationships" id="259" r:id="Ra46170e91a5748a9"/>
    <p:sldId xmlns:r="http://schemas.openxmlformats.org/officeDocument/2006/relationships" id="260" r:id="Ra90f228cba2a4088"/>
    <p:sldId xmlns:r="http://schemas.openxmlformats.org/officeDocument/2006/relationships" id="261" r:id="R8c30485084624e2c"/>
    <p:sldId xmlns:r="http://schemas.openxmlformats.org/officeDocument/2006/relationships" id="262" r:id="R6deb0217246d422a"/>
    <p:sldId xmlns:r="http://schemas.openxmlformats.org/officeDocument/2006/relationships" id="263" r:id="Rdf770f7c75464a32"/>
    <p:sldId xmlns:r="http://schemas.openxmlformats.org/officeDocument/2006/relationships" id="264" r:id="Rd3fefe3332cb4e82"/>
    <p:sldId xmlns:r="http://schemas.openxmlformats.org/officeDocument/2006/relationships" id="265" r:id="R5936b8c5f5574e07"/>
    <p:sldId xmlns:r="http://schemas.openxmlformats.org/officeDocument/2006/relationships" id="266" r:id="R1756ac95defd4676"/>
    <p:sldId xmlns:r="http://schemas.openxmlformats.org/officeDocument/2006/relationships" id="267" r:id="R5016883bc1944146"/>
    <p:sldId xmlns:r="http://schemas.openxmlformats.org/officeDocument/2006/relationships" id="268" r:id="Rcebbda47238b4e5b"/>
    <p:sldId xmlns:r="http://schemas.openxmlformats.org/officeDocument/2006/relationships" id="269" r:id="Rf00b1383475a4d0c"/>
    <p:sldId xmlns:r="http://schemas.openxmlformats.org/officeDocument/2006/relationships" id="270" r:id="Ra0ea7e2ff2c34e3a"/>
    <p:sldId xmlns:r="http://schemas.openxmlformats.org/officeDocument/2006/relationships" id="271" r:id="R1cd92d29fb854d34"/>
    <p:sldId xmlns:r="http://schemas.openxmlformats.org/officeDocument/2006/relationships" id="272" r:id="Ra7bf1be5ea874551"/>
  </p:sldIdLst>
  <p:sldSz cx="12191695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adbb0961114695" /><Relationship Type="http://schemas.openxmlformats.org/officeDocument/2006/relationships/slideMaster" Target="/ppt/slideMasters/slideMaster1.xml" Id="R84d50ececb8a4383" /><Relationship Type="http://schemas.openxmlformats.org/officeDocument/2006/relationships/notesMaster" Target="/ppt/notesMasters/notesMaster1.xml" Id="Ra319be44a36746a3" /><Relationship Type="http://schemas.openxmlformats.org/officeDocument/2006/relationships/presProps" Target="/ppt/presProps.xml" Id="Ra26b64056bd6414c" /><Relationship Type="http://schemas.openxmlformats.org/officeDocument/2006/relationships/viewProps" Target="/ppt/viewProps.xml" Id="R553cbe0ec95a4885" /><Relationship Type="http://schemas.openxmlformats.org/officeDocument/2006/relationships/tableStyles" Target="/ppt/tableStyles.xml" Id="R1bcff33e83484403" /><Relationship Type="http://schemas.openxmlformats.org/officeDocument/2006/relationships/slide" Target="/ppt/slides/slide1.xml" Id="Re3edbbc5e3554ef3" /><Relationship Type="http://schemas.openxmlformats.org/officeDocument/2006/relationships/slide" Target="/ppt/slides/slide2.xml" Id="Rb247d287a14445c0" /><Relationship Type="http://schemas.openxmlformats.org/officeDocument/2006/relationships/slide" Target="/ppt/slides/slide3.xml" Id="R767767c46b224e62" /><Relationship Type="http://schemas.openxmlformats.org/officeDocument/2006/relationships/slide" Target="/ppt/slides/slide4.xml" Id="Ra46170e91a5748a9" /><Relationship Type="http://schemas.openxmlformats.org/officeDocument/2006/relationships/slide" Target="/ppt/slides/slide5.xml" Id="Ra90f228cba2a4088" /><Relationship Type="http://schemas.openxmlformats.org/officeDocument/2006/relationships/slide" Target="/ppt/slides/slide6.xml" Id="R8c30485084624e2c" /><Relationship Type="http://schemas.openxmlformats.org/officeDocument/2006/relationships/slide" Target="/ppt/slides/slide7.xml" Id="R6deb0217246d422a" /><Relationship Type="http://schemas.openxmlformats.org/officeDocument/2006/relationships/slide" Target="/ppt/slides/slide8.xml" Id="Rdf770f7c75464a32" /><Relationship Type="http://schemas.openxmlformats.org/officeDocument/2006/relationships/slide" Target="/ppt/slides/slide9.xml" Id="Rd3fefe3332cb4e82" /><Relationship Type="http://schemas.openxmlformats.org/officeDocument/2006/relationships/slide" Target="/ppt/slides/slide10.xml" Id="R5936b8c5f5574e07" /><Relationship Type="http://schemas.openxmlformats.org/officeDocument/2006/relationships/slide" Target="/ppt/slides/slide11.xml" Id="R1756ac95defd4676" /><Relationship Type="http://schemas.openxmlformats.org/officeDocument/2006/relationships/slide" Target="/ppt/slides/slide12.xml" Id="R5016883bc1944146" /><Relationship Type="http://schemas.openxmlformats.org/officeDocument/2006/relationships/slide" Target="/ppt/slides/slide13.xml" Id="Rcebbda47238b4e5b" /><Relationship Type="http://schemas.openxmlformats.org/officeDocument/2006/relationships/slide" Target="/ppt/slides/slide14.xml" Id="Rf00b1383475a4d0c" /><Relationship Type="http://schemas.openxmlformats.org/officeDocument/2006/relationships/slide" Target="/ppt/slides/slide15.xml" Id="Ra0ea7e2ff2c34e3a" /><Relationship Type="http://schemas.openxmlformats.org/officeDocument/2006/relationships/slide" Target="/ppt/slides/slide16.xml" Id="R1cd92d29fb854d34" /><Relationship Type="http://schemas.openxmlformats.org/officeDocument/2006/relationships/slide" Target="/ppt/slides/slide17.xml" Id="Ra7bf1be5ea8745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ebd30793044f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a8b50c1d7c4213" /><Relationship Type="http://schemas.openxmlformats.org/officeDocument/2006/relationships/notesMaster" Target="/ppt/notesMasters/notesMaster1.xml" Id="R2d5eb5eec5c04b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b089db766645ac" /><Relationship Type="http://schemas.openxmlformats.org/officeDocument/2006/relationships/notesMaster" Target="/ppt/notesMasters/notesMaster1.xml" Id="R244e2030a3dd4f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899ab1fb59434f" /><Relationship Type="http://schemas.openxmlformats.org/officeDocument/2006/relationships/notesMaster" Target="/ppt/notesMasters/notesMaster1.xml" Id="R5c984ca18c5a45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22f52e975d94f8c" /><Relationship Type="http://schemas.openxmlformats.org/officeDocument/2006/relationships/notesMaster" Target="/ppt/notesMasters/notesMaster1.xml" Id="Ra5067383d75f47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b8cc8b1d224489" /><Relationship Type="http://schemas.openxmlformats.org/officeDocument/2006/relationships/notesMaster" Target="/ppt/notesMasters/notesMaster1.xml" Id="R6873ebee8b5841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31e92b9e45465c" /><Relationship Type="http://schemas.openxmlformats.org/officeDocument/2006/relationships/notesMaster" Target="/ppt/notesMasters/notesMaster1.xml" Id="Rcdfddfdfe0aa46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2e4bfc5a3b4f85" /><Relationship Type="http://schemas.openxmlformats.org/officeDocument/2006/relationships/notesMaster" Target="/ppt/notesMasters/notesMaster1.xml" Id="Rf1580bfdf2d44f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94d865feeb4d09" /><Relationship Type="http://schemas.openxmlformats.org/officeDocument/2006/relationships/notesMaster" Target="/ppt/notesMasters/notesMaster1.xml" Id="R66b9461463294b5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cb63b10edd6457a" /><Relationship Type="http://schemas.openxmlformats.org/officeDocument/2006/relationships/notesMaster" Target="/ppt/notesMasters/notesMaster1.xml" Id="Rf1ff03ee221142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1e4aa0c49d46ef" /><Relationship Type="http://schemas.openxmlformats.org/officeDocument/2006/relationships/notesMaster" Target="/ppt/notesMasters/notesMaster1.xml" Id="R80530644bd894f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3d50bbb661c49c3" /><Relationship Type="http://schemas.openxmlformats.org/officeDocument/2006/relationships/notesMaster" Target="/ppt/notesMasters/notesMaster1.xml" Id="R22fe3c4f916e4ec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cfee98a08084f7c" /><Relationship Type="http://schemas.openxmlformats.org/officeDocument/2006/relationships/notesMaster" Target="/ppt/notesMasters/notesMaster1.xml" Id="R9fc99953ec0b4a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cf67daf05e44940" /><Relationship Type="http://schemas.openxmlformats.org/officeDocument/2006/relationships/notesMaster" Target="/ppt/notesMasters/notesMaster1.xml" Id="R3fe8af124b9942b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fd54812dd0243e3" /><Relationship Type="http://schemas.openxmlformats.org/officeDocument/2006/relationships/notesMaster" Target="/ppt/notesMasters/notesMaster1.xml" Id="R3e379f45c1b549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582949d79b64bf9" /><Relationship Type="http://schemas.openxmlformats.org/officeDocument/2006/relationships/notesMaster" Target="/ppt/notesMasters/notesMaster1.xml" Id="R8f5ed97222774d3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039acfbc2614dfb" /><Relationship Type="http://schemas.openxmlformats.org/officeDocument/2006/relationships/notesMaster" Target="/ppt/notesMasters/notesMaster1.xml" Id="R5f070c66508e4bb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c4afcb6a8b846b5" /><Relationship Type="http://schemas.openxmlformats.org/officeDocument/2006/relationships/notesMaster" Target="/ppt/notesMasters/notesMaster1.xml" Id="Ra5d8daf08ccc41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[0–2분] 표지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이번 차시는 수행평가를 시작하기 전에 무엇을 준비하고 무엇을 남길지 알아보는 시간이다. 다음 차시에는 이 순서대로 학생이 직접 수행한다.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[2–5분] 수업 자료 준비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05 학생용 ZIP을 내려받아 압축을 풀고, 나온 05 폴더를 개인 프로젝트 폴더 안에 넣는다. CSV, Notebook, 환경 파일이 함께 들어 있는지 확인한다. 제출할 때 파일 업로드를 위해 Google 계정 로그인이 필요하다는 점도 미리 안내한다.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[5–8분] 지난 시간과 연결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4-2에서 CSV의 열 이름과 값 모양을 읽었다. 이번에는 12,960행이라 전체를 눈으로 읽지 않고 구조와 요약으로 살펴본다.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[8–11분] 수행평가에서 확인하는 네 단계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교과서와 같은 네 단계로 설명한다. 계획 단계에서 알맞은 그래프를 고르고 AI가 제시한 작업 계획을 확인한다. 실행 뒤에는 결과를 검토하고 그래프를 통해 보이는 내용을 해석한다.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[11–14분] 폴더 구조와 환경 정보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Notebook과 CSV의 상대적인 위치는 그대로 유지해야 파일을 찾을 수 있다. .venv는 컴퓨터마다 달라 직접 복사하지 않고, pyproject.toml과 uv.lock으로 필요한 환경 정보를 전한다.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[14–16분] 프로젝트 공유의 기준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이번 쪽에서는 일반적인 프로젝트 공유에 필요한 내용만 정리한다. Notebook과 CSV는 작업과 원본을 전하고, README는 프로젝트를 설명하며, pyproject.toml과 uv.lock은 실행 환경을 다시 만드는 데 쓰인다.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[16–18분] 작업과 원본 공유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Notebook과 CSV는 작업을 확인하고 다시 실행하는 프로젝트 파일이다. OpenCode JSON은 AI 활용 과정을 확인하기 위한 평가용 기록이며 일반 공유에는 보통 넣지 않는다.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[18–21분] 환경 정보 공유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.venv는 용량이 크고 컴퓨터의 경로와 운영체제에 영향을 받는다. pyproject.toml과 uv.lock을 보내면 받은 사람은 uv sync를 실행해 자기 컴퓨터에 맞는 .venv를 만들 수 있다.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[21–23분] 다시 만들 파일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.venv는 다른 컴퓨터에서 그대로 쓰는 폴더가 아니다. 받은 사람은 환경 정보 파일을 바탕으로 uv sync를 실행해 자기 컴퓨터에 맞는 .venv를 만든다. 원본은 건드리지 않고 제출용 사본에서만 제외한다.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[23–25분] 공유 파일 정리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앞의 내용을 반복 설명하지 않고 실제 선택 기준만 정리한다. uv.lock은 상황에 따라 선택할 수 있지만 이번 평가에서는 제출한다. OpenCode JSON은 일반 공유물이 아니라 평가용으로 추가한다.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[25–29분] 폴더와 환경 준비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05 폴더 전체를 VS Code로 연다. uv sync는 직접 실행하거나 OpenCode에 맡긴다. 맡길 때는 pip가 아니라 uv를 쓴다고 알려 준다.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[29–32분] Notebook 커널 선택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Select Kernel을 누른 뒤 Python Environments...를 연다. 목록에 05의 .venv가 보이면 선택한다. 보이지 않으면 Create Python Environment를 누르고 05\.venv\Scripts\python.exe 경로를 선택한다. 마지막에 Notebook 오른쪽 위에 .venv가 표시되는지 확인한다.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[32–35분] 수행평가 데이터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열 이름과 값의 기본 모양만 알려 준다. 이 단계에서 데이터의 결론을 대신 해석해 주지 않는다.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[35–39분] AI에게 일을 나누기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학생이 시각화할 내용을 고른 뒤 AI가 작업 계획을 먼저 제시하게 한다. 계획이 목표에 맞으면 승인하고, 부족하면 계획부터 고친다.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[39–42분] 큰 자료 확인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열 이름과 몇 개의 값을 보고 자료가 무엇을 기록한 것인지 파악한다. 학생이 직접 살펴보거나 AI에게 설명을 요청할 수 있다. 무엇을 보고 싶은지 정한 뒤 그 목적에 알맞은 그래프를 고른다.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[42–44분] 평가용 AI 대화 기록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OpenCode 대화 JSON은 일반 프로젝트 공유 파일이 아니다. 이번 수행평가에서 AI 활용 과정을 확인하기 위해서만 추가로 제출하며, 추출 방법은 5-2에서 안내한다.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[44–45분] 다음 차시 전 환경 확인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5-2의 평가 과정이나 제출 점검을 미리 넣지 않는다. 05 폴더, uv sync, .venv 커널, 제공된 CSV까지 실제 실행 준비만 확인한다.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1c1e26657741e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2f0fbaf5cc429a" /><Relationship Type="http://schemas.openxmlformats.org/officeDocument/2006/relationships/slideLayout" Target="/ppt/slideLayouts/slideLayout1.xml" Id="Rdd7a3a15276d489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7a3a15276d489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6d4658a1e4fb4" /><Relationship Type="http://schemas.openxmlformats.org/officeDocument/2006/relationships/notesSlide" Target="/ppt/notesSlides/notesSlide1.xml" Id="R316fdc95a46e4b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d87d74a2e4d56" /><Relationship Type="http://schemas.openxmlformats.org/officeDocument/2006/relationships/notesSlide" Target="/ppt/notesSlides/notesSlide2.xml" Id="R4fbda8e316bf48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6d36c6fa5f49d4" /><Relationship Type="http://schemas.openxmlformats.org/officeDocument/2006/relationships/notesSlide" Target="/ppt/notesSlides/notesSlide3.xml" Id="R303666e85c8b41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9b40cd37441b7" /><Relationship Type="http://schemas.openxmlformats.org/officeDocument/2006/relationships/notesSlide" Target="/ppt/notesSlides/notesSlide4.xml" Id="Racb2030b169f43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e02f15675342f2" /><Relationship Type="http://schemas.openxmlformats.org/officeDocument/2006/relationships/notesSlide" Target="/ppt/notesSlides/notesSlide5.xml" Id="R10c62b72add346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ff5f4ee4914f4f" /><Relationship Type="http://schemas.openxmlformats.org/officeDocument/2006/relationships/notesSlide" Target="/ppt/notesSlides/notesSlide6.xml" Id="R0fece75003174c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69331bf18a457b" /><Relationship Type="http://schemas.openxmlformats.org/officeDocument/2006/relationships/notesSlide" Target="/ppt/notesSlides/notesSlide7.xml" Id="Ra99dcff021d042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ef73ef3cc48e7" /><Relationship Type="http://schemas.openxmlformats.org/officeDocument/2006/relationships/notesSlide" Target="/ppt/notesSlides/notesSlide8.xml" Id="Re77f269bb6f044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4fa33aef14a84" /><Relationship Type="http://schemas.openxmlformats.org/officeDocument/2006/relationships/notesSlide" Target="/ppt/notesSlides/notesSlide9.xml" Id="R794be587d9e047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546f096c34bf7" /><Relationship Type="http://schemas.openxmlformats.org/officeDocument/2006/relationships/notesSlide" Target="/ppt/notesSlides/notesSlide10.xml" Id="Rd2478d12fef74dc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44c411bdb341de" /><Relationship Type="http://schemas.openxmlformats.org/officeDocument/2006/relationships/notesSlide" Target="/ppt/notesSlides/notesSlide11.xml" Id="Ra4026e6761d245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2dfbca2db3473f" /><Relationship Type="http://schemas.openxmlformats.org/officeDocument/2006/relationships/image" Target="/ppt/media/image.png" Id="Rb4bb7b14abab4e82" /><Relationship Type="http://schemas.openxmlformats.org/officeDocument/2006/relationships/notesSlide" Target="/ppt/notesSlides/notesSlide12.xml" Id="R2c0df5c49788432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86795267224fbe" /><Relationship Type="http://schemas.openxmlformats.org/officeDocument/2006/relationships/notesSlide" Target="/ppt/notesSlides/notesSlide13.xml" Id="Rd038515d6cc242b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20ef38332e488f" /><Relationship Type="http://schemas.openxmlformats.org/officeDocument/2006/relationships/notesSlide" Target="/ppt/notesSlides/notesSlide14.xml" Id="Rc0fdfa6d36fd48d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ad43f41604036" /><Relationship Type="http://schemas.openxmlformats.org/officeDocument/2006/relationships/notesSlide" Target="/ppt/notesSlides/notesSlide15.xml" Id="R9a0889a8bfb542b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adc4eb748547d0" /><Relationship Type="http://schemas.openxmlformats.org/officeDocument/2006/relationships/notesSlide" Target="/ppt/notesSlides/notesSlide16.xml" Id="Rf488767a447f494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caa16ce4944ae" /><Relationship Type="http://schemas.openxmlformats.org/officeDocument/2006/relationships/notesSlide" Target="/ppt/notesSlides/notesSlide17.xml" Id="R253896c2fcd54b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D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AA96323-37DB-4DD0-AE93-FA16D52B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39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4450E0D-48DE-4201-B06D-E37EA556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17320"/>
            <a:ext cx="9144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5회 · 첫째 차시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254BB9C-3512-44BC-AB8A-E2697CD1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104241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수행평가 1 안내</a:t>
            </a:r>
            <a:endParaRPr sz="4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7243343-CF18-4501-8AFD-41B175AA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46120"/>
            <a:ext cx="9966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3200"/>
              </a:lnSpc>
              <a:buNone/>
            </a:pPr>
            <a:r>
              <a:rPr sz="1900">
                <a:solidFill>
                  <a:srgbClr val="A7ACB3"/>
                </a:solidFill>
                <a:latin typeface="IBM Plex Sans KR"/>
                <a:ea typeface="IBM Plex Sans KR"/>
                <a:cs typeface="IBM Plex Sans KR"/>
              </a:rPr>
              <a:t>AI와 함께 만든 과정을</a:t>
            </a:r>
            <a:endParaRPr sz="1900"/>
          </a:p>
          <a:p xmlns:a="http://schemas.openxmlformats.org/drawingml/2006/main">
            <a:pPr marL="0" indent="0">
              <a:lnSpc>
                <a:spcPts val="3200"/>
              </a:lnSpc>
              <a:buNone/>
            </a:pPr>
            <a:r>
              <a:rPr sz="1900">
                <a:solidFill>
                  <a:srgbClr val="A7ACB3"/>
                </a:solidFill>
                <a:latin typeface="IBM Plex Sans KR"/>
                <a:ea typeface="IBM Plex Sans KR"/>
                <a:cs typeface="IBM Plex Sans KR"/>
              </a:rPr>
              <a:t>프로젝트로 남깁니다.</a:t>
            </a:r>
            <a:endParaRPr sz="19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3E741D1-CA78-4A89-AB29-225889B2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7315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1쪽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F14FF14-A360-484B-81EB-6DD809F5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01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9143271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E1739E1-951F-4C17-BBEF-8A8E15A5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9B0B943-B68E-472F-B1CA-9F0BC039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E6C602E-2341-4FA3-804A-F616CD03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CAFB9CF-789B-4ACB-A29E-DFD84815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자료를 내려받고 수행평가 준비를 시작한다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3EC739E-03FB-4BF2-B0F2-1BD3C8FB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61A76E3-379D-480D-811E-94D0C545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01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5E2C7A2-BCDF-453F-865C-A2FFB1C4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2쪽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8016F44-7650-440A-92FD-310917D3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02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06A8D9A-6A7D-4A41-8C15-A6642DA6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8638C51-B695-4253-BF34-84758ADF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5501D1-3059-4887-B22D-48AB3BD9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ZIP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6A8C895-A21B-4AFF-9897-C902D0F6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05_student_files.zip</a:t>
            </a:r>
            <a:endParaRPr sz="122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6715E1F-FA9D-432D-A128-A59D0654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5526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C2E4FF4-770A-4639-837B-1DA4A91B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566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8680D6B-E989-487A-BA47-B4AFADFB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8446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26F0E3D-614B-48C9-87F5-6E9AEF45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8446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D3F6369-1158-43EB-8934-CE96D4A9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8446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05 폴더 확인</a:t>
            </a:r>
            <a:endParaRPr sz="122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6DD58F5-7E48-4FDB-9AEE-0F09FB5E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740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8CEDA32-008F-4753-9311-232F9230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80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C19B56B-38C0-4126-BACB-14C45053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</a:t>
            </a:r>
            <a:endParaRPr sz="1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2295D75-DBB9-44DD-A20E-621EB540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개인 프로젝트</a:t>
            </a:r>
            <a:endParaRPr sz="16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47E898B-01BD-4884-8589-9466A5E0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05 폴더 넣기</a:t>
            </a:r>
            <a:endParaRPr sz="122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25AC702-124D-4D1D-A0F4-4AB092C3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5954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B517CFDA-39E8-4CC1-8C25-677E86E9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5994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C82DE8E-4F9E-4872-875E-A6BCDA26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E7C86"/>
                </a:solidFill>
                <a:latin typeface="IBM Plex Mono"/>
                <a:ea typeface="IBM Plex Mono"/>
                <a:cs typeface="IBM Plex Mono"/>
              </a:rPr>
              <a:t>4</a:t>
            </a:r>
            <a:endParaRPr sz="18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19EF387-F891-402E-BCB5-3D2AF473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준비 완료</a:t>
            </a:r>
            <a:endParaRPr sz="16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49D2EB1-F4C7-4080-BE65-305B7D65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CSV · Notebook · 환경 파일</a:t>
            </a:r>
            <a:endParaRPr sz="122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C2464C0D-FA91-40F1-952C-7E4174D4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98348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12700">
            <a:solidFill>
              <a:srgbClr val="FF5C00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AA6A925-0590-4EFE-A585-868C9218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8348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05 폴더를 개인 프로젝트에 넣고, 제출에 쓸 Google 계정도 확인합니다.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4584582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9AEE9A0-100F-46DD-9C05-C697B489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DE22596-6DBD-4CA3-8628-80608881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18A3D7C-06D5-4ABE-8520-8A2992F0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DA2AAB2-8322-4E83-A0BC-BEEE763B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CSV지만 크기가 달라진다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4DF048-1769-49B8-B043-DD56E518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76C7070-2A44-4B0D-8C96-AA245FCE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02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8B866CC-61C7-4BA9-A7EB-C4196FB9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3쪽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5F35169-AB93-4EFE-95AB-0315D28B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03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7AC0023-6ED5-4175-83D4-AF7B4007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20240"/>
            <a:ext cx="5257800" cy="2926080"/>
          </a:xfrm>
          <a:prstGeom xmlns:a="http://schemas.openxmlformats.org/drawingml/2006/main" prst="roundRect">
            <a:avLst>
              <a:gd name="adj" fmla="val 17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227B007-BF9C-4AC2-BD29-2019A4DF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84832"/>
            <a:ext cx="48920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60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4-2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D40F91C-DA95-4505-8A02-F05EE830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77440"/>
            <a:ext cx="48920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첫 몇 행으로 구조 확인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32F1F2B-52E1-4FCD-B466-7F98B7E0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871216"/>
            <a:ext cx="489204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열 이름·값의 모양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Excel과 CSV는 표현만 다르다</a:t>
            </a:r>
            <a:endParaRPr sz="124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22663B9-598D-404F-B40E-67C38A92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920240"/>
            <a:ext cx="5276088" cy="2926080"/>
          </a:xfrm>
          <a:prstGeom xmlns:a="http://schemas.openxmlformats.org/drawingml/2006/main" prst="roundRect">
            <a:avLst>
              <a:gd name="adj" fmla="val 171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F7DA0DA-89A5-4C3E-970B-C1A8C2E1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084832"/>
            <a:ext cx="4910328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60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5회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8DCD1FD-4739-4461-8420-4B7F1B22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377440"/>
            <a:ext cx="491032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1만 행은 자료의 구조와 의미 파악</a:t>
            </a:r>
            <a:endParaRPr sz="16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786D293-E768-4FC8-B472-1031733F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871216"/>
            <a:ext cx="4910328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한 행·각 열의 뜻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보고 싶은 내용과 그래프 선택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911DCC6-4493-422F-874D-BF263B82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1208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F8AAA55-8D50-4897-9969-C4064B2A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1208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전체를 한 줄씩 읽지 않고, 열 이름과 몇 개의 값을 먼저 살펴봅니다.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797503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194E6B9-1B97-409C-BAC6-87BF0334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6C3DC1E-2FAF-4120-BAB9-400928BF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6B49628-467D-4B4A-99C0-88486558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4F6C6B0-4A43-4EFA-B80B-42323F0D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결과와 함께 만든 과정을 본다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311DE51-753E-49F3-BE0F-CA854670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233805D-51ED-4B40-A0EC-D3EFBC1B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03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B7CF1BC-9FAD-492F-BA2F-083151BF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4쪽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19879B1-85E8-4EFF-9A3D-2B220B7D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04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B0BD5EB-3E36-408B-86DB-544D7825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3429000" cy="1417320"/>
          </a:xfrm>
          <a:prstGeom xmlns:a="http://schemas.openxmlformats.org/drawingml/2006/main" prst="roundRect">
            <a:avLst>
              <a:gd name="adj" fmla="val 3548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A90649D-428B-4C61-99A6-1A504A22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52E18FD-C073-4588-963C-5D91DBA9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14016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D1100AE-57C9-47F9-9690-72CB9F36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907792"/>
            <a:ext cx="306324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13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데이터·행·열의 뜻</a:t>
            </a:r>
            <a:endParaRPr sz="113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D23F960-F285-4508-9576-82CF57B3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1828800"/>
            <a:ext cx="3429000" cy="1417320"/>
          </a:xfrm>
          <a:prstGeom xmlns:a="http://schemas.openxmlformats.org/drawingml/2006/main" prst="roundRect">
            <a:avLst>
              <a:gd name="adj" fmla="val 3548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485B54A-1146-4AA4-B930-2FE5C102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93392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A761B3B-EEC0-4CAC-972C-262B122A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414016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그래프 선택</a:t>
            </a:r>
            <a:endParaRPr sz="16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1AF5171-1C6F-44E2-AABE-CF263872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907792"/>
            <a:ext cx="306324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13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시각화에 알맞은가</a:t>
            </a:r>
            <a:endParaRPr sz="113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D86F44B-FAD8-49B3-B6D1-4AF2C130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1828800"/>
            <a:ext cx="3429000" cy="1417320"/>
          </a:xfrm>
          <a:prstGeom xmlns:a="http://schemas.openxmlformats.org/drawingml/2006/main" prst="roundRect">
            <a:avLst>
              <a:gd name="adj" fmla="val 3548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2A8F1C6-F147-4789-9DF0-A25F4B2E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1993392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</a:t>
            </a:r>
            <a:endParaRPr sz="18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E428D36-1C0A-426A-81E2-F54F31E4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2414016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AI 계획</a:t>
            </a:r>
            <a:endParaRPr sz="16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7EAF281-5475-4254-8668-0D5EC526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2907792"/>
            <a:ext cx="306324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13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목표에 맞는가</a:t>
            </a:r>
            <a:endParaRPr sz="113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5C59153-D54B-4386-9316-01C457EB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657600"/>
            <a:ext cx="3429000" cy="1417320"/>
          </a:xfrm>
          <a:prstGeom xmlns:a="http://schemas.openxmlformats.org/drawingml/2006/main" prst="roundRect">
            <a:avLst>
              <a:gd name="adj" fmla="val 3548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F3B7F5E-700D-453C-A92A-4339D958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822192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4</a:t>
            </a:r>
            <a:endParaRPr sz="18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775D6E4-A3A3-4285-9750-059A3385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242816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  <a:endParaRPr sz="16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A5F883D-3F93-406B-94C0-559A28BB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736592"/>
            <a:ext cx="306324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13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승인 후 직접 실행</a:t>
            </a:r>
            <a:endParaRPr sz="113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6D095B1F-ED86-4780-9669-3EC2CBD3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657600"/>
            <a:ext cx="3429000" cy="1417320"/>
          </a:xfrm>
          <a:prstGeom xmlns:a="http://schemas.openxmlformats.org/drawingml/2006/main" prst="roundRect">
            <a:avLst>
              <a:gd name="adj" fmla="val 3548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7D4BC61-7F78-4D8C-9DDF-D16247BDF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822192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E7C86"/>
                </a:solidFill>
                <a:latin typeface="IBM Plex Mono"/>
                <a:ea typeface="IBM Plex Mono"/>
                <a:cs typeface="IBM Plex Mono"/>
              </a:rPr>
              <a:t>5</a:t>
            </a:r>
            <a:endParaRPr sz="18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620075D2-FFAC-4E7D-89BB-166C2904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242816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  <a:endParaRPr sz="165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6A75976-C31D-433A-9840-F34EBDDB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736592"/>
            <a:ext cx="306324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13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정확성·그래프를 통해 보이는 내용</a:t>
            </a:r>
            <a:endParaRPr sz="113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F4D280C-887E-4C17-8C9B-1EAD9A77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53212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12700">
            <a:solidFill>
              <a:srgbClr val="FF5C00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3C7AF9E-ECCC-4332-BF7B-8E79A00F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3212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AI가 먼저 계획하고, 학생은 계획을 확인한 뒤 실행을 승인합니다.</a:t>
            </a:r>
            <a:endParaRPr sz="1450"/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7B1642-C06B-48A9-A0CF-12527825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66CF23-A254-442D-B338-A82492A4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0"/>
            <a:ext cx="5286375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82A40B-D944-422B-B6DE-2901290D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669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67114F-92C0-446B-BD39-AC1B7C69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1462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CEB05E-D71E-4E3D-9EB4-AA87FEA5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71825"/>
            <a:ext cx="4905375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행·열의 뜻을 확인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AF97CE-51BB-400D-A0BD-A9461BDC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476875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C9C363-40DF-45FE-9397-72EF5D07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30A378-967A-4FF1-9B80-DB524D03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146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9B4B55-EA79-4B8B-B4C1-635AD908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71825"/>
            <a:ext cx="5095875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그래프를 고르고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계획을 확인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B008428-07C1-43E0-B6AD-A1BDDEB9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E575C7-5306-4A1B-91A6-BE0CA705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BE9B47-E752-4F5D-850E-811A510F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D99DF1-1C91-4ED9-8C03-D1DFB75C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91075"/>
            <a:ext cx="4905375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확인한 계획대로 작업하도록 승인하고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결과를 직접 실행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5AEDCE-D50F-4CDB-93DC-6D2E0798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F3EC25-3B7C-4C0F-805B-1AA91AD3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909A89E-6342-433C-A239-324A96AC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338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CA2E2E1-46E6-40F9-9C72-8D97D62A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91075"/>
            <a:ext cx="5095875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그래프를 통해 보이는 내용을 기록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CFADF80-6277-4187-93A2-169158F7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8162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6F31734-DFA1-4117-80DC-1662DC73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149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계획에는 그래프 선택과 AI의 작업 순서 확인이 함께 들어갑니다.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EBAD081-CF7E-4BAE-83C2-037249A3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1DB5F9F-FD6F-4766-9F3A-D7B9745C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B543805-980C-49B1-9F86-9E02CB3B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98AA1-6FD6-442A-AC6B-190B3749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193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282DA1F-DD70-415B-95F4-42F5C869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76575"/>
            <a:ext cx="4905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37745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50D6FE3-06BB-4372-80A9-2ECD05E5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D4A2021-86C4-4211-8136-7A9FA8ED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5F8DD14-1273-44D1-9F1C-E10F10F9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1E83C35-9E45-4159-831A-6EA08DA0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76575"/>
            <a:ext cx="5095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37745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11D5702-5404-4420-90C1-E8C2F206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1C070C9-A219-43CA-BFA5-E7C56130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9D4424C-080E-4C42-B48E-83585562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2E163DF-85F5-4B47-B98E-8B937F0D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91075"/>
            <a:ext cx="4905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37745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25BAC0C-8543-49EC-8ACE-F9B56A2E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B795CA0-A56F-4703-819A-8CC6BDF79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3B41C3C-5866-46CE-B86C-27184F37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338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DC3B70B-F9FF-4AE3-9219-4181C8B6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91075"/>
            <a:ext cx="5095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37745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83982A6-6183-402F-B9C4-AFB02679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A65F0FF-BADC-46AF-8BFD-35DEBCEF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DAC3791-FC46-448F-A36B-9A5EF8F7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7B57148-B1EB-42D8-A0DC-0F7ACBB1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0F2A77D-358D-4CBF-8F64-5F765955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753B45E-A374-47B9-B64B-BA17C5FB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193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E26F6C0-B659-40FD-9274-21F1E7FD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7157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9F12B61-7F78-43D4-AB2F-E73C637C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DB13416-EAAC-4544-8294-AB3FEB34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6352C80-EADB-4C93-A54C-5FB621CB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CB28E95-1CF6-476B-A4DF-1964A60F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28950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7157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D0CFC6C-C84C-4F9B-B9BC-B3CB8869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EFD6EA5-D7AA-41B3-B9D6-EB397942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910A9B8-CDF6-4373-A5AC-EC698B85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FCFBCD6-E8D9-4D65-A653-145282C18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43450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7157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E95070B-9B69-4C61-BDFC-D15AEF40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15FFB36-B5A0-40C6-B5E0-5EF12B96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BB813E6-51BA-4FED-924C-4CDB8A5C8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338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A64C6DB-D96A-4064-B87E-4B01D255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43450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7157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C31DD21-73AA-42BF-9683-D8B458F9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53073DC-8B2A-4303-9395-6F6FD50E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74D46F9-AF5F-43E9-8D2D-7620D6A0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C953789-45B0-472D-A680-8087390F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C108D6F-4B2F-460B-A0A1-2684041B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85B6306-70D2-40B7-8C2B-63E815C1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193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B6BF688-7426-455A-B4F0-73435935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88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E2A20F7-5C19-41EB-8C81-4C74018F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22DE29E-2143-484C-81B7-98E4321B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9B124E1-8E8D-4910-816F-D8E3AAD7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0BF6600-6935-4C49-BF84-462F1F6B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28950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88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CBF6A54-0FBC-4C02-96B5-8E88139D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E4F869C-A8A7-45C7-92DF-D81429F3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C65567A-CB9F-4E73-A833-F888ACF9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E0B87B3-7E70-481A-B8B8-14676EDA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43450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88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A13317A-6DC0-442C-8BCC-10881DCD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83BA93C-40A0-4181-B026-E6E444DD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C7D7538-0AD5-4899-B270-0DF0E79D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338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9100905-4088-4D34-A704-2771B21A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43450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88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A70DF39-BF45-4BCF-A17E-B8B09F54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C4DCA72-1799-4ACC-9919-C4B56A5F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EF78209-F8F4-4CBB-BBEE-55985BFD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BACEE11-6E90-40F8-89EF-2697766D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929E212-38BF-4733-BD0C-FFE04E24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FDDEC88E-9418-4F71-B6E4-5D9087BA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193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37C8B48-1156-4510-BA24-C62FF2BC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4365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F964F61-4C8F-4D8D-894B-D1D3ACFDD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550B6D97-CB87-4004-B812-A0DE8D5D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592BCC4-DA61-4896-AD4F-F4D9E21C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44DB5C08-8521-4914-816E-6F554745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28950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4365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A3D2931-2951-4A0A-B51E-78A2DE57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ED0E5C1-454E-4BAF-9788-003740CD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DE9EAF8-6C46-4199-B97A-52712628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490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69ADC5EE-88B7-4836-8776-2C416A3C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43450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4365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B22961D-162F-4D7E-90BD-EE0A73AC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48B092D-8C34-4465-BA9E-857BCE2A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8B3BE8D6-04AE-4660-BE0D-4DA3685D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338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B95BFC8-5F20-4C61-9BF0-0DA4AC47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43450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4365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0BCD0A95-3A12-4AEF-B4CE-84AAFE51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3A1E7B9F-9E6C-4681-9BC7-C2BED7B2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1DB7DEC-FDBC-4201-814D-EF4DA176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458EFA1-2F99-4621-900C-06AF13F3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37B7107-2706-4366-B6EA-57F3EBC85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0EE8F44-EBC0-4EE8-B291-E2D88402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A37ED3D-BEA5-4134-A07B-11D31416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7F0A1527-B6CE-4FED-BD2F-A3F4579A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D9F6DC84-6A42-439B-B33F-7E352E2E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E1152C03-66C6-46A2-A703-6D42BA8B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B1ADF432-4FCC-4155-92AA-171B29C6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727021AF-7385-4B10-B2F1-6E071739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2EF9AE71-851A-4562-B5EF-BD5AE8C8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53E5D0BD-62BF-44CD-A005-83FD6986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B24A031C-CFE7-4709-BBBB-BCF635C2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E5DCFA70-2F64-48EC-AEB7-423A5A7E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7FB72F66-0978-445A-BABA-74013FFA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62343C6B-EE67-4089-AF1E-A65149CD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6EAA68AD-57F9-4E46-8FA6-4058E751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CDDA3F0C-4846-4476-919D-F6D5ADF1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D707042-C1DA-41C5-827A-DFA749C8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97D96487-453E-401A-8EC5-2F23A77B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E772D2FB-2477-474B-B8FF-4B6C6681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9B8B7032-E427-4C85-94E6-F41BAF01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73E8425F-959B-41BC-AC53-A1659287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6CF4D297-97F1-41A1-9812-1E8FA7CF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44061C6A-A54A-4590-B1C3-0375067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AFBDAC4A-8962-4F4F-9494-A9AD3DF9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59F267F2-EB65-46B7-A6B5-339A78E4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2CADAB5-C689-48F6-83E6-CE44BF87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A4C3E587-7DE8-448C-B4B6-F2C4515C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B9E30AE3-5863-43AE-852B-33EA9AA8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AA3E896C-68A9-4724-A34A-35C4DC58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DDEED27-566A-4DB8-945F-C904A1096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1A0D92B5-A50B-4A96-9C9D-4492BFD7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0B1E181A-AAC7-4727-B29A-AF6B00EF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EF6CA0B3-9FAA-4E80-88EA-A2EDA124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CD4EE376-DE92-4849-9F72-9122D1D7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DB762496-8081-4383-BF4D-9BF0CAB3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B973E9DC-F148-42AD-9C71-2193DA2F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D6B37E51-D8CE-455E-BEB1-AAF9477E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68B67B26-7360-4EA9-8A6D-07E90D8D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40823384-C224-48B5-B1A5-E262DDB2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DE6591DD-67F7-4FA2-973F-77269595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536455F-022A-4ED3-AE0E-D401DAD3E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77321662-42D8-4A53-A471-0DE9484C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7FB95663-D506-4BA2-A39E-C4DD3D5B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044108FF-30C5-4A69-91B3-A859601A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E7EB06E9-6E31-4214-980D-D374046E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600A8549-35ED-48B6-9ACE-5582BACC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6F322B83-E273-46A0-9F29-22D21363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CC595DB3-CFA3-4E39-9AF0-D1026ACC1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53BE55C-AF3F-4860-90C4-8146B898E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D70062DF-4EE4-4F84-BF7A-ECCD96F2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CF7EB87-7EB9-4AC0-9DA4-DD4270D3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3BF7CD8E-AD9C-4E40-AB76-E38B0330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8AF97F84-0DFD-4878-9BC8-9A2920BD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E16D54E2-0C48-43B2-9A63-D2F2F6BD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4E785898-7CB1-4826-AD4C-358D14CF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8002BFC8-784F-49AB-A281-6214A3A1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BEC15CE9-E67E-4CB3-A453-0C97E50B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112D25F9-E874-463F-92D9-59466B1B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8A80B20F-213D-42C3-B5DE-20CF8CE1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2D11110E-C974-4674-B91A-59B3A0A1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C562A0B7-9793-4E76-A7A0-52E7AD7D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ACFC09B2-D60C-4EF6-869A-F8FB486C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50EFCBBA-48BC-478C-8FD4-36E9909A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A89E73E1-9401-4828-B7C0-A06AB8B7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514B8874-509A-4927-AD4B-30A3DD72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AE00AB5D-9590-4EE7-9C96-80709751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45B1188C-9013-47AD-B7C1-49AC1902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69D62FF1-92AE-4A25-BA91-5B242FC4D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계획을 승인한 뒤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Notebook에서 결과를 직접 실행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CB99DE88-D859-4986-BB47-0ADB9968D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C75AF6C3-D4BE-40FA-B048-876C831E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0DE5DE30-927D-4780-8984-2B82D2A4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0F409A60-0130-43D7-A317-BDCA20C0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7FBBE670-9363-4C53-A6AF-E246B497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E759AACD-7626-44E0-B5E5-21EDC021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3A2B633E-D891-400C-8578-5B87478E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4CDD9CA3-A484-4279-A4A5-C504569C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83254873-7202-48C5-9EA8-CD788E96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56A57B64-0EEA-40B6-BB64-533C2368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F3D50E48-C882-4A8E-84FA-236EBD64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BF15A9E7-1682-4399-9842-BF9B4DAA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0F152C39-7FB1-4927-A8CF-D6FB2C89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7F78A640-68C7-47EA-9E90-92C12BCA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93FC8065-744B-4BE7-99EA-EAB0F749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2328AD78-9BA7-4CA4-BC6A-04C5E3D6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9833E7AE-8CFF-496B-8B92-F236E4F3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8FD38A27-BFC8-404F-B08D-D0878CD1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9887CC62-C81F-4C6F-BED5-DEA62EA9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확인한 계획에 따라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필요한 작업을 실제로 수행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D9E23A02-E045-4445-86C9-A57B624F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248786BC-184E-483E-BBBC-A73A1788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D79D6E96-B856-44F4-A403-DF4B7BA6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3D6C4DD5-F3BB-4FD0-80B2-487AC346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CE8B1C3C-A9FE-4F27-AB55-C8AA4E40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22B35D52-F80E-4D22-8C88-0CF75AD4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8F12593D-9176-468E-BCFC-304EA472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46E66A1F-2505-4ED8-B0E3-9884F922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B05D96BF-E5E0-4437-B6AE-B692B7C1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AB6220F0-AB8E-4C8A-8D29-B265D2D23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이해</a:t>
            </a:r>
          </a:p>
        </p:txBody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7587B122-9887-47C2-986F-45983266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DF395E6F-A7EF-4885-AABC-0CFAB44F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A1A7B634-9467-4508-95E6-5E136B16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0AB172FB-93CC-4376-9AB3-E2514A54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8D0D0F79-C476-4EAB-AE67-1E706D1A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D7AE71EE-635C-458D-8650-DCEB21FF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CE04691F-51D3-4A69-A58A-7B6F9032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66D724A9-3955-4F3E-98F4-D07A5FB6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D0DEC124-5DD9-4A2A-9277-3ADF703D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확인한 계획에 따라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필요한 작업을 실제로 수행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57EF8202-C64A-4C81-B98F-2BB8502D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20036BB3-487F-4E9C-B959-F6BD7E8D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3EF68F92-4A87-4468-BAD8-FE35D428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C8967CFC-4FBA-41AB-AB8F-CA186FA9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3ADFF2EC-4B26-4198-83D4-82945934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8DAB6A47-36AB-4EB3-95B1-807D6AF6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E5E6F1F2-43E3-4139-987D-0CD0AA62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B56968A8-24B2-4DE7-8575-890C7E4E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3C98C822-3EDE-4B2B-BF64-8FEAE135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65A0309B-6078-4DFA-A109-33AD9277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자료 파악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D5D2D1B0-25BD-4B50-897A-C582FB1D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9D5115B6-F972-443E-847B-02798E6D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AD130ED1-2998-4920-9089-FD70C1AA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4659D98C-0AF3-4523-8119-430BDB90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36872B1B-E306-4A2C-B470-5AD73305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70B0C843-FC30-4DBA-A6C4-EA44086A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35517987-C93A-499E-A3CF-DE95DCD3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00FBF85C-8E90-45EF-9FC7-0B4DD0FA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21F4AF29-D131-4188-8DEE-B424EC8B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확인한 계획에 따라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필요한 작업을 실제로 수행</a:t>
            </a: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4E44BA74-B0D0-495D-A38C-C4AB39FB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76879F9F-A765-404B-9443-08983AF54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EDE1D39C-9F76-464F-9B98-6BB31996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8B63C50C-28D8-4B10-B327-706AC666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AF1A8780-034B-4029-9C6C-E6C7B010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DADE37C6-F426-4B7C-9DA0-DB7BE1EC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F5DA1D25-A3CD-496F-AC31-2E603432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06DDAB2F-99AB-44D0-BA29-6912F596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ED15B490-FC8D-4D15-9D6A-E389C17D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307604B9-A0B8-4A3B-B66F-82539121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자료 파악</a:t>
            </a: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570F37EA-F864-4AE1-9E3F-06E521EA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한 행·각 열의 뜻을 확인</a:t>
            </a: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B9464D38-D62D-480B-938D-065DDDF5C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F20AC2CF-5C41-4740-8E9F-B22A6BE8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008F95B3-C72E-41E3-83A6-662A7EEA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계획</a:t>
            </a: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26333DAA-51CE-4B33-8B8F-065FB5D2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알맞은 그래프를 고르고</a:t>
            </a:r>
          </a:p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AI가 제시한 작업 계획을 확인</a:t>
            </a:r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8C1DF2FD-62B9-46CF-8263-F616CBB1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52863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664C0AB0-AA70-49DF-9F70-E8665280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46044CF6-C847-42CA-9E39-0A31AB1B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67200"/>
            <a:ext cx="4905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D95E2C77-E879-4F44-BA72-CA4AE96F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확인한 계획에 따라</a:t>
            </a:r>
          </a:p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필요한 작업을 실제로 수행</a:t>
            </a: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125C3E8D-EF5F-4F56-A432-FF10C964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476875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CC758404-AE1D-48DC-B5D1-5E54F83E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38CEE330-F95F-42C1-9D0B-23842EB75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D48ABAB9-37DE-4300-9B14-6580712F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67250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159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그래프가 정확한지 확인하고</a:t>
            </a:r>
          </a:p>
          <a:p xmlns:a="http://schemas.openxmlformats.org/drawingml/2006/main">
            <a:pPr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화면에서 보이는 내용을 기록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EB9BD6C1-F4D2-4249-BB9D-4F78CD9B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A22E2F11-2E37-4CF0-B32D-CF0CCD39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그래프만 보는 것이 아니라, 이해하고 계획한 뒤 실행하고 검토한 과정도 함께 봅니다.</a:t>
            </a:r>
          </a:p>
        </p:txBody>
      </p:sp>
    </p:spTree>
    <p:extLst>
      <p:ext uri="{BB962C8B-B14F-4D97-AF65-F5344CB8AC3E}">
        <p14:creationId xmlns:p14="http://schemas.microsoft.com/office/powerpoint/2010/main" val="17780149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A5F80DB-C950-4692-8319-1985A924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A1B901D-FC45-4923-ABD2-09B17E42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9CA9B00-F294-4F6F-9271-261465CA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DE37C26-A07F-44D2-B5A7-F3BD8D5E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폴더 구조와 환경 정보를 함께 전한다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445D6D0-30B9-4E4E-A2B9-2D3F1ABF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78E1227-3949-483F-8D30-0E92B6B76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04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387F3A3-2D92-4E5F-BAE5-3D147E39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5쪽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C986557-BB8F-41F9-8D37-FEB291A9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05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058CFC8-384A-489D-8421-5CD8C852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874520"/>
            <a:ext cx="8366760" cy="3886200"/>
          </a:xfrm>
          <a:prstGeom xmlns:a="http://schemas.openxmlformats.org/drawingml/2006/main" prst="roundRect">
            <a:avLst>
              <a:gd name="adj" fmla="val 1176"/>
            </a:avLst>
          </a:prstGeom>
          <a:solidFill xmlns:a="http://schemas.openxmlformats.org/drawingml/2006/main">
            <a:srgbClr val="24272C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2074B9A-CE03-45A2-B182-6D68D4A5E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2057400"/>
            <a:ext cx="7891272" cy="3520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05/</a:t>
            </a:r>
            <a:endParaRPr sz="1700"/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├─ pyproject.toml · uv.lock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└─ evidence/  (이번 평가용)</a:t>
            </a:r>
          </a:p>
          <a:p xmlns:a="http://schemas.openxmlformats.org/drawingml/2006/main">
            <a:pPr marL="0" indent="0">
              <a:lnSpc>
                <a:spcPts val="2890"/>
              </a:lnSpc>
              <a:buNone/>
            </a:pPr>
            <a:r>
              <a:rPr sz="17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   └─ opencode-session-1.json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83F475-89FF-4C4B-A0FC-4A86BFA3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5FEE99-EA14-4ABB-A8A9-BD90138D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4767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080AC-2CBF-4899-A356-1CBAD141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3905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내 컴퓨터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732562-5DE8-40E4-AD69-395F8BB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3905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212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· CSV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32E8B3-EF66-49BA-929E-1C210D27F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.venv 안에 Python과 라이브러리가 있어</a:t>
            </a:r>
          </a:p>
          <a:p xmlns:a="http://schemas.openxmlformats.org/drawingml/2006/main">
            <a:pPr>
              <a:buNone/>
              <a:def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문제없이 실행됨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C8977-16A7-45CB-B8B1-54590D64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000375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36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CA232A-DAEF-46E6-88AE-5FFACF2E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8577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35A4B3-59C1-458F-BED8-68D8355A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받은 컴퓨터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29A72E-C8D3-443C-A055-51E417DA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428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212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Notebook · CSV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DFA20B-7670-4B9C-A197-4D92BCA1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195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Python 버전이나 라이브러리가 다르면</a:t>
            </a:r>
          </a:p>
          <a:p xmlns:a="http://schemas.openxmlformats.org/drawingml/2006/main">
            <a:pPr>
              <a:buNone/>
              <a:def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같은 파일도 오류가 날 수 있음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89D8DA-A731-4BBD-BE75-99675D1D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8162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CC07A0-30FA-4F31-A00A-0BF20B15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149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코드와 데이터에 더해 환경을 다시 만들 정보도 함께 보냅니다.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42F806-00F7-4BC1-8F2F-026C85CE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F7A728-384E-4B4E-85B7-613DFDDA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177F6E-B57F-46A8-8FA8-D4862A84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8D8712-CFAD-4A8F-B6DF-9090D068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4B7637-A550-4C84-BD98-B7E1DA93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ADD5CD-9444-4474-B024-2C60886B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2875FC-7BA6-4229-8637-4B88A362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322E7F-B05F-49FA-9E2B-AEF018CB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28EFA5-988E-466E-9889-05FF5F56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4DDA59-8424-4E60-8921-55573BE2B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F6CEA0-1F24-4F73-82F2-A7E41FE8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ED13D7F-7E83-4585-A146-411708BC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C1F794-2B4B-49E6-93C3-CD97E1D5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B9A20E-20D2-44D7-8C8F-F0035C78A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18ED50-45BD-4654-8927-DF4CBF96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61955A-17FF-4464-9CCC-C60E8CBE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FAAB8FD-BE37-4B94-984D-E829CF8B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39FB24-269B-4787-B9E5-64B25619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E435836-ABFD-4CE1-BF18-800CF90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96688EA-3946-4D95-B8E0-DE56C123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1F7F33-E6F0-4AAA-BEF9-11C8C099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0E401AE-E19E-4FEF-B736-0F64B99B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0B06F68-EB95-4D96-895A-100E29E6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2CFE34-1E19-4595-9E2C-C811055B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D327AA7-FF70-42FB-AAD0-6CB0899B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3E53CB2-AD4E-4BAC-A1A5-3FA40B9F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8AE17F-4A1A-429E-BC5E-4749BE1E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968345E-1E5F-4E53-A7C6-10A54AA6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BEA36DD-F4B3-4237-8A60-6E6360DE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4CD588C-7434-4E30-BAF2-96D8870B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8DDA325-242E-47E9-88C9-2ADDFDAC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8BF5E07-2001-4DA9-BE2F-977FC707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527858-1A7E-4BE7-8176-9104D883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49F530F-24CA-49A7-BBB3-00140565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D3E2DB7-C6B2-4B88-AE91-8E8CC286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AF25CBB-11F1-4DFB-B621-575F4CC5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F01FA3C-FD13-41C6-A859-B438A69F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C3E6EA9-8AD3-4C1D-8351-2CB14B13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2985223-2A29-44ED-91D2-F2640CDA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3331EF4-D51D-43B6-887C-27755BA6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2A5153B-CBF9-42D5-90FB-264592FF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E5C2387-F635-438B-A847-85F235BC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5660752-05E6-48F1-83BE-9CEDC831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9F50F85-2CE2-4B16-AA00-E4F2987B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D065F75-F4DC-41F2-BB98-255B7920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8BB3E6B-2377-4D6A-B84D-D6989BC0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BCE353A-7203-4B08-B23F-CFD4B14A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76F563D-266D-42B8-9834-B7A9B4A5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A95BC57-C881-42B3-ADCE-72FB1403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8BA9777-2344-4997-BA15-E5F6D790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38007A9-47D2-4718-B594-52CC959B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9A725DD-58F1-41A5-A058-11EFA2B8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FCCE11E-FAE9-42F1-B872-A328F0A9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91DCAB9-37E7-436E-A83B-35470FF2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4A3511E-90D1-4CB1-8FC9-7D55FAA3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8D71752-7AC9-4987-87E8-E00A01C6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3674D91-1262-40B6-BB92-17F31EDB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03B40E1-81E0-4C53-8343-A57C28A3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21C26AA-8A9D-4818-B8DD-9B03D94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27B2B7B-3E69-4BBD-98E8-7E2D6140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6AE1469-F08B-45CE-AFDF-44685A75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DE9AF81-A2E0-45E9-94C0-B689C387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17A78CE-2DF6-49E8-8B39-2578EF3E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9210AFC-98A6-4816-9D78-EB1D12DD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7F206CE-B054-436D-86C4-346AEDC5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3C67012-7689-4A3E-B36F-B4055F3E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B59A86F-8BA2-4F95-9F8D-D3C69DD3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1ACCD18-1E6E-4569-8007-0844D86F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D1B4C33-50C7-4763-8842-934F7F9F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D0C16EA-65C9-474C-95A5-34EE348D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4762066-22AC-430B-95C7-1A223860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10CE13F-A2E9-4E42-931F-7425A2991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FC75C74-CE2D-4884-B21E-D76BB68A4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D5B5A0F-EE9E-4DA5-ABC8-F734238E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D3816E8-4F64-4F08-B28F-3029E07D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5248E69-56BC-4B8A-9E55-0F0275D4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4DA87D1-8088-4000-9387-D4A125E7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D51CF7E-B391-477C-964D-00A25BA7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558810D-1106-4ED0-AFB6-358A8B4C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5462D6A-2BE6-4E84-9FC5-F4747F26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908B41C-0C3A-4E4A-9EAB-66A5D02F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4BBC052D-B5C4-4ECA-94C3-11B5C55C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0A7FE4E-23F1-4159-9CBC-A14FB69E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F9F1DF2-6584-4068-819D-949A6F30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83DB9C5-82E3-4839-A82A-89F503AD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5CBF14A-4A86-44EC-A92C-B1C7C59C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17CAAABA-E38F-48E7-A6C0-F4DD89BD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6D55831-5BA8-4BDD-BBEC-2139AF02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1F513C9-2748-4CB0-8902-4B855269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7B397DC-C9E0-4B5B-8E33-6F0FC372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C41708C3-ADD3-41F7-B139-AC959454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A383B11-CEDE-4CCC-A00A-165B83A9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28A251F-7B3E-4F57-8FBA-FB0CEF4C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EF8068AB-9214-4A60-A38E-31273405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0C2FF46-B1FE-4E0E-B4A8-68B6DB06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9C4F113-6052-483A-B486-F71F2B2F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00C3CD3-8E77-476E-96A3-6E24ABEE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060457A-CAEA-4DBB-88F2-C900815C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6CF9FF3-787E-4EFA-8B97-B841CD33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A718B14-4F75-43C9-8B39-C4D681BA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492212F-B408-4613-B740-D876EE9C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C5A89DE-D85D-4EC9-BB50-6AFD7E0A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5AEF2284-EE69-413E-88D1-4B05775D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B1E3475-2345-4DCD-A652-D6D79FE2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D4743AC1-4518-4739-AB6F-C50EAA36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4F5C4AE-6DF1-4B56-ACD8-35132E96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6052402-B706-4706-A396-BC0F1AAA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3C702F02-2835-43B0-B5B1-4791587FF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4E48106-23BD-4F07-98EE-E929C026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712141A-4E17-49A2-8B8F-41B6A249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399AD28A-7F99-4D12-84D6-C9DDCA8DB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3B026755-81AF-4ED5-A178-F071A869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5021A68F-C722-4D05-B8A4-552CA6F3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FF5A2B58-518B-46DD-8228-23CD5569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9C401266-103F-426F-81F6-A78CD7F5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9BAA3A02-35C9-44F0-8EFD-8BA288A5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4BF968D7-03BE-40EA-87E5-78970B2C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9EB8BED-CDDB-41B3-87E5-A40CDB7F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1C6D7F6-C899-489D-8195-F193C422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buNone/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BA6A853-4486-444D-9125-DC915B2D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98BE85DA-8E07-43BC-8342-C6AADF79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E1B41803-F17E-4021-B6B1-2B5CFDACC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3C444E6A-35D6-4C5F-9B0A-A02443DD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47625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11430">
            <a:solidFill>
              <a:srgbClr val="1B1D21"/>
            </a:solidFill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AA9C3A8-80A5-49AC-8F1E-4DB5CE7A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4286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05/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README.md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pyproject.toml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uv.lock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notebooks/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05_assessment1.ipynb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├─ data/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│  └─ 05-data-1-school-facility-usage.csv</a:t>
            </a:r>
          </a:p>
          <a:p xmlns:a="http://schemas.openxmlformats.org/drawingml/2006/main">
            <a:pPr>
              <a:def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└─ evidence/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6E33066-D88A-4E46-82C6-66A789CD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952625"/>
            <a:ext cx="5905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C81932C3-3BFC-4815-9A9B-6AF09AED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907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폴더 구조는 그대로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04510920-D3E7-465F-8B33-845317B0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Notebook이 data 폴더의 CSV를 찾을 수 있도록</a:t>
            </a:r>
          </a:p>
          <a:p xmlns:a="http://schemas.openxmlformats.org/drawingml/2006/main">
            <a:pPr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폴더와 파일의 위치를 바꾸지 않습니다.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E05D271-21EF-4002-BB5D-39CD8D97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67125"/>
            <a:ext cx="5905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4EADEB1-C705-43E4-B79F-DCF5D11E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052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환경은 정보로 전달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50D2DE98-3B79-4D91-8D7A-4F3C2C42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29125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.venv는 복사하지 않습니다. pyproject.toml과 uv.lock으로</a:t>
            </a:r>
          </a:p>
          <a:p xmlns:a="http://schemas.openxmlformats.org/drawingml/2006/main">
            <a:pPr>
              <a:def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4C545D"/>
                </a:solidFill>
                <a:latin typeface="IBM Plex Sans KR"/>
                <a:ea typeface="IBM Plex Sans KR"/>
                <a:cs typeface="IBM Plex Sans KR"/>
              </a:rPr>
              <a:t>필요한 Python 버전과 라이브러리를 알립니다.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6EEE06A0-7DFE-4B6A-991B-A81AF7BC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7A9FFE9B-6D64-4A38-84C9-63D6462C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578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내부 위치는 유지하고, 실행 환경은 다시 만들 수 있는 정보로 전합니다.</a:t>
            </a:r>
          </a:p>
        </p:txBody>
      </p:sp>
    </p:spTree>
    <p:extLst>
      <p:ext uri="{BB962C8B-B14F-4D97-AF65-F5344CB8AC3E}">
        <p14:creationId xmlns:p14="http://schemas.microsoft.com/office/powerpoint/2010/main" val="2025059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996810-7CE6-4D75-9157-D82F3561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EB5A46-B9F2-4917-8B93-1EC3F7C6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F3FB01-5BD5-462B-9564-A41C30CF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A53881-F585-48B7-B515-2E099C23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받은 사람이 다시 실행할 수 있어야 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D5C1D64-55CF-4D49-A945-3A300AC6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7770CB-FF02-4889-8D2F-C2DCB3E7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05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AC5C01-863A-4650-A4BA-2FD5EF8C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6쪽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2810B20-32CD-4233-BEF9-D23E20FC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06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4D61BA3-5561-4ED6-81CD-209312CD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2AEF1A-F602-4E8C-8A84-9FA9547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프로젝트 파일</a:t>
            </a:r>
            <a:endParaRPr sz="16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787D11-1FFC-42AC-8FEC-C64B3FE7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Notebook · CSV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작업과 원본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다시 실행할 내용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D95C293-8EBD-47F2-ABEB-9123A202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47D2F73-9B1C-4C59-870F-4FF50C5C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프로젝트 설명</a:t>
            </a:r>
            <a:endParaRPr sz="16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1B8853F-1B18-46D5-AF39-7A5074A9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README.md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무엇을 하는 프로젝트인지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폴더와 주요 파일 구성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7D3A2FE-29F1-45D4-8A6B-ED5A51F5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828800"/>
            <a:ext cx="347472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64D21A-C9CA-4668-8103-8257CD53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93392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환경을 만들 정보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F72072-4791-452C-9D37-81A2CB2C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487168"/>
            <a:ext cx="310896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pyproject.toml · uv.lock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필요한 Python과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라이브러리 정보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A9B4AE1-DB65-41EC-897D-EE27ED47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CAB2840-3A1C-42E1-97E1-B014CBC4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받은 사람은 README를 읽고, 환경 정보를 이용해 프로젝트를 다시 실행합니다.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6157235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996810-7CE6-4D75-9157-D82F3561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EB5A46-B9F2-4917-8B93-1EC3F7C6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F3FB01-5BD5-462B-9564-A41C30CF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A53881-F585-48B7-B515-2E099C23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다시 만들 수 없는 작업 내용은 함께 보낸다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D5C1D64-55CF-4D49-A945-3A300AC6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7770CB-FF02-4889-8D2F-C2DCB3E7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06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AC5C01-863A-4650-A4BA-2FD5EF8C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7쪽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2810B20-32CD-4233-BEF9-D23E20FC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07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4D61BA3-5561-4ED6-81CD-209312CD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2AEF1A-F602-4E8C-8A84-9FA9547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</a:t>
            </a:r>
            <a:endParaRPr sz="16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787D11-1FFC-42AC-8FEC-C64B3FE7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코드 · 그래프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검토와 해석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출력이 보인 뒤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저장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D95C293-8EBD-47F2-ABEB-9123A202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47D2F73-9B1C-4C59-870F-4FF50C5C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CSV</a:t>
            </a:r>
            <a:endParaRPr sz="16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1B8853F-1B18-46D5-AF39-7A5074A9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그래프의 바탕이 된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원본 자료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Notebook의 숫자를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다시 확인하는 기준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7D3A2FE-29F1-45D4-8A6B-ED5A51F5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828800"/>
            <a:ext cx="347472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64D21A-C9CA-4668-8103-8257CD53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93392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OpenCode JSON · 평가용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F72072-4791-452C-9D37-81A2CB2C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487168"/>
            <a:ext cx="310896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요청 · 계획 · 확인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대화의 흐름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일반 공유에는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보통 포함하지 않음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A9B4AE1-DB65-41EC-897D-EE27ED47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CAB2840-3A1C-42E1-97E1-B014CBC4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Notebook과 CSV는 프로젝트 파일이고, OpenCode JSON은 이번 평가에서만 추가합니다.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6157235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996810-7CE6-4D75-9157-D82F3561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EB5A46-B9F2-4917-8B93-1EC3F7C6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F3FB01-5BD5-462B-9564-A41C30CF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A53881-F585-48B7-B515-2E099C23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폴더 대신 환경을 다시 만들 정보를 보낸다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D5C1D64-55CF-4D49-A945-3A300AC6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7770CB-FF02-4889-8D2F-C2DCB3E7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07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AC5C01-863A-4650-A4BA-2FD5EF8C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8쪽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2810B20-32CD-4233-BEF9-D23E20FC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08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4D61BA3-5561-4ED6-81CD-209312CD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2AEF1A-F602-4E8C-8A84-9FA9547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.venv를 그대로 보내면</a:t>
            </a:r>
            <a:endParaRPr sz="16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787D11-1FFC-42AC-8FEC-C64B3FE7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용량이 크고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경로와 운영체제가 달라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그대로 작동하지 않을 수 있음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D95C293-8EBD-47F2-ABEB-9123A202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47D2F73-9B1C-4C59-870F-4FF50C5C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정보를 보내면</a:t>
            </a:r>
            <a:endParaRPr sz="16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1B8853F-1B18-46D5-AF39-7A5074A9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pyproject.toml · uv.lock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필요한 Python과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라이브러리 버전을 전달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7D3A2FE-29F1-45D4-8A6B-ED5A51F5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828800"/>
            <a:ext cx="347472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64D21A-C9CA-4668-8103-8257CD53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93392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받은 컴퓨터에서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F72072-4791-452C-9D37-81A2CB2C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487168"/>
            <a:ext cx="310896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자기 컴퓨터에 맞는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.venv를 새로 만듦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A9B4AE1-DB65-41EC-897D-EE27ED47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CAB2840-3A1C-42E1-97E1-B014CBC4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.venv를 복사하지 않고, 받은 컴퓨터에서 uv sync로 다시 만듭니다.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6157235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996810-7CE6-4D75-9157-D82F3561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EB5A46-B9F2-4917-8B93-1EC3F7C6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F3FB01-5BD5-462B-9564-A41C30CF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A53881-F585-48B7-B515-2E099C23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.venv와 임시 파일은 공유하지 않는다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D5C1D64-55CF-4D49-A945-3A300AC6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7770CB-FF02-4889-8D2F-C2DCB3E7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08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AC5C01-863A-4650-A4BA-2FD5EF8C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9쪽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2810B20-32CD-4233-BEF9-D23E20FC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09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4D61BA3-5561-4ED6-81CD-209312CD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2AEF1A-F602-4E8C-8A84-9FA9547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.venv</a:t>
            </a:r>
            <a:endParaRPr sz="16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787D11-1FFC-42AC-8FEC-C64B3FE7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Python과 라이브러리가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실제로 설치된 폴더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크고 컴퓨터마다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새로 만들 수 있음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D95C293-8EBD-47F2-ABEB-9123A202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47D2F73-9B1C-4C59-870F-4FF50C5C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  <a:endParaRPr sz="16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1B8853F-1B18-46D5-AF39-7A5074A9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실행하는 동안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자동으로 생긴 파일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없어도 다시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만들어짐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7D3A2FE-29F1-45D4-8A6B-ED5A51F5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828800"/>
            <a:ext cx="347472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64D21A-C9CA-4668-8103-8257CD53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93392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F72072-4791-452C-9D37-81A2CB2C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487168"/>
            <a:ext cx="310896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endParaRPr sz="124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A9B4AE1-DB65-41EC-897D-EE27ED47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CAB2840-3A1C-42E1-97E1-B014CBC4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원본 폴더는 그대로 둡니다. 5-2에서 제출용 사본을 만든 뒤 사본만 정리합니다.</a:t>
            </a:r>
            <a:endParaRPr sz="1500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8B9AD4-81F0-49A3-961F-5F25BFD6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A78334-B1B7-4A24-82E9-055DB2ED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0A5F95-B00C-4854-9378-0DEB940E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1CEB52-83DA-453B-8896-FBE2ECB2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E0F955-BCA6-4741-95BF-612C2ACE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8CC124-FEAA-4F56-B671-B45ACF3D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2029F-CCD6-442B-9571-F3A40B0A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97E4D5-BC4B-4304-B494-5D75BAA3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ED8AD5-DBEF-4382-987F-B8D6B949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0A1556-72EE-4EC0-8710-8FB3A40F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DB0AD6-79A3-4E83-B9F3-4934E3B4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A8B435-DA1A-4611-A17C-9476040B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9FB96D-9BC9-483E-AF4D-86E8C271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A3ACE4-493D-4F14-8C56-3BADF9EB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C12935-A9C9-47E9-A4AC-E590BD65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F571C9-53E7-4CE8-B128-3AE21E5E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6E0F49-51BB-4C8F-9155-BA7C0DDE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97B11D-D4E5-4CF6-A71E-702669D4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84712BD-06AF-4AF0-B780-6B7BBB09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1B8673A-01BF-444F-903C-C5B41579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0D8D06-C6E5-47CF-AD8F-E32F898C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C2C103-B0C5-4301-A1CB-F907F60D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1B9F8EC-0E69-4A85-8958-9E8BEC55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9B2CBE-AA03-4952-8444-C3F7FC61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A9EAAC-D4F8-470E-A160-3C0011DB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661479-008E-446A-AB94-8DFDC353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263692-56C3-4CBE-A9B3-520FB6AC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F0F5A85-EC15-4265-8A35-59389804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CB73D15-F100-4452-B09A-72CC0B49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D9A742A-3F51-4E03-AA84-788E5BD0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883EE74-DAAF-48AE-8B74-407E782F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E26A4BC-33EF-460A-9544-A1712034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3529238-A74E-41BE-8CF1-19E38EEC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70B7F0D-BEA7-45B5-8E8C-F28E7EDB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BB1D587-22C8-4749-BD01-2FB5442E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8BB1763-B4AF-4529-A419-18DE4FED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176B910-80E0-481F-A0D7-D3AC945C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5E22698-8B4F-47EC-B5DB-10CB9651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E285A94-04F4-4C32-952F-771F099D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00C123B-D4CA-4193-BCB0-A596B0D5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396D8EA-0179-4E9D-9920-9D2BFADF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55F307B-412E-4B10-AD1F-C27954B5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B32FF25-3257-48C0-88B8-4BB773AB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824EC3D-15FF-43DD-9101-0087E556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5F105E2-8E18-4327-8622-7BF97B43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7CC9B36-EABF-4ED0-B907-6011599D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00ABDA4-19DF-4B7F-B4B7-FC6C71C6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86108CE-A2A2-4D27-A1B4-E1136EC9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D46CB8D-A783-4A4B-A2A2-AB26BB70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98C32BF-6458-4F64-ACB3-96E235B2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81A11ED-AF19-45FA-9010-8A6E285F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A0CA213-BF61-4883-AD6E-A8CB08A4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5DDC478-451C-4483-A7FC-93883A9A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97D26E7-DE6E-42B9-AC35-94745608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228589D-5215-4D81-9108-6D611735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5AF958C-DC48-4BD7-B0AD-E20D420A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410BFA6-3CD9-4CC8-9D0E-3FDC801D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4ACD54D-40DD-499F-8D5A-6ED70800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942E5A6-3B6D-40A0-8F77-0ABEBC6F9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F719D7B-315C-4E57-AA03-6FF2378E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2F8CD1E-9D50-4632-B26D-82D89CB7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02FBCB5-07DF-4429-869D-000AF5EE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477A909-CB79-48DC-AE08-2C187F7E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AE0718D-0A46-49FD-8291-2F120781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FC3C34D-45F1-4D60-AC25-B3F221F6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50C175A-1EA8-4B1B-910E-FD2DE6F5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47C7E59-B684-432D-B6DC-3B908790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273208D-C6B1-4BD4-BDCE-C6AB2FC0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E56F9F2-65EB-4AFB-9144-6635631D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34502BD-C5D0-4324-843E-C6205154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A4873AE-BB9E-43B3-B57E-0FF56886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3BA01F5-BF4C-4F02-A46F-C90AE7442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903F460-9773-4102-AA83-065FDCCB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A30BAEB-7526-435E-82CD-7D9B09A0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61AC1A5-5416-4EF4-B4E4-E7B89A71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375F55C-BA61-4A68-B4D2-783FC875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9A1C3A2-909E-470C-B9EB-F700B8C0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B0F7C21-2249-464C-8B4E-900D7A79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80233A8-9C40-4AE6-BD93-9FEDB2E5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31FFFC3-7E0F-4A12-9977-00A606CA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CAF32B1-95CD-4145-BA7F-31E13860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335DD90-4B43-466C-BF7A-A3BFB5DA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963C3C2-E64F-475B-AE60-9F9A776B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3327BDF-2204-41B1-9EB2-AE3ACB93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84199BE-1BD2-436B-8ED5-CC5E185C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700AA7A-55E3-49BE-A7F0-1ED5764B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3123A239-40DE-4564-AE39-AD15731C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795E9A5-20D1-4695-8E9B-A3726A2B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F302985-7D47-41A7-AA16-26AC5F5A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45C1FA30-D837-4A06-A6C4-DCF7AB84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9E7940FF-1872-4737-BB0D-5DDA84A1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B79D9F90-C717-4266-A69E-5721A7A3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CE2C3CA-499E-4D1A-970C-2C9483F6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42A7D52-84C0-40DB-A890-A6D974A9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103E11C-5BFF-4002-9FE1-8AA6FF37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F512097-0C93-42C8-8843-BD6A792E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CD36707-1AC5-42DB-AB38-78AAC5BB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7667572-FC03-42F3-8159-44B631B1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70C09078-2696-4377-8B2D-95063731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2F2829A-F14F-48F7-BDAE-C98CAAEF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07D5D8A-911B-4DC5-932A-5D288B51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E10E463-D166-41F3-874E-DEEE4888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E96AD83-9AC0-4545-A1CB-A87A276E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52AC86B-7F7E-4684-9298-3C3AE116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C26A684-357C-4E4C-BDF1-A2712587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5B548F2-33EE-40C2-9103-32BD076A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3423176B-3E1C-48B0-A2DE-C3E82CEA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47A876D-8482-4948-BB64-E150B71F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E541E3F9-3576-4AE4-B8BA-09BC7219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36205CC-5C72-4A06-8E80-6E35D397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ADEA1A4-9A03-4FF1-B8C1-119F37C4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33619737-E85D-4665-AF64-B22E6956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D29270AB-9DF4-4411-ADA1-CF0B65B5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E16C7E02-6741-4FBF-99B9-62FD3073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AA9603F-A850-46F2-82AE-E8F380E0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1A221701-6211-4C5D-8B9F-C26E4B4F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C360B421-61F6-4884-A99D-BA7E9FD86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E147475F-0DC5-4BA2-9455-BD1296A3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0E9D9F9-583E-4DCD-8A16-D5F87A94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buNone/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1D677DBA-CAE9-4FE5-BCC7-99DA4D6F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E61A4A61-0A6A-451E-9F39-6B506565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4C0EB656-ECDF-4E1E-A64D-833ED5C2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283D1576-AA58-447F-91CE-2A9C28F7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474D4B8F-D29D-4196-958C-DAE75F1F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.venv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1C3FF1D3-8334-4DC2-9E99-5994793A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Python과 라이브러리가 실제로 설치된 폴더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F270A2B1-E9FC-4522-97FE-EE0126B3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용량이 크고 다른 컴퓨터에서는 그대로 작동하지 않을 수 있습니다.</a:t>
            </a:r>
          </a:p>
          <a:p xmlns:a="http://schemas.openxmlformats.org/drawingml/2006/main">
            <a:pPr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pyproject.toml과 uv.lock을 읽어 다시 만들 수 있습니다.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034C438A-8F57-4363-9AA8-447C95B9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D414A760-B0C9-4DB1-A12C-85F64E3D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캐시 · 임시 파일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8C346AAB-8073-4B98-886E-2C45F7AE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프로그램을 실행하며 자동으로 생기는 파일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6325F70-F75F-4EA2-BDE7-F0563B49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없어도 다시 만들어지므로 공유하지 않습니다.</a:t>
            </a:r>
          </a:p>
          <a:p xmlns:a="http://schemas.openxmlformats.org/drawingml/2006/main">
            <a:pPr>
              <a:def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555C64"/>
                </a:solidFill>
                <a:latin typeface="IBM Plex Sans KR"/>
                <a:ea typeface="IBM Plex Sans KR"/>
                <a:cs typeface="IBM Plex Sans KR"/>
              </a:rPr>
              <a:t>제출할 사본에서만 빼고 원본 작업 폴더는 그대로 둡니다.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7A195455-8D96-468A-82FC-0A0DBA32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815B7D4-BC86-4CE0-8675-28622217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5-2에서 제출용 사본을 만든 뒤, 그 사본에서만 .venv와 임시 파일을 뺍니다.</a:t>
            </a:r>
          </a:p>
        </p:txBody>
      </p:sp>
    </p:spTree>
    <p:extLst>
      <p:ext uri="{BB962C8B-B14F-4D97-AF65-F5344CB8AC3E}">
        <p14:creationId xmlns:p14="http://schemas.microsoft.com/office/powerpoint/2010/main" val="16157235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996810-7CE6-4D75-9157-D82F3561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EB5A46-B9F2-4917-8B93-1EC3F7C6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F3FB01-5BD5-462B-9564-A41C30CF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A53881-F585-48B7-B515-2E099C23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프로젝트 파일과 평가용 기록을 구분한다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D5C1D64-55CF-4D49-A945-3A300AC6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7770CB-FF02-4889-8D2F-C2DCB3E7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09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AC5C01-863A-4650-A4BA-2FD5EF8C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10쪽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2810B20-32CD-4233-BEF9-D23E20FC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10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4D61BA3-5561-4ED6-81CD-209312CD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2AEF1A-F602-4E8C-8A84-9FA9547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함께 공유</a:t>
            </a:r>
            <a:endParaRPr sz="16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787D11-1FFC-42AC-8FEC-C64B3FE7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Notebook · CSV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README.md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pyproject.toml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D95C293-8EBD-47F2-ABEB-9123A202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342900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47D2F73-9B1C-4C59-870F-4FF50C5C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993392"/>
            <a:ext cx="3063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상황에 따라 선택</a:t>
            </a:r>
            <a:endParaRPr sz="16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1B8853F-1B18-46D5-AF39-7A5074A9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487168"/>
            <a:ext cx="306324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uv.lock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같은 라이브러리 버전이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중요할 때 함께 공유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7D3A2FE-29F1-45D4-8A6B-ED5A51F5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828800"/>
            <a:ext cx="3474720" cy="301752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64D21A-C9CA-4668-8103-8257CD53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93392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보통 공유하지 않음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F72072-4791-452C-9D37-81A2CB2C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487168"/>
            <a:ext cx="3108960" cy="2212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.venv · 캐시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임시 파일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환경 정보로 다시 준비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A9B4AE1-DB65-41EC-897D-EE27ED47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CAB2840-3A1C-42E1-97E1-B014CBC4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이번 평가에서는 uv.lock과 평가용 OpenCode JSON도 함께 제출합니다.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6157235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8B79802-810B-4332-BEEF-D6CBD20C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130ACED-9305-410B-8866-B42E6312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F05759C-2E36-4257-A299-26A1232C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336AACE-8D17-4FD6-9CD9-D000FB10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폴더를 통째로 열고 환경을 만든다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C23D489-C88D-4777-B9D1-195F03EE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20CD512-AB10-4255-9849-BA6DAB27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10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88A2155-16DF-4C99-A64C-040D3D2B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11쪽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0D6221C-1B92-4330-A95F-E8E0C48B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11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FF5E98A-532A-424E-A65E-F19E0040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F7D1D32-D56B-435C-8382-D073FDE2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A0DB44E-4301-4798-B5C1-549E35BB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684A9AF-B17F-4D2B-9947-3C881B45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05 폴더 확인</a:t>
            </a:r>
            <a:endParaRPr sz="122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89B74F9-1CCB-4111-B237-25C54AB7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5526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A1D539F-0E6A-4340-BF17-91375F1E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566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C73717E-03F9-4329-ABC2-FBB292F6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8446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BC5C65A-2EAB-43DB-AC23-27A47FF5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8446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VS Code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D416ECE-8A47-4150-8A54-AEC1446E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8446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폴더 열기</a:t>
            </a:r>
            <a:endParaRPr sz="122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C75E8C2-499F-4C83-A510-BB226B57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740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2720AE7-79E1-41CA-B720-96302801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80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28B0801-196E-427A-AC9F-07F09168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</a:t>
            </a:r>
            <a:endParaRPr sz="1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9D5B744-D86A-4F55-B4E3-828CA239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uv sync</a:t>
            </a:r>
            <a:endParaRPr sz="16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8298E87-709A-4215-B5AE-92099275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.venv 만들기</a:t>
            </a:r>
            <a:endParaRPr sz="122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ADDCCB1-3A43-4351-BCEA-FE26414C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5954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E02AC8B2-451E-435F-9FF3-CDEC77FC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5994" y="2148840"/>
            <a:ext cx="2562606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DF5A8A3-E6D6-4B16-80A2-081B425A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2313432"/>
            <a:ext cx="219684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E7C86"/>
                </a:solidFill>
                <a:latin typeface="IBM Plex Mono"/>
                <a:ea typeface="IBM Plex Mono"/>
                <a:cs typeface="IBM Plex Mono"/>
              </a:rPr>
              <a:t>4</a:t>
            </a:r>
            <a:endParaRPr sz="18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BB5FF68-E9C3-4FA6-AFBA-E5EAFCE7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2734056"/>
            <a:ext cx="219684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</a:t>
            </a:r>
            <a:endParaRPr sz="16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F568986-BBAE-4E7C-B465-B0F08030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8874" y="3227832"/>
            <a:ext cx="219684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.venv 커널 선택</a:t>
            </a:r>
            <a:endParaRPr sz="122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5B2AE22C-78A3-4367-8BD1-A44635A3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617720"/>
            <a:ext cx="4507992" cy="73152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24272C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24B1429-E5EC-4EEB-80F3-1D97CEBD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224" y="4800600"/>
            <a:ext cx="403250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3740"/>
              </a:lnSpc>
              <a:buNone/>
            </a:pPr>
            <a:endParaRPr sz="2200"/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421294-0CDC-4DCC-97AD-06D16A65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B83D9E-4537-4189-9555-09A70A9C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3BA69B-A13E-4627-868E-6B437823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879463-07AD-4E1C-BD27-4025A052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A00BC0-1AF4-4B5D-B45C-4CDB05FA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24200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C5D7B7-9E43-455F-A2E9-03D1C879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048EDC-CEA6-41F5-9537-372ECE3F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9E1C99-1E6B-4EB5-A058-913AE47C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CA4BE4-8736-4401-B0F4-ADDE113C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124200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07A7E2-96C6-441C-BA09-5EC86151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2276099-2F74-4603-8E9A-974BD070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3CC42A6-44A5-45AF-9B7E-07548FCF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DD52BF7-C991-442D-ABAF-4159E4C9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124200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64E6D29-C0B6-4B35-BBA8-BAB65CC2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B2830C-9DEC-4E01-B476-2B195576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B99EB3-88F1-45B1-B6F5-37DE22D2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81C676C-7E6C-4EBD-A8C4-69E61474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124200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 열기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097EBE-0133-4277-8FCA-BAAD8A97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63B0644-37D3-47E5-96AD-D85049AE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0972BC-66B1-47C2-8808-E7A41E22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3F3245F-F042-42B7-A139-2140EF94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9659552-34A2-4535-A5D3-3C788E7F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2037C2C-8EA2-43F0-A2C8-CD6140F3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612E36E-054D-4ABD-A9EE-79651C3E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B3E9789-3814-4374-9B99-07F37565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33B9CFA-4EA3-4577-8216-A8967809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8ECB26D-7C29-4D6A-8195-9E7F4DEA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1CB2461-2661-4C83-AA69-16A1B971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AA27F07-77DA-4F67-AB23-72A5D58C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4687C1A-AE3A-4B33-B409-BC7A3A7F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8A1EC7C-26A8-4167-97CE-327C0DE1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07C6939-5912-4E22-9820-A74B6E92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B69EE7E-C4D7-4228-B937-7E4F2044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6C173E8-5B5A-4D7A-880A-17D211C5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E3544C6-EDEF-46E8-AF4C-0385D348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8FB16E2-286D-4146-942D-5094BA18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 열기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90EC872-68B6-4729-A4D7-FE387253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62650AF-389B-4E50-B957-29F1F3FD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DC57153-9795-49D4-9666-C7FBAFDB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BF11CCF-A424-4FD2-90E8-6257AFCF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7C49AD2-0F73-4ADA-92DD-B74EA847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200972B-2F36-4FB1-A37A-943512F8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2B13E1F-32EE-4957-A408-248D7C1A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A3A7CDF-9AC5-4C3D-B34B-6B0A311A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70BD5A3-B27C-4F93-9F20-1797CC70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46E61A3-66C3-4617-BF52-820E39E0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DA816FB-4BA6-4A28-9972-559EA3D5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8FC0B94-E917-4F76-BB6A-BFE62D4A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6490F2C-D131-4ED9-B194-95B5CEFC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154ADD4-9479-4BDF-ADF4-CE93B70C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CF92928-B28D-4136-9147-776C7170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487FDFD-82A5-48E0-8C83-1F09CD98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B381372-97F8-4DC0-81AA-327A1EC8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5798E27-9CCA-4019-9A6A-DFC0438D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6C59780-B184-41E3-BB10-11DDEF5D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 열기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1E25D70-3483-48D7-8A5E-05308380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D5D13FE-022D-4C7D-93F7-1209050B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E24FF3F-90BA-4D94-B89B-F60723F8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AA1C7F5-8146-4FC9-8396-DA4380F6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358493E-886D-4A8A-B2A8-8A591D3C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C9D3D0B-272C-4DCA-B5A8-4363D170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10DC3CF-6EA7-44A4-829D-145C8CB8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0D853B6-A2E0-4BE1-B2EC-45DC9E7E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57ECE38-5D4E-4620-B97E-01E63DD38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5FBDB99-9B49-4C7A-8B27-6715E028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92DDBDF-FEC0-4D9E-B7D5-F03C830D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F50F1E4-F29F-477A-833C-08099DA4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C702E80-BD65-475B-8037-3752B525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8B99F92-BBED-4489-B108-AF45552E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D7FFBA2-4493-49B7-BF1D-DCD14145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BA2DEFB-1614-4D79-9820-139B02FC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7E33995-3697-4610-A72B-6764D279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D71CBAF-38F1-4D79-9DC9-D7159A98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67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B6E6C75-B900-48B9-98C6-0106A1B0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76575"/>
            <a:ext cx="219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 열기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BDFD8A5-1A6D-4EB9-AB96-6506D650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763E2BD-23F3-424F-9887-7A7F55B1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720C84D9-2AF5-4444-8EE8-BF559B6E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432661D-117D-4985-B4F0-534A1764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76287443-6396-4210-8151-334D067A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F6FF7FF-92E0-4577-9E33-96839318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2E697AC-493D-4EDD-A844-8F11997B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81629EB-28D5-4E77-A3C2-B3062B6C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58B92369-BEB2-4D8B-AE08-EB61AFF2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13BA223-C3DB-44F7-9E99-96FD4A72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1CCFDD7-3C44-44CA-8E9C-CEBF0297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200533D-5CB4-418B-BE68-874B652D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432E04C-8F59-4DC1-AD3E-4ED4C060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4749705C-FF3F-407A-A834-F1E24A95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868185E-E475-4E20-BC4D-70A99C7C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180FABE-F553-45AF-ADAD-FE1C8087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6A9CF80-C772-4ED0-9DD4-0FDE1CA9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8FA5888-78FC-4D89-A71D-496A500B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0A05698-5BA3-42FB-864A-383E5ED1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 열기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0A3695BC-0F3E-49C4-AD56-6EB77F22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944D36F4-C564-41EC-B733-36F1A2D2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B49FBE5-A75F-4C40-A7C3-F91D5D2F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6ED5857-68CF-40F6-AAC6-FFFEB417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E4F47A9-2AD9-436E-90EC-27660408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E84BA54-8348-49C0-B7A8-FC7D41CA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FB478814-8C49-49F3-9C90-09325832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63CCDF57-5112-4855-A21C-5139F24D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F85B4CD1-0810-418B-BE9A-20B38890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E20BD8A-3BDE-4C34-AC92-6C80CC6E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802880CF-4DF5-41B5-B8EF-2C7E84AB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9F9A618-4893-49AA-A2E1-FDE7265C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D9617A3A-C5DC-4682-BE6B-A25FA320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0B461123-4EC1-4028-B7A4-9E8B67F5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B33381DD-4023-46EC-9ABE-58FEAA1C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1F10ACEB-EFED-4EF1-BB60-C3400B55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3A8F8C56-A4A8-4B4B-9BD1-D635C822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4DB35CEC-184C-4B9E-9C15-5CADC18F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D9C13593-506E-4218-AF52-D40F48CC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 열기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09D31846-53BA-494D-876D-C6B25AD6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5F22EFA9-8E1D-4A9E-9A2A-ABB9E8E4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E45570FE-199A-44A1-8A19-63EF8667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6E88B97-6338-4F1A-B216-669654DE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6B21793-EF39-4ED1-B587-07C65D6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ADEDE30A-E920-4288-BEDB-79EBB7AF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61E951AA-4792-44C9-A554-B853EEB76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3A2EF49F-8970-416A-96FE-4765BC35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B4864D77-1DBF-467D-A8E6-21139BB5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3E21F06A-E9C6-4906-8D6C-032E4B99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B742B604-9E6B-4994-9F1D-5573CB49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A4F7DF8E-715B-4893-BC20-6904BCD5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4C3DCE1-3F61-463E-BB13-1F9B367E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133F994C-B8E8-4A61-A654-1A56FD32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C1AFF142-A449-4F27-943A-9DD75E85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B409B079-332A-43B6-84D4-61EF11B6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8E42505D-E2BB-4BDD-8B63-2AF4A386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95CCCEB8-569C-4996-8AC3-D59F9A2A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606FC6F3-FF4B-40B1-94FF-073E12EA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2C2116ED-875C-4375-A2BD-2E187099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C0D4D67-5AFC-4516-8E51-03FBFEA9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FB701ED7-00B9-4773-84E6-30C33F1D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F5B051B-E9F3-4DD6-9D4B-4B3EAFEA7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D7BFAA2E-92C9-49DA-86ED-B673147A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2A21AAA1-0BB4-4625-9B7A-200FFE58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EA0AC5D9-0EA2-4C9C-B468-3080B9A0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폴더를 확인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3BF4FA58-6B5E-4AEE-987E-560BC6E88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68010FEC-D108-4CCF-ADCD-0315BB52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EC9C5DB-E52A-4CB2-B0C8-4696743C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D6FC7495-CFD8-46D5-8B59-61115D25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 파일 하나가 아니라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열기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4E870903-81B0-48EB-AEB9-26E54D3E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33242DA7-27FA-4DDD-BA72-E7724406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4F93432B-BC78-46C3-B690-2465D3DF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75EEBBB-C87A-451D-BE05-EC49C6E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폴더의 터미널에서</a:t>
            </a:r>
          </a:p>
          <a:p xmlns:a="http://schemas.openxmlformats.org/drawingml/2006/main">
            <a:pPr>
              <a:buNone/>
              <a:def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 실행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E94953E9-C891-4145-872C-FEA4A63F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7E17CD3-38ED-4EDF-8E05-DCC7235B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3A3EEDAD-C46E-4EE8-B9B0-46CF46D5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003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0D3C1CBC-5321-4775-BA9B-9B2579F4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00375"/>
            <a:ext cx="2190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 안의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7A74F453-8B41-44C1-B240-5994E9E9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8060189A-342A-4C19-A957-EEDA8627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19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EF8BFC92-8B17-4845-9829-80B349A3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79A7F1AC-69B5-4CCE-94BA-2ECEDAA5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7120F0DA-BB68-4944-B96C-995AAB2C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83314614-B128-4241-883E-8C62D2F8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FA066F67-7BF7-42E2-8DE7-1FF82818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ZIP의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압축을 풉니다.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6AFF0E7E-2835-4EB3-A2A0-8D3AD61D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BBB962B3-593C-481D-AA36-6C8AA332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BA17F546-5A1A-44A0-BE21-14480FBF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D2CD7368-55E6-4502-8EDF-E45E1289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엽니다.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03B0AA92-1032-434F-A98A-876D38B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DB9A49E6-B173-439F-AB5D-2E50D35E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2B5298CF-226A-4BBD-B6B2-991D0431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D0A7D23A-A8A4-459D-8FFB-36DFB4B7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sync를 직접 실행하거나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OpenCode에 요청합니다.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98D40802-90D8-436B-B079-03B80054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54A0EB80-C875-4730-AB77-3AF12AE7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66B12B2A-29B7-4942-BD40-FFD14219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2BFE850F-49CB-43F2-A123-4D7E3987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폴더에서</a:t>
            </a:r>
          </a:p>
          <a:p xmlns:a="http://schemas.openxmlformats.org/drawingml/2006/main">
            <a:pPr>
              <a:buNone/>
              <a:defRPr sz="120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05_assessment1.ipynb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E9E1DDF8-E9FB-4ECC-B7F9-43B57787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A949FD49-5D3E-458D-A24C-2C42C58F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5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CD076A01-E495-4568-9456-C0BA1E2D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커널 선택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3A3361F5-3EF5-458E-A042-5013C607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오른쪽 위에서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.venv (Python 3)를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선택합니다.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2B0789CE-B110-45DA-A4AC-3301713D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42187BAD-51DD-45BA-BC4D-82FF3478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8060D7A6-BDBF-403B-B4A0-0414F02E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5AB8C107-0A8B-4B91-8003-62F5DDB6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738A3BDF-3826-4269-B5BB-E8246C44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ZIP의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압축을 풉니다.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6A3738B8-2126-421F-A1C6-53AF51FB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A2A5E22A-C13A-4B44-BD06-4CB91A0E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225CEE1C-B6B4-468E-AC42-C1F19BF7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39A6FEFC-0B33-4130-9C44-2E59C220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엽니다.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23473E3D-FF0C-44E5-A7E8-C723487F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91B38F1B-5711-41EE-8760-CBD8E7A7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B98E237C-CDE1-4D38-ADE3-E2A1B48B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B2F39CE7-26A7-4862-915F-842B1FC8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sync를 직접 실행하거나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OpenCode에 요청합니다.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43FECBF9-DA93-4ADD-95DF-F8CF1EF2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1515A9C6-DF27-4FEA-B479-A9C82591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4E6F28E0-C255-469B-846D-D1779650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3CC6BB7E-4BE4-4A9E-AC67-E99E3AA8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평가 Notebook을 엽니다.</a:t>
            </a: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C1A349D8-EDE4-4F49-9E08-75E7AF3C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4F55004C-E720-4E81-857E-81CC9098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5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81F3AE2B-DFC0-4E0C-AE9C-029E0CA3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커널 선택</a:t>
            </a: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5CB57965-A0BE-4A67-9FFA-98EE45AC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오른쪽 위에서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.venv (Python 3)를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선택합니다.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1ACA7D69-7453-414E-A8BA-82BD8663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F7137A76-61EE-4B27-9172-1E04CEFA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8838F4D4-B402-4E06-9DCE-1591E183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2C42322C-1D61-4892-82DF-E8B85D45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29C34077-45E2-4852-A889-CD67EB4D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ZIP의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압축을 풉니다.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4D5C8F8F-CA04-49A4-8C03-0CCBAFBD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D5F44A20-10C1-49D5-AE3C-D56CC2F2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435AB7BD-BF80-4B30-8841-5B4427FB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3FD5347B-DD83-4BAA-B496-426451E9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엽니다.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6AD6F285-43F0-4234-9B7D-350C522D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4B931363-6964-4617-B6C3-ADD9FE1A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1D5072DD-6666-4128-84EC-78E8DD66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2847687D-18C8-44AA-925D-41164DE9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sync를 직접 실행하거나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OpenCode에 요청합니다.</a:t>
            </a: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1F3C48C5-46B3-4536-B63D-E9251560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DFCE6D59-5DD9-40D1-A267-BEE14967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CECC8E73-DE2E-494D-921D-17D44E59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60BF2E5C-6268-49C1-A2FE-D361B7BB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평가 Notebook을 엽니다.</a:t>
            </a:r>
          </a:p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192497FE-C6F8-4FBA-8D20-75B23D13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DC0D0F5D-5456-4BC9-87F6-6E5FEA05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5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FC718406-E753-4ABC-B099-53AC84AE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커널 선택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31D70076-86BC-4A55-83E6-5E8FD545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오른쪽 위에서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.venv (Python 3)를</a:t>
            </a:r>
          </a:p>
          <a:p xmlns:a="http://schemas.openxmlformats.org/drawingml/2006/main">
            <a:pPr>
              <a:buNone/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선택합니다.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2B6392BC-91F5-48C5-BFC4-824258FA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65412E22-4D8C-4225-A107-C7AE658D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704740A3-C478-4933-8D75-98FD9942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528072CF-AC3B-493C-8A73-AD4B189F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</a:t>
            </a: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709FAB61-DFA8-4B05-8D13-28CF270C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내려받은 ZIP의</a:t>
            </a:r>
          </a:p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압축을 풉니다.</a:t>
            </a:r>
          </a:p>
        </p:txBody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7AB2DAA4-CA1A-4AD5-ADC4-9821DD7D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9B9F7E28-F5AC-4910-9525-79E44F1D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2612C1FF-E57D-48BD-B5A1-C293B8FB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열기</a:t>
            </a: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D41B2E66-FD3F-4D35-A7CE-F444C9E2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</a:t>
            </a:r>
          </a:p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 폴더 전체를 엽니다.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E7F7572E-8F02-4BC1-B0E8-7386BFFF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FA5368CB-72DB-4660-84FF-0BAB72D0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38BF7BF9-1260-479C-8048-2952B7C2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환경 만들기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E615A2B3-EB0F-481A-B234-F26862F5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uv sync를 직접 실행하거나</a:t>
            </a:r>
          </a:p>
          <a:p xmlns:a="http://schemas.openxmlformats.org/drawingml/2006/main">
            <a:pPr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OpenCode에 요청합니다.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3BEF470A-9C15-48EF-9FBB-E857D85B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0AB0ACD7-5978-4695-8ECA-82151639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D9002132-D8FA-432F-A9AA-25008980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 열기</a:t>
            </a:r>
          </a:p>
        </p:txBody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094A5BA2-0945-4CF1-B315-C026EB70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notebooks 폴더에서</a:t>
            </a:r>
          </a:p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평가 Notebook을 엽니다.</a:t>
            </a: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37E78F95-60D3-4BCE-9F7B-E181FF57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047875"/>
            <a:ext cx="2076450" cy="29527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C34591D5-FFC6-4E23-A8D9-82052956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2193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5</a:t>
            </a: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C734C07F-4741-4ACD-A710-F0CC5D8F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60032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커널 선택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E5498033-F76E-43AE-92DC-50FAE540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000375"/>
            <a:ext cx="16954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오른쪽 위에서</a:t>
            </a:r>
          </a:p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.venv (Python 3)를</a:t>
            </a:r>
          </a:p>
          <a:p xmlns:a="http://schemas.openxmlformats.org/drawingml/2006/main">
            <a:pPr>
              <a:def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선택합니다.</a:t>
            </a:r>
          </a:p>
        </p:txBody>
      </p:sp>
    </p:spTree>
    <p:extLst>
      <p:ext uri="{BB962C8B-B14F-4D97-AF65-F5344CB8AC3E}">
        <p14:creationId xmlns:p14="http://schemas.microsoft.com/office/powerpoint/2010/main" val="16412692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E450665-1A01-49AB-A5C1-C28EAC35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0FE7207-E99A-4859-B2C7-69F15468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2DE2867-5870-476F-B521-A1610F00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21D56D6-EAAD-4D0B-BE8C-54E6FBF8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 Environments에서 .venv를 선택한다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D2A9642-7178-432B-AF71-FB3CE987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0ACDB5C-0E9F-40EE-873F-80A552DA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11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4BEF3ED-DF7D-4C11-8DD1-3FAE4099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12쪽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B6B5CD4-297D-4AA8-AD0F-73A9AB99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12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EFC8B22-863F-4273-BEF0-621699E0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874520"/>
            <a:ext cx="8366760" cy="3886200"/>
          </a:xfrm>
          <a:prstGeom xmlns:a="http://schemas.openxmlformats.org/drawingml/2006/main" prst="roundRect">
            <a:avLst>
              <a:gd name="adj" fmla="val 1176"/>
            </a:avLst>
          </a:prstGeom>
          <a:solidFill xmlns:a="http://schemas.openxmlformats.org/drawingml/2006/main">
            <a:srgbClr val="24272C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6BB6F34-58A5-4827-8CD2-30193C97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2057400"/>
            <a:ext cx="7891272" cy="3520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2890"/>
              </a:lnSpc>
              <a:buNone/>
            </a:pPr>
            <a:endParaRPr sz="17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D8AB01E-6721-4C65-8E30-0FF3F4FA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12700">
            <a:solidFill>
              <a:srgbClr val="FF5C00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562A249-F15F-44F9-BEA7-4C98DEF0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0644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Select Kernel → Python Environments...를 연 뒤, .venv가 보이는지 확인합니다.</a:t>
            </a:r>
            <a:endParaRPr sz="1400"/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bb7b14abab4e8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43188" y="1874520"/>
            <a:ext cx="6905625" cy="3886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7061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E078F3E-B7BA-42E6-908C-CD6375E6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1473EF6-AF93-44BD-8AF3-0DC549C8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A36ABEE-5956-458E-8316-95D510CA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28407F2-9DF8-4D46-BFEB-44BF7C3B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12,960행의 학교 시설 이용 자료를 사용한다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D1582FC-0EC8-425B-8949-B096E2F0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BD54A80-1872-4EFA-A249-41CBF924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12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98619C7-472D-4C3B-B55A-219D3877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13쪽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73D0532-6FCA-4891-B521-56349FB0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13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F2AAF6F-464C-4475-82D5-78026402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1874520"/>
            <a:ext cx="8275320" cy="3337560"/>
          </a:xfrm>
          <a:prstGeom xmlns:a="http://schemas.openxmlformats.org/drawingml/2006/main" prst="roundRect">
            <a:avLst>
              <a:gd name="adj" fmla="val 150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E06D103-4FD0-4ACF-A613-9B0727DF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039112"/>
            <a:ext cx="79095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60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수행평가 CSV · 12,960행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76DBF83-5889-4C19-A9BD-B67B02D5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331720"/>
            <a:ext cx="7909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학교 시설 이용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1FE60D5-5896-46BC-88F9-F79F588E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825496"/>
            <a:ext cx="7909560" cy="2240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50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date · weekday · time_slot</a:t>
            </a:r>
            <a:endParaRPr sz="150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50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facility · visitors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50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time_slot은 24시간 형식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50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facility 값은 영문·밑줄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5821992-9843-4CEB-A46A-1F7C7D5A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53212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406923A-7DBC-4F28-AACB-7495D98D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3212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12,960행 · 수행평가용 가상 데이터 · 개인정보 없음</a:t>
            </a:r>
            <a:endParaRPr sz="1400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959D39-034D-40F4-8714-992B1144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1952625" y="1952625"/>
          <a:ext xmlns:a="http://schemas.openxmlformats.org/drawingml/2006/main" cx="828675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2952750"/>
                <a:gridCol w="3238500"/>
              </a:tblGrid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열 이름</a:t>
                      </a:r>
                    </a:p>
                  </a:txBody>
                  <a:tcPr marL="114300" marR="114300" marT="66675" marB="66675" anchor="ctr">
                    <a:solidFill>
                      <a:srgbClr val="1B1D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뜻</a:t>
                      </a:r>
                    </a:p>
                  </a:txBody>
                  <a:tcPr marL="114300" marR="114300" marT="66675" marB="66675" anchor="ctr">
                    <a:solidFill>
                      <a:srgbClr val="1B1D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값의 예</a:t>
                      </a:r>
                    </a:p>
                  </a:txBody>
                  <a:tcPr marL="114300" marR="114300" marT="66675" marB="66675" anchor="ctr">
                    <a:solidFill>
                      <a:srgbClr val="1B1D21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0C7F89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date</a:t>
                      </a:r>
                    </a:p>
                  </a:txBody>
                  <a:tcPr marL="114300" marR="114300" marT="66675" marB="66675" anchor="ctr">
                    <a:solidFill>
                      <a:srgbClr val="E8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날짜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2026-03-02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0C7F89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weekday</a:t>
                      </a:r>
                    </a:p>
                  </a:txBody>
                  <a:tcPr marL="114300" marR="114300" marT="66675" marB="66675" anchor="ctr">
                    <a:solidFill>
                      <a:srgbClr val="E8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요일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Monday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0C7F89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time_slot</a:t>
                      </a:r>
                    </a:p>
                  </a:txBody>
                  <a:tcPr marL="114300" marR="114300" marT="66675" marB="66675" anchor="ctr">
                    <a:solidFill>
                      <a:srgbClr val="E8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24시간 형식의 시간대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08:00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0C7F89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facility</a:t>
                      </a:r>
                    </a:p>
                  </a:txBody>
                  <a:tcPr marL="114300" marR="114300" marT="66675" marB="66675" anchor="ctr">
                    <a:solidFill>
                      <a:srgbClr val="E8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학교 안의 공간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Computer_Room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0C7F89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visitors</a:t>
                      </a:r>
                    </a:p>
                  </a:txBody>
                  <a:tcPr marL="114300" marR="114300" marT="66675" marB="66675" anchor="ctr">
                    <a:solidFill>
                      <a:srgbClr val="E8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이용 인원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18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93145B-D827-407E-8009-D26A28FB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8162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1430">
            <a:solidFill>
              <a:srgbClr val="EAF4F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3D1E24-7814-4CD4-9BC9-FC2A24DE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149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374151"/>
                </a:solidFill>
                <a:latin typeface="IBM Plex Sans KR"/>
                <a:ea typeface="IBM Plex Sans KR"/>
                <a:cs typeface="IBM Plex Sans KR"/>
              </a:rPr>
              <a:t>facility 값은 영문이고, 두 단어로 된 공간 이름은 밑줄로 이어집니다.</a:t>
            </a:r>
          </a:p>
        </p:txBody>
      </p:sp>
    </p:spTree>
    <p:extLst>
      <p:ext uri="{BB962C8B-B14F-4D97-AF65-F5344CB8AC3E}">
        <p14:creationId xmlns:p14="http://schemas.microsoft.com/office/powerpoint/2010/main" val="11943322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1E87EC1-5305-4741-BFFE-B0456526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339D062-050C-45E6-83D2-7C370953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88A6CCC-267D-4F8B-8AE3-C68D0E6C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5652068-CD2F-453F-94EC-929E3058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한 번에 다 시키지 않고 판단의 순서를 남긴다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0B3F2A9-EB8D-40C5-BD6C-33C0E582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E35E4E8-DFC9-4925-BD88-E56BFA41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13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76C6EB3-6784-41AC-8B86-B8FC7BB4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14쪽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AE6D541-A2E2-4CBD-A860-AFC2CA23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14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C96E79C-7166-4998-B9C4-BB7B8D81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148840"/>
            <a:ext cx="1991563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1CBE9E0-970F-44DE-B559-A2E136B3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13432"/>
            <a:ext cx="162580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910E04B-E1E1-43CD-B94B-6A765B00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34056"/>
            <a:ext cx="1625803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자료 파악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EE8B803-98D3-4504-9106-37E7DE7E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27832"/>
            <a:ext cx="1625803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데이터·행·열</a:t>
            </a:r>
            <a:endParaRPr sz="122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1D78A4B-DBBC-44F6-A5C2-F5DB38A7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483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0235A71-8C84-4660-AD50-7C60A81C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4523" y="2148840"/>
            <a:ext cx="1991563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F4802A9-0FEC-4589-83DA-D22F6926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403" y="2313432"/>
            <a:ext cx="162580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D92E334-E4C4-4733-9C3B-94729EF1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403" y="2734056"/>
            <a:ext cx="1625803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그래프 선택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7896C0D-67B5-443A-AF9A-4214E626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403" y="3227832"/>
            <a:ext cx="1625803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시각화할 내용</a:t>
            </a:r>
            <a:endParaRPr sz="122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CDCE80D-6ED3-4768-811B-9FDF8E38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8654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FC07AEA-531E-4AAE-AD1C-7198C912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8694" y="2148840"/>
            <a:ext cx="1991563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3041E95-4FB5-4B52-BA98-D89D5C16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1574" y="2313432"/>
            <a:ext cx="162580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</a:t>
            </a:r>
            <a:endParaRPr sz="1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27F518EA-EBAD-4CD5-A4F7-83AE7B2B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1574" y="2734056"/>
            <a:ext cx="1625803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AI 계획 확인</a:t>
            </a:r>
            <a:endParaRPr sz="16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7A77CE0-0B48-4F59-9EEC-3EC91E29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1574" y="3227832"/>
            <a:ext cx="1625803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읽고 승인·수정</a:t>
            </a:r>
            <a:endParaRPr sz="122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572059B-9EC1-4310-9E36-91FF527F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826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BA65E726-EDD8-451C-B311-FC2A4C43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66" y="2148840"/>
            <a:ext cx="1991563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2700">
            <a:solidFill>
              <a:srgbClr val="E0E3E7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E6DE37D0-AB60-4940-AE73-C94C8DE9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746" y="2313432"/>
            <a:ext cx="162580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4</a:t>
            </a:r>
            <a:endParaRPr sz="18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BBB1493-9176-4D27-840D-7D36B1D9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746" y="2734056"/>
            <a:ext cx="1625803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  <a:endParaRPr sz="16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1730784-3F96-4A62-94F8-37730D73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746" y="3227832"/>
            <a:ext cx="1625803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그래프와 실행 결과</a:t>
            </a:r>
            <a:endParaRPr sz="122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0B485A9-615B-49C1-B664-6C266D95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6997" y="2880360"/>
            <a:ext cx="3840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  <a:endParaRPr sz="2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2E7F0AA3-60F9-4B3F-A8A7-30826E5DC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037" y="2148840"/>
            <a:ext cx="1991563" cy="1920240"/>
          </a:xfrm>
          <a:prstGeom xmlns:a="http://schemas.openxmlformats.org/drawingml/2006/main" prst="roundRect">
            <a:avLst>
              <a:gd name="adj" fmla="val 261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A5FF382-E147-4811-BFFC-D497315D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9917" y="2313432"/>
            <a:ext cx="1625803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E7C86"/>
                </a:solidFill>
                <a:latin typeface="IBM Plex Mono"/>
                <a:ea typeface="IBM Plex Mono"/>
                <a:cs typeface="IBM Plex Mono"/>
              </a:rPr>
              <a:t>5</a:t>
            </a:r>
            <a:endParaRPr sz="18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1C1D972-DF9F-4806-A1DB-31949B65D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9917" y="2734056"/>
            <a:ext cx="1625803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  <a:endParaRPr sz="165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3B5771E-AE3D-49A0-9377-1A41A5D0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9917" y="3227832"/>
            <a:ext cx="1625803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2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정확성·보이는 내용</a:t>
            </a:r>
            <a:endParaRPr sz="122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59805C8D-F86B-456D-9199-F93809A0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07492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12700">
            <a:solidFill>
              <a:srgbClr val="FF5C00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8F110AD6-8D88-4AEB-A2DC-7C8AFD98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7492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AI의 계획이 목표에 맞는지 확인한 뒤 실행을 승인합니다.</a:t>
            </a:r>
            <a:endParaRPr sz="1500"/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5BA78B-724B-47C7-89D9-4FD3ACF9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8FE768-21BB-424B-9AB5-BAD1885F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43125"/>
            <a:ext cx="2333625" cy="242887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CE3016-F2EB-4F95-A764-108CE62D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995ED2A-1982-4468-AFE3-1438A470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622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자료 파악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4F6524-D8A9-46EF-9BFF-5AD76BCF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19450"/>
            <a:ext cx="19526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어떤 데이터인지와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행·열의 뜻 확인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DB0E88-9027-427A-ADF8-0D08A5E7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143125"/>
            <a:ext cx="2333625" cy="242887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FBD359-E402-4CC8-9A37-1C2CA6FA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A652EA-CB49-46E5-8637-E0924998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7622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선택·계획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970A73-754B-4F00-91CE-77038F13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19450"/>
            <a:ext cx="19526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시각화할 내용과 그래프 선택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AI의 작업 계획 확인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552CBA5-5FA2-43EA-9506-51E574E3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43125"/>
            <a:ext cx="2333625" cy="242887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ADD4A2A-4998-485E-9ED5-B2D8FD439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092DED9-264C-446A-829B-0DA8C987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7622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8590EE3-DCC4-45BC-ACAD-D5E4650C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219450"/>
            <a:ext cx="19526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확인한 계획에 따라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필요한 작업 수행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F710230-F581-4B00-8B56-ADB6DF17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143125"/>
            <a:ext cx="2571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1AA1BC6-C61F-437F-A13D-62D697B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E0A0212-5E91-4EC9-B301-A1951E3B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762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검토·해석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4C1F4D-F23B-48CB-ABD7-9655B614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219450"/>
            <a:ext cx="2190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정확성을 확인하고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그래프를 통해 보이는 내용 기록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F8FED80-7268-49B2-98E1-AD306279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0003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818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2C0D531-3B32-4D48-9D9C-9995667C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0003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818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E9A96AF-F5BC-44EF-BEEE-C8F67FB6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0003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818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535E2F4-9799-47E1-AFF4-018FA261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8162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0A695C-B616-4270-802C-242B938F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149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AI의 계획이 알맞으면 실행을 승인하고, 부족하면 계획부터 고칩니다.</a:t>
            </a:r>
          </a:p>
        </p:txBody>
      </p:sp>
    </p:spTree>
    <p:extLst>
      <p:ext uri="{BB962C8B-B14F-4D97-AF65-F5344CB8AC3E}">
        <p14:creationId xmlns:p14="http://schemas.microsoft.com/office/powerpoint/2010/main" val="13403110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61114CB-6FAE-46FF-B446-160309D3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06A1483-58A8-4643-994D-C3E32F1E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8E5DFD5-16B2-4D00-B541-8FF5ECAA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124D635-5ED3-4F6B-85D1-BF83C1C8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전체를 훑지 않고 자료를 파악한다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F8AC238-905C-4900-9702-97D2FD88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1AC6C66-FDAC-4F65-80F5-0BEF3F87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14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97CF180-45D7-4FFD-9E01-C37E9788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15쪽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2165916-4421-4D96-A272-A483796E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15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C3ACE96-1F46-451C-869B-08C8C9B1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74520"/>
            <a:ext cx="3338474" cy="402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A0DE033-47A6-4F19-9282-BE171C6D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308244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확인할 것</a:t>
            </a:r>
            <a:endParaRPr sz="10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CB49570-2FFD-47FC-AC6C-DC45F31C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8826" y="1874520"/>
            <a:ext cx="3894887" cy="402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320F290-A16D-498F-ADC8-92447662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842" y="1874520"/>
            <a:ext cx="3638855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원본에서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DAE31D0-AB5C-47F5-914F-EA5E63C1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3713" y="1874520"/>
            <a:ext cx="3894887" cy="402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0E32B39-8110-4A1D-A275-E0399195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729" y="1874520"/>
            <a:ext cx="3638855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결과에서</a:t>
            </a:r>
            <a:endParaRPr sz="10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6EB56D3-C487-4E8E-BAD7-880A0298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276856"/>
            <a:ext cx="11128248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07F99EC-8155-4604-8E96-A5E4FC03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76856"/>
            <a:ext cx="308244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열과 값</a:t>
            </a:r>
            <a:endParaRPr sz="122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687195E-358F-45E8-9FA8-5A80D44D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842" y="227685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열 이름·예시 값</a:t>
            </a:r>
            <a:endParaRPr sz="122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F7AC2CF-51F4-4AB9-80A5-E224C4BE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729" y="227685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데이터 구조 확인</a:t>
            </a:r>
            <a:endParaRPr sz="122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334682C-261F-408F-898B-35E018D70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916936"/>
            <a:ext cx="11128248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634C61A-162D-4598-B30A-E8B2E342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16936"/>
            <a:ext cx="308244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자료의 내용</a:t>
            </a:r>
            <a:endParaRPr sz="122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EFB3D16-230A-4F36-AC1E-2487D3C3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842" y="291693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행과 열의 의미</a:t>
            </a:r>
            <a:endParaRPr sz="122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9237C44-CC8A-4E76-A288-8F2A9F7D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729" y="291693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직접 확인하거나</a:t>
            </a:r>
            <a:endParaRPr sz="1220"/>
          </a:p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AI에게 설명 요청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21297F6-5F69-4506-8CED-3E5F3DE9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557016"/>
            <a:ext cx="11128248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0CF4C2B-DB91-49DC-8059-C1297DB7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57016"/>
            <a:ext cx="308244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그래프 선택</a:t>
            </a:r>
            <a:endParaRPr sz="122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29BF82B-7304-4FD3-8350-6751AFEC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842" y="355701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무엇을 보여 줄지</a:t>
            </a:r>
            <a:endParaRPr sz="122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B942596-344C-4687-ACC8-4EC1D474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729" y="355701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자료에 알맞은지 확인</a:t>
            </a:r>
            <a:endParaRPr sz="122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65E209A8-06F2-41BE-B322-C37E052C5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197096"/>
            <a:ext cx="11128248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4DDECDA-5787-4B82-8DDD-F79AC0B2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97096"/>
            <a:ext cx="308244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결과 검토</a:t>
            </a:r>
            <a:endParaRPr sz="122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83595E9-3C01-4A0A-BF56-08EB0099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842" y="419709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제목·축·단위</a:t>
            </a:r>
            <a:endParaRPr sz="122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55B10D1-C690-4010-86A3-243A0513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729" y="4197096"/>
            <a:ext cx="363885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원본 자료와 대조</a:t>
            </a:r>
            <a:endParaRPr sz="122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093E843A-1854-49BB-B9BC-C69F224B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AB0E7B8-D228-4E98-91B5-3855441F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자료를 파악한 뒤, 무엇을 보여 줄지 정하고 알맞은 그래프를 고릅니다.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4364508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356264-FBDB-4946-BF63-56AB7863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C0A28AC-9A84-4B19-8284-93ACBDC2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7518DC-57FA-49D5-84AC-48C62FC3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4AEDF7E-E60C-4C3B-8EF9-15AFFBBA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이번 평가에서는 AI 대화도 함께 제출한다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ED33172-0F90-4A05-A5B1-2874096C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AEFFE16-EBD7-4796-8A50-C79D1277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15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2706597-70C0-4F7A-ADDF-22014246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16쪽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46218EF-F5C6-41E2-98E6-48374D9A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16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1364F86-3CF0-4726-818A-5CA48DAA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11128248" cy="96012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24272C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FE4B859-17B5-4A6B-B968-755A5E53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956816"/>
            <a:ext cx="10652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8A9099"/>
                </a:solidFill>
                <a:latin typeface="IBM Plex Mono"/>
                <a:ea typeface="IBM Plex Mono"/>
                <a:cs typeface="IBM Plex Mono"/>
              </a:rPr>
              <a:t>Notebook</a:t>
            </a:r>
            <a:endParaRPr sz="9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B155BEB-F2EB-49FD-93C2-695662B1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231136"/>
            <a:ext cx="106527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3060"/>
              </a:lnSpc>
              <a:buNone/>
            </a:pPr>
            <a:r>
              <a:rPr sz="18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코드·그래프·검토 내용</a:t>
            </a:r>
            <a:endParaRPr sz="18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8F39FED-DF6A-4C0F-8D80-C5660EC3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63240"/>
            <a:ext cx="11128248" cy="1143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4272C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9D9274F-1406-4770-BB2C-6886CB83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191256"/>
            <a:ext cx="10652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8A9099"/>
                </a:solidFill>
                <a:latin typeface="IBM Plex Mono"/>
                <a:ea typeface="IBM Plex Mono"/>
                <a:cs typeface="IBM Plex Mono"/>
              </a:rPr>
              <a:t>OpenCode JSON · 평가용</a:t>
            </a:r>
            <a:endParaRPr sz="9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6C4265A-05B0-45FA-A307-D5E74306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465576"/>
            <a:ext cx="1065276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2550"/>
              </a:lnSpc>
              <a:buNone/>
            </a:pPr>
            <a:r>
              <a:rPr sz="150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수행평가와 관련된 AI 대화 기록</a:t>
            </a:r>
            <a:endParaRPr sz="15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06696EC-FBA1-41DE-BD20-954A223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572000"/>
            <a:ext cx="5943600" cy="914400"/>
          </a:xfrm>
          <a:prstGeom xmlns:a="http://schemas.openxmlformats.org/drawingml/2006/main" prst="roundRect">
            <a:avLst>
              <a:gd name="adj" fmla="val 5500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7B65E60-1F92-4948-90FF-ADFC1828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4736592"/>
            <a:ext cx="55778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이번 평가에서만 추가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1E013D0-75F6-476E-A389-75E104BC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5230368"/>
            <a:ext cx="557784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일반 공유에는 보통 넣지 않으며, 추출 방법은 5-2에서 확인합니다.</a:t>
            </a:r>
            <a:endParaRPr sz="1240"/>
          </a:p>
        </p:txBody>
      </p:sp>
    </p:spTree>
    <p:extLst>
      <p:ext uri="{BB962C8B-B14F-4D97-AF65-F5344CB8AC3E}">
        <p14:creationId xmlns:p14="http://schemas.microsoft.com/office/powerpoint/2010/main" val="18301110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C47F795-109E-4E87-BDD8-BC8B12AED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7C489C2-55D9-4FA3-9D9A-A10260DE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000AEC8-BB5C-460E-AE88-EA0F713F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5-1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DE100FF-A2EC-408F-A922-210D4E02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다음 시간에 사용할 환경을 확인한다</a:t>
            </a: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6C38A7F-9397-47D3-803C-43C13D0B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1B3A21B-1196-44E6-A5C8-E74C5F27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16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D9AE20C-47EE-435D-8248-F74AFA1D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05-1 · 17쪽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7EDDC03-D10A-4995-8265-4ABEFDD6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17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FD113DF-F895-4832-9C67-E9C16643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5303520" cy="3429000"/>
          </a:xfrm>
          <a:prstGeom xmlns:a="http://schemas.openxmlformats.org/drawingml/2006/main" prst="roundRect">
            <a:avLst>
              <a:gd name="adj" fmla="val 146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2700">
            <a:solidFill>
              <a:srgbClr val="0E7C86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2EC6219-D6B1-496E-9DEB-9F98F9AF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93392"/>
            <a:ext cx="49377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60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실행 준비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E5D5891-BFED-4C08-A13F-753FFF33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286000"/>
            <a:ext cx="4937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 · uv sync · 커널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1F28AFB-1457-4463-9289-EFCD53B6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79776"/>
            <a:ext cx="4937760" cy="2331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05 폴더를 VS Code로 열었다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.venv가 만들어졌다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Notebook에서 .venv 커널을 골랐다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988E80F-0376-4F6F-8C96-EB0BE615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28800"/>
            <a:ext cx="5303520" cy="3429000"/>
          </a:xfrm>
          <a:prstGeom xmlns:a="http://schemas.openxmlformats.org/drawingml/2006/main" prst="roundRect">
            <a:avLst>
              <a:gd name="adj" fmla="val 1467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12700">
            <a:solidFill>
              <a:srgbClr val="C24A00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80A5022-294C-4692-BE80-9ECEB312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9377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60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평가 준비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6B7D27B-5E72-4A88-B98A-86910478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286000"/>
            <a:ext cx="4937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6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0188D9E-1DD0-45A2-A1D5-1D0BDE00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779776"/>
            <a:ext cx="4937760" cy="2331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제공된 CSV를 확인했다</a:t>
            </a:r>
            <a:endParaRPr sz="1240"/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판단의 순서를 알고 있다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그래프 출력 후 Ctrl+S로 저장한다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대화를 JSON으로 남길 수 있다</a:t>
            </a:r>
          </a:p>
          <a:p xmlns:a="http://schemas.openxmlformats.org/drawingml/2006/main">
            <a:pPr marL="0" indent="0">
              <a:lnSpc>
                <a:spcPts val="1900"/>
              </a:lnSpc>
              <a:buNone/>
            </a:pPr>
            <a:r>
              <a:rPr sz="124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Google 계정으로 로그인할 수 있다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BEE2A4-2173-48F7-AFD4-CB72136B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09750"/>
            <a:ext cx="11430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56C9D8-AC02-4C27-9588-5B873057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43125"/>
            <a:ext cx="25717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B3D-DF2E-4B0C-B19E-E0B36A56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196812-7700-4F1E-9767-7165DC37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62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05 폴더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45BCD1-5CF3-4A09-9408-24C9C745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19450"/>
            <a:ext cx="219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VS Code에서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폴더 전체를 열었다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1F08FD-B983-4BE8-83A0-A2E2EE8D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143125"/>
            <a:ext cx="25717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30914E-186C-4A6E-9C31-B9101A56F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DCAE8A-19E7-443C-B3B4-E70D4C60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762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uv sync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279AC8-28B6-4169-A54F-BEBB58F5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19450"/>
            <a:ext cx="219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명령이 끝나고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.venv가 만들어졌다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82BC45-A601-4A9B-8841-A4B2859F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43125"/>
            <a:ext cx="25717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176D17-977A-4BA7-9D60-766E2EDA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AD2406-3AEA-4687-9AE7-EC042E4A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762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.venv 커널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C4762C-7CC2-4E54-B289-E3120E5B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219450"/>
            <a:ext cx="219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Notebook 오른쪽 위에서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05의 .venv를 골랐다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C41432-C328-4475-8BDC-91FF89ED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143125"/>
            <a:ext cx="25717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1430">
            <a:solidFill>
              <a:srgbClr val="0C8D99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FA7D87-947E-48A7-BFF1-DC7E3C61F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314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0C7F89"/>
                </a:solidFill>
                <a:latin typeface="IBM Plex Sans KR"/>
                <a:ea typeface="IBM Plex Sans KR"/>
                <a:cs typeface="IBM Plex Sans KR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AB4B6A-98F5-46B6-957F-D5B1B06D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762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CSV 파일 확인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593609-B14B-4425-9808-49ABE728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219450"/>
            <a:ext cx="219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data 폴더에</a:t>
            </a:r>
          </a:p>
          <a:p xmlns:a="http://schemas.openxmlformats.org/drawingml/2006/main">
            <a:pPr>
              <a:buNone/>
              <a:def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>
                <a:solidFill>
                  <a:srgbClr val="686F78"/>
                </a:solidFill>
                <a:latin typeface="IBM Plex Sans KR"/>
                <a:ea typeface="IBM Plex Sans KR"/>
                <a:cs typeface="IBM Plex Sans KR"/>
              </a:rPr>
              <a:t>제공된 CSV가 있다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7E9A7C-B01C-4C2F-B94A-90C8918D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81625"/>
            <a:ext cx="11144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1430">
            <a:solidFill>
              <a:srgbClr val="FFF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47C11E-A9A5-4A7A-BAE9-5A5B6865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149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C54800"/>
                </a:solidFill>
                <a:latin typeface="IBM Plex Sans KR"/>
                <a:ea typeface="IBM Plex Sans KR"/>
                <a:cs typeface="IBM Plex Sans KR"/>
              </a:rPr>
              <a:t>이 네 항목이 준비되면 다음 차시에 수행평가를 시작할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6825519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2026-09-28T17:34:31.5170000Z</dcterms:created>
  <dcterms:modified xsi:type="dcterms:W3CDTF">2026-09-28T17:34:31.5170000Z</dcterms:modified>
</coreProperties>
</file>