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1dc47ed053f457a" /><Relationship Type="http://schemas.openxmlformats.org/officeDocument/2006/relationships/extended-properties" Target="/docProps/app.xml" Id="R3c6a99083461406e" /><Relationship Type="http://schemas.openxmlformats.org/officeDocument/2006/relationships/officeDocument" Target="/ppt/presentation.xml" Id="Re2810cc383fe441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839ea7f6952489c"/>
  </p:sldMasterIdLst>
  <p:notesMasterIdLst>
    <p:notesMasterId xmlns:r="http://schemas.openxmlformats.org/officeDocument/2006/relationships" r:id="R1159f24e95044982"/>
  </p:notesMasterIdLst>
  <p:sldIdLst>
    <p:sldId xmlns:r="http://schemas.openxmlformats.org/officeDocument/2006/relationships" id="256" r:id="R4d92c94f6a6f40dd"/>
    <p:sldId xmlns:r="http://schemas.openxmlformats.org/officeDocument/2006/relationships" id="257" r:id="R97a473ae44c64960"/>
    <p:sldId xmlns:r="http://schemas.openxmlformats.org/officeDocument/2006/relationships" id="258" r:id="R15d50302c8494c34"/>
    <p:sldId xmlns:r="http://schemas.openxmlformats.org/officeDocument/2006/relationships" id="259" r:id="Re4cdae86c8d342cc"/>
    <p:sldId xmlns:r="http://schemas.openxmlformats.org/officeDocument/2006/relationships" id="260" r:id="R576a8637490347ec"/>
    <p:sldId xmlns:r="http://schemas.openxmlformats.org/officeDocument/2006/relationships" id="261" r:id="Rc763262531b64c21"/>
  </p:sldIdLst>
  <p:sldSz cx="12191695" cy="6858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1f9b5dc8dd54497" /><Relationship Type="http://schemas.openxmlformats.org/officeDocument/2006/relationships/slideMaster" Target="/ppt/slideMasters/slideMaster1.xml" Id="R8839ea7f6952489c" /><Relationship Type="http://schemas.openxmlformats.org/officeDocument/2006/relationships/notesMaster" Target="/ppt/notesMasters/notesMaster1.xml" Id="R1159f24e95044982" /><Relationship Type="http://schemas.openxmlformats.org/officeDocument/2006/relationships/presProps" Target="/ppt/presProps.xml" Id="R320a9c05085b480b" /><Relationship Type="http://schemas.openxmlformats.org/officeDocument/2006/relationships/viewProps" Target="/ppt/viewProps.xml" Id="Rd934cb03196e4a67" /><Relationship Type="http://schemas.openxmlformats.org/officeDocument/2006/relationships/tableStyles" Target="/ppt/tableStyles.xml" Id="Raf6145a568604531" /><Relationship Type="http://schemas.openxmlformats.org/officeDocument/2006/relationships/slide" Target="/ppt/slides/slide1.xml" Id="R4d92c94f6a6f40dd" /><Relationship Type="http://schemas.openxmlformats.org/officeDocument/2006/relationships/slide" Target="/ppt/slides/slide2.xml" Id="R97a473ae44c64960" /><Relationship Type="http://schemas.openxmlformats.org/officeDocument/2006/relationships/slide" Target="/ppt/slides/slide3.xml" Id="R15d50302c8494c34" /><Relationship Type="http://schemas.openxmlformats.org/officeDocument/2006/relationships/slide" Target="/ppt/slides/slide4.xml" Id="Re4cdae86c8d342cc" /><Relationship Type="http://schemas.openxmlformats.org/officeDocument/2006/relationships/slide" Target="/ppt/slides/slide5.xml" Id="R576a8637490347ec" /><Relationship Type="http://schemas.openxmlformats.org/officeDocument/2006/relationships/slide" Target="/ppt/slides/slide6.xml" Id="Rc763262531b64c2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d4b67dd3ea040b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d11109bbcdd4e7e" /><Relationship Type="http://schemas.openxmlformats.org/officeDocument/2006/relationships/notesMaster" Target="/ppt/notesMasters/notesMaster1.xml" Id="Rb1da8c4d5975415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5638e70353d4ac5" /><Relationship Type="http://schemas.openxmlformats.org/officeDocument/2006/relationships/notesMaster" Target="/ppt/notesMasters/notesMaster1.xml" Id="R7be6e7c4d404458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0feb251ac134dc4" /><Relationship Type="http://schemas.openxmlformats.org/officeDocument/2006/relationships/notesMaster" Target="/ppt/notesMasters/notesMaster1.xml" Id="R89a11832b9094f9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4b11ce4bb854afc" /><Relationship Type="http://schemas.openxmlformats.org/officeDocument/2006/relationships/notesMaster" Target="/ppt/notesMasters/notesMaster1.xml" Id="R24ab3e8a00d749c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248a9ae9201482e" /><Relationship Type="http://schemas.openxmlformats.org/officeDocument/2006/relationships/notesMaster" Target="/ppt/notesMasters/notesMaster1.xml" Id="R0cfa71ff58a54ee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e40ded67d6d4382" /><Relationship Type="http://schemas.openxmlformats.org/officeDocument/2006/relationships/notesMaster" Target="/ppt/notesMasters/notesMaster1.xml" Id="Rb0d04dd75b564e0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교과서 5-2를 참고로 학생이 수행평가를 진행한다.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수행평가가 모두 끝난 뒤에만 보여 준다. 같은 자료도 무엇을 보려고 하느냐에 따라 다른 그래프가 될 수 있음을 확인한다.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수행평가 종료 후 예시. 시간대별 평균 이용 인원을 연결하면 하루 안의 변화가 보인다.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수행평가 종료 후 예시. 장소별 전체 이용 인원을 비율로 나누어 본 결과이다.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수행평가 종료 후 예시. 요일별 평균을 비교하면 금요일의 반복되는 차이가 보인다.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수행평가 종료 후 예시. 요일과 시간대를 함께 보면 언제 이용자가 몰리는지 더 구체적으로 보인다.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44fcf784ed4a7c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d62f550cba44164" /><Relationship Type="http://schemas.openxmlformats.org/officeDocument/2006/relationships/slideLayout" Target="/ppt/slideLayouts/slideLayout1.xml" Id="R77aae3348aea4aab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7aae3348aea4aab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3361e485e14935" /><Relationship Type="http://schemas.openxmlformats.org/officeDocument/2006/relationships/notesSlide" Target="/ppt/notesSlides/notesSlide1.xml" Id="Re738a5f1e9364ae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59001165124743" /><Relationship Type="http://schemas.openxmlformats.org/officeDocument/2006/relationships/notesSlide" Target="/ppt/notesSlides/notesSlide2.xml" Id="R46a8d32fef00433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6b1a6ca7734416" /><Relationship Type="http://schemas.openxmlformats.org/officeDocument/2006/relationships/image" Target="/ppt/media/image.png" Id="R0c5469b043e14880" /><Relationship Type="http://schemas.openxmlformats.org/officeDocument/2006/relationships/notesSlide" Target="/ppt/notesSlides/notesSlide3.xml" Id="R2c0cafa5196248b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0c25137a304058" /><Relationship Type="http://schemas.openxmlformats.org/officeDocument/2006/relationships/image" Target="/ppt/media/image2.png" Id="Rae1d9f6bb585448b" /><Relationship Type="http://schemas.openxmlformats.org/officeDocument/2006/relationships/notesSlide" Target="/ppt/notesSlides/notesSlide4.xml" Id="R6dbb319dda69416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9607c0c8cd4682" /><Relationship Type="http://schemas.openxmlformats.org/officeDocument/2006/relationships/image" Target="/ppt/media/image3.png" Id="R6c46598c21e34006" /><Relationship Type="http://schemas.openxmlformats.org/officeDocument/2006/relationships/notesSlide" Target="/ppt/notesSlides/notesSlide5.xml" Id="R5090b95ba224495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516a362f7c43a1" /><Relationship Type="http://schemas.openxmlformats.org/officeDocument/2006/relationships/image" Target="/ppt/media/image4.png" Id="Rc1f64c7d1e7d4f9e" /><Relationship Type="http://schemas.openxmlformats.org/officeDocument/2006/relationships/notesSlide" Target="/ppt/notesSlides/notesSlide6.xml" Id="Rba0cac509358499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B1D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E3BE2B7-180E-4973-85C2-766DE20B3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39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CDA676D-F496-4EB5-ABF1-89A7B2A54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417320"/>
            <a:ext cx="9144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10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5회 · 둘째 차시</a:t>
            </a:r>
            <a:endParaRPr sz="12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3C166DB-F70E-4180-A6CA-2E3AE94AE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828800"/>
            <a:ext cx="1042416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2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수행평가 1</a:t>
            </a:r>
            <a:endParaRPr sz="42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0A28550-C24F-448F-9815-F4972A19C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46120"/>
            <a:ext cx="99669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3200"/>
              </a:lnSpc>
              <a:buNone/>
            </a:pPr>
            <a:r>
              <a:rPr sz="1900">
                <a:solidFill>
                  <a:srgbClr val="A7ACB3"/>
                </a:solidFill>
                <a:latin typeface="IBM Plex Sans KR"/>
                <a:ea typeface="IBM Plex Sans KR"/>
                <a:cs typeface="IBM Plex Sans KR"/>
              </a:rPr>
              <a:t>교과서 5-2를 참고로 수행평가를 진행합니다.</a:t>
            </a:r>
            <a:endParaRPr sz="19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9C8F49D-149C-483D-8006-9889058DB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327648"/>
            <a:ext cx="73152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05-2 · 1쪽</a:t>
            </a:r>
            <a:endParaRPr sz="9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EE2B1E6-671A-4629-8EE1-B29914374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7648"/>
            <a:ext cx="438912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01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85901856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0927BEE-A254-49F6-BC40-92D06A7D6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0040"/>
            <a:ext cx="4114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  <a:endParaRPr sz="975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32D81793-4BF7-4E9F-A315-13D1EC2E6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292608"/>
            <a:ext cx="1280160" cy="27432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2695180-02E8-471E-908E-3C5FDF23D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301752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5-2 · 실습</a:t>
            </a:r>
            <a:endParaRPr sz="975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D3AC1CC-DF91-4000-AFA0-1B8065D3A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969264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27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38DEA19-D071-4B6C-9702-CD1917B4E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481328"/>
            <a:ext cx="612648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2C105AB1-2590-4AD5-A982-F56C843EB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786384"/>
            <a:ext cx="1463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06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A962990D-5466-4B06-A7A1-4EF90E46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327648"/>
            <a:ext cx="54864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05-2 · 7쪽</a:t>
            </a:r>
            <a:endParaRPr sz="9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E08FDC3-53C9-4E86-861A-B55F64D49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7648"/>
            <a:ext cx="438912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07</a:t>
            </a:r>
            <a:endParaRPr sz="9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856EB41-5360-4650-B723-663A9D446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828800"/>
            <a:ext cx="914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3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제출</a:t>
            </a:r>
            <a:endParaRPr sz="23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9D91B33-D0E9-4774-9484-5032FF695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828800"/>
            <a:ext cx="9875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Google Form</a:t>
            </a:r>
            <a:endParaRPr sz="18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79D89300-0F05-4A17-A8E1-79B236093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395728"/>
            <a:ext cx="11128248" cy="2971800"/>
          </a:xfrm>
          <a:prstGeom xmlns:a="http://schemas.openxmlformats.org/drawingml/2006/main" prst="roundRect">
            <a:avLst>
              <a:gd name="adj" fmla="val 1538"/>
            </a:avLst>
          </a:prstGeom>
          <a:solidFill xmlns:a="http://schemas.openxmlformats.org/drawingml/2006/main">
            <a:srgbClr val="24272C"/>
          </a:solidFill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3386FB8-62C2-4B6F-9626-D248C9FC2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2578608"/>
            <a:ext cx="10652760" cy="2606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2465"/>
              </a:lnSpc>
              <a:buNone/>
            </a:pPr>
            <a:r>
              <a:rPr sz="1450" b="1">
                <a:solidFill>
                  <a:srgbClr val="E8EAED"/>
                </a:solidFill>
                <a:latin typeface="IBM Plex Mono"/>
                <a:ea typeface="IBM Plex Mono"/>
                <a:cs typeface="IBM Plex Mono"/>
              </a:rPr>
              <a:t>1. Google 계정으로 로그인</a:t>
            </a:r>
            <a:endParaRPr sz="1450"/>
          </a:p>
          <a:p xmlns:a="http://schemas.openxmlformats.org/drawingml/2006/main">
            <a:pPr marL="0" indent="0">
              <a:lnSpc>
                <a:spcPts val="2465"/>
              </a:lnSpc>
              <a:buNone/>
            </a:pPr>
            <a:r>
              <a:rPr sz="1450" b="1">
                <a:solidFill>
                  <a:srgbClr val="E8EAED"/>
                </a:solidFill>
                <a:latin typeface="IBM Plex Mono"/>
                <a:ea typeface="IBM Plex Mono"/>
                <a:cs typeface="IBM Plex Mono"/>
              </a:rPr>
              <a:t>2. 학년·이름 입력</a:t>
            </a:r>
          </a:p>
          <a:p xmlns:a="http://schemas.openxmlformats.org/drawingml/2006/main">
            <a:pPr marL="0" indent="0">
              <a:lnSpc>
                <a:spcPts val="2465"/>
              </a:lnSpc>
              <a:buNone/>
            </a:pPr>
            <a:r>
              <a:rPr sz="1450" b="1">
                <a:solidFill>
                  <a:srgbClr val="E8EAED"/>
                </a:solidFill>
                <a:latin typeface="IBM Plex Mono"/>
                <a:ea typeface="IBM Plex Mono"/>
                <a:cs typeface="IBM Plex Mono"/>
              </a:rPr>
              <a:t>3. 05_assessment1_이름.zip 업로드</a:t>
            </a:r>
          </a:p>
          <a:p xmlns:a="http://schemas.openxmlformats.org/drawingml/2006/main">
            <a:pPr marL="0" indent="0">
              <a:lnSpc>
                <a:spcPts val="2465"/>
              </a:lnSpc>
              <a:buNone/>
            </a:pPr>
            <a:r>
              <a:rPr sz="1450" b="1">
                <a:solidFill>
                  <a:srgbClr val="E8EAED"/>
                </a:solidFill>
                <a:latin typeface="IBM Plex Mono"/>
                <a:ea typeface="IBM Plex Mono"/>
                <a:cs typeface="IBM Plex Mono"/>
              </a:rPr>
              <a:t>4. 제출 전 파일명 확인</a:t>
            </a:r>
          </a:p>
          <a:p xmlns:a="http://schemas.openxmlformats.org/drawingml/2006/main">
            <a:pPr marL="0" indent="0">
              <a:lnSpc>
                <a:spcPts val="2465"/>
              </a:lnSpc>
              <a:buNone/>
            </a:pPr>
            <a:r>
              <a:rPr sz="1450" b="1">
                <a:solidFill>
                  <a:srgbClr val="E8EAED"/>
                </a:solidFill>
                <a:latin typeface="IBM Plex Mono"/>
                <a:ea typeface="IBM Plex Mono"/>
                <a:cs typeface="IBM Plex Mono"/>
              </a:rPr>
              <a:t>5. 제출 완료 메시지 확인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9740A842-1A29-4779-BC60-9B078BFF4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257800"/>
            <a:ext cx="11128248" cy="512064"/>
          </a:xfrm>
          <a:prstGeom xmlns:a="http://schemas.openxmlformats.org/drawingml/2006/main" prst="roundRect">
            <a:avLst>
              <a:gd name="adj" fmla="val 3928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2700">
            <a:solidFill>
              <a:srgbClr val="3D8DFF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B031541-B5C9-4D44-9DE5-1C4A464F6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257800"/>
            <a:ext cx="1072591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교과서 5-2의 ‘수행평가 제출 Form 열기’ 버튼을 누릅니다.</a:t>
            </a:r>
            <a:endParaRPr sz="1400"/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6C1F0B-BE22-4558-8E93-5F6AABC9B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547602-37C2-42E7-B5B8-3BEA1C267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33C116-CEE8-4359-8CD9-D0B98057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B9BEC5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00" b="1">
                <a:solidFill>
                  <a:srgbClr val="B9BEC5"/>
                </a:solidFill>
                <a:latin typeface="IBM Plex Sans KR"/>
                <a:ea typeface="IBM Plex Sans KR"/>
                <a:cs typeface="IBM Plex Sans KR"/>
              </a:rPr>
              <a:t>평가 종료 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471508-821B-4414-A29E-B1425F0BD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62200"/>
            <a:ext cx="74295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36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같은 자료를</a:t>
            </a:r>
          </a:p>
          <a:p xmlns:a="http://schemas.openxmlformats.org/drawingml/2006/main">
            <a:pPr>
              <a:buNone/>
              <a:defRPr sz="36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36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다르게 본다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77CCC5-198F-4D0D-802B-7F0AD2D76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0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D7DBE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650">
                <a:solidFill>
                  <a:srgbClr val="D7DBE0"/>
                </a:solidFill>
                <a:latin typeface="IBM Plex Sans KR"/>
                <a:ea typeface="IBM Plex Sans KR"/>
                <a:cs typeface="IBM Plex Sans KR"/>
              </a:rPr>
              <a:t>학생이 사용한 것과 같은 CSV를 Notebook에서 실제로 실행해 만든 결과입니다.</a:t>
            </a:r>
          </a:p>
        </p:txBody>
      </p:sp>
    </p:spTree>
    <p:extLst>
      <p:ext uri="{BB962C8B-B14F-4D97-AF65-F5344CB8AC3E}">
        <p14:creationId xmlns:p14="http://schemas.microsoft.com/office/powerpoint/2010/main" val="21468998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BBE6EA-A551-4C15-81D2-4D8CA64FF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BD360C-9EE1-4EEF-9774-55FDDA7DF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3400"/>
            <a:ext cx="871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902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5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시간대별 평균 이용 인원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D4008E-5224-41DD-AA2D-B6C7D05D1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885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333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00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rPr>
              <a:t>하루 동안 이용 인원이 어떻게 달라지는지 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69080F-75F5-4CB6-AB66-76B41AFFD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24000"/>
            <a:ext cx="647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5469b043e14880"/>
          <a:stretch xmlns:a="http://schemas.openxmlformats.org/drawingml/2006/main"/>
        </p:blipFill>
        <p:spPr>
          <a:xfrm xmlns:a="http://schemas.openxmlformats.org/drawingml/2006/main">
            <a:off x="523875" y="2130251"/>
            <a:ext cx="7953375" cy="3454747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118711-86A1-4C7A-875F-308738E07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857375"/>
            <a:ext cx="2905125" cy="4000500"/>
          </a:xfrm>
          <a:prstGeom xmlns:a="http://schemas.openxmlformats.org/drawingml/2006/main" prst="roundRect">
            <a:avLst>
              <a:gd name="adj" fmla="val 262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6F8E17-E2A8-4235-8A4A-03ECA4E88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431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rPr>
              <a:t>그래프를 만든 방법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FA23B0-9D15-48DE-AE73-2DF6D5576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52412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꺾은선그래프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BE9E2A-03F0-49EB-97CE-C1082EF8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067050"/>
            <a:ext cx="2571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시간대별 평균 이용 인원을</a:t>
            </a:r>
          </a:p>
          <a:p xmlns:a="http://schemas.openxmlformats.org/drawingml/2006/main">
            <a:pPr>
              <a:defRPr sz="135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계산했습니다.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시간의 흐름에 따라 값이</a:t>
            </a:r>
          </a:p>
          <a:p xmlns:a="http://schemas.openxmlformats.org/drawingml/2006/main">
            <a:pPr>
              <a:defRPr sz="135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어떻게 달라지는지 보려고</a:t>
            </a:r>
          </a:p>
          <a:p xmlns:a="http://schemas.openxmlformats.org/drawingml/2006/main">
            <a:pPr>
              <a:defRPr sz="135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선으로 연결했습니다.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728C29-40D3-40B7-8410-D505D4B3B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66700"/>
            <a:ext cx="14287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863AF5-B559-44C5-91E1-2666433D7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323850"/>
            <a:ext cx="1181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9792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평가 종료 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B9FEF6-227D-486A-9553-A65F8A584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2222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9967276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07D443-115F-4B0D-A9CD-FF2563BB2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E5D823-4464-41C2-A61F-0CBA6FB47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3400"/>
            <a:ext cx="871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902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5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장소별 이용 인원 비율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E7A1C8-E229-4004-823D-9126EFB49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885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333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00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rPr>
              <a:t>전체 이용에서 각 장소가 차지하는 몫을 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096ED3-8C0F-4507-97AF-317BF13F7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24000"/>
            <a:ext cx="647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1d9f6bb585448b"/>
          <a:stretch xmlns:a="http://schemas.openxmlformats.org/drawingml/2006/main"/>
        </p:blipFill>
        <p:spPr>
          <a:xfrm xmlns:a="http://schemas.openxmlformats.org/drawingml/2006/main">
            <a:off x="523875" y="2130251"/>
            <a:ext cx="7953375" cy="3454747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86ED0E-39CB-413A-8FDE-FF454E83E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857375"/>
            <a:ext cx="2905125" cy="4000500"/>
          </a:xfrm>
          <a:prstGeom xmlns:a="http://schemas.openxmlformats.org/drawingml/2006/main" prst="roundRect">
            <a:avLst>
              <a:gd name="adj" fmla="val 262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DDE5E0-1369-419F-86BE-47C241D0F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431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rPr>
              <a:t>그래프를 만든 방법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F409D8-C5C7-4217-9AD4-CEF01575D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52412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원그래프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6B971A-EC02-474E-82A3-C8BDF1311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067050"/>
            <a:ext cx="2571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장소마다 이용 인원을</a:t>
            </a:r>
          </a:p>
          <a:p xmlns:a="http://schemas.openxmlformats.org/drawingml/2006/main">
            <a:pPr>
              <a:defRPr sz="135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모두 더했습니다.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전체에서 각 장소가 차지하는</a:t>
            </a:r>
          </a:p>
          <a:p xmlns:a="http://schemas.openxmlformats.org/drawingml/2006/main">
            <a:pPr>
              <a:defRPr sz="135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비율을 비교하려고</a:t>
            </a:r>
          </a:p>
          <a:p xmlns:a="http://schemas.openxmlformats.org/drawingml/2006/main">
            <a:pPr>
              <a:defRPr sz="135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원으로 나누었습니다.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328674-795F-424C-96D0-86BA7D88C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66700"/>
            <a:ext cx="14287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4C399A-93B8-4AD8-828E-74A458ABC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323850"/>
            <a:ext cx="1181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9792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평가 종료 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2F61A2-6B7E-4766-BBC0-D2C3B3713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2222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241051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94C577-3FB8-432E-9379-10B71A27F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3D8E3E-DB89-44D5-9A99-9F064ED63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3400"/>
            <a:ext cx="871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902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5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요일별 평균 이용 인원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48EECD-133B-41BB-B93C-E18E62E2C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885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333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00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rPr>
              <a:t>요일마다 반복되는 이용 차이를 비교한다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7BCB42-B592-4E3F-98C9-1FBD91BB0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24000"/>
            <a:ext cx="647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46598c21e34006"/>
          <a:stretch xmlns:a="http://schemas.openxmlformats.org/drawingml/2006/main"/>
        </p:blipFill>
        <p:spPr>
          <a:xfrm xmlns:a="http://schemas.openxmlformats.org/drawingml/2006/main">
            <a:off x="523875" y="2130251"/>
            <a:ext cx="7953375" cy="3454747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059E7A-7848-4A9C-8114-711B61F87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857375"/>
            <a:ext cx="2905125" cy="4000500"/>
          </a:xfrm>
          <a:prstGeom xmlns:a="http://schemas.openxmlformats.org/drawingml/2006/main" prst="roundRect">
            <a:avLst>
              <a:gd name="adj" fmla="val 262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57FC2C-E680-41CC-97A5-371D3B8FC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431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rPr>
              <a:t>그래프를 만든 방법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7BBC1B-21CC-40AB-ABC5-1CB49353E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52412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막대그래프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144B0E-B1BE-49C0-8503-50B5552EF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067050"/>
            <a:ext cx="2571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요일마다 평균 이용 인원을</a:t>
            </a:r>
          </a:p>
          <a:p xmlns:a="http://schemas.openxmlformats.org/drawingml/2006/main">
            <a:pPr>
              <a:defRPr sz="135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계산했습니다.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요일 사이의 크기 차이를 보려고</a:t>
            </a:r>
          </a:p>
          <a:p xmlns:a="http://schemas.openxmlformats.org/drawingml/2006/main">
            <a:pPr>
              <a:defRPr sz="135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막대 높이로 비교했습니다.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31CEB8-193D-49AB-9FD2-C675523E9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66700"/>
            <a:ext cx="14287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4463C4-1691-4257-AF6B-11CC8B54D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323850"/>
            <a:ext cx="1181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9792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평가 종료 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F1C214-96B7-4D6E-97C7-2807EABD1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2222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00405139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A53022-279E-41C4-B3AA-D245D0E7E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0186C3-D242-4A2A-8EF8-A2AEC705E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"/>
            <a:ext cx="871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2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요일과 시간대를 함께 본 이용 패턴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601713-AD91-4FB6-8EBB-4FC848FBB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885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333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00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rPr>
              <a:t>두 기준을 겹쳐 보면 붐비는 때가 더 구체적으로 보인다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0ED6FD-89CF-42C5-A3C1-A03FE5134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24000"/>
            <a:ext cx="647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f64c7d1e7d4f9e"/>
          <a:stretch xmlns:a="http://schemas.openxmlformats.org/drawingml/2006/main"/>
        </p:blipFill>
        <p:spPr>
          <a:xfrm xmlns:a="http://schemas.openxmlformats.org/drawingml/2006/main">
            <a:off x="523875" y="2192387"/>
            <a:ext cx="7953375" cy="3330476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959964-F5AF-41AF-937D-D4B065363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857375"/>
            <a:ext cx="2905125" cy="4000500"/>
          </a:xfrm>
          <a:prstGeom xmlns:a="http://schemas.openxmlformats.org/drawingml/2006/main" prst="roundRect">
            <a:avLst>
              <a:gd name="adj" fmla="val 262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129F21-6BE1-413F-BA1D-376BFAD41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431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rPr>
              <a:t>그래프를 만든 방법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A7BBF4-065B-4872-8801-62AB958CF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52412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색으로 나타낸 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499712-50E7-4B52-A6BD-06990002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067050"/>
            <a:ext cx="2571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요일과 시간대를 묶어</a:t>
            </a:r>
          </a:p>
          <a:p xmlns:a="http://schemas.openxmlformats.org/drawingml/2006/main">
            <a:pPr>
              <a:defRPr sz="135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평균 이용 인원을 계산했습니다.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값이 클수록 진한 색으로 표시해</a:t>
            </a:r>
          </a:p>
          <a:p xmlns:a="http://schemas.openxmlformats.org/drawingml/2006/main">
            <a:pPr>
              <a:defRPr sz="135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붐비는 때를 찾았습니다.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CDC4C2-66CD-46FB-BEA1-BD0EEFB9F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66700"/>
            <a:ext cx="14287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E08BB8-9EB3-4B97-9BBD-079EC7FD5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323850"/>
            <a:ext cx="1181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9792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평가 종료 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951CCD-49CF-4901-A71B-38CB09A08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2222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60962859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2026-09-28T23:11:14.8900000Z</dcterms:created>
  <dcterms:modified xsi:type="dcterms:W3CDTF">2026-09-28T23:11:14.8900000Z</dcterms:modified>
</coreProperties>
</file>