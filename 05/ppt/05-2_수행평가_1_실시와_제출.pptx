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7ace32f0484990" /><Relationship Type="http://schemas.openxmlformats.org/officeDocument/2006/relationships/extended-properties" Target="/docProps/app.xml" Id="Rb674c3133c444a8e" /><Relationship Type="http://schemas.openxmlformats.org/officeDocument/2006/relationships/officeDocument" Target="/ppt/presentation.xml" Id="Rf651d0fd64fa4b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683069e4db4245"/>
  </p:sldMasterIdLst>
  <p:notesMasterIdLst>
    <p:notesMasterId xmlns:r="http://schemas.openxmlformats.org/officeDocument/2006/relationships" r:id="Rde1866a6df3e4ccb"/>
  </p:notesMasterIdLst>
  <p:sldIdLst>
    <p:sldId xmlns:r="http://schemas.openxmlformats.org/officeDocument/2006/relationships" id="256" r:id="R665f75c24a714f0c"/>
    <p:sldId xmlns:r="http://schemas.openxmlformats.org/officeDocument/2006/relationships" id="257" r:id="R058b4b8f075a407d"/>
    <p:sldId xmlns:r="http://schemas.openxmlformats.org/officeDocument/2006/relationships" id="258" r:id="Rf95ff6f949ba46c6"/>
    <p:sldId xmlns:r="http://schemas.openxmlformats.org/officeDocument/2006/relationships" id="259" r:id="Re5b685d7a3a84716"/>
    <p:sldId xmlns:r="http://schemas.openxmlformats.org/officeDocument/2006/relationships" id="260" r:id="R5f4a5a88ff874d2a"/>
    <p:sldId xmlns:r="http://schemas.openxmlformats.org/officeDocument/2006/relationships" id="261" r:id="R4038468493564f6e"/>
  </p:sldIdLst>
  <p:sldSz cx="12191695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e5f173d7a34f0b" /><Relationship Type="http://schemas.openxmlformats.org/officeDocument/2006/relationships/slideMaster" Target="/ppt/slideMasters/slideMaster1.xml" Id="R89683069e4db4245" /><Relationship Type="http://schemas.openxmlformats.org/officeDocument/2006/relationships/notesMaster" Target="/ppt/notesMasters/notesMaster1.xml" Id="Rde1866a6df3e4ccb" /><Relationship Type="http://schemas.openxmlformats.org/officeDocument/2006/relationships/presProps" Target="/ppt/presProps.xml" Id="R926389a40e5a4d37" /><Relationship Type="http://schemas.openxmlformats.org/officeDocument/2006/relationships/viewProps" Target="/ppt/viewProps.xml" Id="R2d3d002ed74c4890" /><Relationship Type="http://schemas.openxmlformats.org/officeDocument/2006/relationships/tableStyles" Target="/ppt/tableStyles.xml" Id="R65e8f4c6a94a40da" /><Relationship Type="http://schemas.openxmlformats.org/officeDocument/2006/relationships/slide" Target="/ppt/slides/slide1.xml" Id="R665f75c24a714f0c" /><Relationship Type="http://schemas.openxmlformats.org/officeDocument/2006/relationships/slide" Target="/ppt/slides/slide2.xml" Id="R058b4b8f075a407d" /><Relationship Type="http://schemas.openxmlformats.org/officeDocument/2006/relationships/slide" Target="/ppt/slides/slide3.xml" Id="Rf95ff6f949ba46c6" /><Relationship Type="http://schemas.openxmlformats.org/officeDocument/2006/relationships/slide" Target="/ppt/slides/slide4.xml" Id="Re5b685d7a3a84716" /><Relationship Type="http://schemas.openxmlformats.org/officeDocument/2006/relationships/slide" Target="/ppt/slides/slide5.xml" Id="R5f4a5a88ff874d2a" /><Relationship Type="http://schemas.openxmlformats.org/officeDocument/2006/relationships/slide" Target="/ppt/slides/slide6.xml" Id="R4038468493564f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4f29fc711349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08dc1bb8f948b3" /><Relationship Type="http://schemas.openxmlformats.org/officeDocument/2006/relationships/notesMaster" Target="/ppt/notesMasters/notesMaster1.xml" Id="Red1f35f155e346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230a813c4d4f51" /><Relationship Type="http://schemas.openxmlformats.org/officeDocument/2006/relationships/notesMaster" Target="/ppt/notesMasters/notesMaster1.xml" Id="R53b68b68cc9246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02e11576254bbd" /><Relationship Type="http://schemas.openxmlformats.org/officeDocument/2006/relationships/notesMaster" Target="/ppt/notesMasters/notesMaster1.xml" Id="R6d25087b457845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5761f8d5d34009" /><Relationship Type="http://schemas.openxmlformats.org/officeDocument/2006/relationships/notesMaster" Target="/ppt/notesMasters/notesMaster1.xml" Id="R8ddf5967b63740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7fd734abb24c94" /><Relationship Type="http://schemas.openxmlformats.org/officeDocument/2006/relationships/notesMaster" Target="/ppt/notesMasters/notesMaster1.xml" Id="Rc1d0fd717fdb48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936f37a2d14a6d" /><Relationship Type="http://schemas.openxmlformats.org/officeDocument/2006/relationships/notesMaster" Target="/ppt/notesMasters/notesMaster1.xml" Id="R20dafa68dc4943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교과서 5-2를 참고로 학생이 수행평가를 진행한다.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수행평가가 모두 끝난 뒤에만 보여 준다. 같은 자료도 무엇을 보려고 하느냐에 따라 다른 그래프가 될 수 있음을 확인한다.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시간대별 평균 이용 인원을 연결하면 하루 안의 변화가 보인다.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장소별 전체 이용 인원을 비율로 나누어 본 결과이다.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요일별 평균을 비교하면 금요일의 반복되는 차이가 보인다.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수행평가 종료 후 예시. 요일과 시간대를 함께 보면 언제 이용자가 몰리는지 더 구체적으로 보인다.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5d6cc11d4415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e36d49189d4791" /><Relationship Type="http://schemas.openxmlformats.org/officeDocument/2006/relationships/slideLayout" Target="/ppt/slideLayouts/slideLayout1.xml" Id="R0fc133fe0b504c2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c133fe0b504c2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3fb3d49e24ad3" /><Relationship Type="http://schemas.openxmlformats.org/officeDocument/2006/relationships/notesSlide" Target="/ppt/notesSlides/notesSlide1.xml" Id="R6454f7b7a54240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5a4c76ff44e54" /><Relationship Type="http://schemas.openxmlformats.org/officeDocument/2006/relationships/notesSlide" Target="/ppt/notesSlides/notesSlide2.xml" Id="R585155b267e24e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f142d45f540d9" /><Relationship Type="http://schemas.openxmlformats.org/officeDocument/2006/relationships/image" Target="/ppt/media/image.png" Id="Rb9205b9cbb0c41a8" /><Relationship Type="http://schemas.openxmlformats.org/officeDocument/2006/relationships/notesSlide" Target="/ppt/notesSlides/notesSlide3.xml" Id="R4cff7623734645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2ede964b149ad" /><Relationship Type="http://schemas.openxmlformats.org/officeDocument/2006/relationships/image" Target="/ppt/media/image2.png" Id="R877551d28cd4432b" /><Relationship Type="http://schemas.openxmlformats.org/officeDocument/2006/relationships/notesSlide" Target="/ppt/notesSlides/notesSlide4.xml" Id="Rfbd8ed13d98347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baa0be96f4c9b" /><Relationship Type="http://schemas.openxmlformats.org/officeDocument/2006/relationships/image" Target="/ppt/media/image3.png" Id="R96bead5fba634aec" /><Relationship Type="http://schemas.openxmlformats.org/officeDocument/2006/relationships/notesSlide" Target="/ppt/notesSlides/notesSlide5.xml" Id="Ra063c237f2cc4f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b0578188f54189" /><Relationship Type="http://schemas.openxmlformats.org/officeDocument/2006/relationships/image" Target="/ppt/media/image4.png" Id="Raca96ff35e544784" /><Relationship Type="http://schemas.openxmlformats.org/officeDocument/2006/relationships/notesSlide" Target="/ppt/notesSlides/notesSlide6.xml" Id="R7dd985c9dead40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E3BE2B7-180E-4973-85C2-766DE20B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39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DA676D-F496-4EB5-ABF1-89A7B2A5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9144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5회 · 둘째 차시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C166DB-F70E-4180-A6CA-2E3AE94A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10424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수행평가 1</a:t>
            </a:r>
            <a:endParaRPr sz="4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A28550-C24F-448F-9815-F4972A19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46120"/>
            <a:ext cx="99669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3200"/>
              </a:lnSpc>
              <a:buNone/>
            </a:pPr>
            <a:r>
              <a:rPr sz="1900">
                <a:solidFill>
                  <a:srgbClr val="A7ACB3"/>
                </a:solidFill>
                <a:latin typeface="IBM Plex Sans KR"/>
                <a:ea typeface="IBM Plex Sans KR"/>
                <a:cs typeface="IBM Plex Sans KR"/>
              </a:rPr>
              <a:t>교과서 5-2를 참고로 수행평가를 진행합니다.</a:t>
            </a:r>
            <a:endParaRPr sz="19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C8F49D-149C-483D-8006-9889058D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7315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05-2 · 1쪽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EE2B1E6-671A-4629-8EE1-B2991437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01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8590185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927BEE-A254-49F6-BC40-92D06A7D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0040"/>
            <a:ext cx="4114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  <a:endParaRPr sz="975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2D81793-4BF7-4E9F-A315-13D1EC2E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2608"/>
            <a:ext cx="1280160" cy="2743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2695180-02E8-471E-908E-3C5FDF23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01752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75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5-2 · 실습</a:t>
            </a:r>
            <a:endParaRPr sz="975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D3AC1CC-DF91-4000-AFA0-1B8065D3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96926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2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8DEA19-D071-4B6C-9702-CD1917B4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81328"/>
            <a:ext cx="612648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C105AB1-2590-4AD5-A982-F56C843E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786384"/>
            <a:ext cx="1463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06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962990D-5466-4B06-A7A1-4EF90E46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327648"/>
            <a:ext cx="54864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05-2 · 7쪽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E08FDC3-53C9-4E86-861A-B55F64D4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7648"/>
            <a:ext cx="43891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6C7078"/>
                </a:solidFill>
                <a:latin typeface="IBM Plex Mono"/>
                <a:ea typeface="IBM Plex Mono"/>
                <a:cs typeface="IBM Plex Mono"/>
              </a:rPr>
              <a:t>07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56EB41-5360-4650-B723-663A9D44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2880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FF5C00"/>
                </a:solidFill>
                <a:latin typeface="IBM Plex Mono"/>
                <a:ea typeface="IBM Plex Mono"/>
                <a:cs typeface="IBM Plex Mono"/>
              </a:rPr>
              <a:t>제출</a:t>
            </a:r>
            <a:endParaRPr sz="2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9D91B33-D0E9-4774-9484-5032FF69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2880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Google Form</a:t>
            </a:r>
            <a:endParaRPr sz="1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9D89300-0F05-4A17-A8E1-79B23609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395728"/>
            <a:ext cx="11128248" cy="29718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24272C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3386FB8-62C2-4B6F-9626-D248C9FC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578608"/>
            <a:ext cx="10652760" cy="2606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1. Google 계정으로 로그인</a:t>
            </a:r>
            <a:endParaRPr sz="1450"/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2. 학년·이름 입력</a:t>
            </a:r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3. 05_assessment1_이름.zip 업로드</a:t>
            </a:r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4. 제출 전 파일명 확인</a:t>
            </a:r>
          </a:p>
          <a:p xmlns:a="http://schemas.openxmlformats.org/drawingml/2006/main">
            <a:pPr marL="0" indent="0">
              <a:lnSpc>
                <a:spcPts val="2465"/>
              </a:lnSpc>
              <a:buNone/>
            </a:pPr>
            <a:r>
              <a:rPr sz="1450" b="1">
                <a:solidFill>
                  <a:srgbClr val="E8EAED"/>
                </a:solidFill>
                <a:latin typeface="IBM Plex Mono"/>
                <a:ea typeface="IBM Plex Mono"/>
                <a:cs typeface="IBM Plex Mono"/>
              </a:rPr>
              <a:t>5. 제출 완료 메시지 확인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740A842-1A29-4779-BC60-9B078BFF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257800"/>
            <a:ext cx="11128248" cy="512064"/>
          </a:xfrm>
          <a:prstGeom xmlns:a="http://schemas.openxmlformats.org/drawingml/2006/main" prst="roundRect">
            <a:avLst>
              <a:gd name="adj" fmla="val 3928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2700">
            <a:solidFill>
              <a:srgbClr val="3D8D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B031541-B5C9-4D44-9DE5-1C4A464F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72591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교과서 5-2의 ‘수행평가 제출 Form 열기’ 버튼을 누릅니다.</a:t>
            </a:r>
            <a:endParaRPr sz="1400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6C1F0B-BE22-4558-8E93-5F6AABC9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547602-37C2-42E7-B5B8-3BEA1C26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33C116-CEE8-4359-8CD9-D0B98057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BEC5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 b="1">
                <a:solidFill>
                  <a:srgbClr val="B9BEC5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471508-821B-4414-A29E-B1425F0B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7429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같은 자료를</a:t>
            </a:r>
          </a:p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36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다르게 본다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77CCC5-198F-4D0D-802B-7F0AD2D7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D7DBE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>
                <a:solidFill>
                  <a:srgbClr val="D7DBE0"/>
                </a:solidFill>
                <a:latin typeface="IBM Plex Sans KR"/>
                <a:ea typeface="IBM Plex Sans KR"/>
                <a:cs typeface="IBM Plex Sans KR"/>
              </a:rPr>
              <a:t>학생이 사용한 것과 같은 CSV를 Notebook에서 실제로 실행해 만든 결과입니다.</a:t>
            </a:r>
          </a:p>
        </p:txBody>
      </p:sp>
    </p:spTree>
    <p:extLst>
      <p:ext uri="{BB962C8B-B14F-4D97-AF65-F5344CB8AC3E}">
        <p14:creationId xmlns:p14="http://schemas.microsoft.com/office/powerpoint/2010/main" val="21468998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00921-8250-4E21-90E0-B4DDC803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3A00C-6B41-46E4-9A32-A7BF3C72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시간대별 평균 이용 인원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8C516-50D1-43B4-838A-96D37D51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하루 동안 이용 인원이 어떻게 달라지는지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DDD55-EA68-44C2-9B7B-7E9A0374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205b9cbb0c41a8"/>
          <a:stretch xmlns:a="http://schemas.openxmlformats.org/drawingml/2006/main"/>
        </p:blipFill>
        <p:spPr>
          <a:xfrm xmlns:a="http://schemas.openxmlformats.org/drawingml/2006/main">
            <a:off x="523875" y="2130251"/>
            <a:ext cx="7953375" cy="345474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3C001-26E3-4EEB-B4AC-1E29D43E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A12FA-011E-4989-B46B-2DF17997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2B2C2-34D0-49BF-B5C4-71411161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꺾은선그래프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3BDE2-8B3F-4480-83B8-87BBE428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67050"/>
            <a:ext cx="2381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시간대별 평균 이용 인원을 계산했습니다.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시간의 흐름에 따라 값이 어떻게 달라지는지 보려고 선으로 연결했습니다.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68BB25-7B52-4F00-A869-4C908B7E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C0E5B-A8E4-4412-B4D0-776A54A2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E9BAC-421A-4EAE-AB87-3B7B433D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996727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2CA3B-7EDC-455B-91E8-79EF6259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6CB1A2-D7D2-487B-BF8B-BD94A67D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장소별 이용 인원 비율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48920-AA31-465A-B704-D3426164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전체 이용에서 각 장소가 차지하는 몫을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D3DA3-F8D8-4E24-ADC2-545AB011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7551d28cd4432b"/>
          <a:stretch xmlns:a="http://schemas.openxmlformats.org/drawingml/2006/main"/>
        </p:blipFill>
        <p:spPr>
          <a:xfrm xmlns:a="http://schemas.openxmlformats.org/drawingml/2006/main">
            <a:off x="523875" y="2130251"/>
            <a:ext cx="7953375" cy="345474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CDD0E0-130B-4B78-9436-76A8FAE3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65987-1BC0-4BAF-99ED-316CE736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B05DC3-3D87-46E1-8C4F-813F74EE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원그래프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31790-760F-46E4-82A9-742C1351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67050"/>
            <a:ext cx="2381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장소마다 이용 인원을 모두 더했습니다.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전체에서 각 장소가 차지하는 비율을 비교하려고 원으로 나누었습니다.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238FDF-B0E0-4E28-B3DC-6342AA62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37810-5E03-460F-9F36-298291E0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241BA-69BC-4769-861B-74D00E38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2410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7BF37-B6FF-4B2D-98A5-2060F05A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EE8C0-C0B3-47C9-86D4-E7611062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요일별 평균 이용 인원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18DAD-C73F-4420-9ED5-450FEA51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요일마다 반복되는 이용 차이를 비교한다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C9471-3604-47AB-88A1-128D0607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ead5fba634aec"/>
          <a:stretch xmlns:a="http://schemas.openxmlformats.org/drawingml/2006/main"/>
        </p:blipFill>
        <p:spPr>
          <a:xfrm xmlns:a="http://schemas.openxmlformats.org/drawingml/2006/main">
            <a:off x="523875" y="2130251"/>
            <a:ext cx="7953375" cy="345474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C0B3D-4C8A-4C84-8787-829FDF32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6378F0-9803-4F6D-81A4-E6B2415F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6ECBBD-BB65-47DC-AFA0-F302C431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막대그래프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BB9B2A-5733-4D6F-9355-88A77116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67050"/>
            <a:ext cx="2381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요일마다 평균 이용 인원을 계산했습니다.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 사이의 크기 차이를 보려고 막대 높이로 비교했습니다.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D5C43-B843-49C3-9FB3-40F0CE8C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D3FA5B-7041-450D-9E36-94870D04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7DA33-DC42-4D74-9937-C28681C9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040513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AB63D6-3992-4222-A4A5-F40693E5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46447-D9A1-4CC2-ACA4-2E3AECE2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요일과 시간대를 함께 본 이용 패턴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EA41B-73B4-4ADE-9592-2D53EC22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두 기준을 겹쳐 보면 붐비는 때가 더 구체적으로 보인다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B11D1-B4BC-48E6-91AF-33656117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647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96ff35e544784"/>
          <a:stretch xmlns:a="http://schemas.openxmlformats.org/drawingml/2006/main"/>
        </p:blipFill>
        <p:spPr>
          <a:xfrm xmlns:a="http://schemas.openxmlformats.org/drawingml/2006/main">
            <a:off x="523875" y="2192387"/>
            <a:ext cx="7953375" cy="333047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8DAE23-7B60-49E7-9D95-83B00D91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905125" cy="4000500"/>
          </a:xfrm>
          <a:prstGeom xmlns:a="http://schemas.openxmlformats.org/drawingml/2006/main" prst="roundRect">
            <a:avLst>
              <a:gd name="adj" fmla="val 262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11430">
            <a:solidFill>
              <a:srgbClr val="D7DE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7F96B-A0CA-43E7-AB8A-222ECD7C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431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그래프를 만든 방법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B2FB1-314E-45E7-A9BA-A8E8CF58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241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색으로 나타낸 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A2B81-A666-4AFF-AA37-3B2F2E78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67050"/>
            <a:ext cx="2381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요일과 시간대를 묶어 평균 이용 인원을 계산했습니다.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0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값이 클수록 진한 색으로 표시해 붐비는 때를 찾았습니다.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E7358-3E5C-4D32-BE60-05AB0126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6700"/>
            <a:ext cx="142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D555D-6423-4A56-9AC8-6AEF6893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238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평가 종료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2B9232-30D2-4499-8AF0-A7B8049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>
                <a:solidFill>
                  <a:srgbClr val="69707A"/>
                </a:solidFill>
                <a:latin typeface="IBM Plex Sans KR"/>
                <a:ea typeface="IBM Plex Sans KR"/>
                <a:cs typeface="IBM Plex Sans KR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096285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2026-09-28T17:15:49.9710000Z</dcterms:created>
  <dcterms:modified xsi:type="dcterms:W3CDTF">2026-09-28T17:15:49.9710000Z</dcterms:modified>
</coreProperties>
</file>