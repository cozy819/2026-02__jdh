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[0–2분] 표지
지난 다섯 번은 코드를 읽고 실행했습니다. 오늘부터는 다릅니다. 무엇을 만들지 정하는 시간입니다.
미리 말해 둘 게 하나 있습니다. 오늘은 제가 설명하고 여러분이 듣는 시간이 아닙니다. 한 가지 배울 때마다 여러분이 한 줄씩 적습니다. 여섯 번 적습니다.
그 여섯 줄이 다음 시간에 그대로 문서가 됩니다. 오늘 안 적으면 다음 시간에 빈 문서 앞에 앉아 있게 됩니다.
[진행 메모]
교과서와 필기구를 먼저 꺼내게 한다. 오늘은 노트북을 열 필요가 없다.
아이디어가 없어 못 적는 학생이 반드시 나온다. 8쪽 표의 네 가지 예를 그대로 골라 쓰게 한다. **새로운 것을 찾는 시간이 아니라는 것을 여러 번 말한다.**
[시간 계획 — 학생 화면에는 표시하지 않는다]
0–2 표지 / 2–6 스무 개짜리 계획 / 6–9 PRD란 / 9–12 출발점 / 12–15 적기① / 15–18 사용자
18–23 워크시트① / 23–26 목적 한 문장 / 26–29 적기② / 29–32 사용 흐름 / 32–35 적기③
35–37 범위 / 37–39 적기④ / 39–41 입력·결과와 화면 / 41–43 완성 기준 / 43–44 워크시트②
44–45 정리
※ 밀리면 「10. 오해」와 「11. 역할 구분」을 건너뛴다. 교과서에 그대로 있으니 읽어 오게 한다.
※ 적는 활동 여섯 개는 줄이지 않는다. 그게 이 차시의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[2–6분] 기능이 스무 개인 계획
무엇을 만들지 정하라고 하면 대부분 이렇게 적습니다. 로그인 되고, 알림 오고, 채팅 되고, 랭킹 있고.
들으면 근사하죠. 그런데 한 학기 동안 하나도 안 끝납니다.
우리는 반대로 갑니다. **핵심 기능 하나.** 그 하나가 끝까지 작동하는 것.
기능 다섯 개가 절반씩 되는 서비스보다, 기능 하나가 끝까지 되는 서비스가 낫습니다. 13회에 제출할 작품도 이 기준으로 봅니다.
5-1에서 「정확한 그래프 한 개가 여러 개보다 낫다」고 했죠. 같은 원칙입니다.
[예상 질문]
Q. 그럼 너무 시시하지 않나요?
A. 시시해 보이는 걸 끝까지 만들어 본 사람과, 근사한 걸 절반만 만들어 본 사람 중 다음에 뭘 만들 수 있는 사람은 앞쪽이다.
[진행 메모]
여기서 「욕심내지 마라」로 들리면 안 된다. **범위를 줄이는 것이 실력**이라는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[6–9분] 서비스 제작 계획서(PRD)
만들기 전에 적는 문서입니다. 일곱 가지를 적습니다.
한 줄씩 읽지 않겠습니다. 오늘 이걸 하나씩 배웁니다. 지금은 **일곱 개뿐이라는 것**만 보세요. 생각보다 적죠.
그리고 수행평가 2에서 채점하는 게 이 문서입니다. 전문 용어를 얼마나 썼는지는 안 봅니다. **항목끼리 서로 맞는지**를 봅니다.
사용자가 「시험 전날 외울 것 고르기 어려운 학생」인데 핵심 기능이 「친구와 사진 공유하기」면, 용어를 아무리 잘 써도 어긋난 문서입니다.
[예상 질문]
Q. PRD가 무슨 뜻이에요?
A. Product Requirements Document. 굳이 외울 필요 없다. 「만들기 전에 적는 계획서」로 기억하면 된다.
[진행 메모]
표를 다 읽어 주지 않는다. 30초. 「오늘 이걸 하나씩 한다」로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[9–12분] 익숙한 불편에서 시작한다
새로운 사업이나 거대한 문제를 찾을 필요 없습니다. 자기가 자주 하는 일, 반복되는 작은 불편에서 시작합니다.
네 가지 예를 보세요. 전부 여러분이 실제로 겪는 것들입니다.
여기서 꼭 말해 둘 게 있습니다. **이미 있는 서비스랑 비슷해도 됩니다.** 할 일 목록 앱은 세상에 수천 개 있어요. 그래도 괜찮습니다.
평가하는 건 세상에 없던 걸 생각해 냈는가가 아니라, **내가 만들 걸 내가 설명할 수 있는가**입니다.
오히려 흔한 주제가 유리합니다. 뭐가 필요한지 이미 알고 있으니까요.
[예상 질문]
Q. 친구들 개인정보 모으는 건요?
A. 안 된다. 결제나 실시간 채팅도 마찬가지다. 재미없어서가 아니라 한 학기에 안전하게 못 끝낸다. 7쪽에 이유가 적혀 있다.
[진행 메모]
표의 네 가지는 **다음 장에서 학생이 그대로 골라 써도 되는 보기**다. 아이디어가 없는 학생에게 이 표를 가리킨다.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[12–15분] 지금 적는다 ① 내 불편 세 가지
교과서 8쪽을 펴세요. 세 줄입니다. 3분 드립니다.
두 가지만 지키세요. 첫째, 새로 찾지 마세요. **이번 주에 실제로 겪은 것** 중에서 고릅니다. 둘째, 앞 표의 네 가지를 그대로 써도 됩니다.
다 적었으면 셋 중 하나에 동그라미 치세요. 그 하나로 오늘 끝까지 갑니다.
(돌아다니며 확인한다)
마음에 안 들면 다음 시간 시작에 바꿔도 됩니다. 지금은 일단 하나 고르고 진도를 나가는 게 중요합니다.
[예상 질문]
Q. 아무것도 안 떠올라요.
A. 앞 표에서 하나 고르라고 한다. 고르는 것도 결정이다. 빈칸으로 두는 것만 막는다.
[진행 메모]
**여기서 한 명도 빈칸으로 넘어가지 않게 한다.** 이 한 줄이 없으면 오늘 남은 다섯 번의 적기가 전부 막힌다.
3분이 지나면 못 정한 학생에게는 교사가 하나 지정해 준다. 「일단 이걸로 가고 다음 시간에 바꾸자」.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[15–18분] 사용자는 상황과 함께 적는다
같은 지도 앱이라도 배달하는 사람과 여행 온 사람은 다른 화면을 원합니다. 한쪽은 도착 시간이, 한쪽은 주변 볼거리가 먼저 보이길 바라죠.
그래서 사용자를 적을 때 「모든 사람」, 「학생」 이렇게 적으면 안 됩니다. 이렇게 적으면 정해지는 게 하나도 없어요.
오른쪽을 보세요. 뭐가 더 들어 있습니까?
(답을 듣는다) **언제**가 들어 있죠. 「첫 문장을 떠올리기 어려울 때」, 「오늘 할 일을 잊지 않도록」.
이 부분이 있어야 다음 단계에서 화면에 뭘 놓을지 정할 수 있습니다.
[예상 질문]
Q. 친구들한테 설문 돌려야 하나요?
A. 아니다. 가상의 사용자나 자기가 잘 아는 상황을 쓰면 된다. 전문적인 사용자 조사는 이 수업에서 안 한다.
[진행 메모]
왼쪽 세 줄을 읽어 준 뒤 **학생이 「언제가 없다」를 스스로 말하게** 한다. 교사가 먼저 답을 말하면 다음 워크시트가 쉬워져 버린다.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[18–23분] 워크시트 ① 사용자 문장 고치기
교과서 11쪽입니다. 네 줄이고 손으로 적습니다. 4분 드립니다.
앞의 세 줄은 연습입니다. 「모든 사람」을 상황이 든 문장으로 고쳐 보세요.
**네 번째 줄이 진짜입니다.** 아까 동그라미 친 그 아이디어의 사용자를 적습니다.
(돌아다니며 확인한다)
고친 문장에 「언제」가 없으면 아직 안 고친 겁니다. 「~할 때」, 「~하려고」 같은 말이 들어가야 합니다.
(4분 뒤 두세 명 읽게 한다. 네 번째 줄만 읽힌다)
[예상 질문]
Q. 「바쁜 현대인」은 어떻게 고쳐요?
A. 그 사람이 언제 곤란한지를 넣으라고 한다. 「퇴근길에 장 볼 목록을 자꾸 잊는 사람」처럼.
[진행 메모]
**이 활동이 이 차시의 첫 번째 학습 목표다.** 앞이 밀렸어도 4분은 지킨다.
네 번째 줄이 비어 있는 학생을 먼저 챙긴다. 1~3번은 못 해도 4번은 반드시 채우게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[23–26분] 목적은 한 문장으로 정한다
사용자를 정했으면 그 사람이 **무엇을 할 수 있게 되는지**를 한 문장으로 적습니다.
틀을 그대로 씁니다. 빈칸 세 개예요. 첫째 칸은 사용자, 둘째 칸은 그 사람이 하는 일과 얻는 것, 셋째 칸은 내가 만드는 것.
예를 보세요. 이 한 문장만 읽어도 누가 뭘 해서 뭘 얻는지 다 알 수 있죠.
한 가지 금지어가 있습니다. 「편리한 앱」, 「재미있는 서비스」, 「혁신적인 플랫폼」. 이런 말은 다 만든 뒤에 맞는지 확인할 방법이 없습니다. 편리한지 아닌지는 사람마다 다르니까요.
반대로 「단어를 조합해 이야기 소재를 얻는다」는 실행해 보면 됩니다. 소재가 나오면 맞고 안 나오면 아직 안 된 거죠.
이 문장을 왜 이렇게 공들여 쓰냐면, **10회부터 AI에게 서비스를 만들어 달라고 할 때 이 문장이 요청문의 첫 줄**이 됩니다.
[진행 메모]
5-1에서 AI 요청문에 조건을 갖춰 적었던 것과 같은 이유라고 이어 준다. 조건이 흐릿하면 결과도 흐릿하다.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[26–29분] 지금 적는다 ② 목적 한 문장
교과서 14쪽입니다. 3분.
첫째 칸은 새로 생각하지 마세요. 방금 워크시트 ①의 네 번째 줄을 **그대로 옮기면** 됩니다.
둘째 칸이 오늘 제일 중요합니다. 그 사람이 무엇을 할 수 있게 되는가.
다 적었으면 소리 내어 한 번 읽어 보세요. 읽는데 말이 안 되면 아직 안 된 겁니다.
(돌아다니며 확인한다. 금지어가 들어간 학생을 짚어 준다)
[예상 질문]
Q. 셋째 칸에 뭘 적어요?
A. 「웹 도구」, 「웹 페이지」 정도면 된다. 이 수업에서 만드는 건 다 웹이다. 여기서 고민하지 말라고 한다.
[진행 메모]
「편리한」·「재미있는」이 적힌 학생이 반드시 나온다. 지우라고 하고 **대신 무엇을 적을지 한 번 물어본다.**
이 한 문장은 8회 수행평가 2의 첫 항목이다. 그 말을 여기서 한 번 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[29–32분] 대표 사용 흐름은 하나만
사용자가 가장 중요하게 쓸 상황 하나를 골라 3~4단계로 적습니다. 모든 화면과 예외를 미리 정할 필요 없습니다.
위 네 칸이 뼈대입니다. 열고, 넣고, 실행하고, 확인하고. 거의 모든 서비스가 이 모양입니다.
아래는 이야기 소재 도구의 예입니다. 오른쪽 칸을 보세요. **화면에서 눈으로 확인하는 것**을 적었습니다. 3번은 「—」죠. 버튼을 누르는 순간엔 아직 볼 게 없으니까요.
흐름을 적다 보면 「입력한 단어를 지우려면?」, 「한 번 더 만들려면?」 같은 질문이 떠오릅니다. 그게 바로 보조 기능 후보입니다.
반대로 흐름을 안 쓰면 이런 질문 자체가 안 떠오릅니다. 그래서 만들다가 멈춥니다.
[예상 질문]
Q. 로그인한 사람이랑 안 한 사람이랑 다르면요?
A. 그런 갈래는 늘리지 않는다. 가장 중요한 흐름 하나만 정확하게 적는다. 그 하나가 작동해야 나머지도 의미가 있다.
[진행 메모]
표를 다 읽지 않는다. **오른쪽 칸이 「눈으로 보는 것」이라는 점 하나만** 짚고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[32–35분] 지금 적는다 ③ 내 흐름 네 단계
교과서 17쪽입니다. 3분.
1번은 이미 적혀 있습니다. 2, 3, 4만 채우세요.
오른쪽 칸을 빼먹지 마세요. **화면에서 눈으로 뭘 보는가.** 이게 나중에 화면 설명의 재료가 됩니다.
적다가 「이건 어떻게 하지?」 하는 질문이 떠오르면 표 옆 빈자리에 적어 두세요. 그게 다음 절에서 다룰 보조 기능 후보입니다.
(돌아다니며 확인한다)
[예상 질문]
Q. 4단계로 안 나눠져요.
A. 3단계여도 된다. 5단계가 넘으면 흐름이 두 개 섞인 것이니 하나로 줄이라고 한다.
[진행 메모]
3번 줄의 오른쪽을 「—」로 두어도 된다는 것을 앞 장에서 봤다. 그걸 모르고 억지로 채우는 학생이 있으면 짚어 준다.
**여기까지 오면 오늘 세 줄을 적은 것이다.** 진도가 보이게 한 번 말해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[35–37분] 핵심 기능 하나로 줄인다
이 수업 프로젝트의 기본 범위입니다. 이보다 크게 잡지 않습니다.
핵심 기능 하나, 보조 최대 두 개, 흐름 하나, 화면 하나. 끝입니다.
오른쪽은 안 만드는 것들입니다. 로그인, 결제, 실시간 채팅.
어렵기만 해서가 아닙니다. **로그인은 남의 비밀번호를 안전하게 보관할 책임을 지는 일**이고, 결제는 돈을 다루는 일입니다. 한 학기 수업에서 책임질 수 있는 범위를 넘습니다.
핵심 기능을 고르는 기준은 하나입니다. **이것 하나가 안 되면 서비스라고 할 수 없는 기능.**
[예상 질문]
Q. 로그인 없으면 내 것만 보이게 못 하잖아요.
A. 맞다. 이 수업에서 만드는 건 한 사람이 쓰는 도구다. 여러 사람이 각자 자기 것을 보는 건 다음 이야기다.
[진행 메모]
「만들지 않는 것」을 금지 목록으로만 읽히면 안 된다. **이유가 안전과 책임**이라는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[37–39분] 지금 적는다 ④ 내 핵심 기능
교과서 20쪽입니다. 2분.
**핵심 줄만 반드시 채우세요.** 보조는 비워 둬도 됩니다.
아까 흐름 쓸 때 옆에 적어 둔 질문들 있죠. 그게 보조 기능 후보입니다. 생각나면 적고, 아니면 넘어갑니다.
(돌아다니며 확인한다)
핵심 줄에 두 가지가 적힌 학생이 있을 겁니다. 「적고 나서 알림도 보낸다」 같은 식으로요. 하나를 보조로 내리라고 하세요.
[예상 질문]
Q. 둘 다 핵심 같은데요.
A. 둘 중 하나만 되는 서비스와 다른 하나만 되는 서비스를 상상하게 한다. 그래도 서비스인 쪽이 핵심이다.
[진행 메모]
「사용자가 얻는 결과」 칸을 비우는 학생이 많다. **기능과 결과는 다르다**는 것을 한 번 짚는다. 「적는다」는 기능이고 「적은 게 목록에 남아 다시 보인다」가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[39–41분] 무엇을 주고 무엇을 받는가
기술이나 코드를 정하기 전에 **입력과 결과**를 먼저 적습니다. 3-2에서 코드 읽을 때 입력·처리·출력을 짚었던 것과 같습니다.
화면은 그림으로 그리지 않습니다. 여섯 줄로 글로 씁니다. 색이나 버튼 위치는 개발 단계에서 AI가 만들고 사람이 확인합니다. 지금 그림을 그리면 시간만 쓰고 정작 뭐가 있어야 하는지는 빠지기 쉽습니다.
마지막 줄을 특히 보세요. **「입력이 없거나 잘못됐을 때」.** 이걸 빠뜨리면 사용자는 버튼을 눌렀는데 아무 일도 안 일어나는 화면을 보게 됩니다. 고장인지 아닌지도 모르죠.
12회 테스트 차시에서 잘못된 입력을 넣어 볼 때, 이 줄이 있어야 뭘 확인할지 정해집니다.
[진행 메모]
**이 둘은 오늘 적지 않는다.** 다음 시간에 문서에 직접 적는다. 여기서는 「이런 게 있다」까지만 하고 2분 안에 끝낸다.
시간이 밀렸으면 마지막 줄 이야기만 하고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[41–43분] 무엇을 보면 다 됐다고 하는가
「잘 작동한다」 대신 **눈으로 확인할 수 있는 문장**을 2~3개 적습니다.
왼쪽 넷을 보세요. 다 만든 뒤에 이걸로 판정할 수 있습니까? 「편하다」는 열 사람이 열 가지로 답합니다.
오른쪽은 다릅니다. 버튼을 눌러 보면 결과가 나오거나 안 나오거나 둘 중 하나예요.
이 기준이 어디에 쓰이냐면, 10~13회에 AI가 만든 결과를 받았을 때 이 문장들을 **하나씩 실행해 보고 표시**합니다. 세 개가 다 확인되면 핵심 기능이 완성된 겁니다.
12회 테스트 차시의 기록 양식도 이 기준을 그대로 가져다 씁니다.
[예상 질문]
Q. 「사용자가 만족한다」는요?
A. 다음 장 워크시트의 3번이다. 여기서 답하지 말고 학생이 판정하게 넘긴다.
[진행 메모]
**여기서 정답을 말하지 않는다.** 바로 다음 장이 이걸 판정하는 워크시트다.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[43–44분] 워크시트 ② 이 기준으로 판정되는가
교과서 26쪽입니다. 네 줄. 시간이 짧으니 3번과 4번만 해도 됩니다.
3번 「사용자가 만족한다」. 판정할 수 있습니까?
(답을 듣는다) 없죠. 뭘 보면 만족했다고 할지가 없으니까요. 다 만든 뒤 화면을 열어도 확인할 방법이 없습니다.
바꾸려면 만족을 **눈에 보이는 행동이나 화면**으로 옮겨야 합니다. 「결과가 마음에 안 들면 다시 만들기 버튼으로 새 결과를 받을 수 있다」처럼요.
네 번째 줄이 오늘 마지막으로 적는 내 것입니다.
[진행 메모]
시간이 없으면 3번을 다 함께 말로 하고, 4번만 손으로 적게 한다.
못 끝낸 학생은 다음 시간 시작에 마저 적는다. **오늘 여섯 번 적은 것을 다음 시간에 반드시 가져오라고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[44–45분] AI는 생각을 정리하는 도구다
마지막입니다. 오늘 적은 여섯 줄을 다음 시간에 문서로 옮기는데, 그때 AI를 씁니다.
**「내 서비스 기획해 줘」는 안 됩니다.** 무엇을 만들지 AI가 정하면 왜 그렇게 정했는지 여러분이 설명할 수 없습니다. 수행평가 2에서 보는 게 바로 그 설명입니다.
대신 이렇게 씁니다. 「내가 적은 이 사용자와 이 핵심 기능이 서로 맞는지 봐 줘.」
정하는 건 나, 점검은 AI. 4-1에서 그래프를 AI에게 시키고 원본과 대조했던 것과 같은 구조입니다.
27쪽 뒤로 흔한 오해, 역할 구분, 확인 문제, 그리고 정리가 있습니다. 오늘 못 다뤘으니 읽어 오세요.
다음 시간에 오늘 적은 여섯 줄을 문서로 옮깁니다. **교과서를 꼭 가져오세요.**
[진행 메모]
**교과서를 가져오라는 말을 반드시 한다.** 오늘 적은 것이 없으면 다음 시간이 통째로 빈다.
27쪽 뒤를 건너뛰는 것이 정상이다. 미안해하지 않는다. 앞의 적는 활동이 이 차시의 목표다.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첫째 차시</a:t>
            </a:r>
            <a:endParaRPr lang="en-US" sz="1200" dirty="0"/>
          </a:p>
        </p:txBody>
      </p:sp>
      <p:sp>
        <p:nvSpPr>
          <p:cNvPr id="4" name="Text 2"/>
          <p:cNvSpPr/>
          <p:nvPr/>
        </p:nvSpPr>
        <p:spPr>
          <a:xfrm>
            <a:off x="530352" y="1828800"/>
            <a:ext cx="10424160" cy="1691640"/>
          </a:xfrm>
          <a:prstGeom prst="rect">
            <a:avLst/>
          </a:prstGeom>
          <a:noFill/>
          <a:ln/>
        </p:spPr>
        <p:txBody>
          <a:bodyPr wrap="square" lIns="0" tIns="0" rIns="0" bIns="0" rtlCol="0" anchor="ctr"/>
          <a:lstStyle/>
          <a:p>
            <a:pPr indent="0" marL="0">
              <a:buNone/>
            </a:pPr>
            <a:r>
              <a:rPr lang="en-US" sz="4200" b="1" dirty="0">
                <a:solidFill>
                  <a:srgbClr val="FFFFFF"/>
                </a:solidFill>
                <a:latin typeface="IBM Plex Sans KR" pitchFamily="34" charset="0"/>
                <a:ea typeface="IBM Plex Sans KR" pitchFamily="34" charset="-122"/>
                <a:cs typeface="IBM Plex Sans KR" pitchFamily="34" charset="-120"/>
              </a:rPr>
              <a:t>서비스 기획의 기초</a:t>
            </a:r>
            <a:endParaRPr lang="en-US" sz="4200" dirty="0"/>
          </a:p>
        </p:txBody>
      </p:sp>
      <p:sp>
        <p:nvSpPr>
          <p:cNvPr id="5" name="Text 3"/>
          <p:cNvSpPr/>
          <p:nvPr/>
        </p:nvSpPr>
        <p:spPr>
          <a:xfrm>
            <a:off x="530352" y="356616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오늘은 설명을 듣기만 하지 않습니다.</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한 가지를 배울 때마다 내 서비스로 한 줄씩 적습니다.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기능이 스무 개인 계획</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pic>
        <p:nvPicPr>
          <p:cNvPr id="10" name="Image 0" descr="/home/claude/w5/교과서_배포/assets/img/06-1-01-endless-list.png">    </p:cNvPr>
          <p:cNvPicPr>
            <a:picLocks noChangeAspect="1"/>
          </p:cNvPicPr>
          <p:nvPr/>
        </p:nvPicPr>
        <p:blipFill>
          <a:blip r:embed="rId1"/>
          <a:stretch>
            <a:fillRect/>
          </a:stretch>
        </p:blipFill>
        <p:spPr>
          <a:xfrm>
            <a:off x="941832" y="1920240"/>
            <a:ext cx="5852160" cy="3291840"/>
          </a:xfrm>
          <a:prstGeom prst="rect">
            <a:avLst/>
          </a:prstGeom>
        </p:spPr>
      </p:pic>
      <p:sp>
        <p:nvSpPr>
          <p:cNvPr id="11" name="Shape 8"/>
          <p:cNvSpPr/>
          <p:nvPr/>
        </p:nvSpPr>
        <p:spPr>
          <a:xfrm>
            <a:off x="7461504" y="1920240"/>
            <a:ext cx="4389120" cy="1572768"/>
          </a:xfrm>
          <a:prstGeom prst="roundRect">
            <a:avLst>
              <a:gd name="adj" fmla="val 3198"/>
            </a:avLst>
          </a:prstGeom>
          <a:solidFill>
            <a:srgbClr val="FFF1E8"/>
          </a:solidFill>
          <a:ln w="12700">
            <a:solidFill>
              <a:srgbClr val="C24A00"/>
            </a:solidFill>
            <a:prstDash val="solid"/>
          </a:ln>
        </p:spPr>
      </p:sp>
      <p:sp>
        <p:nvSpPr>
          <p:cNvPr id="12" name="Text 9"/>
          <p:cNvSpPr/>
          <p:nvPr/>
        </p:nvSpPr>
        <p:spPr>
          <a:xfrm>
            <a:off x="7644384" y="2084832"/>
            <a:ext cx="402336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이런 계획</a:t>
            </a:r>
            <a:endParaRPr lang="en-US" sz="1050" dirty="0"/>
          </a:p>
        </p:txBody>
      </p:sp>
      <p:sp>
        <p:nvSpPr>
          <p:cNvPr id="13" name="Text 10"/>
          <p:cNvSpPr/>
          <p:nvPr/>
        </p:nvSpPr>
        <p:spPr>
          <a:xfrm>
            <a:off x="7644384" y="2377440"/>
            <a:ext cx="402336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기능 스무 개</a:t>
            </a:r>
            <a:endParaRPr lang="en-US" sz="1650" dirty="0"/>
          </a:p>
        </p:txBody>
      </p:sp>
      <p:sp>
        <p:nvSpPr>
          <p:cNvPr id="14" name="Text 11"/>
          <p:cNvSpPr/>
          <p:nvPr/>
        </p:nvSpPr>
        <p:spPr>
          <a:xfrm>
            <a:off x="7644384" y="2871216"/>
            <a:ext cx="4023360" cy="475488"/>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한 학기에 하나도 끝나지 않는다.</a:t>
            </a:r>
            <a:endParaRPr lang="en-US" sz="1250" dirty="0"/>
          </a:p>
        </p:txBody>
      </p:sp>
      <p:sp>
        <p:nvSpPr>
          <p:cNvPr id="15" name="Shape 12"/>
          <p:cNvSpPr/>
          <p:nvPr/>
        </p:nvSpPr>
        <p:spPr>
          <a:xfrm>
            <a:off x="7461504" y="3639312"/>
            <a:ext cx="4389120" cy="1572768"/>
          </a:xfrm>
          <a:prstGeom prst="roundRect">
            <a:avLst>
              <a:gd name="adj" fmla="val 3198"/>
            </a:avLst>
          </a:prstGeom>
          <a:solidFill>
            <a:srgbClr val="E7F2ED"/>
          </a:solidFill>
          <a:ln w="12700">
            <a:solidFill>
              <a:srgbClr val="0E7C86"/>
            </a:solidFill>
            <a:prstDash val="solid"/>
          </a:ln>
        </p:spPr>
      </p:sp>
      <p:sp>
        <p:nvSpPr>
          <p:cNvPr id="16" name="Text 13"/>
          <p:cNvSpPr/>
          <p:nvPr/>
        </p:nvSpPr>
        <p:spPr>
          <a:xfrm>
            <a:off x="7644384" y="3803904"/>
            <a:ext cx="402336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 수업의 계획</a:t>
            </a:r>
            <a:endParaRPr lang="en-US" sz="1050" dirty="0"/>
          </a:p>
        </p:txBody>
      </p:sp>
      <p:sp>
        <p:nvSpPr>
          <p:cNvPr id="17" name="Text 14"/>
          <p:cNvSpPr/>
          <p:nvPr/>
        </p:nvSpPr>
        <p:spPr>
          <a:xfrm>
            <a:off x="7644384" y="4096512"/>
            <a:ext cx="402336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핵심 기능 하나</a:t>
            </a:r>
            <a:endParaRPr lang="en-US" sz="1650" dirty="0"/>
          </a:p>
        </p:txBody>
      </p:sp>
      <p:sp>
        <p:nvSpPr>
          <p:cNvPr id="18" name="Text 15"/>
          <p:cNvSpPr/>
          <p:nvPr/>
        </p:nvSpPr>
        <p:spPr>
          <a:xfrm>
            <a:off x="7644384" y="4590288"/>
            <a:ext cx="4023360" cy="475488"/>
          </a:xfrm>
          <a:prstGeom prst="rect">
            <a:avLst/>
          </a:prstGeom>
          <a:noFill/>
          <a:ln/>
        </p:spPr>
        <p:txBody>
          <a:bodyPr wrap="square" lIns="0" tIns="0" rIns="0" bIns="0" rtlCol="0" anchor="t"/>
          <a:lstStyle/>
          <a:p>
            <a:pPr indent="0" marL="0">
              <a:lnSpc>
                <a:spcPts val="1900"/>
              </a:lnSpc>
              <a:buNone/>
            </a:pPr>
            <a:r>
              <a:rPr lang="en-US" sz="1250" dirty="0">
                <a:solidFill>
                  <a:srgbClr val="34373D"/>
                </a:solidFill>
                <a:latin typeface="IBM Plex Sans KR" pitchFamily="34" charset="0"/>
                <a:ea typeface="IBM Plex Sans KR" pitchFamily="34" charset="-122"/>
                <a:cs typeface="IBM Plex Sans KR" pitchFamily="34" charset="-120"/>
              </a:rPr>
              <a:t>그 하나가 끝까지 작동한다.</a:t>
            </a:r>
            <a:endParaRPr lang="en-US" sz="1250" dirty="0"/>
          </a:p>
        </p:txBody>
      </p:sp>
      <p:sp>
        <p:nvSpPr>
          <p:cNvPr id="19" name="Text 16"/>
          <p:cNvSpPr/>
          <p:nvPr/>
        </p:nvSpPr>
        <p:spPr>
          <a:xfrm>
            <a:off x="530352" y="53949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기능이 많다고 좋은 기획이 아니다</a:t>
            </a:r>
            <a:endParaRPr lang="en-US" sz="1700" dirty="0"/>
          </a:p>
        </p:txBody>
      </p:sp>
      <p:sp>
        <p:nvSpPr>
          <p:cNvPr id="20" name="Shape 17"/>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21" name="Text 18"/>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기능 하나가 끝까지 되는 것이, 다섯 개가 절반씩 되는 것보다 낫다</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서비스 제작 계획서(PRD)</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4–5쪽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Shape 8"/>
          <p:cNvSpPr/>
          <p:nvPr/>
        </p:nvSpPr>
        <p:spPr>
          <a:xfrm>
            <a:off x="530352" y="1965960"/>
            <a:ext cx="2893344" cy="402336"/>
          </a:xfrm>
          <a:prstGeom prst="rect">
            <a:avLst/>
          </a:prstGeom>
          <a:solidFill>
            <a:srgbClr val="1B1D21"/>
          </a:solidFill>
          <a:ln/>
        </p:spPr>
      </p:sp>
      <p:sp>
        <p:nvSpPr>
          <p:cNvPr id="11" name="Text 9"/>
          <p:cNvSpPr/>
          <p:nvPr/>
        </p:nvSpPr>
        <p:spPr>
          <a:xfrm>
            <a:off x="658368" y="1965960"/>
            <a:ext cx="263731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적는 것</a:t>
            </a:r>
            <a:endParaRPr lang="en-US" sz="1050" dirty="0"/>
          </a:p>
        </p:txBody>
      </p:sp>
      <p:sp>
        <p:nvSpPr>
          <p:cNvPr id="12" name="Shape 10"/>
          <p:cNvSpPr/>
          <p:nvPr/>
        </p:nvSpPr>
        <p:spPr>
          <a:xfrm>
            <a:off x="3423696" y="1965960"/>
            <a:ext cx="8234904" cy="402336"/>
          </a:xfrm>
          <a:prstGeom prst="rect">
            <a:avLst/>
          </a:prstGeom>
          <a:solidFill>
            <a:srgbClr val="1B1D21"/>
          </a:solidFill>
          <a:ln/>
        </p:spPr>
      </p:sp>
      <p:sp>
        <p:nvSpPr>
          <p:cNvPr id="13" name="Text 11"/>
          <p:cNvSpPr/>
          <p:nvPr/>
        </p:nvSpPr>
        <p:spPr>
          <a:xfrm>
            <a:off x="3551712" y="1965960"/>
            <a:ext cx="79788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무엇을 정하는가</a:t>
            </a:r>
            <a:endParaRPr lang="en-US" sz="1050" dirty="0"/>
          </a:p>
        </p:txBody>
      </p:sp>
      <p:sp>
        <p:nvSpPr>
          <p:cNvPr id="14" name="Shape 12"/>
          <p:cNvSpPr/>
          <p:nvPr/>
        </p:nvSpPr>
        <p:spPr>
          <a:xfrm>
            <a:off x="530352" y="2368296"/>
            <a:ext cx="11128248" cy="429768"/>
          </a:xfrm>
          <a:prstGeom prst="rect">
            <a:avLst/>
          </a:prstGeom>
          <a:solidFill>
            <a:srgbClr val="F1F2F4"/>
          </a:solidFill>
          <a:ln w="9525">
            <a:solidFill>
              <a:srgbClr val="E0E3E7"/>
            </a:solidFill>
            <a:prstDash val="solid"/>
          </a:ln>
        </p:spPr>
      </p:sp>
      <p:sp>
        <p:nvSpPr>
          <p:cNvPr id="15" name="Text 13"/>
          <p:cNvSpPr/>
          <p:nvPr/>
        </p:nvSpPr>
        <p:spPr>
          <a:xfrm>
            <a:off x="658368" y="2368296"/>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a:t>
            </a:r>
            <a:endParaRPr lang="en-US" sz="1240" dirty="0"/>
          </a:p>
        </p:txBody>
      </p:sp>
      <p:sp>
        <p:nvSpPr>
          <p:cNvPr id="16" name="Text 14"/>
          <p:cNvSpPr/>
          <p:nvPr/>
        </p:nvSpPr>
        <p:spPr>
          <a:xfrm>
            <a:off x="3551712" y="2368296"/>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누가 언제 쓰는가</a:t>
            </a:r>
            <a:endParaRPr lang="en-US" sz="1240" dirty="0"/>
          </a:p>
        </p:txBody>
      </p:sp>
      <p:sp>
        <p:nvSpPr>
          <p:cNvPr id="17" name="Shape 15"/>
          <p:cNvSpPr/>
          <p:nvPr/>
        </p:nvSpPr>
        <p:spPr>
          <a:xfrm>
            <a:off x="530352" y="2798064"/>
            <a:ext cx="11128248" cy="429768"/>
          </a:xfrm>
          <a:prstGeom prst="rect">
            <a:avLst/>
          </a:prstGeom>
          <a:solidFill>
            <a:srgbClr val="FFFFFF"/>
          </a:solidFill>
          <a:ln w="9525">
            <a:solidFill>
              <a:srgbClr val="E0E3E7"/>
            </a:solidFill>
            <a:prstDash val="solid"/>
          </a:ln>
        </p:spPr>
      </p:sp>
      <p:sp>
        <p:nvSpPr>
          <p:cNvPr id="18" name="Text 16"/>
          <p:cNvSpPr/>
          <p:nvPr/>
        </p:nvSpPr>
        <p:spPr>
          <a:xfrm>
            <a:off x="658368" y="2798064"/>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목적</a:t>
            </a:r>
            <a:endParaRPr lang="en-US" sz="1240" dirty="0"/>
          </a:p>
        </p:txBody>
      </p:sp>
      <p:sp>
        <p:nvSpPr>
          <p:cNvPr id="19" name="Text 17"/>
          <p:cNvSpPr/>
          <p:nvPr/>
        </p:nvSpPr>
        <p:spPr>
          <a:xfrm>
            <a:off x="3551712" y="2798064"/>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그 사람이 무엇을 할 수 있게 되는가</a:t>
            </a:r>
            <a:endParaRPr lang="en-US" sz="1240" dirty="0"/>
          </a:p>
        </p:txBody>
      </p:sp>
      <p:sp>
        <p:nvSpPr>
          <p:cNvPr id="20" name="Shape 18"/>
          <p:cNvSpPr/>
          <p:nvPr/>
        </p:nvSpPr>
        <p:spPr>
          <a:xfrm>
            <a:off x="530352" y="3227832"/>
            <a:ext cx="11128248" cy="429768"/>
          </a:xfrm>
          <a:prstGeom prst="rect">
            <a:avLst/>
          </a:prstGeom>
          <a:solidFill>
            <a:srgbClr val="F1F2F4"/>
          </a:solidFill>
          <a:ln w="9525">
            <a:solidFill>
              <a:srgbClr val="E0E3E7"/>
            </a:solidFill>
            <a:prstDash val="solid"/>
          </a:ln>
        </p:spPr>
      </p:sp>
      <p:sp>
        <p:nvSpPr>
          <p:cNvPr id="21" name="Text 19"/>
          <p:cNvSpPr/>
          <p:nvPr/>
        </p:nvSpPr>
        <p:spPr>
          <a:xfrm>
            <a:off x="658368" y="3227832"/>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 흐름</a:t>
            </a:r>
            <a:endParaRPr lang="en-US" sz="1240" dirty="0"/>
          </a:p>
        </p:txBody>
      </p:sp>
      <p:sp>
        <p:nvSpPr>
          <p:cNvPr id="22" name="Text 20"/>
          <p:cNvSpPr/>
          <p:nvPr/>
        </p:nvSpPr>
        <p:spPr>
          <a:xfrm>
            <a:off x="3551712" y="3227832"/>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열고 나서 결과를 볼 때까지의 순서</a:t>
            </a:r>
            <a:endParaRPr lang="en-US" sz="1240" dirty="0"/>
          </a:p>
        </p:txBody>
      </p:sp>
      <p:sp>
        <p:nvSpPr>
          <p:cNvPr id="23" name="Shape 21"/>
          <p:cNvSpPr/>
          <p:nvPr/>
        </p:nvSpPr>
        <p:spPr>
          <a:xfrm>
            <a:off x="530352" y="3657600"/>
            <a:ext cx="11128248" cy="429768"/>
          </a:xfrm>
          <a:prstGeom prst="rect">
            <a:avLst/>
          </a:prstGeom>
          <a:solidFill>
            <a:srgbClr val="FFFFFF"/>
          </a:solidFill>
          <a:ln w="9525">
            <a:solidFill>
              <a:srgbClr val="E0E3E7"/>
            </a:solidFill>
            <a:prstDash val="solid"/>
          </a:ln>
        </p:spPr>
      </p:sp>
      <p:sp>
        <p:nvSpPr>
          <p:cNvPr id="24" name="Text 22"/>
          <p:cNvSpPr/>
          <p:nvPr/>
        </p:nvSpPr>
        <p:spPr>
          <a:xfrm>
            <a:off x="658368" y="3657600"/>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기능 범위</a:t>
            </a:r>
            <a:endParaRPr lang="en-US" sz="1240" dirty="0"/>
          </a:p>
        </p:txBody>
      </p:sp>
      <p:sp>
        <p:nvSpPr>
          <p:cNvPr id="25" name="Text 23"/>
          <p:cNvSpPr/>
          <p:nvPr/>
        </p:nvSpPr>
        <p:spPr>
          <a:xfrm>
            <a:off x="3551712" y="3657600"/>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만들고 무엇을 안 만드는가</a:t>
            </a:r>
            <a:endParaRPr lang="en-US" sz="1240" dirty="0"/>
          </a:p>
        </p:txBody>
      </p:sp>
      <p:sp>
        <p:nvSpPr>
          <p:cNvPr id="26" name="Shape 24"/>
          <p:cNvSpPr/>
          <p:nvPr/>
        </p:nvSpPr>
        <p:spPr>
          <a:xfrm>
            <a:off x="530352" y="4087368"/>
            <a:ext cx="11128248" cy="429768"/>
          </a:xfrm>
          <a:prstGeom prst="rect">
            <a:avLst/>
          </a:prstGeom>
          <a:solidFill>
            <a:srgbClr val="F1F2F4"/>
          </a:solidFill>
          <a:ln w="9525">
            <a:solidFill>
              <a:srgbClr val="E0E3E7"/>
            </a:solidFill>
            <a:prstDash val="solid"/>
          </a:ln>
        </p:spPr>
      </p:sp>
      <p:sp>
        <p:nvSpPr>
          <p:cNvPr id="27" name="Text 25"/>
          <p:cNvSpPr/>
          <p:nvPr/>
        </p:nvSpPr>
        <p:spPr>
          <a:xfrm>
            <a:off x="658368" y="4087368"/>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입력과 결과</a:t>
            </a:r>
            <a:endParaRPr lang="en-US" sz="1240" dirty="0"/>
          </a:p>
        </p:txBody>
      </p:sp>
      <p:sp>
        <p:nvSpPr>
          <p:cNvPr id="28" name="Text 26"/>
          <p:cNvSpPr/>
          <p:nvPr/>
        </p:nvSpPr>
        <p:spPr>
          <a:xfrm>
            <a:off x="3551712" y="4087368"/>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주고 무엇을 받는가</a:t>
            </a:r>
            <a:endParaRPr lang="en-US" sz="1240" dirty="0"/>
          </a:p>
        </p:txBody>
      </p:sp>
      <p:sp>
        <p:nvSpPr>
          <p:cNvPr id="29" name="Shape 27"/>
          <p:cNvSpPr/>
          <p:nvPr/>
        </p:nvSpPr>
        <p:spPr>
          <a:xfrm>
            <a:off x="530352" y="4517136"/>
            <a:ext cx="11128248" cy="429768"/>
          </a:xfrm>
          <a:prstGeom prst="rect">
            <a:avLst/>
          </a:prstGeom>
          <a:solidFill>
            <a:srgbClr val="FFFFFF"/>
          </a:solidFill>
          <a:ln w="9525">
            <a:solidFill>
              <a:srgbClr val="E0E3E7"/>
            </a:solidFill>
            <a:prstDash val="solid"/>
          </a:ln>
        </p:spPr>
      </p:sp>
      <p:sp>
        <p:nvSpPr>
          <p:cNvPr id="30" name="Text 28"/>
          <p:cNvSpPr/>
          <p:nvPr/>
        </p:nvSpPr>
        <p:spPr>
          <a:xfrm>
            <a:off x="658368" y="4517136"/>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a:t>
            </a:r>
            <a:endParaRPr lang="en-US" sz="1240" dirty="0"/>
          </a:p>
        </p:txBody>
      </p:sp>
      <p:sp>
        <p:nvSpPr>
          <p:cNvPr id="31" name="Text 29"/>
          <p:cNvSpPr/>
          <p:nvPr/>
        </p:nvSpPr>
        <p:spPr>
          <a:xfrm>
            <a:off x="3551712" y="4517136"/>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그 일이 일어나는 화면에 무엇이 있는가</a:t>
            </a:r>
            <a:endParaRPr lang="en-US" sz="1240" dirty="0"/>
          </a:p>
        </p:txBody>
      </p:sp>
      <p:sp>
        <p:nvSpPr>
          <p:cNvPr id="32" name="Shape 30"/>
          <p:cNvSpPr/>
          <p:nvPr/>
        </p:nvSpPr>
        <p:spPr>
          <a:xfrm>
            <a:off x="530352" y="4946904"/>
            <a:ext cx="11128248" cy="429768"/>
          </a:xfrm>
          <a:prstGeom prst="rect">
            <a:avLst/>
          </a:prstGeom>
          <a:solidFill>
            <a:srgbClr val="F1F2F4"/>
          </a:solidFill>
          <a:ln w="9525">
            <a:solidFill>
              <a:srgbClr val="E0E3E7"/>
            </a:solidFill>
            <a:prstDash val="solid"/>
          </a:ln>
        </p:spPr>
      </p:sp>
      <p:sp>
        <p:nvSpPr>
          <p:cNvPr id="33" name="Text 31"/>
          <p:cNvSpPr/>
          <p:nvPr/>
        </p:nvSpPr>
        <p:spPr>
          <a:xfrm>
            <a:off x="658368" y="4946904"/>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완성 기준</a:t>
            </a:r>
            <a:endParaRPr lang="en-US" sz="1240" dirty="0"/>
          </a:p>
        </p:txBody>
      </p:sp>
      <p:sp>
        <p:nvSpPr>
          <p:cNvPr id="34" name="Text 32"/>
          <p:cNvSpPr/>
          <p:nvPr/>
        </p:nvSpPr>
        <p:spPr>
          <a:xfrm>
            <a:off x="3551712" y="4946904"/>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보면 다 됐다고 할 수 있는가</a:t>
            </a:r>
            <a:endParaRPr lang="en-US" sz="1240" dirty="0"/>
          </a:p>
        </p:txBody>
      </p:sp>
      <p:sp>
        <p:nvSpPr>
          <p:cNvPr id="35" name="Shape 33"/>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36" name="Text 34"/>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오늘 배우는 항목이 그대로 다음 시간 문서의 항목이 된다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익숙한 불편에서 시작한다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6–7쪽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sp>
        <p:nvSpPr>
          <p:cNvPr id="10" name="Shape 8"/>
          <p:cNvSpPr/>
          <p:nvPr/>
        </p:nvSpPr>
        <p:spPr>
          <a:xfrm>
            <a:off x="530352" y="1965960"/>
            <a:ext cx="5118994" cy="402336"/>
          </a:xfrm>
          <a:prstGeom prst="rect">
            <a:avLst/>
          </a:prstGeom>
          <a:solidFill>
            <a:srgbClr val="1B1D21"/>
          </a:solidFill>
          <a:ln/>
        </p:spPr>
      </p:sp>
      <p:sp>
        <p:nvSpPr>
          <p:cNvPr id="11" name="Text 9"/>
          <p:cNvSpPr/>
          <p:nvPr/>
        </p:nvSpPr>
        <p:spPr>
          <a:xfrm>
            <a:off x="658368" y="1965960"/>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이런 데서 나온다</a:t>
            </a:r>
            <a:endParaRPr lang="en-US" sz="1050" dirty="0"/>
          </a:p>
        </p:txBody>
      </p:sp>
      <p:sp>
        <p:nvSpPr>
          <p:cNvPr id="12" name="Shape 10"/>
          <p:cNvSpPr/>
          <p:nvPr/>
        </p:nvSpPr>
        <p:spPr>
          <a:xfrm>
            <a:off x="5649346" y="1965960"/>
            <a:ext cx="6009254" cy="402336"/>
          </a:xfrm>
          <a:prstGeom prst="rect">
            <a:avLst/>
          </a:prstGeom>
          <a:solidFill>
            <a:srgbClr val="1B1D21"/>
          </a:solidFill>
          <a:ln/>
        </p:spPr>
      </p:sp>
      <p:sp>
        <p:nvSpPr>
          <p:cNvPr id="13" name="Text 11"/>
          <p:cNvSpPr/>
          <p:nvPr/>
        </p:nvSpPr>
        <p:spPr>
          <a:xfrm>
            <a:off x="5777362" y="1965960"/>
            <a:ext cx="575322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서비스가 될 수 있는 모습</a:t>
            </a:r>
            <a:endParaRPr lang="en-US" sz="1050" dirty="0"/>
          </a:p>
        </p:txBody>
      </p:sp>
      <p:sp>
        <p:nvSpPr>
          <p:cNvPr id="14" name="Shape 12"/>
          <p:cNvSpPr/>
          <p:nvPr/>
        </p:nvSpPr>
        <p:spPr>
          <a:xfrm>
            <a:off x="530352" y="2368296"/>
            <a:ext cx="11128248" cy="502920"/>
          </a:xfrm>
          <a:prstGeom prst="rect">
            <a:avLst/>
          </a:prstGeom>
          <a:solidFill>
            <a:srgbClr val="F1F2F4"/>
          </a:solidFill>
          <a:ln w="9525">
            <a:solidFill>
              <a:srgbClr val="E0E3E7"/>
            </a:solidFill>
            <a:prstDash val="solid"/>
          </a:ln>
        </p:spPr>
      </p:sp>
      <p:sp>
        <p:nvSpPr>
          <p:cNvPr id="15" name="Text 13"/>
          <p:cNvSpPr/>
          <p:nvPr/>
        </p:nvSpPr>
        <p:spPr>
          <a:xfrm>
            <a:off x="658368" y="236829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매일 할 일을 자꾸 잊는다</a:t>
            </a:r>
            <a:endParaRPr lang="en-US" sz="1240" dirty="0"/>
          </a:p>
        </p:txBody>
      </p:sp>
      <p:sp>
        <p:nvSpPr>
          <p:cNvPr id="16" name="Text 14"/>
          <p:cNvSpPr/>
          <p:nvPr/>
        </p:nvSpPr>
        <p:spPr>
          <a:xfrm>
            <a:off x="5777362" y="236829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 할 일을 적고 완료 여부를 확인한다</a:t>
            </a:r>
            <a:endParaRPr lang="en-US" sz="1240" dirty="0"/>
          </a:p>
        </p:txBody>
      </p:sp>
      <p:sp>
        <p:nvSpPr>
          <p:cNvPr id="17" name="Shape 15"/>
          <p:cNvSpPr/>
          <p:nvPr/>
        </p:nvSpPr>
        <p:spPr>
          <a:xfrm>
            <a:off x="530352" y="2871216"/>
            <a:ext cx="11128248" cy="502920"/>
          </a:xfrm>
          <a:prstGeom prst="rect">
            <a:avLst/>
          </a:prstGeom>
          <a:solidFill>
            <a:srgbClr val="FFFFFF"/>
          </a:solidFill>
          <a:ln w="9525">
            <a:solidFill>
              <a:srgbClr val="E0E3E7"/>
            </a:solidFill>
            <a:prstDash val="solid"/>
          </a:ln>
        </p:spPr>
      </p:sp>
      <p:sp>
        <p:nvSpPr>
          <p:cNvPr id="18" name="Text 16"/>
          <p:cNvSpPr/>
          <p:nvPr/>
        </p:nvSpPr>
        <p:spPr>
          <a:xfrm>
            <a:off x="658368" y="287121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읽은 책이 기억나지 않는다</a:t>
            </a:r>
            <a:endParaRPr lang="en-US" sz="1240" dirty="0"/>
          </a:p>
        </p:txBody>
      </p:sp>
      <p:sp>
        <p:nvSpPr>
          <p:cNvPr id="19" name="Text 17"/>
          <p:cNvSpPr/>
          <p:nvPr/>
        </p:nvSpPr>
        <p:spPr>
          <a:xfrm>
            <a:off x="5777362" y="287121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읽은 책과 감상을 남기고 다시 찾아본다</a:t>
            </a:r>
            <a:endParaRPr lang="en-US" sz="1240" dirty="0"/>
          </a:p>
        </p:txBody>
      </p:sp>
      <p:sp>
        <p:nvSpPr>
          <p:cNvPr id="20" name="Shape 18"/>
          <p:cNvSpPr/>
          <p:nvPr/>
        </p:nvSpPr>
        <p:spPr>
          <a:xfrm>
            <a:off x="530352" y="3374136"/>
            <a:ext cx="11128248" cy="502920"/>
          </a:xfrm>
          <a:prstGeom prst="rect">
            <a:avLst/>
          </a:prstGeom>
          <a:solidFill>
            <a:srgbClr val="F1F2F4"/>
          </a:solidFill>
          <a:ln w="9525">
            <a:solidFill>
              <a:srgbClr val="E0E3E7"/>
            </a:solidFill>
            <a:prstDash val="solid"/>
          </a:ln>
        </p:spPr>
      </p:sp>
      <p:sp>
        <p:nvSpPr>
          <p:cNvPr id="21" name="Text 19"/>
          <p:cNvSpPr/>
          <p:nvPr/>
        </p:nvSpPr>
        <p:spPr>
          <a:xfrm>
            <a:off x="658368" y="337413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글의 첫 문장이 떠오르지 않는다</a:t>
            </a:r>
            <a:endParaRPr lang="en-US" sz="1240" dirty="0"/>
          </a:p>
        </p:txBody>
      </p:sp>
      <p:sp>
        <p:nvSpPr>
          <p:cNvPr id="22" name="Text 20"/>
          <p:cNvSpPr/>
          <p:nvPr/>
        </p:nvSpPr>
        <p:spPr>
          <a:xfrm>
            <a:off x="5777362" y="337413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입력한 단어로 이야기 소재를 얻는다</a:t>
            </a:r>
            <a:endParaRPr lang="en-US" sz="1240" dirty="0"/>
          </a:p>
        </p:txBody>
      </p:sp>
      <p:sp>
        <p:nvSpPr>
          <p:cNvPr id="23" name="Shape 21"/>
          <p:cNvSpPr/>
          <p:nvPr/>
        </p:nvSpPr>
        <p:spPr>
          <a:xfrm>
            <a:off x="530352" y="3877056"/>
            <a:ext cx="11128248" cy="502920"/>
          </a:xfrm>
          <a:prstGeom prst="rect">
            <a:avLst/>
          </a:prstGeom>
          <a:solidFill>
            <a:srgbClr val="FFFFFF"/>
          </a:solidFill>
          <a:ln w="9525">
            <a:solidFill>
              <a:srgbClr val="E0E3E7"/>
            </a:solidFill>
            <a:prstDash val="solid"/>
          </a:ln>
        </p:spPr>
      </p:sp>
      <p:sp>
        <p:nvSpPr>
          <p:cNvPr id="24" name="Text 22"/>
          <p:cNvSpPr/>
          <p:nvPr/>
        </p:nvSpPr>
        <p:spPr>
          <a:xfrm>
            <a:off x="658368" y="387705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무엇부터 외울지 정하기 어렵다</a:t>
            </a:r>
            <a:endParaRPr lang="en-US" sz="1240" dirty="0"/>
          </a:p>
        </p:txBody>
      </p:sp>
      <p:sp>
        <p:nvSpPr>
          <p:cNvPr id="25" name="Text 23"/>
          <p:cNvSpPr/>
          <p:nvPr/>
        </p:nvSpPr>
        <p:spPr>
          <a:xfrm>
            <a:off x="5777362" y="387705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외울 항목을 모아 하나를 무작위로 고른다</a:t>
            </a:r>
            <a:endParaRPr lang="en-US" sz="1240" dirty="0"/>
          </a:p>
        </p:txBody>
      </p:sp>
      <p:sp>
        <p:nvSpPr>
          <p:cNvPr id="26" name="Shape 24"/>
          <p:cNvSpPr/>
          <p:nvPr/>
        </p:nvSpPr>
        <p:spPr>
          <a:xfrm>
            <a:off x="530352" y="5120640"/>
            <a:ext cx="11128248" cy="512064"/>
          </a:xfrm>
          <a:prstGeom prst="roundRect">
            <a:avLst>
              <a:gd name="adj" fmla="val 39286"/>
            </a:avLst>
          </a:prstGeom>
          <a:solidFill>
            <a:srgbClr val="EAF5FB"/>
          </a:solidFill>
          <a:ln w="12700">
            <a:solidFill>
              <a:srgbClr val="3D8DFF"/>
            </a:solidFill>
            <a:prstDash val="solid"/>
          </a:ln>
        </p:spPr>
      </p:sp>
      <p:sp>
        <p:nvSpPr>
          <p:cNvPr id="27" name="Text 25"/>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이미 있는 서비스와 비슷해도 괜찮다</a:t>
            </a:r>
            <a:endParaRPr lang="en-US" sz="1500" dirty="0"/>
          </a:p>
        </p:txBody>
      </p:sp>
      <p:sp>
        <p:nvSpPr>
          <p:cNvPr id="28" name="Shape 26"/>
          <p:cNvSpPr/>
          <p:nvPr/>
        </p:nvSpPr>
        <p:spPr>
          <a:xfrm>
            <a:off x="2377440" y="5760720"/>
            <a:ext cx="7406640" cy="566928"/>
          </a:xfrm>
          <a:prstGeom prst="roundRect">
            <a:avLst>
              <a:gd name="adj" fmla="val 8871"/>
            </a:avLst>
          </a:prstGeom>
          <a:solidFill>
            <a:srgbClr val="F1F2F4"/>
          </a:solidFill>
          <a:ln w="12700">
            <a:solidFill>
              <a:srgbClr val="E0E3E7"/>
            </a:solidFill>
            <a:prstDash val="solid"/>
          </a:ln>
        </p:spPr>
      </p:sp>
      <p:sp>
        <p:nvSpPr>
          <p:cNvPr id="29" name="Text 27"/>
          <p:cNvSpPr/>
          <p:nvPr/>
        </p:nvSpPr>
        <p:spPr>
          <a:xfrm>
            <a:off x="2560320" y="5925312"/>
            <a:ext cx="7040880" cy="256032"/>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평가하는 것은 새로운가가 아니라 내가 설명할 수 있는가다.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① 내 불편 세 가지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8쪽에 세 줄을 적고 하나에 동그라미</a:t>
            </a:r>
            <a:endParaRPr lang="en-US" sz="1450" dirty="0"/>
          </a:p>
        </p:txBody>
      </p:sp>
      <p:sp>
        <p:nvSpPr>
          <p:cNvPr id="11" name="Shape 9"/>
          <p:cNvSpPr/>
          <p:nvPr/>
        </p:nvSpPr>
        <p:spPr>
          <a:xfrm>
            <a:off x="530352" y="2103120"/>
            <a:ext cx="890260" cy="402336"/>
          </a:xfrm>
          <a:prstGeom prst="rect">
            <a:avLst/>
          </a:prstGeom>
          <a:solidFill>
            <a:srgbClr val="1B1D21"/>
          </a:solidFill>
          <a:ln/>
        </p:spPr>
      </p:sp>
      <p:sp>
        <p:nvSpPr>
          <p:cNvPr id="12" name="Text 10"/>
          <p:cNvSpPr/>
          <p:nvPr/>
        </p:nvSpPr>
        <p:spPr>
          <a:xfrm>
            <a:off x="658368" y="210312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3" name="Shape 11"/>
          <p:cNvSpPr/>
          <p:nvPr/>
        </p:nvSpPr>
        <p:spPr>
          <a:xfrm>
            <a:off x="1420612" y="2103120"/>
            <a:ext cx="4673864" cy="402336"/>
          </a:xfrm>
          <a:prstGeom prst="rect">
            <a:avLst/>
          </a:prstGeom>
          <a:solidFill>
            <a:srgbClr val="1B1D21"/>
          </a:solidFill>
          <a:ln/>
        </p:spPr>
      </p:sp>
      <p:sp>
        <p:nvSpPr>
          <p:cNvPr id="14" name="Text 12"/>
          <p:cNvSpPr/>
          <p:nvPr/>
        </p:nvSpPr>
        <p:spPr>
          <a:xfrm>
            <a:off x="1548628" y="210312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자주 겪는 불편 · 관심</a:t>
            </a:r>
            <a:endParaRPr lang="en-US" sz="1050" dirty="0"/>
          </a:p>
        </p:txBody>
      </p:sp>
      <p:sp>
        <p:nvSpPr>
          <p:cNvPr id="15" name="Shape 13"/>
          <p:cNvSpPr/>
          <p:nvPr/>
        </p:nvSpPr>
        <p:spPr>
          <a:xfrm>
            <a:off x="6094476" y="2103120"/>
            <a:ext cx="5564124" cy="402336"/>
          </a:xfrm>
          <a:prstGeom prst="rect">
            <a:avLst/>
          </a:prstGeom>
          <a:solidFill>
            <a:srgbClr val="1B1D21"/>
          </a:solidFill>
          <a:ln/>
        </p:spPr>
      </p:sp>
      <p:sp>
        <p:nvSpPr>
          <p:cNvPr id="16" name="Text 14"/>
          <p:cNvSpPr/>
          <p:nvPr/>
        </p:nvSpPr>
        <p:spPr>
          <a:xfrm>
            <a:off x="6222492" y="2103120"/>
            <a:ext cx="530809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서비스가 된다면</a:t>
            </a:r>
            <a:endParaRPr lang="en-US" sz="1050" dirty="0"/>
          </a:p>
        </p:txBody>
      </p:sp>
      <p:sp>
        <p:nvSpPr>
          <p:cNvPr id="17" name="Shape 15"/>
          <p:cNvSpPr/>
          <p:nvPr/>
        </p:nvSpPr>
        <p:spPr>
          <a:xfrm>
            <a:off x="530352" y="2505456"/>
            <a:ext cx="11128248" cy="713232"/>
          </a:xfrm>
          <a:prstGeom prst="rect">
            <a:avLst/>
          </a:prstGeom>
          <a:solidFill>
            <a:srgbClr val="F1F2F4"/>
          </a:solidFill>
          <a:ln w="9525">
            <a:solidFill>
              <a:srgbClr val="E0E3E7"/>
            </a:solidFill>
            <a:prstDash val="solid"/>
          </a:ln>
        </p:spPr>
      </p:sp>
      <p:sp>
        <p:nvSpPr>
          <p:cNvPr id="18" name="Text 16"/>
          <p:cNvSpPr/>
          <p:nvPr/>
        </p:nvSpPr>
        <p:spPr>
          <a:xfrm>
            <a:off x="658368" y="2505456"/>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9" name="Text 17"/>
          <p:cNvSpPr/>
          <p:nvPr/>
        </p:nvSpPr>
        <p:spPr>
          <a:xfrm>
            <a:off x="1548628" y="2505456"/>
            <a:ext cx="4417832" cy="713232"/>
          </a:xfrm>
          <a:prstGeom prst="rect">
            <a:avLst/>
          </a:prstGeom>
          <a:noFill/>
          <a:ln/>
        </p:spPr>
        <p:txBody>
          <a:bodyPr wrap="square" lIns="0" tIns="0" rIns="0" bIns="0" rtlCol="0" anchor="ctr"/>
          <a:lstStyle/>
          <a:p>
            <a:pPr indent="0" marL="0">
              <a:buNone/>
            </a:pPr>
            <a:endParaRPr lang="en-US" sz="1240" dirty="0"/>
          </a:p>
        </p:txBody>
      </p:sp>
      <p:sp>
        <p:nvSpPr>
          <p:cNvPr id="20" name="Text 18"/>
          <p:cNvSpPr/>
          <p:nvPr/>
        </p:nvSpPr>
        <p:spPr>
          <a:xfrm>
            <a:off x="6222492" y="2505456"/>
            <a:ext cx="5308092" cy="713232"/>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218688"/>
            <a:ext cx="11128248" cy="713232"/>
          </a:xfrm>
          <a:prstGeom prst="rect">
            <a:avLst/>
          </a:prstGeom>
          <a:solidFill>
            <a:srgbClr val="FFFFFF"/>
          </a:solidFill>
          <a:ln w="9525">
            <a:solidFill>
              <a:srgbClr val="E0E3E7"/>
            </a:solidFill>
            <a:prstDash val="solid"/>
          </a:ln>
        </p:spPr>
      </p:sp>
      <p:sp>
        <p:nvSpPr>
          <p:cNvPr id="22" name="Text 20"/>
          <p:cNvSpPr/>
          <p:nvPr/>
        </p:nvSpPr>
        <p:spPr>
          <a:xfrm>
            <a:off x="658368" y="3218688"/>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3" name="Text 21"/>
          <p:cNvSpPr/>
          <p:nvPr/>
        </p:nvSpPr>
        <p:spPr>
          <a:xfrm>
            <a:off x="1548628" y="3218688"/>
            <a:ext cx="4417832" cy="713232"/>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6222492" y="3218688"/>
            <a:ext cx="5308092" cy="713232"/>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3931920"/>
            <a:ext cx="11128248" cy="713232"/>
          </a:xfrm>
          <a:prstGeom prst="rect">
            <a:avLst/>
          </a:prstGeom>
          <a:solidFill>
            <a:srgbClr val="F1F2F4"/>
          </a:solidFill>
          <a:ln w="9525">
            <a:solidFill>
              <a:srgbClr val="E0E3E7"/>
            </a:solidFill>
            <a:prstDash val="solid"/>
          </a:ln>
        </p:spPr>
      </p:sp>
      <p:sp>
        <p:nvSpPr>
          <p:cNvPr id="26" name="Text 24"/>
          <p:cNvSpPr/>
          <p:nvPr/>
        </p:nvSpPr>
        <p:spPr>
          <a:xfrm>
            <a:off x="658368" y="3931920"/>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7" name="Text 25"/>
          <p:cNvSpPr/>
          <p:nvPr/>
        </p:nvSpPr>
        <p:spPr>
          <a:xfrm>
            <a:off x="1548628" y="3931920"/>
            <a:ext cx="4417832" cy="713232"/>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6222492" y="3931920"/>
            <a:ext cx="5308092" cy="713232"/>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5029200"/>
            <a:ext cx="11128248" cy="512064"/>
          </a:xfrm>
          <a:prstGeom prst="roundRect">
            <a:avLst>
              <a:gd name="adj" fmla="val 39286"/>
            </a:avLst>
          </a:prstGeom>
          <a:solidFill>
            <a:srgbClr val="FF5C00"/>
          </a:solidFill>
          <a:ln w="12700">
            <a:solidFill>
              <a:srgbClr val="FF5C00"/>
            </a:solidFill>
            <a:prstDash val="solid"/>
          </a:ln>
        </p:spPr>
      </p:sp>
      <p:sp>
        <p:nvSpPr>
          <p:cNvPr id="30" name="Text 28"/>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이번 주에 실제로 겪은 것에서 고른다. 새로 찾지 않는다.</a:t>
            </a:r>
            <a:endParaRPr lang="en-US" sz="1500" dirty="0"/>
          </a:p>
        </p:txBody>
      </p:sp>
      <p:sp>
        <p:nvSpPr>
          <p:cNvPr id="31" name="Shape 29"/>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32" name="Text 30"/>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셋 중 하나에 동그라미 · 그 하나로 오늘 끝까지 간다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사용자는 상황과 함께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9–10쪽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sp>
        <p:nvSpPr>
          <p:cNvPr id="10" name="Shape 8"/>
          <p:cNvSpPr/>
          <p:nvPr/>
        </p:nvSpPr>
        <p:spPr>
          <a:xfrm>
            <a:off x="530352" y="1965960"/>
            <a:ext cx="5349240" cy="2148840"/>
          </a:xfrm>
          <a:prstGeom prst="roundRect">
            <a:avLst>
              <a:gd name="adj" fmla="val 2340"/>
            </a:avLst>
          </a:prstGeom>
          <a:solidFill>
            <a:srgbClr val="FFF1E8"/>
          </a:solidFill>
          <a:ln w="12700">
            <a:solidFill>
              <a:srgbClr val="C24A00"/>
            </a:solidFill>
            <a:prstDash val="solid"/>
          </a:ln>
        </p:spPr>
      </p:sp>
      <p:sp>
        <p:nvSpPr>
          <p:cNvPr id="11" name="Text 9"/>
          <p:cNvSpPr/>
          <p:nvPr/>
        </p:nvSpPr>
        <p:spPr>
          <a:xfrm>
            <a:off x="713232" y="213055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정해지는 것이 없다</a:t>
            </a:r>
            <a:endParaRPr lang="en-US" sz="1050" dirty="0"/>
          </a:p>
        </p:txBody>
      </p:sp>
      <p:sp>
        <p:nvSpPr>
          <p:cNvPr id="12" name="Text 10"/>
          <p:cNvSpPr/>
          <p:nvPr/>
        </p:nvSpPr>
        <p:spPr>
          <a:xfrm>
            <a:off x="713232" y="242316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넓은 문장</a:t>
            </a:r>
            <a:endParaRPr lang="en-US" sz="1650" dirty="0"/>
          </a:p>
        </p:txBody>
      </p:sp>
      <p:sp>
        <p:nvSpPr>
          <p:cNvPr id="13" name="Text 11"/>
          <p:cNvSpPr/>
          <p:nvPr/>
        </p:nvSpPr>
        <p:spPr>
          <a:xfrm>
            <a:off x="713232" y="2916936"/>
            <a:ext cx="4983480" cy="1051560"/>
          </a:xfrm>
          <a:prstGeom prst="rect">
            <a:avLst/>
          </a:prstGeom>
          <a:noFill/>
          <a:ln/>
        </p:spPr>
        <p:txBody>
          <a:bodyPr wrap="square" lIns="0" tIns="0" rIns="0" bIns="0" rtlCol="0" anchor="t"/>
          <a:lstStyle/>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모든 사람</a:t>
            </a: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학생</a:t>
            </a: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바쁜 현대인</a:t>
            </a:r>
            <a:endParaRPr lang="en-US" sz="1240" dirty="0"/>
          </a:p>
        </p:txBody>
      </p:sp>
      <p:sp>
        <p:nvSpPr>
          <p:cNvPr id="14" name="Shape 12"/>
          <p:cNvSpPr/>
          <p:nvPr/>
        </p:nvSpPr>
        <p:spPr>
          <a:xfrm>
            <a:off x="6309360" y="1965960"/>
            <a:ext cx="5349240" cy="2148840"/>
          </a:xfrm>
          <a:prstGeom prst="roundRect">
            <a:avLst>
              <a:gd name="adj" fmla="val 2340"/>
            </a:avLst>
          </a:prstGeom>
          <a:solidFill>
            <a:srgbClr val="E7F2ED"/>
          </a:solidFill>
          <a:ln w="12700">
            <a:solidFill>
              <a:srgbClr val="0E7C86"/>
            </a:solidFill>
            <a:prstDash val="solid"/>
          </a:ln>
        </p:spPr>
      </p:sp>
      <p:sp>
        <p:nvSpPr>
          <p:cNvPr id="15" name="Text 13"/>
          <p:cNvSpPr/>
          <p:nvPr/>
        </p:nvSpPr>
        <p:spPr>
          <a:xfrm>
            <a:off x="6492240" y="213055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언제가 들어 있다</a:t>
            </a:r>
            <a:endParaRPr lang="en-US" sz="1050" dirty="0"/>
          </a:p>
        </p:txBody>
      </p:sp>
      <p:sp>
        <p:nvSpPr>
          <p:cNvPr id="16" name="Text 14"/>
          <p:cNvSpPr/>
          <p:nvPr/>
        </p:nvSpPr>
        <p:spPr>
          <a:xfrm>
            <a:off x="6492240" y="242316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상황이 든 문장</a:t>
            </a:r>
            <a:endParaRPr lang="en-US" sz="1650" dirty="0"/>
          </a:p>
        </p:txBody>
      </p:sp>
      <p:sp>
        <p:nvSpPr>
          <p:cNvPr id="17" name="Text 15"/>
          <p:cNvSpPr/>
          <p:nvPr/>
        </p:nvSpPr>
        <p:spPr>
          <a:xfrm>
            <a:off x="6492240" y="2916936"/>
            <a:ext cx="4983480" cy="1051560"/>
          </a:xfrm>
          <a:prstGeom prst="rect">
            <a:avLst/>
          </a:prstGeom>
          <a:noFill/>
          <a:ln/>
        </p:spPr>
        <p:txBody>
          <a:bodyPr wrap="square" lIns="0" tIns="0" rIns="0" bIns="0" rtlCol="0" anchor="t"/>
          <a:lstStyle/>
          <a:p>
            <a:pPr indent="0" marL="0">
              <a:lnSpc>
                <a:spcPts val="1900"/>
              </a:lnSpc>
              <a:buNone/>
            </a:pPr>
            <a:r>
              <a:rPr lang="en-US" sz="1200" dirty="0">
                <a:solidFill>
                  <a:srgbClr val="34373D"/>
                </a:solidFill>
                <a:latin typeface="IBM Plex Sans KR" pitchFamily="34" charset="0"/>
                <a:ea typeface="IBM Plex Sans KR" pitchFamily="34" charset="-122"/>
                <a:cs typeface="IBM Plex Sans KR" pitchFamily="34" charset="-120"/>
              </a:rPr>
              <a:t>이야기의 첫 문장을 떠올리기 어려울 때 소재가 필요한 학생</a:t>
            </a:r>
            <a:endParaRPr lang="en-US" sz="1200" dirty="0"/>
          </a:p>
          <a:p>
            <a:pPr indent="0" marL="0">
              <a:lnSpc>
                <a:spcPts val="1900"/>
              </a:lnSpc>
              <a:buNone/>
            </a:pPr>
            <a:r>
              <a:rPr lang="en-US" sz="1200" dirty="0">
                <a:solidFill>
                  <a:srgbClr val="34373D"/>
                </a:solidFill>
                <a:latin typeface="IBM Plex Sans KR" pitchFamily="34" charset="0"/>
                <a:ea typeface="IBM Plex Sans KR" pitchFamily="34" charset="-122"/>
                <a:cs typeface="IBM Plex Sans KR" pitchFamily="34" charset="-120"/>
              </a:rPr>
              <a:t>오늘 할 일을 잊지 않도록 한곳에 적고 싶은 학생</a:t>
            </a:r>
            <a:endParaRPr lang="en-US" sz="1200" dirty="0"/>
          </a:p>
        </p:txBody>
      </p:sp>
      <p:sp>
        <p:nvSpPr>
          <p:cNvPr id="18" name="Text 16"/>
          <p:cNvSpPr/>
          <p:nvPr/>
        </p:nvSpPr>
        <p:spPr>
          <a:xfrm>
            <a:off x="530352" y="4572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「언제」가 있어야 화면에 무엇을 놓을지 정해진다</a:t>
            </a:r>
            <a:endParaRPr lang="en-US" sz="1700" dirty="0"/>
          </a:p>
        </p:txBody>
      </p:sp>
      <p:sp>
        <p:nvSpPr>
          <p:cNvPr id="19" name="Shape 17"/>
          <p:cNvSpPr/>
          <p:nvPr/>
        </p:nvSpPr>
        <p:spPr>
          <a:xfrm>
            <a:off x="530352" y="5394960"/>
            <a:ext cx="11128248" cy="512064"/>
          </a:xfrm>
          <a:prstGeom prst="roundRect">
            <a:avLst>
              <a:gd name="adj" fmla="val 39286"/>
            </a:avLst>
          </a:prstGeom>
          <a:solidFill>
            <a:srgbClr val="EAF5FB"/>
          </a:solidFill>
          <a:ln w="12700">
            <a:solidFill>
              <a:srgbClr val="3D8DFF"/>
            </a:solidFill>
            <a:prstDash val="solid"/>
          </a:ln>
        </p:spPr>
      </p:sp>
      <p:sp>
        <p:nvSpPr>
          <p:cNvPr id="20" name="Text 18"/>
          <p:cNvSpPr/>
          <p:nvPr/>
        </p:nvSpPr>
        <p:spPr>
          <a:xfrm>
            <a:off x="731520" y="539496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사용자를 정한다고 친구를 조사하지 않는다. 가상의 사용자로 충분하다.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워크시트 ① 사용자 문장 고치기</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65960"/>
            <a:ext cx="890260" cy="402336"/>
          </a:xfrm>
          <a:prstGeom prst="rect">
            <a:avLst/>
          </a:prstGeom>
          <a:solidFill>
            <a:srgbClr val="1B1D21"/>
          </a:solidFill>
          <a:ln/>
        </p:spPr>
      </p:sp>
      <p:sp>
        <p:nvSpPr>
          <p:cNvPr id="11" name="Text 9"/>
          <p:cNvSpPr/>
          <p:nvPr/>
        </p:nvSpPr>
        <p:spPr>
          <a:xfrm>
            <a:off x="658368" y="196596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2" name="Shape 10"/>
          <p:cNvSpPr/>
          <p:nvPr/>
        </p:nvSpPr>
        <p:spPr>
          <a:xfrm>
            <a:off x="1420612" y="1965960"/>
            <a:ext cx="3783604" cy="402336"/>
          </a:xfrm>
          <a:prstGeom prst="rect">
            <a:avLst/>
          </a:prstGeom>
          <a:solidFill>
            <a:srgbClr val="1B1D21"/>
          </a:solidFill>
          <a:ln/>
        </p:spPr>
      </p:sp>
      <p:sp>
        <p:nvSpPr>
          <p:cNvPr id="13" name="Text 11"/>
          <p:cNvSpPr/>
          <p:nvPr/>
        </p:nvSpPr>
        <p:spPr>
          <a:xfrm>
            <a:off x="1548628" y="1965960"/>
            <a:ext cx="35275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넓은 문장</a:t>
            </a:r>
            <a:endParaRPr lang="en-US" sz="1050" dirty="0"/>
          </a:p>
        </p:txBody>
      </p:sp>
      <p:sp>
        <p:nvSpPr>
          <p:cNvPr id="14" name="Shape 12"/>
          <p:cNvSpPr/>
          <p:nvPr/>
        </p:nvSpPr>
        <p:spPr>
          <a:xfrm>
            <a:off x="5204216" y="1965960"/>
            <a:ext cx="6454384" cy="402336"/>
          </a:xfrm>
          <a:prstGeom prst="rect">
            <a:avLst/>
          </a:prstGeom>
          <a:solidFill>
            <a:srgbClr val="1B1D21"/>
          </a:solidFill>
          <a:ln/>
        </p:spPr>
      </p:sp>
      <p:sp>
        <p:nvSpPr>
          <p:cNvPr id="15" name="Text 13"/>
          <p:cNvSpPr/>
          <p:nvPr/>
        </p:nvSpPr>
        <p:spPr>
          <a:xfrm>
            <a:off x="5332232" y="1965960"/>
            <a:ext cx="619835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상황을 넣어 고쳐 쓴 문장</a:t>
            </a:r>
            <a:endParaRPr lang="en-US" sz="1050" dirty="0"/>
          </a:p>
        </p:txBody>
      </p:sp>
      <p:sp>
        <p:nvSpPr>
          <p:cNvPr id="16" name="Shape 14"/>
          <p:cNvSpPr/>
          <p:nvPr/>
        </p:nvSpPr>
        <p:spPr>
          <a:xfrm>
            <a:off x="530352" y="2368296"/>
            <a:ext cx="11128248" cy="658368"/>
          </a:xfrm>
          <a:prstGeom prst="rect">
            <a:avLst/>
          </a:prstGeom>
          <a:solidFill>
            <a:srgbClr val="F1F2F4"/>
          </a:solidFill>
          <a:ln w="9525">
            <a:solidFill>
              <a:srgbClr val="E0E3E7"/>
            </a:solidFill>
            <a:prstDash val="solid"/>
          </a:ln>
        </p:spPr>
      </p:sp>
      <p:sp>
        <p:nvSpPr>
          <p:cNvPr id="17" name="Text 15"/>
          <p:cNvSpPr/>
          <p:nvPr/>
        </p:nvSpPr>
        <p:spPr>
          <a:xfrm>
            <a:off x="658368" y="2368296"/>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8" name="Text 16"/>
          <p:cNvSpPr/>
          <p:nvPr/>
        </p:nvSpPr>
        <p:spPr>
          <a:xfrm>
            <a:off x="1548628" y="2368296"/>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모든 사람</a:t>
            </a:r>
            <a:endParaRPr lang="en-US" sz="1240" dirty="0"/>
          </a:p>
        </p:txBody>
      </p:sp>
      <p:sp>
        <p:nvSpPr>
          <p:cNvPr id="19" name="Text 17"/>
          <p:cNvSpPr/>
          <p:nvPr/>
        </p:nvSpPr>
        <p:spPr>
          <a:xfrm>
            <a:off x="5332232" y="2368296"/>
            <a:ext cx="6198352" cy="658368"/>
          </a:xfrm>
          <a:prstGeom prst="rect">
            <a:avLst/>
          </a:prstGeom>
          <a:noFill/>
          <a:ln/>
        </p:spPr>
        <p:txBody>
          <a:bodyPr wrap="square" lIns="0" tIns="0" rIns="0" bIns="0" rtlCol="0" anchor="ctr"/>
          <a:lstStyle/>
          <a:p>
            <a:pPr indent="0" marL="0">
              <a:buNone/>
            </a:pPr>
            <a:endParaRPr lang="en-US" sz="1240" dirty="0"/>
          </a:p>
        </p:txBody>
      </p:sp>
      <p:sp>
        <p:nvSpPr>
          <p:cNvPr id="20" name="Shape 18"/>
          <p:cNvSpPr/>
          <p:nvPr/>
        </p:nvSpPr>
        <p:spPr>
          <a:xfrm>
            <a:off x="530352" y="3026664"/>
            <a:ext cx="11128248" cy="658368"/>
          </a:xfrm>
          <a:prstGeom prst="rect">
            <a:avLst/>
          </a:prstGeom>
          <a:solidFill>
            <a:srgbClr val="FFFFFF"/>
          </a:solidFill>
          <a:ln w="9525">
            <a:solidFill>
              <a:srgbClr val="E0E3E7"/>
            </a:solidFill>
            <a:prstDash val="solid"/>
          </a:ln>
        </p:spPr>
      </p:sp>
      <p:sp>
        <p:nvSpPr>
          <p:cNvPr id="21" name="Text 19"/>
          <p:cNvSpPr/>
          <p:nvPr/>
        </p:nvSpPr>
        <p:spPr>
          <a:xfrm>
            <a:off x="658368" y="3026664"/>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2" name="Text 20"/>
          <p:cNvSpPr/>
          <p:nvPr/>
        </p:nvSpPr>
        <p:spPr>
          <a:xfrm>
            <a:off x="1548628" y="3026664"/>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학생</a:t>
            </a:r>
            <a:endParaRPr lang="en-US" sz="1240" dirty="0"/>
          </a:p>
        </p:txBody>
      </p:sp>
      <p:sp>
        <p:nvSpPr>
          <p:cNvPr id="23" name="Text 21"/>
          <p:cNvSpPr/>
          <p:nvPr/>
        </p:nvSpPr>
        <p:spPr>
          <a:xfrm>
            <a:off x="5332232" y="3026664"/>
            <a:ext cx="6198352" cy="658368"/>
          </a:xfrm>
          <a:prstGeom prst="rect">
            <a:avLst/>
          </a:prstGeom>
          <a:noFill/>
          <a:ln/>
        </p:spPr>
        <p:txBody>
          <a:bodyPr wrap="square" lIns="0" tIns="0" rIns="0" bIns="0" rtlCol="0" anchor="ctr"/>
          <a:lstStyle/>
          <a:p>
            <a:pPr indent="0" marL="0">
              <a:buNone/>
            </a:pPr>
            <a:endParaRPr lang="en-US" sz="1240" dirty="0"/>
          </a:p>
        </p:txBody>
      </p:sp>
      <p:sp>
        <p:nvSpPr>
          <p:cNvPr id="24" name="Shape 22"/>
          <p:cNvSpPr/>
          <p:nvPr/>
        </p:nvSpPr>
        <p:spPr>
          <a:xfrm>
            <a:off x="530352" y="3685032"/>
            <a:ext cx="11128248" cy="658368"/>
          </a:xfrm>
          <a:prstGeom prst="rect">
            <a:avLst/>
          </a:prstGeom>
          <a:solidFill>
            <a:srgbClr val="F1F2F4"/>
          </a:solidFill>
          <a:ln w="9525">
            <a:solidFill>
              <a:srgbClr val="E0E3E7"/>
            </a:solidFill>
            <a:prstDash val="solid"/>
          </a:ln>
        </p:spPr>
      </p:sp>
      <p:sp>
        <p:nvSpPr>
          <p:cNvPr id="25" name="Text 23"/>
          <p:cNvSpPr/>
          <p:nvPr/>
        </p:nvSpPr>
        <p:spPr>
          <a:xfrm>
            <a:off x="658368" y="3685032"/>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6" name="Text 24"/>
          <p:cNvSpPr/>
          <p:nvPr/>
        </p:nvSpPr>
        <p:spPr>
          <a:xfrm>
            <a:off x="1548628" y="3685032"/>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바쁜 현대인</a:t>
            </a:r>
            <a:endParaRPr lang="en-US" sz="1240" dirty="0"/>
          </a:p>
        </p:txBody>
      </p:sp>
      <p:sp>
        <p:nvSpPr>
          <p:cNvPr id="27" name="Text 25"/>
          <p:cNvSpPr/>
          <p:nvPr/>
        </p:nvSpPr>
        <p:spPr>
          <a:xfrm>
            <a:off x="5332232" y="3685032"/>
            <a:ext cx="6198352" cy="658368"/>
          </a:xfrm>
          <a:prstGeom prst="rect">
            <a:avLst/>
          </a:prstGeom>
          <a:noFill/>
          <a:ln/>
        </p:spPr>
        <p:txBody>
          <a:bodyPr wrap="square" lIns="0" tIns="0" rIns="0" bIns="0" rtlCol="0" anchor="ctr"/>
          <a:lstStyle/>
          <a:p>
            <a:pPr indent="0" marL="0">
              <a:buNone/>
            </a:pPr>
            <a:endParaRPr lang="en-US" sz="1240" dirty="0"/>
          </a:p>
        </p:txBody>
      </p:sp>
      <p:sp>
        <p:nvSpPr>
          <p:cNvPr id="28" name="Shape 26"/>
          <p:cNvSpPr/>
          <p:nvPr/>
        </p:nvSpPr>
        <p:spPr>
          <a:xfrm>
            <a:off x="530352" y="4343400"/>
            <a:ext cx="11128248" cy="658368"/>
          </a:xfrm>
          <a:prstGeom prst="rect">
            <a:avLst/>
          </a:prstGeom>
          <a:solidFill>
            <a:srgbClr val="FFFFFF"/>
          </a:solidFill>
          <a:ln w="9525">
            <a:solidFill>
              <a:srgbClr val="E0E3E7"/>
            </a:solidFill>
            <a:prstDash val="solid"/>
          </a:ln>
        </p:spPr>
      </p:sp>
      <p:sp>
        <p:nvSpPr>
          <p:cNvPr id="29" name="Text 27"/>
          <p:cNvSpPr/>
          <p:nvPr/>
        </p:nvSpPr>
        <p:spPr>
          <a:xfrm>
            <a:off x="658368" y="4343400"/>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0" name="Text 28"/>
          <p:cNvSpPr/>
          <p:nvPr/>
        </p:nvSpPr>
        <p:spPr>
          <a:xfrm>
            <a:off x="1548628" y="4343400"/>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 내 서비스의 사용자</a:t>
            </a:r>
            <a:endParaRPr lang="en-US" sz="1240" dirty="0"/>
          </a:p>
        </p:txBody>
      </p:sp>
      <p:sp>
        <p:nvSpPr>
          <p:cNvPr id="31" name="Text 29"/>
          <p:cNvSpPr/>
          <p:nvPr/>
        </p:nvSpPr>
        <p:spPr>
          <a:xfrm>
            <a:off x="5332232" y="4343400"/>
            <a:ext cx="6198352" cy="658368"/>
          </a:xfrm>
          <a:prstGeom prst="rect">
            <a:avLst/>
          </a:prstGeom>
          <a:noFill/>
          <a:ln/>
        </p:spPr>
        <p:txBody>
          <a:bodyPr wrap="square" lIns="0" tIns="0" rIns="0" bIns="0" rtlCol="0" anchor="ctr"/>
          <a:lstStyle/>
          <a:p>
            <a:pPr indent="0" marL="0">
              <a:buNone/>
            </a:pPr>
            <a:endParaRPr lang="en-US" sz="1240" dirty="0"/>
          </a:p>
        </p:txBody>
      </p:sp>
      <p:sp>
        <p:nvSpPr>
          <p:cNvPr id="32" name="Shape 30"/>
          <p:cNvSpPr/>
          <p:nvPr/>
        </p:nvSpPr>
        <p:spPr>
          <a:xfrm>
            <a:off x="530352" y="5120640"/>
            <a:ext cx="11128248" cy="512064"/>
          </a:xfrm>
          <a:prstGeom prst="roundRect">
            <a:avLst>
              <a:gd name="adj" fmla="val 39286"/>
            </a:avLst>
          </a:prstGeom>
          <a:solidFill>
            <a:srgbClr val="FF5C00"/>
          </a:solidFill>
          <a:ln w="12700">
            <a:solidFill>
              <a:srgbClr val="FF5C00"/>
            </a:solidFill>
            <a:prstDash val="solid"/>
          </a:ln>
        </p:spPr>
      </p:sp>
      <p:sp>
        <p:nvSpPr>
          <p:cNvPr id="33" name="Text 31"/>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고친 문장 셋에 모두 「언제」가 들어 있어야 한다</a:t>
            </a:r>
            <a:endParaRPr lang="en-US" sz="1500" dirty="0"/>
          </a:p>
        </p:txBody>
      </p:sp>
      <p:sp>
        <p:nvSpPr>
          <p:cNvPr id="34" name="Shape 32"/>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35" name="Text 3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네 번째 줄이 오늘 두 번째로 적는 내 것이다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목적은 한 문장으로 정한다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12–13쪽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sp>
        <p:nvSpPr>
          <p:cNvPr id="10" name="Shape 8"/>
          <p:cNvSpPr/>
          <p:nvPr/>
        </p:nvSpPr>
        <p:spPr>
          <a:xfrm>
            <a:off x="530352" y="2011680"/>
            <a:ext cx="11128248" cy="1051560"/>
          </a:xfrm>
          <a:prstGeom prst="roundRect">
            <a:avLst>
              <a:gd name="adj" fmla="val 4348"/>
            </a:avLst>
          </a:prstGeom>
          <a:solidFill>
            <a:srgbClr val="24272C"/>
          </a:solidFill>
          <a:ln/>
        </p:spPr>
      </p:sp>
      <p:sp>
        <p:nvSpPr>
          <p:cNvPr id="11" name="Text 9"/>
          <p:cNvSpPr/>
          <p:nvPr/>
        </p:nvSpPr>
        <p:spPr>
          <a:xfrm>
            <a:off x="768096" y="213969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그대로 쓰는 틀</a:t>
            </a:r>
            <a:endParaRPr lang="en-US" sz="950" dirty="0"/>
          </a:p>
        </p:txBody>
      </p:sp>
      <p:sp>
        <p:nvSpPr>
          <p:cNvPr id="12" name="Text 10"/>
          <p:cNvSpPr/>
          <p:nvPr/>
        </p:nvSpPr>
        <p:spPr>
          <a:xfrm>
            <a:off x="768096" y="2414016"/>
            <a:ext cx="10652760" cy="502920"/>
          </a:xfrm>
          <a:prstGeom prst="rect">
            <a:avLst/>
          </a:prstGeom>
          <a:noFill/>
          <a:ln/>
        </p:spPr>
        <p:txBody>
          <a:bodyPr wrap="square" lIns="0" tIns="0" rIns="0" bIns="0" rtlCol="0" anchor="t"/>
          <a:lstStyle/>
          <a:p>
            <a:pPr indent="0" marL="0">
              <a:lnSpc>
                <a:spcPts val="2890"/>
              </a:lnSpc>
              <a:buNone/>
            </a:pPr>
            <a:r>
              <a:rPr lang="en-US" sz="1700" b="1" dirty="0">
                <a:solidFill>
                  <a:srgbClr val="E8EAED"/>
                </a:solidFill>
                <a:latin typeface="IBM Plex Mono" pitchFamily="34" charset="0"/>
                <a:ea typeface="IBM Plex Mono" pitchFamily="34" charset="-122"/>
                <a:cs typeface="IBM Plex Mono" pitchFamily="34" charset="-120"/>
              </a:rPr>
              <a:t>나는 ______한 사용자가 ______할 수 있도록 돕는 ______을 만든다.</a:t>
            </a:r>
            <a:endParaRPr lang="en-US" sz="1700" dirty="0"/>
          </a:p>
        </p:txBody>
      </p:sp>
      <p:sp>
        <p:nvSpPr>
          <p:cNvPr id="13" name="Shape 11"/>
          <p:cNvSpPr/>
          <p:nvPr/>
        </p:nvSpPr>
        <p:spPr>
          <a:xfrm>
            <a:off x="530352" y="3246120"/>
            <a:ext cx="11128248" cy="1463040"/>
          </a:xfrm>
          <a:prstGeom prst="roundRect">
            <a:avLst>
              <a:gd name="adj" fmla="val 3125"/>
            </a:avLst>
          </a:prstGeom>
          <a:solidFill>
            <a:srgbClr val="24272C"/>
          </a:solidFill>
          <a:ln/>
        </p:spPr>
      </p:sp>
      <p:sp>
        <p:nvSpPr>
          <p:cNvPr id="14" name="Text 12"/>
          <p:cNvSpPr/>
          <p:nvPr/>
        </p:nvSpPr>
        <p:spPr>
          <a:xfrm>
            <a:off x="768096" y="337413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채워 넣은 예</a:t>
            </a:r>
            <a:endParaRPr lang="en-US" sz="950" dirty="0"/>
          </a:p>
        </p:txBody>
      </p:sp>
      <p:sp>
        <p:nvSpPr>
          <p:cNvPr id="15" name="Text 13"/>
          <p:cNvSpPr/>
          <p:nvPr/>
        </p:nvSpPr>
        <p:spPr>
          <a:xfrm>
            <a:off x="768096" y="3648456"/>
            <a:ext cx="10652760" cy="914400"/>
          </a:xfrm>
          <a:prstGeom prst="rect">
            <a:avLst/>
          </a:prstGeom>
          <a:noFill/>
          <a:ln/>
        </p:spPr>
        <p:txBody>
          <a:bodyPr wrap="square" lIns="0" tIns="0" rIns="0" bIns="0" rtlCol="0" anchor="t"/>
          <a:lstStyle/>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나는 이야기 시작이 어려운 학생이</a:t>
            </a:r>
            <a:endParaRPr lang="en-US" sz="1600" dirty="0"/>
          </a:p>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     단어를 조합해 이야기 소재를 얻도록 돕는</a:t>
            </a:r>
            <a:endParaRPr lang="en-US" sz="1600" dirty="0"/>
          </a:p>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     웹 도구를 만든다.</a:t>
            </a:r>
            <a:endParaRPr lang="en-US" sz="1600" dirty="0"/>
          </a:p>
        </p:txBody>
      </p:sp>
      <p:sp>
        <p:nvSpPr>
          <p:cNvPr id="16" name="Shape 14"/>
          <p:cNvSpPr/>
          <p:nvPr/>
        </p:nvSpPr>
        <p:spPr>
          <a:xfrm>
            <a:off x="530352" y="4937760"/>
            <a:ext cx="11128248" cy="512064"/>
          </a:xfrm>
          <a:prstGeom prst="roundRect">
            <a:avLst>
              <a:gd name="adj" fmla="val 39286"/>
            </a:avLst>
          </a:prstGeom>
          <a:solidFill>
            <a:srgbClr val="EAF5FB"/>
          </a:solidFill>
          <a:ln w="12700">
            <a:solidFill>
              <a:srgbClr val="3D8DFF"/>
            </a:solidFill>
            <a:prstDash val="solid"/>
          </a:ln>
        </p:spPr>
      </p:sp>
      <p:sp>
        <p:nvSpPr>
          <p:cNvPr id="17" name="Text 15"/>
          <p:cNvSpPr/>
          <p:nvPr/>
        </p:nvSpPr>
        <p:spPr>
          <a:xfrm>
            <a:off x="731520" y="493776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세 칸이 각각 사용자 · 하는 일과 얻는 것 · 내가 만드는 것</a:t>
            </a:r>
            <a:endParaRPr lang="en-US" sz="1500" dirty="0"/>
          </a:p>
        </p:txBody>
      </p:sp>
      <p:sp>
        <p:nvSpPr>
          <p:cNvPr id="18" name="Shape 16"/>
          <p:cNvSpPr/>
          <p:nvPr/>
        </p:nvSpPr>
        <p:spPr>
          <a:xfrm>
            <a:off x="530352" y="5669280"/>
            <a:ext cx="11128248" cy="512064"/>
          </a:xfrm>
          <a:prstGeom prst="roundRect">
            <a:avLst>
              <a:gd name="adj" fmla="val 39286"/>
            </a:avLst>
          </a:prstGeom>
          <a:solidFill>
            <a:srgbClr val="FF5C00"/>
          </a:solidFill>
          <a:ln w="12700">
            <a:solidFill>
              <a:srgbClr val="FF5C00"/>
            </a:solidFill>
            <a:prstDash val="solid"/>
          </a:ln>
        </p:spPr>
      </p:sp>
      <p:sp>
        <p:nvSpPr>
          <p:cNvPr id="19" name="Text 17"/>
          <p:cNvSpPr/>
          <p:nvPr/>
        </p:nvSpPr>
        <p:spPr>
          <a:xfrm>
            <a:off x="731520" y="566928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「편리한」·「재미있는」·「혁신적인」은 쓰지 않는다. 다 만든 뒤 확인할 방법이 없다.</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② 목적 한 문장</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14쪽의 세 칸을 채운다</a:t>
            </a:r>
            <a:endParaRPr lang="en-US" sz="1450" dirty="0"/>
          </a:p>
        </p:txBody>
      </p:sp>
      <p:sp>
        <p:nvSpPr>
          <p:cNvPr id="11" name="Text 9"/>
          <p:cNvSpPr/>
          <p:nvPr/>
        </p:nvSpPr>
        <p:spPr>
          <a:xfrm>
            <a:off x="1737360" y="2148840"/>
            <a:ext cx="8686800" cy="274320"/>
          </a:xfrm>
          <a:prstGeom prst="rect">
            <a:avLst/>
          </a:prstGeom>
          <a:noFill/>
          <a:ln/>
        </p:spPr>
        <p:txBody>
          <a:bodyPr wrap="square" lIns="0" tIns="0" rIns="0" bIns="0" rtlCol="0" anchor="ctr"/>
          <a:lstStyle/>
          <a:p>
            <a:pPr indent="0" marL="0">
              <a:buNone/>
            </a:pPr>
            <a:r>
              <a:rPr lang="en-US" sz="1200" b="1" spc="40" kern="0" dirty="0">
                <a:solidFill>
                  <a:srgbClr val="FF5C00"/>
                </a:solidFill>
                <a:latin typeface="IBM Plex Sans KR" pitchFamily="34" charset="0"/>
                <a:ea typeface="IBM Plex Sans KR" pitchFamily="34" charset="-122"/>
                <a:cs typeface="IBM Plex Sans KR" pitchFamily="34" charset="-120"/>
              </a:rPr>
              <a:t>나는</a:t>
            </a:r>
            <a:endParaRPr lang="en-US" sz="1200" dirty="0"/>
          </a:p>
        </p:txBody>
      </p:sp>
      <p:sp>
        <p:nvSpPr>
          <p:cNvPr id="12" name="Shape 10"/>
          <p:cNvSpPr/>
          <p:nvPr/>
        </p:nvSpPr>
        <p:spPr>
          <a:xfrm>
            <a:off x="1737360" y="2496312"/>
            <a:ext cx="8686800" cy="713232"/>
          </a:xfrm>
          <a:prstGeom prst="roundRect">
            <a:avLst>
              <a:gd name="adj" fmla="val 6410"/>
            </a:avLst>
          </a:prstGeom>
          <a:solidFill>
            <a:srgbClr val="FFFFFF"/>
          </a:solidFill>
          <a:ln w="12700">
            <a:solidFill>
              <a:srgbClr val="E0E3E7"/>
            </a:solidFill>
            <a:prstDash val="solid"/>
          </a:ln>
        </p:spPr>
      </p:sp>
      <p:sp>
        <p:nvSpPr>
          <p:cNvPr id="13" name="Text 11"/>
          <p:cNvSpPr/>
          <p:nvPr/>
        </p:nvSpPr>
        <p:spPr>
          <a:xfrm>
            <a:off x="1901952" y="2496312"/>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한 사용자가</a:t>
            </a:r>
            <a:endParaRPr lang="en-US" sz="1300" dirty="0"/>
          </a:p>
        </p:txBody>
      </p:sp>
      <p:sp>
        <p:nvSpPr>
          <p:cNvPr id="14" name="Shape 12"/>
          <p:cNvSpPr/>
          <p:nvPr/>
        </p:nvSpPr>
        <p:spPr>
          <a:xfrm>
            <a:off x="1737360" y="3337560"/>
            <a:ext cx="8686800" cy="713232"/>
          </a:xfrm>
          <a:prstGeom prst="roundRect">
            <a:avLst>
              <a:gd name="adj" fmla="val 6410"/>
            </a:avLst>
          </a:prstGeom>
          <a:solidFill>
            <a:srgbClr val="FFFFFF"/>
          </a:solidFill>
          <a:ln w="12700">
            <a:solidFill>
              <a:srgbClr val="E0E3E7"/>
            </a:solidFill>
            <a:prstDash val="solid"/>
          </a:ln>
        </p:spPr>
      </p:sp>
      <p:sp>
        <p:nvSpPr>
          <p:cNvPr id="15" name="Text 13"/>
          <p:cNvSpPr/>
          <p:nvPr/>
        </p:nvSpPr>
        <p:spPr>
          <a:xfrm>
            <a:off x="1901952" y="3337560"/>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할 수 있도록 돕는</a:t>
            </a:r>
            <a:endParaRPr lang="en-US" sz="1300" dirty="0"/>
          </a:p>
        </p:txBody>
      </p:sp>
      <p:sp>
        <p:nvSpPr>
          <p:cNvPr id="16" name="Shape 14"/>
          <p:cNvSpPr/>
          <p:nvPr/>
        </p:nvSpPr>
        <p:spPr>
          <a:xfrm>
            <a:off x="1737360" y="4178808"/>
            <a:ext cx="8686800" cy="713232"/>
          </a:xfrm>
          <a:prstGeom prst="roundRect">
            <a:avLst>
              <a:gd name="adj" fmla="val 6410"/>
            </a:avLst>
          </a:prstGeom>
          <a:solidFill>
            <a:srgbClr val="FFFFFF"/>
          </a:solidFill>
          <a:ln w="12700">
            <a:solidFill>
              <a:srgbClr val="E0E3E7"/>
            </a:solidFill>
            <a:prstDash val="solid"/>
          </a:ln>
        </p:spPr>
      </p:sp>
      <p:sp>
        <p:nvSpPr>
          <p:cNvPr id="17" name="Text 15"/>
          <p:cNvSpPr/>
          <p:nvPr/>
        </p:nvSpPr>
        <p:spPr>
          <a:xfrm>
            <a:off x="1901952" y="4178808"/>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을 만든다.</a:t>
            </a:r>
            <a:endParaRPr lang="en-US" sz="1300" dirty="0"/>
          </a:p>
        </p:txBody>
      </p:sp>
      <p:sp>
        <p:nvSpPr>
          <p:cNvPr id="18" name="Shape 16"/>
          <p:cNvSpPr/>
          <p:nvPr/>
        </p:nvSpPr>
        <p:spPr>
          <a:xfrm>
            <a:off x="530352" y="5074920"/>
            <a:ext cx="11128248" cy="512064"/>
          </a:xfrm>
          <a:prstGeom prst="roundRect">
            <a:avLst>
              <a:gd name="adj" fmla="val 39286"/>
            </a:avLst>
          </a:prstGeom>
          <a:solidFill>
            <a:srgbClr val="EAF5FB"/>
          </a:solidFill>
          <a:ln w="12700">
            <a:solidFill>
              <a:srgbClr val="3D8DFF"/>
            </a:solidFill>
            <a:prstDash val="solid"/>
          </a:ln>
        </p:spPr>
      </p:sp>
      <p:sp>
        <p:nvSpPr>
          <p:cNvPr id="19" name="Text 17"/>
          <p:cNvSpPr/>
          <p:nvPr/>
        </p:nvSpPr>
        <p:spPr>
          <a:xfrm>
            <a:off x="731520" y="507492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첫째 칸에는 워크시트 ①의 네 번째 줄을 그대로 옮긴다</a:t>
            </a:r>
            <a:endParaRPr lang="en-US" sz="1500" dirty="0"/>
          </a:p>
        </p:txBody>
      </p:sp>
      <p:sp>
        <p:nvSpPr>
          <p:cNvPr id="20" name="Shape 18"/>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21" name="Text 19"/>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다 적었으면 소리 내어 한 번 읽어 본다. 말이 안 되면 아직이다.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대표 사용 흐름은 하나만</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15–16쪽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2103120"/>
            <a:ext cx="2615184" cy="1371600"/>
          </a:xfrm>
          <a:prstGeom prst="roundRect">
            <a:avLst>
              <a:gd name="adj" fmla="val 3667"/>
            </a:avLst>
          </a:prstGeom>
          <a:solidFill>
            <a:srgbClr val="F1F2F4"/>
          </a:solidFill>
          <a:ln w="12700">
            <a:solidFill>
              <a:srgbClr val="E0E3E7"/>
            </a:solidFill>
            <a:prstDash val="solid"/>
          </a:ln>
        </p:spPr>
      </p:sp>
      <p:sp>
        <p:nvSpPr>
          <p:cNvPr id="11" name="Text 9"/>
          <p:cNvSpPr/>
          <p:nvPr/>
        </p:nvSpPr>
        <p:spPr>
          <a:xfrm>
            <a:off x="71323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①</a:t>
            </a:r>
            <a:endParaRPr lang="en-US" sz="1800" dirty="0"/>
          </a:p>
        </p:txBody>
      </p:sp>
      <p:sp>
        <p:nvSpPr>
          <p:cNvPr id="12" name="Text 10"/>
          <p:cNvSpPr/>
          <p:nvPr/>
        </p:nvSpPr>
        <p:spPr>
          <a:xfrm>
            <a:off x="71323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서비스를 연다</a:t>
            </a:r>
            <a:endParaRPr lang="en-US" sz="1300" dirty="0"/>
          </a:p>
        </p:txBody>
      </p:sp>
      <p:sp>
        <p:nvSpPr>
          <p:cNvPr id="13" name="Shape 11"/>
          <p:cNvSpPr/>
          <p:nvPr/>
        </p:nvSpPr>
        <p:spPr>
          <a:xfrm>
            <a:off x="3364992" y="2103120"/>
            <a:ext cx="2615184" cy="1371600"/>
          </a:xfrm>
          <a:prstGeom prst="roundRect">
            <a:avLst>
              <a:gd name="adj" fmla="val 3667"/>
            </a:avLst>
          </a:prstGeom>
          <a:solidFill>
            <a:srgbClr val="F1F2F4"/>
          </a:solidFill>
          <a:ln w="12700">
            <a:solidFill>
              <a:srgbClr val="E0E3E7"/>
            </a:solidFill>
            <a:prstDash val="solid"/>
          </a:ln>
        </p:spPr>
      </p:sp>
      <p:sp>
        <p:nvSpPr>
          <p:cNvPr id="14" name="Text 12"/>
          <p:cNvSpPr/>
          <p:nvPr/>
        </p:nvSpPr>
        <p:spPr>
          <a:xfrm>
            <a:off x="354787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②</a:t>
            </a:r>
            <a:endParaRPr lang="en-US" sz="1800" dirty="0"/>
          </a:p>
        </p:txBody>
      </p:sp>
      <p:sp>
        <p:nvSpPr>
          <p:cNvPr id="15" name="Text 13"/>
          <p:cNvSpPr/>
          <p:nvPr/>
        </p:nvSpPr>
        <p:spPr>
          <a:xfrm>
            <a:off x="354787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값을 입력하거나 고른다</a:t>
            </a:r>
            <a:endParaRPr lang="en-US" sz="1300" dirty="0"/>
          </a:p>
        </p:txBody>
      </p:sp>
      <p:sp>
        <p:nvSpPr>
          <p:cNvPr id="16" name="Shape 14"/>
          <p:cNvSpPr/>
          <p:nvPr/>
        </p:nvSpPr>
        <p:spPr>
          <a:xfrm>
            <a:off x="6199632" y="2103120"/>
            <a:ext cx="2615184" cy="1371600"/>
          </a:xfrm>
          <a:prstGeom prst="roundRect">
            <a:avLst>
              <a:gd name="adj" fmla="val 3667"/>
            </a:avLst>
          </a:prstGeom>
          <a:solidFill>
            <a:srgbClr val="E7F2ED"/>
          </a:solidFill>
          <a:ln w="12700">
            <a:solidFill>
              <a:srgbClr val="0E7C86"/>
            </a:solidFill>
            <a:prstDash val="solid"/>
          </a:ln>
        </p:spPr>
      </p:sp>
      <p:sp>
        <p:nvSpPr>
          <p:cNvPr id="17" name="Text 15"/>
          <p:cNvSpPr/>
          <p:nvPr/>
        </p:nvSpPr>
        <p:spPr>
          <a:xfrm>
            <a:off x="6382512" y="2267712"/>
            <a:ext cx="2249424"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③</a:t>
            </a:r>
            <a:endParaRPr lang="en-US" sz="1800" dirty="0"/>
          </a:p>
        </p:txBody>
      </p:sp>
      <p:sp>
        <p:nvSpPr>
          <p:cNvPr id="18" name="Text 16"/>
          <p:cNvSpPr/>
          <p:nvPr/>
        </p:nvSpPr>
        <p:spPr>
          <a:xfrm>
            <a:off x="638251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핵심 기능을 실행한다</a:t>
            </a:r>
            <a:endParaRPr lang="en-US" sz="1300" dirty="0"/>
          </a:p>
        </p:txBody>
      </p:sp>
      <p:sp>
        <p:nvSpPr>
          <p:cNvPr id="19" name="Shape 17"/>
          <p:cNvSpPr/>
          <p:nvPr/>
        </p:nvSpPr>
        <p:spPr>
          <a:xfrm>
            <a:off x="9034272" y="2103120"/>
            <a:ext cx="2615184" cy="1371600"/>
          </a:xfrm>
          <a:prstGeom prst="roundRect">
            <a:avLst>
              <a:gd name="adj" fmla="val 3667"/>
            </a:avLst>
          </a:prstGeom>
          <a:solidFill>
            <a:srgbClr val="F1F2F4"/>
          </a:solidFill>
          <a:ln w="12700">
            <a:solidFill>
              <a:srgbClr val="E0E3E7"/>
            </a:solidFill>
            <a:prstDash val="solid"/>
          </a:ln>
        </p:spPr>
      </p:sp>
      <p:sp>
        <p:nvSpPr>
          <p:cNvPr id="20" name="Text 18"/>
          <p:cNvSpPr/>
          <p:nvPr/>
        </p:nvSpPr>
        <p:spPr>
          <a:xfrm>
            <a:off x="921715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④</a:t>
            </a:r>
            <a:endParaRPr lang="en-US" sz="1800" dirty="0"/>
          </a:p>
        </p:txBody>
      </p:sp>
      <p:sp>
        <p:nvSpPr>
          <p:cNvPr id="21" name="Text 19"/>
          <p:cNvSpPr/>
          <p:nvPr/>
        </p:nvSpPr>
        <p:spPr>
          <a:xfrm>
            <a:off x="921715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결과를 확인한다</a:t>
            </a:r>
            <a:endParaRPr lang="en-US" sz="1300" dirty="0"/>
          </a:p>
        </p:txBody>
      </p:sp>
      <p:sp>
        <p:nvSpPr>
          <p:cNvPr id="22" name="Shape 20"/>
          <p:cNvSpPr/>
          <p:nvPr/>
        </p:nvSpPr>
        <p:spPr>
          <a:xfrm>
            <a:off x="530352" y="3767328"/>
            <a:ext cx="1112825" cy="402336"/>
          </a:xfrm>
          <a:prstGeom prst="rect">
            <a:avLst/>
          </a:prstGeom>
          <a:solidFill>
            <a:srgbClr val="1B1D21"/>
          </a:solidFill>
          <a:ln/>
        </p:spPr>
      </p:sp>
      <p:sp>
        <p:nvSpPr>
          <p:cNvPr id="23" name="Text 21"/>
          <p:cNvSpPr/>
          <p:nvPr/>
        </p:nvSpPr>
        <p:spPr>
          <a:xfrm>
            <a:off x="658368" y="3767328"/>
            <a:ext cx="85679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단계</a:t>
            </a:r>
            <a:endParaRPr lang="en-US" sz="1050" dirty="0"/>
          </a:p>
        </p:txBody>
      </p:sp>
      <p:sp>
        <p:nvSpPr>
          <p:cNvPr id="24" name="Shape 22"/>
          <p:cNvSpPr/>
          <p:nvPr/>
        </p:nvSpPr>
        <p:spPr>
          <a:xfrm>
            <a:off x="1643177" y="3767328"/>
            <a:ext cx="4896429" cy="402336"/>
          </a:xfrm>
          <a:prstGeom prst="rect">
            <a:avLst/>
          </a:prstGeom>
          <a:solidFill>
            <a:srgbClr val="1B1D21"/>
          </a:solidFill>
          <a:ln/>
        </p:spPr>
      </p:sp>
      <p:sp>
        <p:nvSpPr>
          <p:cNvPr id="25" name="Text 23"/>
          <p:cNvSpPr/>
          <p:nvPr/>
        </p:nvSpPr>
        <p:spPr>
          <a:xfrm>
            <a:off x="1771193" y="3767328"/>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하는 일</a:t>
            </a:r>
            <a:endParaRPr lang="en-US" sz="1050" dirty="0"/>
          </a:p>
        </p:txBody>
      </p:sp>
      <p:sp>
        <p:nvSpPr>
          <p:cNvPr id="26" name="Shape 24"/>
          <p:cNvSpPr/>
          <p:nvPr/>
        </p:nvSpPr>
        <p:spPr>
          <a:xfrm>
            <a:off x="6539606" y="3767328"/>
            <a:ext cx="5118994" cy="402336"/>
          </a:xfrm>
          <a:prstGeom prst="rect">
            <a:avLst/>
          </a:prstGeom>
          <a:solidFill>
            <a:srgbClr val="1B1D21"/>
          </a:solidFill>
          <a:ln/>
        </p:spPr>
      </p:sp>
      <p:sp>
        <p:nvSpPr>
          <p:cNvPr id="27" name="Text 25"/>
          <p:cNvSpPr/>
          <p:nvPr/>
        </p:nvSpPr>
        <p:spPr>
          <a:xfrm>
            <a:off x="6667622" y="3767328"/>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화면에서 확인하는 결과</a:t>
            </a:r>
            <a:endParaRPr lang="en-US" sz="1050" dirty="0"/>
          </a:p>
        </p:txBody>
      </p:sp>
      <p:sp>
        <p:nvSpPr>
          <p:cNvPr id="28" name="Shape 26"/>
          <p:cNvSpPr/>
          <p:nvPr/>
        </p:nvSpPr>
        <p:spPr>
          <a:xfrm>
            <a:off x="530352" y="4169664"/>
            <a:ext cx="11128248" cy="420624"/>
          </a:xfrm>
          <a:prstGeom prst="rect">
            <a:avLst/>
          </a:prstGeom>
          <a:solidFill>
            <a:srgbClr val="F1F2F4"/>
          </a:solidFill>
          <a:ln w="9525">
            <a:solidFill>
              <a:srgbClr val="E0E3E7"/>
            </a:solidFill>
            <a:prstDash val="solid"/>
          </a:ln>
        </p:spPr>
      </p:sp>
      <p:sp>
        <p:nvSpPr>
          <p:cNvPr id="29" name="Text 27"/>
          <p:cNvSpPr/>
          <p:nvPr/>
        </p:nvSpPr>
        <p:spPr>
          <a:xfrm>
            <a:off x="658368" y="4169664"/>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30" name="Text 28"/>
          <p:cNvSpPr/>
          <p:nvPr/>
        </p:nvSpPr>
        <p:spPr>
          <a:xfrm>
            <a:off x="1771193" y="4169664"/>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서비스를 연다</a:t>
            </a:r>
            <a:endParaRPr lang="en-US" sz="1240" dirty="0"/>
          </a:p>
        </p:txBody>
      </p:sp>
      <p:sp>
        <p:nvSpPr>
          <p:cNvPr id="31" name="Text 29"/>
          <p:cNvSpPr/>
          <p:nvPr/>
        </p:nvSpPr>
        <p:spPr>
          <a:xfrm>
            <a:off x="6667622" y="4169664"/>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하는 곳인지 한 줄 안내가 보인다</a:t>
            </a:r>
            <a:endParaRPr lang="en-US" sz="1240" dirty="0"/>
          </a:p>
        </p:txBody>
      </p:sp>
      <p:sp>
        <p:nvSpPr>
          <p:cNvPr id="32" name="Shape 30"/>
          <p:cNvSpPr/>
          <p:nvPr/>
        </p:nvSpPr>
        <p:spPr>
          <a:xfrm>
            <a:off x="530352" y="4590288"/>
            <a:ext cx="11128248" cy="420624"/>
          </a:xfrm>
          <a:prstGeom prst="rect">
            <a:avLst/>
          </a:prstGeom>
          <a:solidFill>
            <a:srgbClr val="FFFFFF"/>
          </a:solidFill>
          <a:ln w="9525">
            <a:solidFill>
              <a:srgbClr val="E0E3E7"/>
            </a:solidFill>
            <a:prstDash val="solid"/>
          </a:ln>
        </p:spPr>
      </p:sp>
      <p:sp>
        <p:nvSpPr>
          <p:cNvPr id="33" name="Text 31"/>
          <p:cNvSpPr/>
          <p:nvPr/>
        </p:nvSpPr>
        <p:spPr>
          <a:xfrm>
            <a:off x="658368" y="4590288"/>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34" name="Text 32"/>
          <p:cNvSpPr/>
          <p:nvPr/>
        </p:nvSpPr>
        <p:spPr>
          <a:xfrm>
            <a:off x="1771193" y="4590288"/>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단어 세 개를 입력한다</a:t>
            </a:r>
            <a:endParaRPr lang="en-US" sz="1240" dirty="0"/>
          </a:p>
        </p:txBody>
      </p:sp>
      <p:sp>
        <p:nvSpPr>
          <p:cNvPr id="35" name="Text 33"/>
          <p:cNvSpPr/>
          <p:nvPr/>
        </p:nvSpPr>
        <p:spPr>
          <a:xfrm>
            <a:off x="6667622" y="4590288"/>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입력한 단어가 칸에 보인다</a:t>
            </a:r>
            <a:endParaRPr lang="en-US" sz="1240" dirty="0"/>
          </a:p>
        </p:txBody>
      </p:sp>
      <p:sp>
        <p:nvSpPr>
          <p:cNvPr id="36" name="Shape 34"/>
          <p:cNvSpPr/>
          <p:nvPr/>
        </p:nvSpPr>
        <p:spPr>
          <a:xfrm>
            <a:off x="530352" y="5010912"/>
            <a:ext cx="11128248" cy="420624"/>
          </a:xfrm>
          <a:prstGeom prst="rect">
            <a:avLst/>
          </a:prstGeom>
          <a:solidFill>
            <a:srgbClr val="F1F2F4"/>
          </a:solidFill>
          <a:ln w="9525">
            <a:solidFill>
              <a:srgbClr val="E0E3E7"/>
            </a:solidFill>
            <a:prstDash val="solid"/>
          </a:ln>
        </p:spPr>
      </p:sp>
      <p:sp>
        <p:nvSpPr>
          <p:cNvPr id="37" name="Text 35"/>
          <p:cNvSpPr/>
          <p:nvPr/>
        </p:nvSpPr>
        <p:spPr>
          <a:xfrm>
            <a:off x="658368" y="5010912"/>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38" name="Text 36"/>
          <p:cNvSpPr/>
          <p:nvPr/>
        </p:nvSpPr>
        <p:spPr>
          <a:xfrm>
            <a:off x="1771193" y="5010912"/>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‘만들기’ 버튼을 누른다</a:t>
            </a:r>
            <a:endParaRPr lang="en-US" sz="1240" dirty="0"/>
          </a:p>
        </p:txBody>
      </p:sp>
      <p:sp>
        <p:nvSpPr>
          <p:cNvPr id="39" name="Text 37"/>
          <p:cNvSpPr/>
          <p:nvPr/>
        </p:nvSpPr>
        <p:spPr>
          <a:xfrm>
            <a:off x="6667622" y="5010912"/>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a:t>
            </a:r>
            <a:endParaRPr lang="en-US" sz="1240" dirty="0"/>
          </a:p>
        </p:txBody>
      </p:sp>
      <p:sp>
        <p:nvSpPr>
          <p:cNvPr id="40" name="Shape 38"/>
          <p:cNvSpPr/>
          <p:nvPr/>
        </p:nvSpPr>
        <p:spPr>
          <a:xfrm>
            <a:off x="530352" y="5431536"/>
            <a:ext cx="11128248" cy="420624"/>
          </a:xfrm>
          <a:prstGeom prst="rect">
            <a:avLst/>
          </a:prstGeom>
          <a:solidFill>
            <a:srgbClr val="FFFFFF"/>
          </a:solidFill>
          <a:ln w="9525">
            <a:solidFill>
              <a:srgbClr val="E0E3E7"/>
            </a:solidFill>
            <a:prstDash val="solid"/>
          </a:ln>
        </p:spPr>
      </p:sp>
      <p:sp>
        <p:nvSpPr>
          <p:cNvPr id="41" name="Text 39"/>
          <p:cNvSpPr/>
          <p:nvPr/>
        </p:nvSpPr>
        <p:spPr>
          <a:xfrm>
            <a:off x="658368" y="5431536"/>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42" name="Text 40"/>
          <p:cNvSpPr/>
          <p:nvPr/>
        </p:nvSpPr>
        <p:spPr>
          <a:xfrm>
            <a:off x="1771193" y="5431536"/>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결과를 읽는다</a:t>
            </a:r>
            <a:endParaRPr lang="en-US" sz="1240" dirty="0"/>
          </a:p>
        </p:txBody>
      </p:sp>
      <p:sp>
        <p:nvSpPr>
          <p:cNvPr id="43" name="Text 41"/>
          <p:cNvSpPr/>
          <p:nvPr/>
        </p:nvSpPr>
        <p:spPr>
          <a:xfrm>
            <a:off x="6667622" y="5431536"/>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이야기 소재 한 개가 나타난다</a:t>
            </a:r>
            <a:endParaRPr lang="en-US" sz="1240" dirty="0"/>
          </a:p>
        </p:txBody>
      </p:sp>
      <p:sp>
        <p:nvSpPr>
          <p:cNvPr id="44" name="Shape 42"/>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45" name="Text 4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갈래를 늘리지 않는다. 가장 중요한 흐름 하나만 정확하게.</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③ 내 흐름 네 단계</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17쪽의 네 줄을 채운다</a:t>
            </a:r>
            <a:endParaRPr lang="en-US" sz="1450" dirty="0"/>
          </a:p>
        </p:txBody>
      </p:sp>
      <p:sp>
        <p:nvSpPr>
          <p:cNvPr id="11" name="Shape 9"/>
          <p:cNvSpPr/>
          <p:nvPr/>
        </p:nvSpPr>
        <p:spPr>
          <a:xfrm>
            <a:off x="530352" y="2148840"/>
            <a:ext cx="1112825" cy="402336"/>
          </a:xfrm>
          <a:prstGeom prst="rect">
            <a:avLst/>
          </a:prstGeom>
          <a:solidFill>
            <a:srgbClr val="1B1D21"/>
          </a:solidFill>
          <a:ln/>
        </p:spPr>
      </p:sp>
      <p:sp>
        <p:nvSpPr>
          <p:cNvPr id="12" name="Text 10"/>
          <p:cNvSpPr/>
          <p:nvPr/>
        </p:nvSpPr>
        <p:spPr>
          <a:xfrm>
            <a:off x="658368" y="2148840"/>
            <a:ext cx="85679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단계</a:t>
            </a:r>
            <a:endParaRPr lang="en-US" sz="1050" dirty="0"/>
          </a:p>
        </p:txBody>
      </p:sp>
      <p:sp>
        <p:nvSpPr>
          <p:cNvPr id="13" name="Shape 11"/>
          <p:cNvSpPr/>
          <p:nvPr/>
        </p:nvSpPr>
        <p:spPr>
          <a:xfrm>
            <a:off x="1643177" y="2148840"/>
            <a:ext cx="4896429" cy="402336"/>
          </a:xfrm>
          <a:prstGeom prst="rect">
            <a:avLst/>
          </a:prstGeom>
          <a:solidFill>
            <a:srgbClr val="1B1D21"/>
          </a:solidFill>
          <a:ln/>
        </p:spPr>
      </p:sp>
      <p:sp>
        <p:nvSpPr>
          <p:cNvPr id="14" name="Text 12"/>
          <p:cNvSpPr/>
          <p:nvPr/>
        </p:nvSpPr>
        <p:spPr>
          <a:xfrm>
            <a:off x="1771193" y="214884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하는 일</a:t>
            </a:r>
            <a:endParaRPr lang="en-US" sz="1050" dirty="0"/>
          </a:p>
        </p:txBody>
      </p:sp>
      <p:sp>
        <p:nvSpPr>
          <p:cNvPr id="15" name="Shape 13"/>
          <p:cNvSpPr/>
          <p:nvPr/>
        </p:nvSpPr>
        <p:spPr>
          <a:xfrm>
            <a:off x="6539606" y="2148840"/>
            <a:ext cx="5118994" cy="402336"/>
          </a:xfrm>
          <a:prstGeom prst="rect">
            <a:avLst/>
          </a:prstGeom>
          <a:solidFill>
            <a:srgbClr val="1B1D21"/>
          </a:solidFill>
          <a:ln/>
        </p:spPr>
      </p:sp>
      <p:sp>
        <p:nvSpPr>
          <p:cNvPr id="16" name="Text 14"/>
          <p:cNvSpPr/>
          <p:nvPr/>
        </p:nvSpPr>
        <p:spPr>
          <a:xfrm>
            <a:off x="6667622" y="2148840"/>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화면에서 확인하는 결과</a:t>
            </a:r>
            <a:endParaRPr lang="en-US" sz="1050" dirty="0"/>
          </a:p>
        </p:txBody>
      </p:sp>
      <p:sp>
        <p:nvSpPr>
          <p:cNvPr id="17" name="Shape 15"/>
          <p:cNvSpPr/>
          <p:nvPr/>
        </p:nvSpPr>
        <p:spPr>
          <a:xfrm>
            <a:off x="530352" y="2551176"/>
            <a:ext cx="11128248" cy="658368"/>
          </a:xfrm>
          <a:prstGeom prst="rect">
            <a:avLst/>
          </a:prstGeom>
          <a:solidFill>
            <a:srgbClr val="F1F2F4"/>
          </a:solidFill>
          <a:ln w="9525">
            <a:solidFill>
              <a:srgbClr val="E0E3E7"/>
            </a:solidFill>
            <a:prstDash val="solid"/>
          </a:ln>
        </p:spPr>
      </p:sp>
      <p:sp>
        <p:nvSpPr>
          <p:cNvPr id="18" name="Text 16"/>
          <p:cNvSpPr/>
          <p:nvPr/>
        </p:nvSpPr>
        <p:spPr>
          <a:xfrm>
            <a:off x="658368" y="2551176"/>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9" name="Text 17"/>
          <p:cNvSpPr/>
          <p:nvPr/>
        </p:nvSpPr>
        <p:spPr>
          <a:xfrm>
            <a:off x="1771193" y="2551176"/>
            <a:ext cx="4640397"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서비스를 연다</a:t>
            </a:r>
            <a:endParaRPr lang="en-US" sz="1240" dirty="0"/>
          </a:p>
        </p:txBody>
      </p:sp>
      <p:sp>
        <p:nvSpPr>
          <p:cNvPr id="20" name="Text 18"/>
          <p:cNvSpPr/>
          <p:nvPr/>
        </p:nvSpPr>
        <p:spPr>
          <a:xfrm>
            <a:off x="6667622" y="2551176"/>
            <a:ext cx="4862962" cy="658368"/>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209544"/>
            <a:ext cx="11128248" cy="658368"/>
          </a:xfrm>
          <a:prstGeom prst="rect">
            <a:avLst/>
          </a:prstGeom>
          <a:solidFill>
            <a:srgbClr val="FFFFFF"/>
          </a:solidFill>
          <a:ln w="9525">
            <a:solidFill>
              <a:srgbClr val="E0E3E7"/>
            </a:solidFill>
            <a:prstDash val="solid"/>
          </a:ln>
        </p:spPr>
      </p:sp>
      <p:sp>
        <p:nvSpPr>
          <p:cNvPr id="22" name="Text 20"/>
          <p:cNvSpPr/>
          <p:nvPr/>
        </p:nvSpPr>
        <p:spPr>
          <a:xfrm>
            <a:off x="658368" y="3209544"/>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3" name="Text 21"/>
          <p:cNvSpPr/>
          <p:nvPr/>
        </p:nvSpPr>
        <p:spPr>
          <a:xfrm>
            <a:off x="1771193" y="3209544"/>
            <a:ext cx="4640397" cy="658368"/>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6667622" y="3209544"/>
            <a:ext cx="4862962" cy="658368"/>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3867912"/>
            <a:ext cx="11128248" cy="658368"/>
          </a:xfrm>
          <a:prstGeom prst="rect">
            <a:avLst/>
          </a:prstGeom>
          <a:solidFill>
            <a:srgbClr val="F1F2F4"/>
          </a:solidFill>
          <a:ln w="9525">
            <a:solidFill>
              <a:srgbClr val="E0E3E7"/>
            </a:solidFill>
            <a:prstDash val="solid"/>
          </a:ln>
        </p:spPr>
      </p:sp>
      <p:sp>
        <p:nvSpPr>
          <p:cNvPr id="26" name="Text 24"/>
          <p:cNvSpPr/>
          <p:nvPr/>
        </p:nvSpPr>
        <p:spPr>
          <a:xfrm>
            <a:off x="658368" y="3867912"/>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7" name="Text 25"/>
          <p:cNvSpPr/>
          <p:nvPr/>
        </p:nvSpPr>
        <p:spPr>
          <a:xfrm>
            <a:off x="1771193" y="3867912"/>
            <a:ext cx="4640397" cy="658368"/>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6667622" y="3867912"/>
            <a:ext cx="4862962" cy="658368"/>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4526280"/>
            <a:ext cx="11128248" cy="658368"/>
          </a:xfrm>
          <a:prstGeom prst="rect">
            <a:avLst/>
          </a:prstGeom>
          <a:solidFill>
            <a:srgbClr val="FFFFFF"/>
          </a:solidFill>
          <a:ln w="9525">
            <a:solidFill>
              <a:srgbClr val="E0E3E7"/>
            </a:solidFill>
            <a:prstDash val="solid"/>
          </a:ln>
        </p:spPr>
      </p:sp>
      <p:sp>
        <p:nvSpPr>
          <p:cNvPr id="30" name="Text 28"/>
          <p:cNvSpPr/>
          <p:nvPr/>
        </p:nvSpPr>
        <p:spPr>
          <a:xfrm>
            <a:off x="658368" y="4526280"/>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1" name="Text 29"/>
          <p:cNvSpPr/>
          <p:nvPr/>
        </p:nvSpPr>
        <p:spPr>
          <a:xfrm>
            <a:off x="1771193" y="4526280"/>
            <a:ext cx="4640397" cy="658368"/>
          </a:xfrm>
          <a:prstGeom prst="rect">
            <a:avLst/>
          </a:prstGeom>
          <a:noFill/>
          <a:ln/>
        </p:spPr>
        <p:txBody>
          <a:bodyPr wrap="square" lIns="0" tIns="0" rIns="0" bIns="0" rtlCol="0" anchor="ctr"/>
          <a:lstStyle/>
          <a:p>
            <a:pPr indent="0" marL="0">
              <a:buNone/>
            </a:pPr>
            <a:endParaRPr lang="en-US" sz="1240" dirty="0"/>
          </a:p>
        </p:txBody>
      </p:sp>
      <p:sp>
        <p:nvSpPr>
          <p:cNvPr id="32" name="Text 30"/>
          <p:cNvSpPr/>
          <p:nvPr/>
        </p:nvSpPr>
        <p:spPr>
          <a:xfrm>
            <a:off x="6667622" y="4526280"/>
            <a:ext cx="4862962" cy="658368"/>
          </a:xfrm>
          <a:prstGeom prst="rect">
            <a:avLst/>
          </a:prstGeom>
          <a:noFill/>
          <a:ln/>
        </p:spPr>
        <p:txBody>
          <a:bodyPr wrap="square" lIns="0" tIns="0" rIns="0" bIns="0" rtlCol="0" anchor="ctr"/>
          <a:lstStyle/>
          <a:p>
            <a:pPr indent="0" marL="0">
              <a:buNone/>
            </a:pPr>
            <a:endParaRPr lang="en-US" sz="1240" dirty="0"/>
          </a:p>
        </p:txBody>
      </p:sp>
      <p:sp>
        <p:nvSpPr>
          <p:cNvPr id="33" name="Shape 31"/>
          <p:cNvSpPr/>
          <p:nvPr/>
        </p:nvSpPr>
        <p:spPr>
          <a:xfrm>
            <a:off x="530352" y="5257800"/>
            <a:ext cx="11128248" cy="512064"/>
          </a:xfrm>
          <a:prstGeom prst="roundRect">
            <a:avLst>
              <a:gd name="adj" fmla="val 39286"/>
            </a:avLst>
          </a:prstGeom>
          <a:solidFill>
            <a:srgbClr val="EAF5FB"/>
          </a:solidFill>
          <a:ln w="12700">
            <a:solidFill>
              <a:srgbClr val="3D8DFF"/>
            </a:solidFill>
            <a:prstDash val="solid"/>
          </a:ln>
        </p:spPr>
      </p:sp>
      <p:sp>
        <p:nvSpPr>
          <p:cNvPr id="34" name="Text 32"/>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1번은 이미 적혀 있다. 2·3·4만 채운다.</a:t>
            </a:r>
            <a:endParaRPr lang="en-US" sz="1500" dirty="0"/>
          </a:p>
        </p:txBody>
      </p:sp>
      <p:sp>
        <p:nvSpPr>
          <p:cNvPr id="35" name="Shape 33"/>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6" name="Text 34"/>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적다가 떠오른 질문은 표 옆에 적어 둔다 — 그게 보조 기능 후보다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핵심 기능 하나로 줄인다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18–19쪽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65960"/>
            <a:ext cx="3950208" cy="402336"/>
          </a:xfrm>
          <a:prstGeom prst="rect">
            <a:avLst/>
          </a:prstGeom>
          <a:solidFill>
            <a:srgbClr val="1B1D21"/>
          </a:solidFill>
          <a:ln/>
        </p:spPr>
      </p:sp>
      <p:sp>
        <p:nvSpPr>
          <p:cNvPr id="11" name="Text 9"/>
          <p:cNvSpPr/>
          <p:nvPr/>
        </p:nvSpPr>
        <p:spPr>
          <a:xfrm>
            <a:off x="658368" y="1965960"/>
            <a:ext cx="3694176"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 수업의 기본 범위</a:t>
            </a:r>
            <a:endParaRPr lang="en-US" sz="1050" dirty="0"/>
          </a:p>
        </p:txBody>
      </p:sp>
      <p:sp>
        <p:nvSpPr>
          <p:cNvPr id="12" name="Shape 10"/>
          <p:cNvSpPr/>
          <p:nvPr/>
        </p:nvSpPr>
        <p:spPr>
          <a:xfrm>
            <a:off x="4480560" y="1965960"/>
            <a:ext cx="1536192" cy="402336"/>
          </a:xfrm>
          <a:prstGeom prst="rect">
            <a:avLst/>
          </a:prstGeom>
          <a:solidFill>
            <a:srgbClr val="1B1D21"/>
          </a:solidFill>
          <a:ln/>
        </p:spPr>
      </p:sp>
      <p:sp>
        <p:nvSpPr>
          <p:cNvPr id="13" name="Text 11"/>
          <p:cNvSpPr/>
          <p:nvPr/>
        </p:nvSpPr>
        <p:spPr>
          <a:xfrm>
            <a:off x="4608576" y="1965960"/>
            <a:ext cx="1280160"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개수</a:t>
            </a:r>
            <a:endParaRPr lang="en-US" sz="1050" dirty="0"/>
          </a:p>
        </p:txBody>
      </p:sp>
      <p:sp>
        <p:nvSpPr>
          <p:cNvPr id="14" name="Shape 12"/>
          <p:cNvSpPr/>
          <p:nvPr/>
        </p:nvSpPr>
        <p:spPr>
          <a:xfrm>
            <a:off x="530352" y="2368296"/>
            <a:ext cx="5486400" cy="502920"/>
          </a:xfrm>
          <a:prstGeom prst="rect">
            <a:avLst/>
          </a:prstGeom>
          <a:solidFill>
            <a:srgbClr val="F1F2F4"/>
          </a:solidFill>
          <a:ln w="9525">
            <a:solidFill>
              <a:srgbClr val="E0E3E7"/>
            </a:solidFill>
            <a:prstDash val="solid"/>
          </a:ln>
        </p:spPr>
      </p:sp>
      <p:sp>
        <p:nvSpPr>
          <p:cNvPr id="15" name="Text 13"/>
          <p:cNvSpPr/>
          <p:nvPr/>
        </p:nvSpPr>
        <p:spPr>
          <a:xfrm>
            <a:off x="658368" y="236829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핵심 기능 — 반드시 작동해야 하는 것</a:t>
            </a:r>
            <a:endParaRPr lang="en-US" sz="1240" dirty="0"/>
          </a:p>
        </p:txBody>
      </p:sp>
      <p:sp>
        <p:nvSpPr>
          <p:cNvPr id="16" name="Text 14"/>
          <p:cNvSpPr/>
          <p:nvPr/>
        </p:nvSpPr>
        <p:spPr>
          <a:xfrm>
            <a:off x="4608576" y="236829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17" name="Shape 15"/>
          <p:cNvSpPr/>
          <p:nvPr/>
        </p:nvSpPr>
        <p:spPr>
          <a:xfrm>
            <a:off x="530352" y="2871216"/>
            <a:ext cx="5486400" cy="502920"/>
          </a:xfrm>
          <a:prstGeom prst="rect">
            <a:avLst/>
          </a:prstGeom>
          <a:solidFill>
            <a:srgbClr val="FFFFFF"/>
          </a:solidFill>
          <a:ln w="9525">
            <a:solidFill>
              <a:srgbClr val="E0E3E7"/>
            </a:solidFill>
            <a:prstDash val="solid"/>
          </a:ln>
        </p:spPr>
      </p:sp>
      <p:sp>
        <p:nvSpPr>
          <p:cNvPr id="18" name="Text 16"/>
          <p:cNvSpPr/>
          <p:nvPr/>
        </p:nvSpPr>
        <p:spPr>
          <a:xfrm>
            <a:off x="658368" y="287121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기능 — 핵심을 돕는 것</a:t>
            </a:r>
            <a:endParaRPr lang="en-US" sz="1240" dirty="0"/>
          </a:p>
        </p:txBody>
      </p:sp>
      <p:sp>
        <p:nvSpPr>
          <p:cNvPr id="19" name="Text 17"/>
          <p:cNvSpPr/>
          <p:nvPr/>
        </p:nvSpPr>
        <p:spPr>
          <a:xfrm>
            <a:off x="4608576" y="287121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최대 2개</a:t>
            </a:r>
            <a:endParaRPr lang="en-US" sz="1240" dirty="0"/>
          </a:p>
        </p:txBody>
      </p:sp>
      <p:sp>
        <p:nvSpPr>
          <p:cNvPr id="20" name="Shape 18"/>
          <p:cNvSpPr/>
          <p:nvPr/>
        </p:nvSpPr>
        <p:spPr>
          <a:xfrm>
            <a:off x="530352" y="3374136"/>
            <a:ext cx="5486400" cy="502920"/>
          </a:xfrm>
          <a:prstGeom prst="rect">
            <a:avLst/>
          </a:prstGeom>
          <a:solidFill>
            <a:srgbClr val="F1F2F4"/>
          </a:solidFill>
          <a:ln w="9525">
            <a:solidFill>
              <a:srgbClr val="E0E3E7"/>
            </a:solidFill>
            <a:prstDash val="solid"/>
          </a:ln>
        </p:spPr>
      </p:sp>
      <p:sp>
        <p:nvSpPr>
          <p:cNvPr id="21" name="Text 19"/>
          <p:cNvSpPr/>
          <p:nvPr/>
        </p:nvSpPr>
        <p:spPr>
          <a:xfrm>
            <a:off x="658368" y="337413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대표 사용 흐름</a:t>
            </a:r>
            <a:endParaRPr lang="en-US" sz="1240" dirty="0"/>
          </a:p>
        </p:txBody>
      </p:sp>
      <p:sp>
        <p:nvSpPr>
          <p:cNvPr id="22" name="Text 20"/>
          <p:cNvSpPr/>
          <p:nvPr/>
        </p:nvSpPr>
        <p:spPr>
          <a:xfrm>
            <a:off x="4608576" y="337413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23" name="Shape 21"/>
          <p:cNvSpPr/>
          <p:nvPr/>
        </p:nvSpPr>
        <p:spPr>
          <a:xfrm>
            <a:off x="530352" y="3877056"/>
            <a:ext cx="5486400" cy="502920"/>
          </a:xfrm>
          <a:prstGeom prst="rect">
            <a:avLst/>
          </a:prstGeom>
          <a:solidFill>
            <a:srgbClr val="FFFFFF"/>
          </a:solidFill>
          <a:ln w="9525">
            <a:solidFill>
              <a:srgbClr val="E0E3E7"/>
            </a:solidFill>
            <a:prstDash val="solid"/>
          </a:ln>
        </p:spPr>
      </p:sp>
      <p:sp>
        <p:nvSpPr>
          <p:cNvPr id="24" name="Text 22"/>
          <p:cNvSpPr/>
          <p:nvPr/>
        </p:nvSpPr>
        <p:spPr>
          <a:xfrm>
            <a:off x="658368" y="387705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구성 설명</a:t>
            </a:r>
            <a:endParaRPr lang="en-US" sz="1240" dirty="0"/>
          </a:p>
        </p:txBody>
      </p:sp>
      <p:sp>
        <p:nvSpPr>
          <p:cNvPr id="25" name="Text 23"/>
          <p:cNvSpPr/>
          <p:nvPr/>
        </p:nvSpPr>
        <p:spPr>
          <a:xfrm>
            <a:off x="4608576" y="387705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26" name="Shape 24"/>
          <p:cNvSpPr/>
          <p:nvPr/>
        </p:nvSpPr>
        <p:spPr>
          <a:xfrm>
            <a:off x="6309360" y="1965960"/>
            <a:ext cx="5349240" cy="2212848"/>
          </a:xfrm>
          <a:prstGeom prst="roundRect">
            <a:avLst>
              <a:gd name="adj" fmla="val 2273"/>
            </a:avLst>
          </a:prstGeom>
          <a:solidFill>
            <a:srgbClr val="FFF1E8"/>
          </a:solidFill>
          <a:ln w="12700">
            <a:solidFill>
              <a:srgbClr val="C24A00"/>
            </a:solidFill>
            <a:prstDash val="solid"/>
          </a:ln>
        </p:spPr>
      </p:sp>
      <p:sp>
        <p:nvSpPr>
          <p:cNvPr id="27" name="Text 25"/>
          <p:cNvSpPr/>
          <p:nvPr/>
        </p:nvSpPr>
        <p:spPr>
          <a:xfrm>
            <a:off x="6492240" y="2130552"/>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만들지 않는 것</a:t>
            </a:r>
            <a:endParaRPr lang="en-US" sz="1650" dirty="0"/>
          </a:p>
        </p:txBody>
      </p:sp>
      <p:sp>
        <p:nvSpPr>
          <p:cNvPr id="28" name="Text 26"/>
          <p:cNvSpPr/>
          <p:nvPr/>
        </p:nvSpPr>
        <p:spPr>
          <a:xfrm>
            <a:off x="6492240" y="2624328"/>
            <a:ext cx="4983480" cy="140817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로그인 · 결제 · 실시간 채팅 · 외부 생성형 AI 연결 · 복잡한 관리자 기능</a:t>
            </a:r>
            <a:endParaRPr lang="en-US" sz="1300" dirty="0"/>
          </a:p>
        </p:txBody>
      </p:sp>
      <p:sp>
        <p:nvSpPr>
          <p:cNvPr id="29" name="Shape 27"/>
          <p:cNvSpPr/>
          <p:nvPr/>
        </p:nvSpPr>
        <p:spPr>
          <a:xfrm>
            <a:off x="530352" y="4617720"/>
            <a:ext cx="11128248" cy="512064"/>
          </a:xfrm>
          <a:prstGeom prst="roundRect">
            <a:avLst>
              <a:gd name="adj" fmla="val 39286"/>
            </a:avLst>
          </a:prstGeom>
          <a:solidFill>
            <a:srgbClr val="EAF5FB"/>
          </a:solidFill>
          <a:ln w="12700">
            <a:solidFill>
              <a:srgbClr val="3D8DFF"/>
            </a:solidFill>
            <a:prstDash val="solid"/>
          </a:ln>
        </p:spPr>
      </p:sp>
      <p:sp>
        <p:nvSpPr>
          <p:cNvPr id="30" name="Text 28"/>
          <p:cNvSpPr/>
          <p:nvPr/>
        </p:nvSpPr>
        <p:spPr>
          <a:xfrm>
            <a:off x="731520" y="4617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어렵기만 해서가 아니다. 로그인은 남의 비밀번호를 책임지는 일이다.</a:t>
            </a:r>
            <a:endParaRPr lang="en-US" sz="1400" dirty="0"/>
          </a:p>
        </p:txBody>
      </p:sp>
      <p:sp>
        <p:nvSpPr>
          <p:cNvPr id="31" name="Text 29"/>
          <p:cNvSpPr/>
          <p:nvPr/>
        </p:nvSpPr>
        <p:spPr>
          <a:xfrm>
            <a:off x="530352" y="56235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이것 하나가 안 되면 서비스라고 할 수 없는 기능 — 그게 핵심이다</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④ 내 핵심 기능</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20쪽 — 핵심 줄만 반드시 채운다</a:t>
            </a:r>
            <a:endParaRPr lang="en-US" sz="1450" dirty="0"/>
          </a:p>
        </p:txBody>
      </p:sp>
      <p:sp>
        <p:nvSpPr>
          <p:cNvPr id="11" name="Shape 9"/>
          <p:cNvSpPr/>
          <p:nvPr/>
        </p:nvSpPr>
        <p:spPr>
          <a:xfrm>
            <a:off x="530352" y="2148840"/>
            <a:ext cx="1780520" cy="402336"/>
          </a:xfrm>
          <a:prstGeom prst="rect">
            <a:avLst/>
          </a:prstGeom>
          <a:solidFill>
            <a:srgbClr val="1B1D21"/>
          </a:solidFill>
          <a:ln/>
        </p:spPr>
      </p:sp>
      <p:sp>
        <p:nvSpPr>
          <p:cNvPr id="12" name="Text 10"/>
          <p:cNvSpPr/>
          <p:nvPr/>
        </p:nvSpPr>
        <p:spPr>
          <a:xfrm>
            <a:off x="658368" y="2148840"/>
            <a:ext cx="152448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구분</a:t>
            </a:r>
            <a:endParaRPr lang="en-US" sz="1050" dirty="0"/>
          </a:p>
        </p:txBody>
      </p:sp>
      <p:sp>
        <p:nvSpPr>
          <p:cNvPr id="13" name="Shape 11"/>
          <p:cNvSpPr/>
          <p:nvPr/>
        </p:nvSpPr>
        <p:spPr>
          <a:xfrm>
            <a:off x="2310872" y="2148840"/>
            <a:ext cx="4673864" cy="402336"/>
          </a:xfrm>
          <a:prstGeom prst="rect">
            <a:avLst/>
          </a:prstGeom>
          <a:solidFill>
            <a:srgbClr val="1B1D21"/>
          </a:solidFill>
          <a:ln/>
        </p:spPr>
      </p:sp>
      <p:sp>
        <p:nvSpPr>
          <p:cNvPr id="14" name="Text 12"/>
          <p:cNvSpPr/>
          <p:nvPr/>
        </p:nvSpPr>
        <p:spPr>
          <a:xfrm>
            <a:off x="2438888" y="214884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기능</a:t>
            </a:r>
            <a:endParaRPr lang="en-US" sz="1050" dirty="0"/>
          </a:p>
        </p:txBody>
      </p:sp>
      <p:sp>
        <p:nvSpPr>
          <p:cNvPr id="15" name="Shape 13"/>
          <p:cNvSpPr/>
          <p:nvPr/>
        </p:nvSpPr>
        <p:spPr>
          <a:xfrm>
            <a:off x="6984736" y="2148840"/>
            <a:ext cx="4673864" cy="402336"/>
          </a:xfrm>
          <a:prstGeom prst="rect">
            <a:avLst/>
          </a:prstGeom>
          <a:solidFill>
            <a:srgbClr val="1B1D21"/>
          </a:solidFill>
          <a:ln/>
        </p:spPr>
      </p:sp>
      <p:sp>
        <p:nvSpPr>
          <p:cNvPr id="16" name="Text 14"/>
          <p:cNvSpPr/>
          <p:nvPr/>
        </p:nvSpPr>
        <p:spPr>
          <a:xfrm>
            <a:off x="7112752" y="214884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얻는 결과</a:t>
            </a:r>
            <a:endParaRPr lang="en-US" sz="1050" dirty="0"/>
          </a:p>
        </p:txBody>
      </p:sp>
      <p:sp>
        <p:nvSpPr>
          <p:cNvPr id="17" name="Shape 15"/>
          <p:cNvSpPr/>
          <p:nvPr/>
        </p:nvSpPr>
        <p:spPr>
          <a:xfrm>
            <a:off x="530352" y="2551176"/>
            <a:ext cx="11128248" cy="749808"/>
          </a:xfrm>
          <a:prstGeom prst="rect">
            <a:avLst/>
          </a:prstGeom>
          <a:solidFill>
            <a:srgbClr val="F1F2F4"/>
          </a:solidFill>
          <a:ln w="9525">
            <a:solidFill>
              <a:srgbClr val="E0E3E7"/>
            </a:solidFill>
            <a:prstDash val="solid"/>
          </a:ln>
        </p:spPr>
      </p:sp>
      <p:sp>
        <p:nvSpPr>
          <p:cNvPr id="18" name="Text 16"/>
          <p:cNvSpPr/>
          <p:nvPr/>
        </p:nvSpPr>
        <p:spPr>
          <a:xfrm>
            <a:off x="658368" y="2551176"/>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핵심</a:t>
            </a:r>
            <a:endParaRPr lang="en-US" sz="1240" dirty="0"/>
          </a:p>
        </p:txBody>
      </p:sp>
      <p:sp>
        <p:nvSpPr>
          <p:cNvPr id="19" name="Text 17"/>
          <p:cNvSpPr/>
          <p:nvPr/>
        </p:nvSpPr>
        <p:spPr>
          <a:xfrm>
            <a:off x="2438888" y="2551176"/>
            <a:ext cx="4417832" cy="749808"/>
          </a:xfrm>
          <a:prstGeom prst="rect">
            <a:avLst/>
          </a:prstGeom>
          <a:noFill/>
          <a:ln/>
        </p:spPr>
        <p:txBody>
          <a:bodyPr wrap="square" lIns="0" tIns="0" rIns="0" bIns="0" rtlCol="0" anchor="ctr"/>
          <a:lstStyle/>
          <a:p>
            <a:pPr indent="0" marL="0">
              <a:buNone/>
            </a:pPr>
            <a:endParaRPr lang="en-US" sz="1240" dirty="0"/>
          </a:p>
        </p:txBody>
      </p:sp>
      <p:sp>
        <p:nvSpPr>
          <p:cNvPr id="20" name="Text 18"/>
          <p:cNvSpPr/>
          <p:nvPr/>
        </p:nvSpPr>
        <p:spPr>
          <a:xfrm>
            <a:off x="7112752" y="2551176"/>
            <a:ext cx="4417832" cy="749808"/>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300984"/>
            <a:ext cx="11128248" cy="749808"/>
          </a:xfrm>
          <a:prstGeom prst="rect">
            <a:avLst/>
          </a:prstGeom>
          <a:solidFill>
            <a:srgbClr val="FFFFFF"/>
          </a:solidFill>
          <a:ln w="9525">
            <a:solidFill>
              <a:srgbClr val="E0E3E7"/>
            </a:solidFill>
            <a:prstDash val="solid"/>
          </a:ln>
        </p:spPr>
      </p:sp>
      <p:sp>
        <p:nvSpPr>
          <p:cNvPr id="22" name="Text 20"/>
          <p:cNvSpPr/>
          <p:nvPr/>
        </p:nvSpPr>
        <p:spPr>
          <a:xfrm>
            <a:off x="658368" y="3300984"/>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1</a:t>
            </a:r>
            <a:endParaRPr lang="en-US" sz="1240" dirty="0"/>
          </a:p>
        </p:txBody>
      </p:sp>
      <p:sp>
        <p:nvSpPr>
          <p:cNvPr id="23" name="Text 21"/>
          <p:cNvSpPr/>
          <p:nvPr/>
        </p:nvSpPr>
        <p:spPr>
          <a:xfrm>
            <a:off x="2438888" y="3300984"/>
            <a:ext cx="4417832" cy="749808"/>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7112752" y="3300984"/>
            <a:ext cx="4417832" cy="749808"/>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4050792"/>
            <a:ext cx="11128248" cy="749808"/>
          </a:xfrm>
          <a:prstGeom prst="rect">
            <a:avLst/>
          </a:prstGeom>
          <a:solidFill>
            <a:srgbClr val="F1F2F4"/>
          </a:solidFill>
          <a:ln w="9525">
            <a:solidFill>
              <a:srgbClr val="E0E3E7"/>
            </a:solidFill>
            <a:prstDash val="solid"/>
          </a:ln>
        </p:spPr>
      </p:sp>
      <p:sp>
        <p:nvSpPr>
          <p:cNvPr id="26" name="Text 24"/>
          <p:cNvSpPr/>
          <p:nvPr/>
        </p:nvSpPr>
        <p:spPr>
          <a:xfrm>
            <a:off x="658368" y="4050792"/>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2</a:t>
            </a:r>
            <a:endParaRPr lang="en-US" sz="1240" dirty="0"/>
          </a:p>
        </p:txBody>
      </p:sp>
      <p:sp>
        <p:nvSpPr>
          <p:cNvPr id="27" name="Text 25"/>
          <p:cNvSpPr/>
          <p:nvPr/>
        </p:nvSpPr>
        <p:spPr>
          <a:xfrm>
            <a:off x="2438888" y="4050792"/>
            <a:ext cx="4417832" cy="749808"/>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7112752" y="4050792"/>
            <a:ext cx="4417832" cy="749808"/>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5257800"/>
            <a:ext cx="11128248" cy="512064"/>
          </a:xfrm>
          <a:prstGeom prst="roundRect">
            <a:avLst>
              <a:gd name="adj" fmla="val 39286"/>
            </a:avLst>
          </a:prstGeom>
          <a:solidFill>
            <a:srgbClr val="EAF5FB"/>
          </a:solidFill>
          <a:ln w="12700">
            <a:solidFill>
              <a:srgbClr val="3D8DFF"/>
            </a:solidFill>
            <a:prstDash val="solid"/>
          </a:ln>
        </p:spPr>
      </p:sp>
      <p:sp>
        <p:nvSpPr>
          <p:cNvPr id="30" name="Text 28"/>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보조는 비워 둬도 된다. 핵심 한 줄이면 오늘은 충분하다.</a:t>
            </a:r>
            <a:endParaRPr lang="en-US" sz="1500" dirty="0"/>
          </a:p>
        </p:txBody>
      </p:sp>
      <p:sp>
        <p:nvSpPr>
          <p:cNvPr id="31" name="Shape 29"/>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2" name="Text 30"/>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핵심 줄에 두 가지가 적혀 있으면 하나를 보조로 내린다</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무엇을 주고 무엇을 받는가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21–23쪽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14</a:t>
            </a:r>
            <a:endParaRPr lang="en-US" sz="900" dirty="0"/>
          </a:p>
        </p:txBody>
      </p:sp>
      <p:sp>
        <p:nvSpPr>
          <p:cNvPr id="10" name="Shape 8"/>
          <p:cNvSpPr/>
          <p:nvPr/>
        </p:nvSpPr>
        <p:spPr>
          <a:xfrm>
            <a:off x="530352" y="1965960"/>
            <a:ext cx="3520440" cy="1234440"/>
          </a:xfrm>
          <a:prstGeom prst="roundRect">
            <a:avLst>
              <a:gd name="adj" fmla="val 4074"/>
            </a:avLst>
          </a:prstGeom>
          <a:solidFill>
            <a:srgbClr val="F1F2F4"/>
          </a:solidFill>
          <a:ln w="12700">
            <a:solidFill>
              <a:srgbClr val="E0E3E7"/>
            </a:solidFill>
            <a:prstDash val="solid"/>
          </a:ln>
        </p:spPr>
      </p:sp>
      <p:sp>
        <p:nvSpPr>
          <p:cNvPr id="11" name="Text 9"/>
          <p:cNvSpPr/>
          <p:nvPr/>
        </p:nvSpPr>
        <p:spPr>
          <a:xfrm>
            <a:off x="713232"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입력</a:t>
            </a:r>
            <a:endParaRPr lang="en-US" sz="1050" dirty="0"/>
          </a:p>
        </p:txBody>
      </p:sp>
      <p:sp>
        <p:nvSpPr>
          <p:cNvPr id="12" name="Text 10"/>
          <p:cNvSpPr/>
          <p:nvPr/>
        </p:nvSpPr>
        <p:spPr>
          <a:xfrm>
            <a:off x="713232"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단어 세 개</a:t>
            </a:r>
            <a:endParaRPr lang="en-US" sz="1300" dirty="0"/>
          </a:p>
        </p:txBody>
      </p:sp>
      <p:sp>
        <p:nvSpPr>
          <p:cNvPr id="13" name="Text 11"/>
          <p:cNvSpPr/>
          <p:nvPr/>
        </p:nvSpPr>
        <p:spPr>
          <a:xfrm>
            <a:off x="4005072" y="2395728"/>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4" name="Shape 12"/>
          <p:cNvSpPr/>
          <p:nvPr/>
        </p:nvSpPr>
        <p:spPr>
          <a:xfrm>
            <a:off x="4306824" y="1965960"/>
            <a:ext cx="3520440" cy="1234440"/>
          </a:xfrm>
          <a:prstGeom prst="roundRect">
            <a:avLst>
              <a:gd name="adj" fmla="val 4074"/>
            </a:avLst>
          </a:prstGeom>
          <a:solidFill>
            <a:srgbClr val="E7F2ED"/>
          </a:solidFill>
          <a:ln w="12700">
            <a:solidFill>
              <a:srgbClr val="0E7C86"/>
            </a:solidFill>
            <a:prstDash val="solid"/>
          </a:ln>
        </p:spPr>
      </p:sp>
      <p:sp>
        <p:nvSpPr>
          <p:cNvPr id="15" name="Text 13"/>
          <p:cNvSpPr/>
          <p:nvPr/>
        </p:nvSpPr>
        <p:spPr>
          <a:xfrm>
            <a:off x="4489704" y="2130552"/>
            <a:ext cx="31546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처리</a:t>
            </a:r>
            <a:endParaRPr lang="en-US" sz="1050" dirty="0"/>
          </a:p>
        </p:txBody>
      </p:sp>
      <p:sp>
        <p:nvSpPr>
          <p:cNvPr id="16" name="Text 14"/>
          <p:cNvSpPr/>
          <p:nvPr/>
        </p:nvSpPr>
        <p:spPr>
          <a:xfrm>
            <a:off x="4489704"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단어로 이야기 소재 문장을 만든다</a:t>
            </a:r>
            <a:endParaRPr lang="en-US" sz="1300" dirty="0"/>
          </a:p>
        </p:txBody>
      </p:sp>
      <p:sp>
        <p:nvSpPr>
          <p:cNvPr id="17" name="Text 15"/>
          <p:cNvSpPr/>
          <p:nvPr/>
        </p:nvSpPr>
        <p:spPr>
          <a:xfrm>
            <a:off x="7781544" y="2395728"/>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8" name="Shape 16"/>
          <p:cNvSpPr/>
          <p:nvPr/>
        </p:nvSpPr>
        <p:spPr>
          <a:xfrm>
            <a:off x="8083296" y="1965960"/>
            <a:ext cx="3520440" cy="1234440"/>
          </a:xfrm>
          <a:prstGeom prst="roundRect">
            <a:avLst>
              <a:gd name="adj" fmla="val 4074"/>
            </a:avLst>
          </a:prstGeom>
          <a:solidFill>
            <a:srgbClr val="F1F2F4"/>
          </a:solidFill>
          <a:ln w="12700">
            <a:solidFill>
              <a:srgbClr val="E0E3E7"/>
            </a:solidFill>
            <a:prstDash val="solid"/>
          </a:ln>
        </p:spPr>
      </p:sp>
      <p:sp>
        <p:nvSpPr>
          <p:cNvPr id="19" name="Text 17"/>
          <p:cNvSpPr/>
          <p:nvPr/>
        </p:nvSpPr>
        <p:spPr>
          <a:xfrm>
            <a:off x="8266176"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출력</a:t>
            </a:r>
            <a:endParaRPr lang="en-US" sz="1050" dirty="0"/>
          </a:p>
        </p:txBody>
      </p:sp>
      <p:sp>
        <p:nvSpPr>
          <p:cNvPr id="20" name="Text 18"/>
          <p:cNvSpPr/>
          <p:nvPr/>
        </p:nvSpPr>
        <p:spPr>
          <a:xfrm>
            <a:off x="8266176"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이야기 소재 한 개</a:t>
            </a:r>
            <a:endParaRPr lang="en-US" sz="1300" dirty="0"/>
          </a:p>
        </p:txBody>
      </p:sp>
      <p:sp>
        <p:nvSpPr>
          <p:cNvPr id="21" name="Shape 19"/>
          <p:cNvSpPr/>
          <p:nvPr/>
        </p:nvSpPr>
        <p:spPr>
          <a:xfrm>
            <a:off x="530352" y="3520440"/>
            <a:ext cx="5786689" cy="402336"/>
          </a:xfrm>
          <a:prstGeom prst="rect">
            <a:avLst/>
          </a:prstGeom>
          <a:solidFill>
            <a:srgbClr val="1B1D21"/>
          </a:solidFill>
          <a:ln/>
        </p:spPr>
      </p:sp>
      <p:sp>
        <p:nvSpPr>
          <p:cNvPr id="22" name="Text 20"/>
          <p:cNvSpPr/>
          <p:nvPr/>
        </p:nvSpPr>
        <p:spPr>
          <a:xfrm>
            <a:off x="658368" y="3520440"/>
            <a:ext cx="553065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 설명 여섯 줄</a:t>
            </a:r>
            <a:endParaRPr lang="en-US" sz="1050" dirty="0"/>
          </a:p>
        </p:txBody>
      </p:sp>
      <p:sp>
        <p:nvSpPr>
          <p:cNvPr id="23" name="Shape 21"/>
          <p:cNvSpPr/>
          <p:nvPr/>
        </p:nvSpPr>
        <p:spPr>
          <a:xfrm>
            <a:off x="6317041" y="3520440"/>
            <a:ext cx="5341559" cy="402336"/>
          </a:xfrm>
          <a:prstGeom prst="rect">
            <a:avLst/>
          </a:prstGeom>
          <a:solidFill>
            <a:srgbClr val="1B1D21"/>
          </a:solidFill>
          <a:ln/>
        </p:spPr>
      </p:sp>
      <p:sp>
        <p:nvSpPr>
          <p:cNvPr id="24" name="Text 22"/>
          <p:cNvSpPr/>
          <p:nvPr/>
        </p:nvSpPr>
        <p:spPr>
          <a:xfrm>
            <a:off x="6445057" y="3520440"/>
            <a:ext cx="508552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무엇을 적는가</a:t>
            </a:r>
            <a:endParaRPr lang="en-US" sz="1050" dirty="0"/>
          </a:p>
        </p:txBody>
      </p:sp>
      <p:sp>
        <p:nvSpPr>
          <p:cNvPr id="25" name="Shape 23"/>
          <p:cNvSpPr/>
          <p:nvPr/>
        </p:nvSpPr>
        <p:spPr>
          <a:xfrm>
            <a:off x="530352" y="3922776"/>
            <a:ext cx="11128248" cy="475488"/>
          </a:xfrm>
          <a:prstGeom prst="rect">
            <a:avLst/>
          </a:prstGeom>
          <a:solidFill>
            <a:srgbClr val="F1F2F4"/>
          </a:solidFill>
          <a:ln w="9525">
            <a:solidFill>
              <a:srgbClr val="E0E3E7"/>
            </a:solidFill>
            <a:prstDash val="solid"/>
          </a:ln>
        </p:spPr>
      </p:sp>
      <p:sp>
        <p:nvSpPr>
          <p:cNvPr id="26" name="Text 24"/>
          <p:cNvSpPr/>
          <p:nvPr/>
        </p:nvSpPr>
        <p:spPr>
          <a:xfrm>
            <a:off x="658368" y="3922776"/>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이름 · 처음 열면 보이는 내용</a:t>
            </a:r>
            <a:endParaRPr lang="en-US" sz="1240" dirty="0"/>
          </a:p>
        </p:txBody>
      </p:sp>
      <p:sp>
        <p:nvSpPr>
          <p:cNvPr id="27" name="Text 25"/>
          <p:cNvSpPr/>
          <p:nvPr/>
        </p:nvSpPr>
        <p:spPr>
          <a:xfrm>
            <a:off x="6445057" y="3922776"/>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제목과 안내, 빈 입력칸</a:t>
            </a:r>
            <a:endParaRPr lang="en-US" sz="1240" dirty="0"/>
          </a:p>
        </p:txBody>
      </p:sp>
      <p:sp>
        <p:nvSpPr>
          <p:cNvPr id="28" name="Shape 26"/>
          <p:cNvSpPr/>
          <p:nvPr/>
        </p:nvSpPr>
        <p:spPr>
          <a:xfrm>
            <a:off x="530352" y="4398264"/>
            <a:ext cx="11128248" cy="475488"/>
          </a:xfrm>
          <a:prstGeom prst="rect">
            <a:avLst/>
          </a:prstGeom>
          <a:solidFill>
            <a:srgbClr val="FFFFFF"/>
          </a:solidFill>
          <a:ln w="9525">
            <a:solidFill>
              <a:srgbClr val="E0E3E7"/>
            </a:solidFill>
            <a:prstDash val="solid"/>
          </a:ln>
        </p:spPr>
      </p:sp>
      <p:sp>
        <p:nvSpPr>
          <p:cNvPr id="29" name="Text 27"/>
          <p:cNvSpPr/>
          <p:nvPr/>
        </p:nvSpPr>
        <p:spPr>
          <a:xfrm>
            <a:off x="658368" y="4398264"/>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입력하거나 고르는 것 · 누르는 것</a:t>
            </a:r>
            <a:endParaRPr lang="en-US" sz="1240" dirty="0"/>
          </a:p>
        </p:txBody>
      </p:sp>
      <p:sp>
        <p:nvSpPr>
          <p:cNvPr id="30" name="Text 28"/>
          <p:cNvSpPr/>
          <p:nvPr/>
        </p:nvSpPr>
        <p:spPr>
          <a:xfrm>
            <a:off x="6445057" y="4398264"/>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단어 세 개 · 만들기 버튼</a:t>
            </a:r>
            <a:endParaRPr lang="en-US" sz="1240" dirty="0"/>
          </a:p>
        </p:txBody>
      </p:sp>
      <p:sp>
        <p:nvSpPr>
          <p:cNvPr id="31" name="Shape 29"/>
          <p:cNvSpPr/>
          <p:nvPr/>
        </p:nvSpPr>
        <p:spPr>
          <a:xfrm>
            <a:off x="530352" y="4873752"/>
            <a:ext cx="11128248" cy="475488"/>
          </a:xfrm>
          <a:prstGeom prst="rect">
            <a:avLst/>
          </a:prstGeom>
          <a:solidFill>
            <a:srgbClr val="F1F2F4"/>
          </a:solidFill>
          <a:ln w="9525">
            <a:solidFill>
              <a:srgbClr val="E0E3E7"/>
            </a:solidFill>
            <a:prstDash val="solid"/>
          </a:ln>
        </p:spPr>
      </p:sp>
      <p:sp>
        <p:nvSpPr>
          <p:cNvPr id="32" name="Text 30"/>
          <p:cNvSpPr/>
          <p:nvPr/>
        </p:nvSpPr>
        <p:spPr>
          <a:xfrm>
            <a:off x="658368" y="4873752"/>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동작한 뒤 나타나는 결과</a:t>
            </a:r>
            <a:endParaRPr lang="en-US" sz="1240" dirty="0"/>
          </a:p>
        </p:txBody>
      </p:sp>
      <p:sp>
        <p:nvSpPr>
          <p:cNvPr id="33" name="Text 31"/>
          <p:cNvSpPr/>
          <p:nvPr/>
        </p:nvSpPr>
        <p:spPr>
          <a:xfrm>
            <a:off x="6445057" y="4873752"/>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 아래에 소재 한 문장</a:t>
            </a:r>
            <a:endParaRPr lang="en-US" sz="1240" dirty="0"/>
          </a:p>
        </p:txBody>
      </p:sp>
      <p:sp>
        <p:nvSpPr>
          <p:cNvPr id="34" name="Shape 32"/>
          <p:cNvSpPr/>
          <p:nvPr/>
        </p:nvSpPr>
        <p:spPr>
          <a:xfrm>
            <a:off x="530352" y="5349240"/>
            <a:ext cx="11128248" cy="475488"/>
          </a:xfrm>
          <a:prstGeom prst="rect">
            <a:avLst/>
          </a:prstGeom>
          <a:solidFill>
            <a:srgbClr val="FFFFFF"/>
          </a:solidFill>
          <a:ln w="9525">
            <a:solidFill>
              <a:srgbClr val="E0E3E7"/>
            </a:solidFill>
            <a:prstDash val="solid"/>
          </a:ln>
        </p:spPr>
      </p:sp>
      <p:sp>
        <p:nvSpPr>
          <p:cNvPr id="35" name="Text 33"/>
          <p:cNvSpPr/>
          <p:nvPr/>
        </p:nvSpPr>
        <p:spPr>
          <a:xfrm>
            <a:off x="658368" y="5349240"/>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입력이 없거나 잘못됐을 때 안내</a:t>
            </a:r>
            <a:endParaRPr lang="en-US" sz="1240" dirty="0"/>
          </a:p>
        </p:txBody>
      </p:sp>
      <p:sp>
        <p:nvSpPr>
          <p:cNvPr id="36" name="Text 34"/>
          <p:cNvSpPr/>
          <p:nvPr/>
        </p:nvSpPr>
        <p:spPr>
          <a:xfrm>
            <a:off x="6445057" y="5349240"/>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「세 개 모두 입력해 주세요」</a:t>
            </a:r>
            <a:endParaRPr lang="en-US" sz="1240" dirty="0"/>
          </a:p>
        </p:txBody>
      </p:sp>
      <p:sp>
        <p:nvSpPr>
          <p:cNvPr id="37" name="Shape 35"/>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8" name="Text 36"/>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마지막 줄을 빠뜨리면 학생은 아무 일도 안 일어나는 화면을 보게 된다</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무엇을 보면 다 됐다고 하는가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24–25쪽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15</a:t>
            </a:r>
            <a:endParaRPr lang="en-US" sz="900" dirty="0"/>
          </a:p>
        </p:txBody>
      </p:sp>
      <p:sp>
        <p:nvSpPr>
          <p:cNvPr id="10" name="Shape 8"/>
          <p:cNvSpPr/>
          <p:nvPr/>
        </p:nvSpPr>
        <p:spPr>
          <a:xfrm>
            <a:off x="530352" y="2011680"/>
            <a:ext cx="5349240" cy="2286000"/>
          </a:xfrm>
          <a:prstGeom prst="roundRect">
            <a:avLst>
              <a:gd name="adj" fmla="val 2200"/>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확인할 수 없다</a:t>
            </a:r>
            <a:endParaRPr lang="en-US" sz="1050" dirty="0"/>
          </a:p>
        </p:txBody>
      </p:sp>
      <p:sp>
        <p:nvSpPr>
          <p:cNvPr id="12" name="Text 10"/>
          <p:cNvSpPr/>
          <p:nvPr/>
        </p:nvSpPr>
        <p:spPr>
          <a:xfrm>
            <a:off x="713232" y="2468880"/>
            <a:ext cx="4983480" cy="1682496"/>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잘 작동한다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사용하기 편하다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디자인이 깔끔하다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속도가 빠르다</a:t>
            </a:r>
            <a:endParaRPr lang="en-US" sz="1400" dirty="0"/>
          </a:p>
        </p:txBody>
      </p:sp>
      <p:sp>
        <p:nvSpPr>
          <p:cNvPr id="13" name="Shape 11"/>
          <p:cNvSpPr/>
          <p:nvPr/>
        </p:nvSpPr>
        <p:spPr>
          <a:xfrm>
            <a:off x="6309360" y="2011680"/>
            <a:ext cx="5349240" cy="2286000"/>
          </a:xfrm>
          <a:prstGeom prst="roundRect">
            <a:avLst>
              <a:gd name="adj" fmla="val 2200"/>
            </a:avLst>
          </a:prstGeom>
          <a:solidFill>
            <a:srgbClr val="E7F2ED"/>
          </a:solidFill>
          <a:ln w="12700">
            <a:solidFill>
              <a:srgbClr val="0E7C86"/>
            </a:solidFill>
            <a:prstDash val="solid"/>
          </a:ln>
        </p:spPr>
      </p:sp>
      <p:sp>
        <p:nvSpPr>
          <p:cNvPr id="14" name="Text 12"/>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해 보면 판정이 난다</a:t>
            </a:r>
            <a:endParaRPr lang="en-US" sz="1050" dirty="0"/>
          </a:p>
        </p:txBody>
      </p:sp>
      <p:sp>
        <p:nvSpPr>
          <p:cNvPr id="15" name="Text 13"/>
          <p:cNvSpPr/>
          <p:nvPr/>
        </p:nvSpPr>
        <p:spPr>
          <a:xfrm>
            <a:off x="6492240" y="2468880"/>
            <a:ext cx="4983480" cy="168249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버튼을 누르면 결과가 나타난다</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입력이 비어 있으면 안내가 나타난다</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처음 화면을 보고 무엇을 할지 알 수 있다</a:t>
            </a:r>
            <a:endParaRPr lang="en-US" sz="1300" dirty="0"/>
          </a:p>
        </p:txBody>
      </p:sp>
      <p:sp>
        <p:nvSpPr>
          <p:cNvPr id="16" name="Text 14"/>
          <p:cNvSpPr/>
          <p:nvPr/>
        </p:nvSpPr>
        <p:spPr>
          <a:xfrm>
            <a:off x="530352" y="47091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왼쪽은 열 사람이 열 가지로 답한다</a:t>
            </a:r>
            <a:endParaRPr lang="en-US" sz="1700" dirty="0"/>
          </a:p>
        </p:txBody>
      </p:sp>
      <p:sp>
        <p:nvSpPr>
          <p:cNvPr id="17" name="Shape 15"/>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18" name="Text 16"/>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10~13회에 AI가 만든 결과를 이 문장으로 하나씩 실행해 판정한다</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워크시트 ② 이 기준으로 판정되는가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16</a:t>
            </a:r>
            <a:endParaRPr lang="en-US" sz="900" dirty="0"/>
          </a:p>
        </p:txBody>
      </p:sp>
      <p:sp>
        <p:nvSpPr>
          <p:cNvPr id="10" name="Shape 8"/>
          <p:cNvSpPr/>
          <p:nvPr/>
        </p:nvSpPr>
        <p:spPr>
          <a:xfrm>
            <a:off x="530352" y="1965960"/>
            <a:ext cx="890260" cy="402336"/>
          </a:xfrm>
          <a:prstGeom prst="rect">
            <a:avLst/>
          </a:prstGeom>
          <a:solidFill>
            <a:srgbClr val="1B1D21"/>
          </a:solidFill>
          <a:ln/>
        </p:spPr>
      </p:sp>
      <p:sp>
        <p:nvSpPr>
          <p:cNvPr id="11" name="Text 9"/>
          <p:cNvSpPr/>
          <p:nvPr/>
        </p:nvSpPr>
        <p:spPr>
          <a:xfrm>
            <a:off x="658368" y="196596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2" name="Shape 10"/>
          <p:cNvSpPr/>
          <p:nvPr/>
        </p:nvSpPr>
        <p:spPr>
          <a:xfrm>
            <a:off x="1420612" y="1965960"/>
            <a:ext cx="4228734" cy="402336"/>
          </a:xfrm>
          <a:prstGeom prst="rect">
            <a:avLst/>
          </a:prstGeom>
          <a:solidFill>
            <a:srgbClr val="1B1D21"/>
          </a:solidFill>
          <a:ln/>
        </p:spPr>
      </p:sp>
      <p:sp>
        <p:nvSpPr>
          <p:cNvPr id="13" name="Text 11"/>
          <p:cNvSpPr/>
          <p:nvPr/>
        </p:nvSpPr>
        <p:spPr>
          <a:xfrm>
            <a:off x="1548628" y="1965960"/>
            <a:ext cx="397270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기준 문장</a:t>
            </a:r>
            <a:endParaRPr lang="en-US" sz="1050" dirty="0"/>
          </a:p>
        </p:txBody>
      </p:sp>
      <p:sp>
        <p:nvSpPr>
          <p:cNvPr id="14" name="Shape 12"/>
          <p:cNvSpPr/>
          <p:nvPr/>
        </p:nvSpPr>
        <p:spPr>
          <a:xfrm>
            <a:off x="5649346" y="1965960"/>
            <a:ext cx="2225650" cy="402336"/>
          </a:xfrm>
          <a:prstGeom prst="rect">
            <a:avLst/>
          </a:prstGeom>
          <a:solidFill>
            <a:srgbClr val="1B1D21"/>
          </a:solidFill>
          <a:ln/>
        </p:spPr>
      </p:sp>
      <p:sp>
        <p:nvSpPr>
          <p:cNvPr id="15" name="Text 13"/>
          <p:cNvSpPr/>
          <p:nvPr/>
        </p:nvSpPr>
        <p:spPr>
          <a:xfrm>
            <a:off x="5777362" y="1965960"/>
            <a:ext cx="196961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판정할 수 있나</a:t>
            </a:r>
            <a:endParaRPr lang="en-US" sz="1050" dirty="0"/>
          </a:p>
        </p:txBody>
      </p:sp>
      <p:sp>
        <p:nvSpPr>
          <p:cNvPr id="16" name="Shape 14"/>
          <p:cNvSpPr/>
          <p:nvPr/>
        </p:nvSpPr>
        <p:spPr>
          <a:xfrm>
            <a:off x="7874996" y="1965960"/>
            <a:ext cx="3783604" cy="402336"/>
          </a:xfrm>
          <a:prstGeom prst="rect">
            <a:avLst/>
          </a:prstGeom>
          <a:solidFill>
            <a:srgbClr val="1B1D21"/>
          </a:solidFill>
          <a:ln/>
        </p:spPr>
      </p:sp>
      <p:sp>
        <p:nvSpPr>
          <p:cNvPr id="17" name="Text 15"/>
          <p:cNvSpPr/>
          <p:nvPr/>
        </p:nvSpPr>
        <p:spPr>
          <a:xfrm>
            <a:off x="8003012" y="1965960"/>
            <a:ext cx="35275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못 하면 어떻게 고칠까</a:t>
            </a:r>
            <a:endParaRPr lang="en-US" sz="1050" dirty="0"/>
          </a:p>
        </p:txBody>
      </p:sp>
      <p:sp>
        <p:nvSpPr>
          <p:cNvPr id="18" name="Shape 16"/>
          <p:cNvSpPr/>
          <p:nvPr/>
        </p:nvSpPr>
        <p:spPr>
          <a:xfrm>
            <a:off x="530352" y="2368296"/>
            <a:ext cx="11128248" cy="621792"/>
          </a:xfrm>
          <a:prstGeom prst="rect">
            <a:avLst/>
          </a:prstGeom>
          <a:solidFill>
            <a:srgbClr val="F1F2F4"/>
          </a:solidFill>
          <a:ln w="9525">
            <a:solidFill>
              <a:srgbClr val="E0E3E7"/>
            </a:solidFill>
            <a:prstDash val="solid"/>
          </a:ln>
        </p:spPr>
      </p:sp>
      <p:sp>
        <p:nvSpPr>
          <p:cNvPr id="19" name="Text 17"/>
          <p:cNvSpPr/>
          <p:nvPr/>
        </p:nvSpPr>
        <p:spPr>
          <a:xfrm>
            <a:off x="658368" y="2368296"/>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20" name="Text 18"/>
          <p:cNvSpPr/>
          <p:nvPr/>
        </p:nvSpPr>
        <p:spPr>
          <a:xfrm>
            <a:off x="1548628" y="2368296"/>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잘 작동한다</a:t>
            </a:r>
            <a:endParaRPr lang="en-US" sz="1240" dirty="0"/>
          </a:p>
        </p:txBody>
      </p:sp>
      <p:sp>
        <p:nvSpPr>
          <p:cNvPr id="21" name="Text 19"/>
          <p:cNvSpPr/>
          <p:nvPr/>
        </p:nvSpPr>
        <p:spPr>
          <a:xfrm>
            <a:off x="5777362" y="2368296"/>
            <a:ext cx="1969618" cy="621792"/>
          </a:xfrm>
          <a:prstGeom prst="rect">
            <a:avLst/>
          </a:prstGeom>
          <a:noFill/>
          <a:ln/>
        </p:spPr>
        <p:txBody>
          <a:bodyPr wrap="square" lIns="0" tIns="0" rIns="0" bIns="0" rtlCol="0" anchor="ctr"/>
          <a:lstStyle/>
          <a:p>
            <a:pPr indent="0" marL="0">
              <a:buNone/>
            </a:pPr>
            <a:endParaRPr lang="en-US" sz="1240" dirty="0"/>
          </a:p>
        </p:txBody>
      </p:sp>
      <p:sp>
        <p:nvSpPr>
          <p:cNvPr id="22" name="Text 20"/>
          <p:cNvSpPr/>
          <p:nvPr/>
        </p:nvSpPr>
        <p:spPr>
          <a:xfrm>
            <a:off x="8003012" y="2368296"/>
            <a:ext cx="3527572" cy="621792"/>
          </a:xfrm>
          <a:prstGeom prst="rect">
            <a:avLst/>
          </a:prstGeom>
          <a:noFill/>
          <a:ln/>
        </p:spPr>
        <p:txBody>
          <a:bodyPr wrap="square" lIns="0" tIns="0" rIns="0" bIns="0" rtlCol="0" anchor="ctr"/>
          <a:lstStyle/>
          <a:p>
            <a:pPr indent="0" marL="0">
              <a:buNone/>
            </a:pPr>
            <a:endParaRPr lang="en-US" sz="1240" dirty="0"/>
          </a:p>
        </p:txBody>
      </p:sp>
      <p:sp>
        <p:nvSpPr>
          <p:cNvPr id="23" name="Shape 21"/>
          <p:cNvSpPr/>
          <p:nvPr/>
        </p:nvSpPr>
        <p:spPr>
          <a:xfrm>
            <a:off x="530352" y="2990088"/>
            <a:ext cx="11128248" cy="621792"/>
          </a:xfrm>
          <a:prstGeom prst="rect">
            <a:avLst/>
          </a:prstGeom>
          <a:solidFill>
            <a:srgbClr val="FFFFFF"/>
          </a:solidFill>
          <a:ln w="9525">
            <a:solidFill>
              <a:srgbClr val="E0E3E7"/>
            </a:solidFill>
            <a:prstDash val="solid"/>
          </a:ln>
        </p:spPr>
      </p:sp>
      <p:sp>
        <p:nvSpPr>
          <p:cNvPr id="24" name="Text 22"/>
          <p:cNvSpPr/>
          <p:nvPr/>
        </p:nvSpPr>
        <p:spPr>
          <a:xfrm>
            <a:off x="658368" y="2990088"/>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5" name="Text 23"/>
          <p:cNvSpPr/>
          <p:nvPr/>
        </p:nvSpPr>
        <p:spPr>
          <a:xfrm>
            <a:off x="1548628" y="2990088"/>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버튼을 누르면 결과가 나타난다</a:t>
            </a:r>
            <a:endParaRPr lang="en-US" sz="1240" dirty="0"/>
          </a:p>
        </p:txBody>
      </p:sp>
      <p:sp>
        <p:nvSpPr>
          <p:cNvPr id="26" name="Text 24"/>
          <p:cNvSpPr/>
          <p:nvPr/>
        </p:nvSpPr>
        <p:spPr>
          <a:xfrm>
            <a:off x="5777362" y="2990088"/>
            <a:ext cx="1969618" cy="621792"/>
          </a:xfrm>
          <a:prstGeom prst="rect">
            <a:avLst/>
          </a:prstGeom>
          <a:noFill/>
          <a:ln/>
        </p:spPr>
        <p:txBody>
          <a:bodyPr wrap="square" lIns="0" tIns="0" rIns="0" bIns="0" rtlCol="0" anchor="ctr"/>
          <a:lstStyle/>
          <a:p>
            <a:pPr indent="0" marL="0">
              <a:buNone/>
            </a:pPr>
            <a:endParaRPr lang="en-US" sz="1240" dirty="0"/>
          </a:p>
        </p:txBody>
      </p:sp>
      <p:sp>
        <p:nvSpPr>
          <p:cNvPr id="27" name="Text 25"/>
          <p:cNvSpPr/>
          <p:nvPr/>
        </p:nvSpPr>
        <p:spPr>
          <a:xfrm>
            <a:off x="8003012" y="2990088"/>
            <a:ext cx="3527572" cy="621792"/>
          </a:xfrm>
          <a:prstGeom prst="rect">
            <a:avLst/>
          </a:prstGeom>
          <a:noFill/>
          <a:ln/>
        </p:spPr>
        <p:txBody>
          <a:bodyPr wrap="square" lIns="0" tIns="0" rIns="0" bIns="0" rtlCol="0" anchor="ctr"/>
          <a:lstStyle/>
          <a:p>
            <a:pPr indent="0" marL="0">
              <a:buNone/>
            </a:pPr>
            <a:endParaRPr lang="en-US" sz="1240" dirty="0"/>
          </a:p>
        </p:txBody>
      </p:sp>
      <p:sp>
        <p:nvSpPr>
          <p:cNvPr id="28" name="Shape 26"/>
          <p:cNvSpPr/>
          <p:nvPr/>
        </p:nvSpPr>
        <p:spPr>
          <a:xfrm>
            <a:off x="530352" y="3611880"/>
            <a:ext cx="11128248" cy="621792"/>
          </a:xfrm>
          <a:prstGeom prst="rect">
            <a:avLst/>
          </a:prstGeom>
          <a:solidFill>
            <a:srgbClr val="F1F2F4"/>
          </a:solidFill>
          <a:ln w="9525">
            <a:solidFill>
              <a:srgbClr val="E0E3E7"/>
            </a:solidFill>
            <a:prstDash val="solid"/>
          </a:ln>
        </p:spPr>
      </p:sp>
      <p:sp>
        <p:nvSpPr>
          <p:cNvPr id="29" name="Text 27"/>
          <p:cNvSpPr/>
          <p:nvPr/>
        </p:nvSpPr>
        <p:spPr>
          <a:xfrm>
            <a:off x="658368" y="3611880"/>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30" name="Text 28"/>
          <p:cNvSpPr/>
          <p:nvPr/>
        </p:nvSpPr>
        <p:spPr>
          <a:xfrm>
            <a:off x="1548628" y="3611880"/>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사용자가 만족한다</a:t>
            </a:r>
            <a:endParaRPr lang="en-US" sz="1240" dirty="0"/>
          </a:p>
        </p:txBody>
      </p:sp>
      <p:sp>
        <p:nvSpPr>
          <p:cNvPr id="31" name="Text 29"/>
          <p:cNvSpPr/>
          <p:nvPr/>
        </p:nvSpPr>
        <p:spPr>
          <a:xfrm>
            <a:off x="5777362" y="3611880"/>
            <a:ext cx="1969618" cy="621792"/>
          </a:xfrm>
          <a:prstGeom prst="rect">
            <a:avLst/>
          </a:prstGeom>
          <a:noFill/>
          <a:ln/>
        </p:spPr>
        <p:txBody>
          <a:bodyPr wrap="square" lIns="0" tIns="0" rIns="0" bIns="0" rtlCol="0" anchor="ctr"/>
          <a:lstStyle/>
          <a:p>
            <a:pPr indent="0" marL="0">
              <a:buNone/>
            </a:pPr>
            <a:endParaRPr lang="en-US" sz="1240" dirty="0"/>
          </a:p>
        </p:txBody>
      </p:sp>
      <p:sp>
        <p:nvSpPr>
          <p:cNvPr id="32" name="Text 30"/>
          <p:cNvSpPr/>
          <p:nvPr/>
        </p:nvSpPr>
        <p:spPr>
          <a:xfrm>
            <a:off x="8003012" y="3611880"/>
            <a:ext cx="3527572" cy="621792"/>
          </a:xfrm>
          <a:prstGeom prst="rect">
            <a:avLst/>
          </a:prstGeom>
          <a:noFill/>
          <a:ln/>
        </p:spPr>
        <p:txBody>
          <a:bodyPr wrap="square" lIns="0" tIns="0" rIns="0" bIns="0" rtlCol="0" anchor="ctr"/>
          <a:lstStyle/>
          <a:p>
            <a:pPr indent="0" marL="0">
              <a:buNone/>
            </a:pPr>
            <a:endParaRPr lang="en-US" sz="1240" dirty="0"/>
          </a:p>
        </p:txBody>
      </p:sp>
      <p:sp>
        <p:nvSpPr>
          <p:cNvPr id="33" name="Shape 31"/>
          <p:cNvSpPr/>
          <p:nvPr/>
        </p:nvSpPr>
        <p:spPr>
          <a:xfrm>
            <a:off x="530352" y="4233672"/>
            <a:ext cx="11128248" cy="621792"/>
          </a:xfrm>
          <a:prstGeom prst="rect">
            <a:avLst/>
          </a:prstGeom>
          <a:solidFill>
            <a:srgbClr val="FFFFFF"/>
          </a:solidFill>
          <a:ln w="9525">
            <a:solidFill>
              <a:srgbClr val="E0E3E7"/>
            </a:solidFill>
            <a:prstDash val="solid"/>
          </a:ln>
        </p:spPr>
      </p:sp>
      <p:sp>
        <p:nvSpPr>
          <p:cNvPr id="34" name="Text 32"/>
          <p:cNvSpPr/>
          <p:nvPr/>
        </p:nvSpPr>
        <p:spPr>
          <a:xfrm>
            <a:off x="658368" y="4233672"/>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5" name="Text 33"/>
          <p:cNvSpPr/>
          <p:nvPr/>
        </p:nvSpPr>
        <p:spPr>
          <a:xfrm>
            <a:off x="1548628" y="4233672"/>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 내 서비스의 기준</a:t>
            </a:r>
            <a:endParaRPr lang="en-US" sz="1240" dirty="0"/>
          </a:p>
        </p:txBody>
      </p:sp>
      <p:sp>
        <p:nvSpPr>
          <p:cNvPr id="36" name="Text 34"/>
          <p:cNvSpPr/>
          <p:nvPr/>
        </p:nvSpPr>
        <p:spPr>
          <a:xfrm>
            <a:off x="5777362" y="4233672"/>
            <a:ext cx="1969618" cy="621792"/>
          </a:xfrm>
          <a:prstGeom prst="rect">
            <a:avLst/>
          </a:prstGeom>
          <a:noFill/>
          <a:ln/>
        </p:spPr>
        <p:txBody>
          <a:bodyPr wrap="square" lIns="0" tIns="0" rIns="0" bIns="0" rtlCol="0" anchor="ctr"/>
          <a:lstStyle/>
          <a:p>
            <a:pPr indent="0" marL="0">
              <a:buNone/>
            </a:pPr>
            <a:endParaRPr lang="en-US" sz="1240" dirty="0"/>
          </a:p>
        </p:txBody>
      </p:sp>
      <p:sp>
        <p:nvSpPr>
          <p:cNvPr id="37" name="Text 35"/>
          <p:cNvSpPr/>
          <p:nvPr/>
        </p:nvSpPr>
        <p:spPr>
          <a:xfrm>
            <a:off x="8003012" y="4233672"/>
            <a:ext cx="3527572" cy="621792"/>
          </a:xfrm>
          <a:prstGeom prst="rect">
            <a:avLst/>
          </a:prstGeom>
          <a:noFill/>
          <a:ln/>
        </p:spPr>
        <p:txBody>
          <a:bodyPr wrap="square" lIns="0" tIns="0" rIns="0" bIns="0" rtlCol="0" anchor="ctr"/>
          <a:lstStyle/>
          <a:p>
            <a:pPr indent="0" marL="0">
              <a:buNone/>
            </a:pPr>
            <a:endParaRPr lang="en-US" sz="1240" dirty="0"/>
          </a:p>
        </p:txBody>
      </p:sp>
      <p:sp>
        <p:nvSpPr>
          <p:cNvPr id="38" name="Shape 36"/>
          <p:cNvSpPr/>
          <p:nvPr/>
        </p:nvSpPr>
        <p:spPr>
          <a:xfrm>
            <a:off x="530352" y="5029200"/>
            <a:ext cx="11128248" cy="512064"/>
          </a:xfrm>
          <a:prstGeom prst="roundRect">
            <a:avLst>
              <a:gd name="adj" fmla="val 39286"/>
            </a:avLst>
          </a:prstGeom>
          <a:solidFill>
            <a:srgbClr val="FF5C00"/>
          </a:solidFill>
          <a:ln w="12700">
            <a:solidFill>
              <a:srgbClr val="FF5C00"/>
            </a:solidFill>
            <a:prstDash val="solid"/>
          </a:ln>
        </p:spPr>
      </p:sp>
      <p:sp>
        <p:nvSpPr>
          <p:cNvPr id="39" name="Text 37"/>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판정할 수 있다고 적은 문장은 모두 해 보면 답이 나와야 한다</a:t>
            </a:r>
            <a:endParaRPr lang="en-US" sz="1500" dirty="0"/>
          </a:p>
        </p:txBody>
      </p:sp>
      <p:sp>
        <p:nvSpPr>
          <p:cNvPr id="40" name="Shape 38"/>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41" name="Text 39"/>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네 번째 줄이 오늘 마지막으로 적는 내 것이다</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AI는 생각을 정리하는 도구다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27–35쪽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17</a:t>
            </a:r>
            <a:endParaRPr lang="en-US" sz="900" dirty="0"/>
          </a:p>
        </p:txBody>
      </p:sp>
      <p:sp>
        <p:nvSpPr>
          <p:cNvPr id="10" name="Shape 8"/>
          <p:cNvSpPr/>
          <p:nvPr/>
        </p:nvSpPr>
        <p:spPr>
          <a:xfrm>
            <a:off x="530352" y="2011680"/>
            <a:ext cx="5349240" cy="2103120"/>
          </a:xfrm>
          <a:prstGeom prst="roundRect">
            <a:avLst>
              <a:gd name="adj" fmla="val 2391"/>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이렇게 쓰지 않는다</a:t>
            </a:r>
            <a:endParaRPr lang="en-US" sz="1050" dirty="0"/>
          </a:p>
        </p:txBody>
      </p:sp>
      <p:sp>
        <p:nvSpPr>
          <p:cNvPr id="12" name="Text 10"/>
          <p:cNvSpPr/>
          <p:nvPr/>
        </p:nvSpPr>
        <p:spPr>
          <a:xfrm>
            <a:off x="713232" y="246888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대신 정하게 한다</a:t>
            </a:r>
            <a:endParaRPr lang="en-US" sz="1650" dirty="0"/>
          </a:p>
        </p:txBody>
      </p:sp>
      <p:sp>
        <p:nvSpPr>
          <p:cNvPr id="13" name="Text 11"/>
          <p:cNvSpPr/>
          <p:nvPr/>
        </p:nvSpPr>
        <p:spPr>
          <a:xfrm>
            <a:off x="713232" y="2962656"/>
            <a:ext cx="4983480" cy="10058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「내 서비스 기획해 줘」</a:t>
            </a:r>
            <a:endParaRPr lang="en-US" sz="1300" dirty="0"/>
          </a:p>
          <a:p>
            <a:pPr indent="0" marL="0">
              <a:lnSpc>
                <a:spcPts val="1900"/>
              </a:lnSpc>
              <a:buNone/>
            </a:pP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무엇을 만들지 AI가 정하면, 왜 그렇게 정했는지 설명할 수 없다.</a:t>
            </a:r>
            <a:endParaRPr lang="en-US" sz="1300" dirty="0"/>
          </a:p>
        </p:txBody>
      </p:sp>
      <p:sp>
        <p:nvSpPr>
          <p:cNvPr id="14" name="Shape 12"/>
          <p:cNvSpPr/>
          <p:nvPr/>
        </p:nvSpPr>
        <p:spPr>
          <a:xfrm>
            <a:off x="6309360" y="2011680"/>
            <a:ext cx="5349240" cy="2103120"/>
          </a:xfrm>
          <a:prstGeom prst="roundRect">
            <a:avLst>
              <a:gd name="adj" fmla="val 2391"/>
            </a:avLst>
          </a:prstGeom>
          <a:solidFill>
            <a:srgbClr val="E7F2ED"/>
          </a:solidFill>
          <a:ln w="12700">
            <a:solidFill>
              <a:srgbClr val="0E7C86"/>
            </a:solidFill>
            <a:prstDash val="solid"/>
          </a:ln>
        </p:spPr>
      </p:sp>
      <p:sp>
        <p:nvSpPr>
          <p:cNvPr id="15" name="Text 13"/>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이렇게 쓴다</a:t>
            </a:r>
            <a:endParaRPr lang="en-US" sz="1050" dirty="0"/>
          </a:p>
        </p:txBody>
      </p:sp>
      <p:sp>
        <p:nvSpPr>
          <p:cNvPr id="16" name="Text 14"/>
          <p:cNvSpPr/>
          <p:nvPr/>
        </p:nvSpPr>
        <p:spPr>
          <a:xfrm>
            <a:off x="6492240" y="246888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적은 것을 점검시킨다</a:t>
            </a:r>
            <a:endParaRPr lang="en-US" sz="1650" dirty="0"/>
          </a:p>
        </p:txBody>
      </p:sp>
      <p:sp>
        <p:nvSpPr>
          <p:cNvPr id="17" name="Text 15"/>
          <p:cNvSpPr/>
          <p:nvPr/>
        </p:nvSpPr>
        <p:spPr>
          <a:xfrm>
            <a:off x="6492240" y="2962656"/>
            <a:ext cx="4983480" cy="10058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「이 사용자와 이 핵심 기능이 서로 맞는지 봐 줘」</a:t>
            </a:r>
            <a:endParaRPr lang="en-US" sz="1300" dirty="0"/>
          </a:p>
          <a:p>
            <a:pPr indent="0" marL="0">
              <a:lnSpc>
                <a:spcPts val="1900"/>
              </a:lnSpc>
              <a:buNone/>
            </a:pP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정하는 것은 나, 점검은 AI.</a:t>
            </a:r>
            <a:endParaRPr lang="en-US" sz="1300" dirty="0"/>
          </a:p>
        </p:txBody>
      </p:sp>
      <p:sp>
        <p:nvSpPr>
          <p:cNvPr id="18" name="Text 16"/>
          <p:cNvSpPr/>
          <p:nvPr/>
        </p:nvSpPr>
        <p:spPr>
          <a:xfrm>
            <a:off x="530352" y="4572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정하는 사람은 나다</a:t>
            </a:r>
            <a:endParaRPr lang="en-US" sz="1700" dirty="0"/>
          </a:p>
        </p:txBody>
      </p:sp>
      <p:sp>
        <p:nvSpPr>
          <p:cNvPr id="19" name="Shape 17"/>
          <p:cNvSpPr/>
          <p:nvPr/>
        </p:nvSpPr>
        <p:spPr>
          <a:xfrm>
            <a:off x="530352" y="5349240"/>
            <a:ext cx="11128248" cy="512064"/>
          </a:xfrm>
          <a:prstGeom prst="roundRect">
            <a:avLst>
              <a:gd name="adj" fmla="val 39286"/>
            </a:avLst>
          </a:prstGeom>
          <a:solidFill>
            <a:srgbClr val="EAF5FB"/>
          </a:solidFill>
          <a:ln w="12700">
            <a:solidFill>
              <a:srgbClr val="3D8DFF"/>
            </a:solidFill>
            <a:prstDash val="solid"/>
          </a:ln>
        </p:spPr>
      </p:sp>
      <p:sp>
        <p:nvSpPr>
          <p:cNvPr id="20" name="Text 18"/>
          <p:cNvSpPr/>
          <p:nvPr/>
        </p:nvSpPr>
        <p:spPr>
          <a:xfrm>
            <a:off x="731520" y="534924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27쪽 뒤로 오해·역할 구분·확인 문제·정리가 있다. 시간이 없으면 읽어 온다.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2026-09-11T04:57:27Z</dcterms:created>
  <dcterms:modified xsi:type="dcterms:W3CDTF">2026-09-11T04:57:27Z</dcterms:modified>
</cp:coreProperties>
</file>