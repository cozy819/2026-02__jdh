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
지난 시간에 여섯 번 적었죠. 불편, 사용자, 목적 한 문장, 흐름 네 단계, 핵심 기능, 완성 기준.
오늘은 그걸 파일로 옮깁니다. 새로 생각할 게 거의 없어요. 옮겨 적고, 빠진 칸을 채우는 시간입니다.
오늘 45분 중에 제가 말하는 시간은 12분쯤입니다. 나머지는 여러분이 씁니다.
이 문서가 8회 수행평가 2에 그대로 제출됩니다. 오늘 끝내지 못해도 됩니다. 7회에 데이터 목록을 덧붙이고, 8회에 마무리합니다.
[진행 메모]
**교과서를 안 가져온 학생이 반드시 있다.** 그 학생은 6-1의 여섯 칸을 빈 종이에 다시 적게 하고 시작한다. 5분이면 된다.
아이디어를 바꾸겠다는 학생은 지금 바꾸게 한다. 오늘 이후에는 바꾸지 않는다.
[시간 계획 — 학생 화면에는 표시하지 않는다]
0–2 표지 / 2–5 오늘의 원칙 / 5–10 파일 준비 / 10–13 아이디어 확정과 개요
13–20 흐름·기능 옮겨 적기 / 20–28 입력과 결과·화면 여섯 줄 / 28–33 완성 기준
33–40 AI로 점검 / 40–43 자기 점검 / 43–45 정리
※ 설명은 절대 12분을 넘기지 않는다. **오늘의 성과는 학생 문서에 채워진 칸 수다.**
※ 못 끝낸 학생이 많아도 정상이다. 7·8회에 이어서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[2–5분] 오늘 지키는 세 가지
시작 전에 세 가지만 정해 두겠습니다.
첫째, **옮겨 적습니다.** 지난 시간에 적은 걸 그대로 옮기세요. 오늘 새로 생각할 필요 없습니다.
둘째, **범위를 늘리지 않습니다.** 쓰다 보면 기능이 자꾸 떠오릅니다. 그건 보조 칸에만 적으세요. 핵심은 하나 그대로 갑니다.
셋째, **빈칸을 남겨도 됩니다.** 지금 모르는 칸은 비워 두세요. 7회에 데이터 목록을 붙이고 8회에 마무리합니다.
오늘의 성과는 좋은 아이디어가 아니라 **채워진 칸 수**입니다.
[예상 질문]
Q. 아이디어를 바꾸고 싶어요.
A. 지금 바꾸라고 한다. 다만 오늘 이후에는 바꾸지 않는다고 못을 박는다. 7·8회가 이 문서 위에 쌓인다.
[진행 메모]
3분을 넘기지 않는다. 여기서 길어지면 정작 쓰는 시간이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[5–10분] PRD 양식을 복사하고 이름을 바꾼다
교과서 3쪽을 펴세요. 5분 드립니다.
양식 전문은 교과서 20쪽부터 23쪽에도 있지만, 손으로 옮겨 적지 마세요. 3쪽 버튼으로 받으면 됩니다.
파일 이름은 08_assessment2_학생ID_이름.md 입니다. **8회에 제출할 이름을 지금부터 씁니다.** 나중에 안 바꿔도 되게요.
받은 양식을 그대로 쓰지 말고 **복사본을 만들어** 이름을 바꾸세요. 원본은 남겨 둡니다.
(돌아다니며 확인한다)
[예상 질문]
Q. 워드로 하면 안 되나요?
A. .md 로 한다. 8회 제출 규격이 .md 하나다. 메모장으로 열어도 되고 VS Code 로 열어도 된다.
[진행 메모]
**파일 이름을 틀리는 학생이 매번 나온다.** 화면에 띄워 두고 돌아다니며 확인한다.
VS Code 에서 새 파일 만드는 걸 어려워하면 메모장으로 해도 된다고 한다. 오늘 배울 것은 파일 만들기가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[10–13분] 첫 두 항목을 옮겨 적는다
교과서 6쪽, 7쪽입니다. 3분.
지난 시간 교과서를 옆에 펴 놓으세요. **그대로 옮기면 됩니다.**
사용자는 워크시트 ①의 네 번째 줄. 목적 한 문장은 적기 ②의 세 칸.
서비스 이름만 새로 하나 지으면 되는데, 여기서 오래 고민하지 마세요. 나중에 바꿔도 됩니다.
(돌아다니며 확인한다)
[진행 메모]
**서비스 이름에서 10분을 쓰는 학생이 반드시 나온다.** 「지금은 아무 이름이나, 나중에 바꾼다」로 끊는다.
「편리한」·「재미있는」이 목적 문장에 다시 등장하는 경우가 있다. 지나가며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[13–20분] 흐름과 기능 범위를 옮긴다
교과서 8쪽부터 10쪽입니다. 6분 드립니다.
흐름은 적기 ③의 네 단계를 그대로 옮기세요. 기능은 적기 ④고요.
새로 적을 칸이 하나 있습니다. **「만들지 않을 기능」.** 왜 적냐면, 지금 적어 두면 나중에 「이것도 넣을까」 하고 돌아가지 않게 됩니다.
그리고 기능마다 「사용자가 얻는 결과」를 같이 적으세요. 기능과 결과는 다릅니다. 「적는다」는 기능이고, 「적은 게 목록에 남아 다시 보인다」가 결과입니다.
(돌아다니며 확인한다)
쓰다가 기능이 떠오르면 보조 칸이나 「만들지 않을」 칸으로 보내세요. 핵심은 하나 그대로입니다.
[예상 질문]
Q. 보조 기능을 두 개 다 채워야 하나요?
A. 아니다. 비워도 된다. 억지로 채우면 나중에 만들 게 늘어난다.
[진행 메모]
6분은 오늘 가장 긴 쓰기 구간이다. **중간에 설명을 끼워 넣지 않는다.**
3분쯤 지나면 핵심 기능 칸을 다 채웠는지만 한 번 물어본다.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[20–28분] 입력과 결과, 화면 여섯 줄
교과서 11쪽부터 13쪽입니다. 7분 드립니다.
이 두 항목은 6-1에서 설명만 듣고 안 적었죠. 오늘 처음 적습니다.
입력과 결과는 네 줄입니다. 사용자가 뭘 넣는가, 무슨 동작을 하는가, 뭘 받는가, 그리고 **입력이 비어 있으면 뭘 알려 주는가.**
화면은 여섯 줄입니다. 그림은 그리지 마세요. 글로만 적습니다.
마지막 줄을 특히 챙기세요. 「입력이 없거나 잘못됐을 때 나타나는 안내」. 이게 없으면 사용자는 버튼을 눌렀는데 아무 일도 안 일어나는 화면을 보게 됩니다.
12회 테스트 차시에서 이 줄을 그대로 가져다 씁니다.
(돌아다니며 확인한다)
[예상 질문]
Q. 화면이 두 개면요?
A. 핵심 기능이 일어나는 화면 하나만 적는다. 설정 화면, 도움말 화면은 안 적는다.
[진행 메모]
**마지막 줄을 비워 두는 학생이 절반은 된다.** 7분 중 5분쯤에 그 줄만 콕 집어 한 번 확인한다.
그림을 그리기 시작하는 학생이 있으면 바로 멈춘다. 6-1 22쪽에 이유가 적혀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[28–33분] 완성 기준을 2~3개 적는다
교과서 14쪽입니다. 4분.
워크시트 ②의 네 번째 줄을 옮기고, 하나나 둘을 더 적으세요.
적고 나서 한 문장씩 소리 내어 읽어 보세요. 그리고 스스로 물어보세요. **해 보면 판정이 나는가.**
왼쪽 같은 문장이 나오면 다시 적습니다. 오른쪽 틀을 쓰면 거의 틀리지 않습니다.
이 문장들이 10~13회에 AI가 만든 결과를 판정하는 기준이 됩니다. 하나씩 실행해 보고 표시할 거예요.
(돌아다니며 확인한다)
[예상 질문]
Q. 세 개를 꼭 채워야 하나요?
A. 두 개면 된다. 대신 두 개 다 판정할 수 있어야 한다.
[진행 메모]
「잘 작동한다」가 다시 등장하면 6-1 워크시트 ②를 펴게 한다. 이미 판정해 본 문장이다.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[33–40분] AI로 문서의 연결을 점검한다
교과서 15쪽입니다. 6분 드립니다.
지금까지 적은 문서를 통째로 복사해서 AI에 붙여 넣습니다. 그리고 이 요청문을 씁니다.
읽어 보세요. 「새로 만들거나 고쳐 주지 말고」가 들어 있죠. **「기획해 줘」가 아니라 「점검해 줘」입니다.**
세 가지만 확인시킵니다. 사용자와 핵심 기능이 맞는가, 완성 기준이 판정 가능한가, 비어 있거나 어긋난 항목이 있는가.
답을 받으면 **그대로 고치지 마세요.** 지적 하나하나에 「이게 맞나?」를 스스로 판단하고, 맞는 것만 고칩니다.
4-1에서 AI가 그린 그래프를 원본과 대조했던 것과 같습니다. AI가 말했다고 맞는 게 아니에요.
[예상 질문]
Q. AI가 기능을 더 넣으라는데요?
A. 안 넣는다. 범위를 줄이는 게 이 수업의 원칙이라고 AI는 모른다. 그런 지적은 무시해도 된다고 분명히 말해 둔다.
[진행 메모]
**AI가 문서를 통째로 다시 써 주는 일이 자주 생긴다.** 그걸 복사해 붙이는 학생을 반드시 잡는다.
지적을 받아 고친 학생에게 「무엇을 왜 고쳤는지」 한 줄 적게 하면 8회 채점에서 유리하다.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[40–43분] 오늘 채운 칸을 세어 본다
교과서 18쪽입니다. 2분.
일곱 줄을 보고 채웠는지 비었는지 표시하세요.
**비었음이 두 개 이하면 오늘 몫을 다 한 겁니다.** 세 개 이상이면 어디서 막혔는지 17쪽을 보세요. 막히는 자리마다 어떻게 하는지 적혀 있습니다.
다 못 채워도 괜찮습니다. 7회에 데이터 목록을 붙이고, 8회에 마무리합니다.
(돌아다니며 표시된 것을 본다)
[진행 메모]
**비었음이 다섯 개 넘는 학생을 따로 적어 둔다.** 7회 시작에 그 학생부터 챙긴다.
여기서 「왜 안 했냐」로 가지 않는다. 어디서 막혔는지만 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[43–45분] 마무리
오늘 세 가지를 남깁니다.
첫째, 계획서는 일곱 항목입니다. 사용자, 목적, 흐름, 기능 범위, 입력과 결과, 화면, 완성 기준.
둘째, 각 항목은 **서로 맞아야** 합니다. 사용자가 「시험 전날 외울 것 고르기 어려운 학생」인데 핵심 기능이 엉뚱하면 어긋난 문서입니다.
셋째, **정하는 사람은 나입니다.** AI는 점검하는 도구예요.
파일은 06 폴더에 두세요. 지우지 마세요. 다음 시간에 이 파일에 데이터 목록을 덧붙입니다.
교과서 20쪽부터 23쪽에 양식 전문이 있습니다. 빈칸이 많이 남은 사람은 그걸 보고 집에서 채워 와도 됩니다.
[진행 메모]
**파일을 지우지 말라고 반드시 말한다.** 7·8회가 이 파일 위에 쌓인다.
다음 시간은 표와 데이터 이야기다. 「내 서비스가 무엇을 기억해야 하는가」를 정한다고 예고한다.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6회 · 둘째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서비스 제작 계획서(PRD)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시작하기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30352" y="365760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지난 시간에 손으로 적은 여섯 줄을 파일로 옮깁니다.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45분 중 30분 넘게 여러분이 씁니다.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06-2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지키는 세 가지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06-2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3520440" cy="2194560"/>
          </a:xfrm>
          <a:prstGeom prst="roundRect">
            <a:avLst>
              <a:gd name="adj" fmla="val 2292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옮겨 적는다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3154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지난 시간에 적은 것을 그대로 옮긴다. 새로 생각하지 않는다.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06824" y="2103120"/>
            <a:ext cx="3520440" cy="2194560"/>
          </a:xfrm>
          <a:prstGeom prst="roundRect">
            <a:avLst>
              <a:gd name="adj" fmla="val 2292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9704" y="2267712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489704" y="2688336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범위를 늘리지 않는다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4489704" y="3182112"/>
            <a:ext cx="3154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쓰다가 기능이 떠올라도 보조 칸에만 적는다.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83296" y="2103120"/>
            <a:ext cx="3520440" cy="2194560"/>
          </a:xfrm>
          <a:prstGeom prst="roundRect">
            <a:avLst>
              <a:gd name="adj" fmla="val 2292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66176" y="2267712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66176" y="2688336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빈칸을 남긴다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8266176" y="3182112"/>
            <a:ext cx="3154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모르는 칸은 비워 둔다. 7·8회에 채운다.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30352" y="48920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오늘의 성과는 좋은 아이디어가 아니라 채워진 칸 수다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 못 채워도 된다. 7회에 데이터 목록을 붙이고 8회에 마무리한다.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PRD 양식을 받아 이름을 바꾼다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06-2 · 3–5쪽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3쪽의 내려받기 버튼으로 06 폴더를 받는다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받아서 복사한다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18211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06 폴더의 PRD_양식.md 를 복사한다.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210312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92240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이름을 바꾼다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18211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복사본의 이름을 아래 형식으로 바꾼다.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0352" y="3840480"/>
            <a:ext cx="11128248" cy="914400"/>
          </a:xfrm>
          <a:prstGeom prst="roundRect">
            <a:avLst>
              <a:gd name="adj" fmla="val 5000"/>
            </a:avLst>
          </a:prstGeom>
          <a:solidFill>
            <a:srgbClr val="24272C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96849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파일 이름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68096" y="4242816"/>
            <a:ext cx="10652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08_assessment2_학생ID_이름.md      (예) 08_assessment2_260701_홍길동.md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8회에 제출할 이름을 지금부터 쓴다. 나중에 바꾸지 않는다.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파일 하나가 8회 수행평가 2의 제출물이 된다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두 항목을 옮겨 적는다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06-2 · 6–7쪽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6-1에서 적은 것을 파일에 옮긴다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0312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문서의 항목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68826" y="210312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3996842" y="210312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6-1 어디서 가져오나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652431" y="2103120"/>
            <a:ext cx="400616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6" name="Text 14"/>
          <p:cNvSpPr/>
          <p:nvPr/>
        </p:nvSpPr>
        <p:spPr>
          <a:xfrm>
            <a:off x="7780447" y="2103120"/>
            <a:ext cx="375013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빠뜨리기 쉬운 것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0352" y="250545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505456"/>
            <a:ext cx="3082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서비스 이름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3996842" y="2505456"/>
            <a:ext cx="35275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 한 줄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7780447" y="2505456"/>
            <a:ext cx="37501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길게 짓지 않는다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307238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072384"/>
            <a:ext cx="3082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3996842" y="3072384"/>
            <a:ext cx="35275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네 번째 줄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7780447" y="3072384"/>
            <a:ext cx="37501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「언제」가 들어 있는가</a:t>
            </a:r>
            <a:endParaRPr lang="en-US" sz="1240" dirty="0"/>
          </a:p>
        </p:txBody>
      </p:sp>
      <p:sp>
        <p:nvSpPr>
          <p:cNvPr id="25" name="Shape 23"/>
          <p:cNvSpPr/>
          <p:nvPr/>
        </p:nvSpPr>
        <p:spPr>
          <a:xfrm>
            <a:off x="530352" y="3639312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3639312"/>
            <a:ext cx="3082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목적 한 문장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3996842" y="3639312"/>
            <a:ext cx="35275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적기 ② 세 칸</a:t>
            </a:r>
            <a:endParaRPr lang="en-US" sz="1240" dirty="0"/>
          </a:p>
        </p:txBody>
      </p:sp>
      <p:sp>
        <p:nvSpPr>
          <p:cNvPr id="28" name="Text 26"/>
          <p:cNvSpPr/>
          <p:nvPr/>
        </p:nvSpPr>
        <p:spPr>
          <a:xfrm>
            <a:off x="7780447" y="3639312"/>
            <a:ext cx="37501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「편리한」이 남아 있지 않은가</a:t>
            </a: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 생각하지 않는다. 지난 시간 교과서를 옆에 펴 놓고 옮긴다.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서비스 이름은 나중에 바꿔도 된다. 지금 오래 고민하지 않는다.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흐름과 기능 범위를 옮긴다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06-2 · 8–10쪽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적기 ③ 네 단계와 적기 ④ 핵심 기능을 옮긴다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16459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03120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176272" y="2103120"/>
            <a:ext cx="384048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2304288" y="2103120"/>
            <a:ext cx="3584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개수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2505456"/>
            <a:ext cx="5486400" cy="53035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505456"/>
            <a:ext cx="1389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핵심 기능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2304288" y="2505456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1개 — 반드시 채운다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3035808"/>
            <a:ext cx="54864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035808"/>
            <a:ext cx="1389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 기능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2304288" y="3035808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최대 2개 — 비워도 된다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3566160"/>
            <a:ext cx="5486400" cy="53035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566160"/>
            <a:ext cx="1389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만들지 않을 기능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2304288" y="3566160"/>
            <a:ext cx="3584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떠올랐지만 안 할 것을 적는다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6309360" y="2103120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「만들지 않을 기능」을 왜 적나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6492240" y="2761488"/>
            <a:ext cx="49834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적어 두면 나중에 「이것도 넣을까」로 돌아가지 않는다.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8회 채점에서도 범위를 아는지를 본다.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30352" y="47091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7091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기능마다 「사용자가 얻는 결과」를 같이 적는다 — 기능과 결과는 다르다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쓰다가 떠오른 기능은 보조 칸이나 「만들지 않을」 칸으로 보낸다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입력과 결과, 화면 여섯 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06-2 · 11–13쪽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이 두 항목은 오늘 처음 적는다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057400"/>
            <a:ext cx="511899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057400"/>
            <a:ext cx="48629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 설명 여섯 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49346" y="2057400"/>
            <a:ext cx="600925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5777362" y="2057400"/>
            <a:ext cx="57532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 서비스에서는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2459736"/>
            <a:ext cx="11128248" cy="51206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459736"/>
            <a:ext cx="48629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 이름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5777362" y="2459736"/>
            <a:ext cx="57532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2971800"/>
            <a:ext cx="1112824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971800"/>
            <a:ext cx="48629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처음 열면 보이는 내용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5777362" y="2971800"/>
            <a:ext cx="57532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3483864"/>
            <a:ext cx="11128248" cy="51206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483864"/>
            <a:ext cx="48629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입력하거나 고르는 것 · 누르는 것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5777362" y="3483864"/>
            <a:ext cx="57532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995928"/>
            <a:ext cx="1112824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95928"/>
            <a:ext cx="48629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동작한 뒤 나타나는 결과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777362" y="3995928"/>
            <a:ext cx="57532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Shape 25"/>
          <p:cNvSpPr/>
          <p:nvPr/>
        </p:nvSpPr>
        <p:spPr>
          <a:xfrm>
            <a:off x="530352" y="4507992"/>
            <a:ext cx="11128248" cy="51206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4507992"/>
            <a:ext cx="486296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입력이 없거나 잘못됐을 때 안내</a:t>
            </a:r>
            <a:endParaRPr lang="en-US" sz="1240" dirty="0"/>
          </a:p>
        </p:txBody>
      </p:sp>
      <p:sp>
        <p:nvSpPr>
          <p:cNvPr id="29" name="Text 27"/>
          <p:cNvSpPr/>
          <p:nvPr/>
        </p:nvSpPr>
        <p:spPr>
          <a:xfrm>
            <a:off x="5777362" y="4507992"/>
            <a:ext cx="57532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0" name="Shape 28"/>
          <p:cNvSpPr/>
          <p:nvPr/>
        </p:nvSpPr>
        <p:spPr>
          <a:xfrm>
            <a:off x="530352" y="51663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1663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마지막 줄을 빠뜨리지 않는다. 12회 테스트에서 그대로 쓴다.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그림은 그리지 않는다. 글로만 적는다.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완성 기준을 2~3개 적는다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06-2 · 14쪽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워크시트 ②의 네 번째 줄을 옮기고 하나를 더 적는다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5349240" cy="1828800"/>
          </a:xfrm>
          <a:prstGeom prst="roundRect">
            <a:avLst>
              <a:gd name="adj" fmla="val 2750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3134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이러면 다시 적는다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280720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잘 작동한다 · 사용하기 편하다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디자인이 깔끔하다 · 사용자가 만족한다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09360" y="2148840"/>
            <a:ext cx="5349240" cy="1828800"/>
          </a:xfrm>
          <a:prstGeom prst="roundRect">
            <a:avLst>
              <a:gd name="adj" fmla="val 275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3134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이렇게 적는다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280720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___를 누르면 ___가 나타난다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입력이 비어 있으면 ___가 나타난다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30352" y="43434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3434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각 문장을 소리 내어 읽고 「해 보면 판정이 나는가」를 스스로 묻는다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30352" y="53492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10~13회에 이 문장을 하나씩 실행해 표시한다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AI로 문서의 연결을 점검한다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06-2 · 15–16쪽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다 적은 문서를 통째로 붙여 넣고 점검을 요청한다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057400"/>
            <a:ext cx="11128248" cy="2377440"/>
          </a:xfrm>
          <a:prstGeom prst="roundRect">
            <a:avLst>
              <a:gd name="adj" fmla="val 1923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18541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요청문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459736"/>
            <a:ext cx="10652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아래는 내가 쓴 서비스 계획서다.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새로 만들거나 고쳐 주지 말고, 아래 세 가지만 확인해 알려 줘.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E6B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 사용자와 핵심 기능이 서로 맞는가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E6B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 완성 기준이 해 보면 판정할 수 있는 문장인가</a:t>
            </a:r>
            <a:endParaRPr lang="en-US" sz="1400" dirty="0"/>
          </a:p>
          <a:p>
            <a:pPr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9BE6B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3. 비어 있거나 서로 어긋나는 항목이 있는가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0352" y="4572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572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「기획해 줘」가 아니라 「점검해 줘」다. 정하는 사람은 나다.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737360" y="5257800"/>
            <a:ext cx="8686800" cy="1051560"/>
          </a:xfrm>
          <a:prstGeom prst="roundRect">
            <a:avLst>
              <a:gd name="adj" fmla="val 47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5422392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답을 받으면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920240" y="5916168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그대로 고치지 않는다. 지적 하나하나에 「맞나?」를 스스로 판단하고, 맞는 것만 고친다.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채운 칸을 세어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06-2 · 17–19쪽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667694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11680"/>
            <a:ext cx="642091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채웠어야 하는 것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07301" y="201168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7335317" y="201168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채움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432950" y="201168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9560966" y="201168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비었음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414016"/>
            <a:ext cx="11128248" cy="39319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414016"/>
            <a:ext cx="642091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서비스 이름과 사용자 한 줄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7335317" y="2414016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9560966" y="2414016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807208"/>
            <a:ext cx="11128248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807208"/>
            <a:ext cx="642091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목적 한 문장 — 세 칸이 다 채워졌다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35317" y="2807208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9560966" y="2807208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200400"/>
            <a:ext cx="11128248" cy="39319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200400"/>
            <a:ext cx="642091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사용 흐름 3~4단계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335317" y="3200400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3200400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593592"/>
            <a:ext cx="11128248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593592"/>
            <a:ext cx="642091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핵심 기능 1개와 얻는 결과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7335317" y="3593592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9560966" y="3593592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3986784"/>
            <a:ext cx="11128248" cy="39319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3986784"/>
            <a:ext cx="642091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입력과 결과 네 줄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7335317" y="3986784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9560966" y="3986784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379976"/>
            <a:ext cx="11128248" cy="39319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379976"/>
            <a:ext cx="642091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 설명 여섯 줄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7335317" y="4379976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9560966" y="4379976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4773168"/>
            <a:ext cx="11128248" cy="39319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4773168"/>
            <a:ext cx="642091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완성 기준 2~3개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7335317" y="4773168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3" name="Text 41"/>
          <p:cNvSpPr/>
          <p:nvPr/>
        </p:nvSpPr>
        <p:spPr>
          <a:xfrm>
            <a:off x="9560966" y="4773168"/>
            <a:ext cx="196961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4" name="Shape 42"/>
          <p:cNvSpPr/>
          <p:nvPr/>
        </p:nvSpPr>
        <p:spPr>
          <a:xfrm>
            <a:off x="530352" y="5321808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5321808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비었음이 두 개 이하면 오늘 몫을 다 한 것이다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막혔던 칸은 교과서 17쪽의 「이럴 때는 이렇게」를 본다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정하는 사람은 나다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" y="370332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무엇을 만들지 AI가 정하면 왜 그렇게 정했는지 설명할 수 없다.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만든 파일 하나가 8회에 그대로 제출된다.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06-2 · 20–24쪽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2026-09-10T07:16:27Z</dcterms:created>
  <dcterms:modified xsi:type="dcterms:W3CDTF">2026-09-10T07:16:27Z</dcterms:modified>
</cp:coreProperties>
</file>