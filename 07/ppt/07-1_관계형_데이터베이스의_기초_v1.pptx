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[0–1분] 표지
지난 시간에 PRD를 쓰고 목업까지 붙였죠. 그런데 그 목업, 무언가를 기억할까요? 오늘은 그걸 직접 확인하는 데서 시작합니다.
오늘은 서비스가 정보를 어떻게 기억하는지 표로 보고, 마지막에 내 서비스가 기억할 것을 AI에게 표로 그려 달라고 해서 읽어 봅니다. 이 표가 다음 시간 PRD 5항의 재료가 됩니다.
[진행 메모]
7회는 6회의 06 폴더에서 이어서 한다. 새로 내려받는 자료가 없다. 06 폴더가 없는 학생은 6-1 교과서의 내려받기 버튼으로 받게 한다.
[시간 계획 — 학생 화면에는 표시하지 않는다]
0–1 표지 / 1–2 오늘 할 일 / 2–6 목업에서 사라지는 것 / 6–9 데이터베이스 / 9–13 표·행·열 / 13–16 기본키 / 16–19 외래키
19–22 1:N / 22–25 JOIN / 25–27 표의 수 / 27–33 AI에게 표 요청 / 33–35 미리 보기 / 35–41 네 가지 검토 / 41–45 막힐 때·정리
※ 개념(6–27분)은 설명만 짧게. 학생이 AI와 자기 표를 보는 시간(27–41분)을 지킨다.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[1–2분] 오늘은 네 단계로 간다
(카드를 차례로 가리키며) 먼저 내 목업에서 무언가 사라지는 걸 보고, 서비스가 표로 기억하는 법을 짧게 본 다음, AI에게 내 서비스의 표를 그려 달라고 하고, 그 표를 읽고 검토합니다.
(셋째 카드를 가리키며) 오늘 꼭 끝낼 것은 이것입니다. 데이터_예시.md를 만들고 끝까지 읽는 것. 앞의 개념은 그 표를 읽기 위한 준비입니다.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[2–6분] 내 목업에 적고 F5를 누르면 사라진다
06 폴더를 Code로 열고, mockup 폴더의 index.html을 오른쪽 클릭해서 Open with Live Server로 여세요. 지난 시간에 만든 내 목업입니다.
(왼쪽 화면을 가리키며) 입력칸에 아무거나 적고 버튼을 누르세요. 결과가 보이죠. 이제 브라우저에서 F5. (오른쪽 화면을 가리키며) 처음으로 돌아갑니다.
왜 그럴까요? 적은 것을 브라우저가 잠깐 들고 있었을 뿐, 어디에도 저장하지 않았기 때문입니다. 서비스가 기억하려면 저장해 두었다가 다시 열 때 꺼내 보여 줘야 합니다. 그 저장하는 곳이 오늘 배우는 데이터베이스입니다.
[진행 메모]
목업이 없거나 입력칸이 없는 학생은 교과서 4쪽의 연습 칸(할 일 추가)으로 같은 것을 해 보게 한다.
F5 뒤에도 입력칸 글자가 남는 브라우저가 있다. 버튼을 눌러 나온 결과가 사라졌는지를 보게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[6–9분] 데이터베이스는 서비스의 기억 장소다
쇼핑 앱의 장바구니는 다음 날 열어도 그대로 있죠. 담은 물건을 데이터베이스에 저장해 두었기 때문입니다.
(표를 가리키며) 변수는 실행하는 동안만, 파일은 남지만 여럿이 함께 고치거나 다른 자료와 잇기가 번거롭고, 데이터베이스는 남으면서 찾고 고치고 연결하기 쉽습니다.
(띠를 가리키며) 우리가 배우는 건 관계형 데이터베이스입니다. 「관계」는 사람 사이가 아니라 표와 표 사이의 연결입니다. 11회에 실제로 SQLite에 연결합니다.
[예상 질문]
Q. NoSQL이 더 좋은 거 아니에요?
A. 더 새롭거나 더 좋은 게 아니라 쓰임에 따라 고르는 다른 방식이다. 이 수업에서는 표를 쓰는 방식만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[9–13분] 표의 한 행은 기록 하나다
관계형 데이터베이스는 정보를 표에 담습니다. 4-2에서 pandas로 본 표와 같습니다. 오늘은 독서 기록 서비스 하나로 끝까지 갑니다.
(주황 줄을 가리키며) 가로 한 줄, 행이 기록 하나입니다. (파란 칸을 가리키며) 세로 한 칸, 열이 그 기록의 항목입니다.
(띠를 가리키며) 표를 보면 먼저 이걸 묻습니다. 「이 표의 한 행은 무엇인가?」 한 문장으로 답할 수 있어야 합니다. 책과 회원과 기록이 한 표에 섞이면 이 문장이 안 나옵니다. 나중에 AI가 그린 표를 볼 때 제일 먼저 던질 질문입니다.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[13–16분] 기본키 id가 행 하나를 집어낸다
같은 반에 김민준이 두 명이면 이름만으로는 누구인지 모르죠. 그래서 학교는 학번을 씁니다. 표도 행마다 겹치지 않는 번호를 붙입니다. 이게 기본키, PK입니다.
(표를 가리키며) 1번과 3번은 둘 다 어린 왕자지만 id가 달라서 다른 기록입니다.
(오른쪽 카드를 가리키며) 기본키는 겹치지 않고, 비어 있지 않고, 바뀌지 않아야 합니다. 제목이나 이름은 같을 수도 있고 바뀔 수도 있어서 안 됩니다.
(띠를 가리키며) 전화번호 같은 개인정보도 기본키로 쓰지 않습니다. 기본키는 다른 표에도 적히니까 곳곳에 퍼집니다. 이 수업에서는 저절로 붙는 id를 씁니다. 여러분이 정할 필요가 없습니다.
서비스에 꼭 필요한 정보만 저장하는 것을 데이터 최소 수집이라고 합니다. 저장하지 않은 정보는 새어 나갈 수도 없습니다. 11회에 저장 기능을 만들 때 이 원칙을 다시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[16–19분] 반복되는 것은 표를 나누고 id로 잇는다
독서 기록마다 책 제목과 저자를 적으면, 같은 책 정보가 기록 수만큼 되풀이됩니다. 제목에 오타가 있으면 그 줄을 다 고쳐야 하죠.
(왼쪽 표를 가리키며) 그래서 책 정보는 책 표로 따로 뺍니다. (오른쪽 표 파란 열을 가리키며) 기록에는 어느 책인지 가리키는 번호, book_id만 적습니다.
(주황 글자를 가리키며) book_id가 책 표의 id를 가리킵니다. 이렇게 다른 표의 기본키를 가리키는 열을 외래키, FK라고 합니다. 제목이 아니라 번호를 적으니까 제목을 고쳐도 연결은 그대로입니다.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[19–22분] 하나에 여러 개가 붙는 관계, 1:N
(그림을 가리키며) 한쪽 표의 한 칸에서 실이 나와 다른 표의 한 줄에 닿죠. 외래키가 하는 일이 이것입니다.
앞의 예에서 어린 왕자에는 기록이 두 개 붙어 있었습니다. 같은 책을 두 번 읽었으니까요. 하나에 여러 개가 붙는 이 관계를 1:N이라고 합니다.
(아래 카드를 가리키며) 외래키는 여러 개 쪽에 둡니다. 책 표에 「이 책의 기록들」 칸을 만들면 한 칸에 번호를 여러 개 넣어야 하니까요. 표의 한 칸에는 값 하나가 원칙입니다.
[예상 질문]
Q. 여러 개와 여러 개가 붙으면요?
A. 다대다(N:M)라고 하는데 이 수업에서는 다루지 않는다. 필요해지면 개발 단계에서 AI와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[22–25분] 나눠 저장하고, 보여 줄 때 합친다
(왼쪽 표를 가리키며) 독서 기록 표만 보면 book_id가 1이라는 것만 있어서 무슨 책인지 모릅니다.
(오른쪽 표를 가리키며) 화면에 보여 줄 때는 book_id와 책 표의 id를 맞대어 합칩니다. 그러면 제목이 보이죠. 이게 JOIN입니다.
SQL 문법은 배우지 않습니다. (띠를 가리키며) 어느 두 표를, 어느 키로 이어, 무엇을 보여 주는지만 읽을 수 있으면 됩니다. 실제로 잇는 코드는 개발 단계에서 AI가 짜고 우리가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[25–27분] 표는 하나로 충분한 경우가 많다
모든 서비스에 표를 여러 개 만들 필요는 없습니다. (표를 가리키며) 할 일 기록이나 6-2의 하나 뽑기는 표 하나면 됩니다. 독서 기록처럼 책과 기록이 서로 다른 대상일 때만 둘로 나눕니다.
(아래 카드를 가리키며) 다만 이 수업의 모든 서비스는 사용자가 다시 볼 기록을 하나는 남깁니다. 계산기라도 사용한 값과 결과를 남기면 됩니다. 저장했다는 표시를 내려고 상관없는 값을 만들지는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[27–33분] AI에게 내 서비스의 표를 그려 달라고 한다
이제 내 서비스로 해 봅니다. 탐색기 맨 위가 06인지 보고, 터미널 → 새 터미널을 열어 줄 끝이 06&gt;인지 본 뒤 opencode를 입력하세요. 교과서 12쪽 요청문을 복사해 보냅니다.
(초록 줄을 가리키며) 내 PRD를 읽고 기억할 기록을 표로 그려 달라고 합니다. 예시 행 세 줄과 「한 행은 무엇」 문장까지. (주황 줄을 가리키며) 파일로 저장해 달라고 꼭 말합니다. 6-2에서 이걸 빼면 대화창에만 쓰고 끝났죠.
(왼쪽 카드를 가리키며) 열이나 키를 여러분이 설계하지 않습니다. AI가 그린 표를 오늘 배운 눈으로 읽는 게 여러분 일입니다.
[진행 메모]
Big Pickle이 느리다. 요청을 보낸 뒤 기다리는 동안 PRD.md 2항 핵심 기능을 다시 읽게 한다.
FreeUsageLimitError가 여러 명에게 계속 나오면 부산시교육청 펜즈(PENZ) AI에 PRD.md 내용을 붙여 넣고 같은 요청을 한 뒤, VS Code에서 06 폴더에 새 파일 데이터_예시.md를 만들어 받은 표를 붙여 넣고 저장하게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[33–35분] 미리 보기로 표를 펼쳐 본다
데이터_예시.md가 생기면 열어 보세요. (그림 왼쪽을 가리키며) 원문은 |와 - 기호가 섞여서 읽기 어렵습니다.
6-1에서 메모를 볼 때처럼 미리 보기를 엽니다. 파일을 오른쪽 클릭해서 미리보기 열기, 또는 Ctrl+Shift+V. (그림 오른쪽을 가리키며) 칸이 나뉜 표로 보입니다.
열 이름, 예시 세 줄, 아래의 「한 행은」 문장까지 끝까지 읽으세요.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[35–41분] 네 가지를 읽고, 다르면 다시 말한다
AI가 그린 표는 출발점입니다. (표를 가리키며) 네 가지를 확인하세요. 한 행이 무엇인지, id가 있는지, 실제 개인정보가 있는지, 표가 너무 많거나 섞였는지.
다르면 오른쪽처럼 AI에게 다시 말합니다. AI가 파일을 고쳐도 괜찮습니다. 고친 다음에 다시 끝까지 읽는 것, 이게 이번 학기 내내 하는 연습입니다.
(돌아다니며 확인한다)
[진행 메모]
「다 읽었다」는 학생에게 「한 행은 무엇이냐」고 물어 자기 말로 답하게 한다.
표를 셋 넘게 그린 학생이 많을 것이다. 「표는 하나로 충분한 경우가 많다」 장을 다시 짚는다.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[41–45분] 저장하고 다음 차시를 준비한다
막힌 사람은 교과서 15쪽에서 내 상황과 같은 줄을 찾으세요.
(표를 가리키며) 오늘 06 폴더에 데이터_예시.md가 새로 생겼습니다. 다음 시간에 이걸 보며 PRD 5항을 씁니다. 나머지 파일은 지우지 않습니다. 탭에 동그라미가 있으면 Ctrl+S.
오늘 핵심은 하나입니다. 서비스는 표에 나눠 저장하고, 보여 줄 때 합친다. 그리고 AI가 그린 표는 내가 읽고 검토한다.
[진행 메모]
데이터_예시.md를 만들지 못한 학생을 적어 두고 7-2 시작 전에 교과서 12쪽 요청부터 보내게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7회 · 첫째 차시</a:t>
            </a:r>
            <a:endParaRPr lang="en-US" sz="1200" dirty="0"/>
          </a:p>
        </p:txBody>
      </p:sp>
      <p:sp>
        <p:nvSpPr>
          <p:cNvPr id="4" name="Text 2"/>
          <p:cNvSpPr/>
          <p:nvPr/>
        </p:nvSpPr>
        <p:spPr>
          <a:xfrm>
            <a:off x="530352" y="1828800"/>
            <a:ext cx="10424160" cy="1783080"/>
          </a:xfrm>
          <a:prstGeom prst="rect">
            <a:avLst/>
          </a:prstGeom>
          <a:noFill/>
          <a:ln/>
        </p:spPr>
        <p:txBody>
          <a:bodyPr wrap="square" lIns="0" tIns="0" rIns="0" bIns="0" rtlCol="0" anchor="ctr"/>
          <a:lstStyle/>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관계형 데이터베이스의</a:t>
            </a:r>
            <a:endParaRPr lang="en-US" sz="3800" dirty="0"/>
          </a:p>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기초</a:t>
            </a:r>
            <a:endParaRPr lang="en-US" sz="3800" dirty="0"/>
          </a:p>
        </p:txBody>
      </p:sp>
      <p:sp>
        <p:nvSpPr>
          <p:cNvPr id="5" name="Text 3"/>
          <p:cNvSpPr/>
          <p:nvPr/>
        </p:nvSpPr>
        <p:spPr>
          <a:xfrm>
            <a:off x="530352" y="365760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서비스가 무엇을 어떻게 기억하는지 표로 보고,</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내 서비스가 기억할 것을 AI와 표로 그려 봅니다.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07-1 · 1쪽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오늘은 네 단계로 간다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07-1 · 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02</a:t>
            </a:r>
            <a:endParaRPr lang="en-US" sz="900" dirty="0"/>
          </a:p>
        </p:txBody>
      </p:sp>
      <p:sp>
        <p:nvSpPr>
          <p:cNvPr id="10" name="Shape 8"/>
          <p:cNvSpPr/>
          <p:nvPr/>
        </p:nvSpPr>
        <p:spPr>
          <a:xfrm>
            <a:off x="530352" y="2057400"/>
            <a:ext cx="2615184" cy="2103120"/>
          </a:xfrm>
          <a:prstGeom prst="roundRect">
            <a:avLst>
              <a:gd name="adj" fmla="val 2391"/>
            </a:avLst>
          </a:prstGeom>
          <a:solidFill>
            <a:srgbClr val="F1F2F4"/>
          </a:solidFill>
          <a:ln w="12700">
            <a:solidFill>
              <a:srgbClr val="E0E3E7"/>
            </a:solidFill>
            <a:prstDash val="solid"/>
          </a:ln>
        </p:spPr>
      </p:sp>
      <p:sp>
        <p:nvSpPr>
          <p:cNvPr id="11" name="Text 9"/>
          <p:cNvSpPr/>
          <p:nvPr/>
        </p:nvSpPr>
        <p:spPr>
          <a:xfrm>
            <a:off x="713232" y="2221992"/>
            <a:ext cx="224942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①</a:t>
            </a:r>
            <a:endParaRPr lang="en-US" sz="1800" dirty="0"/>
          </a:p>
        </p:txBody>
      </p:sp>
      <p:sp>
        <p:nvSpPr>
          <p:cNvPr id="12" name="Text 10"/>
          <p:cNvSpPr/>
          <p:nvPr/>
        </p:nvSpPr>
        <p:spPr>
          <a:xfrm>
            <a:off x="713232" y="2642616"/>
            <a:ext cx="224942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사라지는 것 보기</a:t>
            </a:r>
            <a:endParaRPr lang="en-US" sz="1650" dirty="0"/>
          </a:p>
        </p:txBody>
      </p:sp>
      <p:sp>
        <p:nvSpPr>
          <p:cNvPr id="13" name="Text 11"/>
          <p:cNvSpPr/>
          <p:nvPr/>
        </p:nvSpPr>
        <p:spPr>
          <a:xfrm>
            <a:off x="713232" y="3136392"/>
            <a:ext cx="2249424"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내 목업에서 F5</a:t>
            </a:r>
            <a:endParaRPr lang="en-US" sz="1300" dirty="0"/>
          </a:p>
        </p:txBody>
      </p:sp>
      <p:sp>
        <p:nvSpPr>
          <p:cNvPr id="14" name="Text 12"/>
          <p:cNvSpPr/>
          <p:nvPr/>
        </p:nvSpPr>
        <p:spPr>
          <a:xfrm>
            <a:off x="3081528" y="292608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64992" y="2057400"/>
            <a:ext cx="2615184" cy="2103120"/>
          </a:xfrm>
          <a:prstGeom prst="roundRect">
            <a:avLst>
              <a:gd name="adj" fmla="val 2391"/>
            </a:avLst>
          </a:prstGeom>
          <a:solidFill>
            <a:srgbClr val="F1F2F4"/>
          </a:solidFill>
          <a:ln w="12700">
            <a:solidFill>
              <a:srgbClr val="E0E3E7"/>
            </a:solidFill>
            <a:prstDash val="solid"/>
          </a:ln>
        </p:spPr>
      </p:sp>
      <p:sp>
        <p:nvSpPr>
          <p:cNvPr id="16" name="Text 14"/>
          <p:cNvSpPr/>
          <p:nvPr/>
        </p:nvSpPr>
        <p:spPr>
          <a:xfrm>
            <a:off x="3547872" y="2221992"/>
            <a:ext cx="224942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②</a:t>
            </a:r>
            <a:endParaRPr lang="en-US" sz="1800" dirty="0"/>
          </a:p>
        </p:txBody>
      </p:sp>
      <p:sp>
        <p:nvSpPr>
          <p:cNvPr id="17" name="Text 15"/>
          <p:cNvSpPr/>
          <p:nvPr/>
        </p:nvSpPr>
        <p:spPr>
          <a:xfrm>
            <a:off x="3547872" y="2642616"/>
            <a:ext cx="224942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표로 기억하기</a:t>
            </a:r>
            <a:endParaRPr lang="en-US" sz="1650" dirty="0"/>
          </a:p>
        </p:txBody>
      </p:sp>
      <p:sp>
        <p:nvSpPr>
          <p:cNvPr id="18" name="Text 16"/>
          <p:cNvSpPr/>
          <p:nvPr/>
        </p:nvSpPr>
        <p:spPr>
          <a:xfrm>
            <a:off x="3547872" y="3136392"/>
            <a:ext cx="2249424"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표·기본키·외래키·JOIN</a:t>
            </a:r>
            <a:endParaRPr lang="en-US" sz="1300" dirty="0"/>
          </a:p>
        </p:txBody>
      </p:sp>
      <p:sp>
        <p:nvSpPr>
          <p:cNvPr id="19" name="Text 17"/>
          <p:cNvSpPr/>
          <p:nvPr/>
        </p:nvSpPr>
        <p:spPr>
          <a:xfrm>
            <a:off x="5916168" y="292608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199632" y="2057400"/>
            <a:ext cx="2615184" cy="2103120"/>
          </a:xfrm>
          <a:prstGeom prst="roundRect">
            <a:avLst>
              <a:gd name="adj" fmla="val 2391"/>
            </a:avLst>
          </a:prstGeom>
          <a:solidFill>
            <a:srgbClr val="E7F2ED"/>
          </a:solidFill>
          <a:ln w="12700">
            <a:solidFill>
              <a:srgbClr val="0E7C86"/>
            </a:solidFill>
            <a:prstDash val="solid"/>
          </a:ln>
        </p:spPr>
      </p:sp>
      <p:sp>
        <p:nvSpPr>
          <p:cNvPr id="21" name="Text 19"/>
          <p:cNvSpPr/>
          <p:nvPr/>
        </p:nvSpPr>
        <p:spPr>
          <a:xfrm>
            <a:off x="6382512" y="2221992"/>
            <a:ext cx="2249424"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③</a:t>
            </a:r>
            <a:endParaRPr lang="en-US" sz="1800" dirty="0"/>
          </a:p>
        </p:txBody>
      </p:sp>
      <p:sp>
        <p:nvSpPr>
          <p:cNvPr id="22" name="Text 20"/>
          <p:cNvSpPr/>
          <p:nvPr/>
        </p:nvSpPr>
        <p:spPr>
          <a:xfrm>
            <a:off x="6382512" y="2642616"/>
            <a:ext cx="224942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AI와 내 표</a:t>
            </a:r>
            <a:endParaRPr lang="en-US" sz="1650" dirty="0"/>
          </a:p>
        </p:txBody>
      </p:sp>
      <p:sp>
        <p:nvSpPr>
          <p:cNvPr id="23" name="Text 21"/>
          <p:cNvSpPr/>
          <p:nvPr/>
        </p:nvSpPr>
        <p:spPr>
          <a:xfrm>
            <a:off x="6382512" y="3136392"/>
            <a:ext cx="2249424" cy="877824"/>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AI가 데이터_예시.md를 만든다</a:t>
            </a:r>
            <a:endParaRPr lang="en-US" sz="1300" dirty="0"/>
          </a:p>
        </p:txBody>
      </p:sp>
      <p:sp>
        <p:nvSpPr>
          <p:cNvPr id="24" name="Text 22"/>
          <p:cNvSpPr/>
          <p:nvPr/>
        </p:nvSpPr>
        <p:spPr>
          <a:xfrm>
            <a:off x="8750808" y="292608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34272" y="2057400"/>
            <a:ext cx="2615184" cy="2103120"/>
          </a:xfrm>
          <a:prstGeom prst="roundRect">
            <a:avLst>
              <a:gd name="adj" fmla="val 2391"/>
            </a:avLst>
          </a:prstGeom>
          <a:solidFill>
            <a:srgbClr val="F1F2F4"/>
          </a:solidFill>
          <a:ln w="12700">
            <a:solidFill>
              <a:srgbClr val="E0E3E7"/>
            </a:solidFill>
            <a:prstDash val="solid"/>
          </a:ln>
        </p:spPr>
      </p:sp>
      <p:sp>
        <p:nvSpPr>
          <p:cNvPr id="26" name="Text 24"/>
          <p:cNvSpPr/>
          <p:nvPr/>
        </p:nvSpPr>
        <p:spPr>
          <a:xfrm>
            <a:off x="9217152" y="2221992"/>
            <a:ext cx="224942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④</a:t>
            </a:r>
            <a:endParaRPr lang="en-US" sz="1800" dirty="0"/>
          </a:p>
        </p:txBody>
      </p:sp>
      <p:sp>
        <p:nvSpPr>
          <p:cNvPr id="27" name="Text 25"/>
          <p:cNvSpPr/>
          <p:nvPr/>
        </p:nvSpPr>
        <p:spPr>
          <a:xfrm>
            <a:off x="9217152" y="2642616"/>
            <a:ext cx="224942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읽고 검토하기</a:t>
            </a:r>
            <a:endParaRPr lang="en-US" sz="1650" dirty="0"/>
          </a:p>
        </p:txBody>
      </p:sp>
      <p:sp>
        <p:nvSpPr>
          <p:cNvPr id="28" name="Text 26"/>
          <p:cNvSpPr/>
          <p:nvPr/>
        </p:nvSpPr>
        <p:spPr>
          <a:xfrm>
            <a:off x="9217152" y="3136392"/>
            <a:ext cx="2249424"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네 가지를 확인하고 다시 말한다</a:t>
            </a:r>
            <a:endParaRPr lang="en-US" sz="1300" dirty="0"/>
          </a:p>
        </p:txBody>
      </p:sp>
      <p:sp>
        <p:nvSpPr>
          <p:cNvPr id="29" name="Shape 27"/>
          <p:cNvSpPr/>
          <p:nvPr/>
        </p:nvSpPr>
        <p:spPr>
          <a:xfrm>
            <a:off x="530352" y="4572000"/>
            <a:ext cx="11128248" cy="512064"/>
          </a:xfrm>
          <a:prstGeom prst="roundRect">
            <a:avLst>
              <a:gd name="adj" fmla="val 39286"/>
            </a:avLst>
          </a:prstGeom>
          <a:solidFill>
            <a:srgbClr val="FF5C00"/>
          </a:solidFill>
          <a:ln w="12700">
            <a:solidFill>
              <a:srgbClr val="FF5C00"/>
            </a:solidFill>
            <a:prstDash val="solid"/>
          </a:ln>
        </p:spPr>
      </p:sp>
      <p:sp>
        <p:nvSpPr>
          <p:cNvPr id="30" name="Text 28"/>
          <p:cNvSpPr/>
          <p:nvPr/>
        </p:nvSpPr>
        <p:spPr>
          <a:xfrm>
            <a:off x="731520" y="45720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오늘 꼭 끝낼 것 · 06 폴더에 데이터_예시.md를 AI와 만들고 끝까지 읽기</a:t>
            </a:r>
            <a:endParaRPr lang="en-US" sz="1500" dirty="0"/>
          </a:p>
        </p:txBody>
      </p:sp>
      <p:sp>
        <p:nvSpPr>
          <p:cNvPr id="31" name="Text 29"/>
          <p:cNvSpPr/>
          <p:nvPr/>
        </p:nvSpPr>
        <p:spPr>
          <a:xfrm>
            <a:off x="530352" y="548640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이 표가 다음 시간 PRD 5항의 재료가 된다</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내 목업에 적고 F5를 누르면 사라진다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07-1 · 3–4쪽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03</a:t>
            </a:r>
            <a:endParaRPr lang="en-US" sz="900" dirty="0"/>
          </a:p>
        </p:txBody>
      </p:sp>
      <p:sp>
        <p:nvSpPr>
          <p:cNvPr id="10" name="Shape 8"/>
          <p:cNvSpPr/>
          <p:nvPr/>
        </p:nvSpPr>
        <p:spPr>
          <a:xfrm>
            <a:off x="530352" y="1828800"/>
            <a:ext cx="5212080" cy="3017520"/>
          </a:xfrm>
          <a:prstGeom prst="roundRect">
            <a:avLst>
              <a:gd name="adj" fmla="val 1818"/>
            </a:avLst>
          </a:prstGeom>
          <a:solidFill>
            <a:srgbClr val="FFFFFF"/>
          </a:solidFill>
          <a:ln w="12700">
            <a:solidFill>
              <a:srgbClr val="E0E3E7"/>
            </a:solidFill>
            <a:prstDash val="solid"/>
          </a:ln>
        </p:spPr>
      </p:sp>
      <p:sp>
        <p:nvSpPr>
          <p:cNvPr id="11" name="Shape 9"/>
          <p:cNvSpPr/>
          <p:nvPr/>
        </p:nvSpPr>
        <p:spPr>
          <a:xfrm>
            <a:off x="539496" y="1837944"/>
            <a:ext cx="5193792" cy="277978"/>
          </a:xfrm>
          <a:prstGeom prst="rect">
            <a:avLst/>
          </a:prstGeom>
          <a:solidFill>
            <a:srgbClr val="F1F2F4"/>
          </a:solidFill>
          <a:ln/>
        </p:spPr>
      </p:sp>
      <p:sp>
        <p:nvSpPr>
          <p:cNvPr id="12" name="Shape 10"/>
          <p:cNvSpPr/>
          <p:nvPr/>
        </p:nvSpPr>
        <p:spPr>
          <a:xfrm>
            <a:off x="658368" y="1924355"/>
            <a:ext cx="91440" cy="91440"/>
          </a:xfrm>
          <a:prstGeom prst="ellipse">
            <a:avLst/>
          </a:prstGeom>
          <a:solidFill>
            <a:srgbClr val="D5D8DC"/>
          </a:solidFill>
          <a:ln/>
        </p:spPr>
      </p:sp>
      <p:sp>
        <p:nvSpPr>
          <p:cNvPr id="13" name="Shape 11"/>
          <p:cNvSpPr/>
          <p:nvPr/>
        </p:nvSpPr>
        <p:spPr>
          <a:xfrm>
            <a:off x="804672" y="1924355"/>
            <a:ext cx="91440" cy="91440"/>
          </a:xfrm>
          <a:prstGeom prst="ellipse">
            <a:avLst/>
          </a:prstGeom>
          <a:solidFill>
            <a:srgbClr val="D5D8DC"/>
          </a:solidFill>
          <a:ln/>
        </p:spPr>
      </p:sp>
      <p:sp>
        <p:nvSpPr>
          <p:cNvPr id="14" name="Shape 12"/>
          <p:cNvSpPr/>
          <p:nvPr/>
        </p:nvSpPr>
        <p:spPr>
          <a:xfrm>
            <a:off x="950976" y="1924355"/>
            <a:ext cx="91440" cy="91440"/>
          </a:xfrm>
          <a:prstGeom prst="ellipse">
            <a:avLst/>
          </a:prstGeom>
          <a:solidFill>
            <a:srgbClr val="D5D8DC"/>
          </a:solidFill>
          <a:ln/>
        </p:spPr>
      </p:sp>
      <p:sp>
        <p:nvSpPr>
          <p:cNvPr id="15" name="Text 13"/>
          <p:cNvSpPr/>
          <p:nvPr/>
        </p:nvSpPr>
        <p:spPr>
          <a:xfrm>
            <a:off x="1170432" y="1847088"/>
            <a:ext cx="4389120" cy="260604"/>
          </a:xfrm>
          <a:prstGeom prst="rect">
            <a:avLst/>
          </a:prstGeom>
          <a:noFill/>
          <a:ln/>
        </p:spPr>
        <p:txBody>
          <a:bodyPr wrap="square" lIns="0" tIns="0" rIns="0" bIns="0" rtlCol="0" anchor="ctr"/>
          <a:lstStyle/>
          <a:p>
            <a:pPr indent="0" marL="0">
              <a:buNone/>
            </a:pPr>
            <a:r>
              <a:rPr lang="en-US" sz="903" dirty="0">
                <a:solidFill>
                  <a:srgbClr val="6C7078"/>
                </a:solidFill>
                <a:latin typeface="IBM Plex Mono" pitchFamily="34" charset="0"/>
                <a:ea typeface="IBM Plex Mono" pitchFamily="34" charset="-122"/>
                <a:cs typeface="IBM Plex Mono" pitchFamily="34" charset="-120"/>
              </a:rPr>
              <a:t>127.0.0.1:5500/mockup/index.html</a:t>
            </a:r>
            <a:endParaRPr lang="en-US" sz="903" dirty="0"/>
          </a:p>
        </p:txBody>
      </p:sp>
      <p:sp>
        <p:nvSpPr>
          <p:cNvPr id="16" name="Text 14"/>
          <p:cNvSpPr/>
          <p:nvPr/>
        </p:nvSpPr>
        <p:spPr>
          <a:xfrm>
            <a:off x="731520" y="2219706"/>
            <a:ext cx="4809744" cy="347472"/>
          </a:xfrm>
          <a:prstGeom prst="rect">
            <a:avLst/>
          </a:prstGeom>
          <a:noFill/>
          <a:ln/>
        </p:spPr>
        <p:txBody>
          <a:bodyPr wrap="square" lIns="0" tIns="0" rIns="0" bIns="0" rtlCol="0" anchor="ctr"/>
          <a:lstStyle/>
          <a:p>
            <a:pPr indent="0" marL="0">
              <a:buNone/>
            </a:pPr>
            <a:r>
              <a:rPr lang="en-US" sz="1425" b="1" dirty="0">
                <a:solidFill>
                  <a:srgbClr val="1B1D21"/>
                </a:solidFill>
                <a:latin typeface="IBM Plex Sans KR" pitchFamily="34" charset="0"/>
                <a:ea typeface="IBM Plex Sans KR" pitchFamily="34" charset="-122"/>
                <a:cs typeface="IBM Plex Sans KR" pitchFamily="34" charset="-120"/>
              </a:rPr>
              <a:t>하나 뽑기</a:t>
            </a:r>
            <a:endParaRPr lang="en-US" sz="1425" dirty="0"/>
          </a:p>
        </p:txBody>
      </p:sp>
      <p:sp>
        <p:nvSpPr>
          <p:cNvPr id="17" name="Shape 15"/>
          <p:cNvSpPr/>
          <p:nvPr/>
        </p:nvSpPr>
        <p:spPr>
          <a:xfrm>
            <a:off x="731520" y="2601925"/>
            <a:ext cx="4809744" cy="330098"/>
          </a:xfrm>
          <a:prstGeom prst="roundRect">
            <a:avLst>
              <a:gd name="adj" fmla="val 11080"/>
            </a:avLst>
          </a:prstGeom>
          <a:solidFill>
            <a:srgbClr val="FFFFFF"/>
          </a:solidFill>
          <a:ln w="12700">
            <a:solidFill>
              <a:srgbClr val="C9CDD2"/>
            </a:solidFill>
            <a:prstDash val="solid"/>
          </a:ln>
        </p:spPr>
      </p:sp>
      <p:sp>
        <p:nvSpPr>
          <p:cNvPr id="18" name="Text 16"/>
          <p:cNvSpPr/>
          <p:nvPr/>
        </p:nvSpPr>
        <p:spPr>
          <a:xfrm>
            <a:off x="804672" y="2601925"/>
            <a:ext cx="4663440" cy="330098"/>
          </a:xfrm>
          <a:prstGeom prst="rect">
            <a:avLst/>
          </a:prstGeom>
          <a:noFill/>
          <a:ln/>
        </p:spPr>
        <p:txBody>
          <a:bodyPr wrap="square" lIns="0" tIns="0" rIns="0" bIns="0" rtlCol="0" anchor="ctr"/>
          <a:lstStyle/>
          <a:p>
            <a:pPr indent="0" marL="0">
              <a:buNone/>
            </a:pPr>
            <a:r>
              <a:rPr lang="en-US" sz="998" dirty="0">
                <a:solidFill>
                  <a:srgbClr val="9AA0A6"/>
                </a:solidFill>
                <a:latin typeface="IBM Plex Sans KR" pitchFamily="34" charset="0"/>
                <a:ea typeface="IBM Plex Sans KR" pitchFamily="34" charset="-122"/>
                <a:cs typeface="IBM Plex Sans KR" pitchFamily="34" charset="-120"/>
              </a:rPr>
              <a:t>apple, banana, cherry</a:t>
            </a:r>
            <a:endParaRPr lang="en-US" sz="998" dirty="0"/>
          </a:p>
        </p:txBody>
      </p:sp>
      <p:sp>
        <p:nvSpPr>
          <p:cNvPr id="19" name="Shape 17"/>
          <p:cNvSpPr/>
          <p:nvPr/>
        </p:nvSpPr>
        <p:spPr>
          <a:xfrm>
            <a:off x="731520" y="3018892"/>
            <a:ext cx="1060704" cy="312725"/>
          </a:xfrm>
          <a:prstGeom prst="roundRect">
            <a:avLst>
              <a:gd name="adj" fmla="val 14620"/>
            </a:avLst>
          </a:prstGeom>
          <a:solidFill>
            <a:srgbClr val="FF5C00"/>
          </a:solidFill>
          <a:ln w="12700">
            <a:solidFill>
              <a:srgbClr val="FF5C00"/>
            </a:solidFill>
            <a:prstDash val="solid"/>
          </a:ln>
        </p:spPr>
      </p:sp>
      <p:sp>
        <p:nvSpPr>
          <p:cNvPr id="20" name="Text 18"/>
          <p:cNvSpPr/>
          <p:nvPr/>
        </p:nvSpPr>
        <p:spPr>
          <a:xfrm>
            <a:off x="731520" y="3018892"/>
            <a:ext cx="1060704" cy="312725"/>
          </a:xfrm>
          <a:prstGeom prst="rect">
            <a:avLst/>
          </a:prstGeom>
          <a:noFill/>
          <a:ln/>
        </p:spPr>
        <p:txBody>
          <a:bodyPr wrap="square" lIns="0" tIns="0" rIns="0" bIns="0" rtlCol="0" anchor="ctr"/>
          <a:lstStyle/>
          <a:p>
            <a:pPr algn="ctr" indent="0" marL="0">
              <a:buNone/>
            </a:pPr>
            <a:r>
              <a:rPr lang="en-US" sz="1045" b="1" dirty="0">
                <a:solidFill>
                  <a:srgbClr val="FFFFFF"/>
                </a:solidFill>
                <a:latin typeface="IBM Plex Sans KR" pitchFamily="34" charset="0"/>
                <a:ea typeface="IBM Plex Sans KR" pitchFamily="34" charset="-122"/>
                <a:cs typeface="IBM Plex Sans KR" pitchFamily="34" charset="-120"/>
              </a:rPr>
              <a:t>하나 뽑기</a:t>
            </a:r>
            <a:endParaRPr lang="en-US" sz="1045" dirty="0"/>
          </a:p>
        </p:txBody>
      </p:sp>
      <p:sp>
        <p:nvSpPr>
          <p:cNvPr id="21" name="Shape 19"/>
          <p:cNvSpPr/>
          <p:nvPr/>
        </p:nvSpPr>
        <p:spPr>
          <a:xfrm>
            <a:off x="731520" y="3418484"/>
            <a:ext cx="4809744" cy="434340"/>
          </a:xfrm>
          <a:prstGeom prst="roundRect">
            <a:avLst>
              <a:gd name="adj" fmla="val 10526"/>
            </a:avLst>
          </a:prstGeom>
          <a:solidFill>
            <a:srgbClr val="EEF8F0"/>
          </a:solidFill>
          <a:ln w="12700">
            <a:solidFill>
              <a:srgbClr val="9BD3A8"/>
            </a:solidFill>
            <a:prstDash val="dash"/>
          </a:ln>
        </p:spPr>
      </p:sp>
      <p:sp>
        <p:nvSpPr>
          <p:cNvPr id="22" name="Text 20"/>
          <p:cNvSpPr/>
          <p:nvPr/>
        </p:nvSpPr>
        <p:spPr>
          <a:xfrm>
            <a:off x="822960" y="3418484"/>
            <a:ext cx="4626864" cy="434340"/>
          </a:xfrm>
          <a:prstGeom prst="rect">
            <a:avLst/>
          </a:prstGeom>
          <a:noFill/>
          <a:ln/>
        </p:spPr>
        <p:txBody>
          <a:bodyPr wrap="square" lIns="0" tIns="0" rIns="0" bIns="0" rtlCol="0" anchor="ctr"/>
          <a:lstStyle/>
          <a:p>
            <a:pPr indent="0" marL="0">
              <a:buNone/>
            </a:pPr>
            <a:r>
              <a:rPr lang="en-US" sz="1045" dirty="0">
                <a:solidFill>
                  <a:srgbClr val="34373D"/>
                </a:solidFill>
                <a:latin typeface="IBM Plex Sans KR" pitchFamily="34" charset="0"/>
                <a:ea typeface="IBM Plex Sans KR" pitchFamily="34" charset="-122"/>
                <a:cs typeface="IBM Plex Sans KR" pitchFamily="34" charset="-120"/>
              </a:rPr>
              <a:t>뽑힌 항목: banana</a:t>
            </a:r>
            <a:endParaRPr lang="en-US" sz="1045" dirty="0"/>
          </a:p>
        </p:txBody>
      </p:sp>
      <p:sp>
        <p:nvSpPr>
          <p:cNvPr id="23" name="Shape 21"/>
          <p:cNvSpPr/>
          <p:nvPr/>
        </p:nvSpPr>
        <p:spPr>
          <a:xfrm>
            <a:off x="539496" y="4480560"/>
            <a:ext cx="5193792" cy="356616"/>
          </a:xfrm>
          <a:prstGeom prst="rect">
            <a:avLst/>
          </a:prstGeom>
          <a:solidFill>
            <a:srgbClr val="F1F2F4"/>
          </a:solidFill>
          <a:ln/>
        </p:spPr>
      </p:sp>
      <p:sp>
        <p:nvSpPr>
          <p:cNvPr id="24" name="Text 22"/>
          <p:cNvSpPr/>
          <p:nvPr/>
        </p:nvSpPr>
        <p:spPr>
          <a:xfrm>
            <a:off x="667512" y="4480560"/>
            <a:ext cx="4937760" cy="356616"/>
          </a:xfrm>
          <a:prstGeom prst="rect">
            <a:avLst/>
          </a:prstGeom>
          <a:noFill/>
          <a:ln/>
        </p:spPr>
        <p:txBody>
          <a:bodyPr wrap="square" lIns="0" tIns="0" rIns="0" bIns="0" rtlCol="0" anchor="ctr"/>
          <a:lstStyle/>
          <a:p>
            <a:pPr indent="0" marL="0">
              <a:buNone/>
            </a:pPr>
            <a:r>
              <a:rPr lang="en-US" sz="1200" b="1" dirty="0">
                <a:solidFill>
                  <a:srgbClr val="1B1D21"/>
                </a:solidFill>
                <a:latin typeface="IBM Plex Sans KR" pitchFamily="34" charset="0"/>
                <a:ea typeface="IBM Plex Sans KR" pitchFamily="34" charset="-122"/>
                <a:cs typeface="IBM Plex Sans KR" pitchFamily="34" charset="-120"/>
              </a:rPr>
              <a:t>① 적고 누르면 결과가 보인다</a:t>
            </a:r>
            <a:endParaRPr lang="en-US" sz="1200" dirty="0"/>
          </a:p>
        </p:txBody>
      </p:sp>
      <p:sp>
        <p:nvSpPr>
          <p:cNvPr id="25" name="Text 23"/>
          <p:cNvSpPr/>
          <p:nvPr/>
        </p:nvSpPr>
        <p:spPr>
          <a:xfrm>
            <a:off x="5870448" y="2926080"/>
            <a:ext cx="822960" cy="457200"/>
          </a:xfrm>
          <a:prstGeom prst="rect">
            <a:avLst/>
          </a:prstGeom>
          <a:noFill/>
          <a:ln/>
        </p:spPr>
        <p:txBody>
          <a:bodyPr wrap="square" lIns="0" tIns="0" rIns="0" bIns="0" rtlCol="0" anchor="ctr"/>
          <a:lstStyle/>
          <a:p>
            <a:pPr algn="ctr" indent="0" marL="0">
              <a:buNone/>
            </a:pPr>
            <a:r>
              <a:rPr lang="en-US" sz="2200" b="1" dirty="0">
                <a:solidFill>
                  <a:srgbClr val="FF5C00"/>
                </a:solidFill>
                <a:latin typeface="IBM Plex Mono" pitchFamily="34" charset="0"/>
                <a:ea typeface="IBM Plex Mono" pitchFamily="34" charset="-122"/>
                <a:cs typeface="IBM Plex Mono" pitchFamily="34" charset="-120"/>
              </a:rPr>
              <a:t>F5</a:t>
            </a:r>
            <a:endParaRPr lang="en-US" sz="2200" dirty="0"/>
          </a:p>
        </p:txBody>
      </p:sp>
      <p:sp>
        <p:nvSpPr>
          <p:cNvPr id="26" name="Text 24"/>
          <p:cNvSpPr/>
          <p:nvPr/>
        </p:nvSpPr>
        <p:spPr>
          <a:xfrm>
            <a:off x="5870448" y="3291840"/>
            <a:ext cx="822960" cy="457200"/>
          </a:xfrm>
          <a:prstGeom prst="rect">
            <a:avLst/>
          </a:prstGeom>
          <a:noFill/>
          <a:ln/>
        </p:spPr>
        <p:txBody>
          <a:bodyPr wrap="square" lIns="0" tIns="0" rIns="0" bIns="0" rtlCol="0" anchor="ctr"/>
          <a:lstStyle/>
          <a:p>
            <a:pPr algn="ctr" indent="0" marL="0">
              <a:buNone/>
            </a:pPr>
            <a:r>
              <a:rPr lang="en-US" sz="2600" b="1" dirty="0">
                <a:solidFill>
                  <a:srgbClr val="FF5C00"/>
                </a:solidFill>
                <a:latin typeface="IBM Plex Sans KR" pitchFamily="34" charset="0"/>
                <a:ea typeface="IBM Plex Sans KR" pitchFamily="34" charset="-122"/>
                <a:cs typeface="IBM Plex Sans KR" pitchFamily="34" charset="-120"/>
              </a:rPr>
              <a:t>→</a:t>
            </a:r>
            <a:endParaRPr lang="en-US" sz="2600" dirty="0"/>
          </a:p>
        </p:txBody>
      </p:sp>
      <p:sp>
        <p:nvSpPr>
          <p:cNvPr id="27" name="Shape 25"/>
          <p:cNvSpPr/>
          <p:nvPr/>
        </p:nvSpPr>
        <p:spPr>
          <a:xfrm>
            <a:off x="6446520" y="1828800"/>
            <a:ext cx="5212080" cy="3017520"/>
          </a:xfrm>
          <a:prstGeom prst="roundRect">
            <a:avLst>
              <a:gd name="adj" fmla="val 1818"/>
            </a:avLst>
          </a:prstGeom>
          <a:solidFill>
            <a:srgbClr val="FFFFFF"/>
          </a:solidFill>
          <a:ln w="12700">
            <a:solidFill>
              <a:srgbClr val="E0E3E7"/>
            </a:solidFill>
            <a:prstDash val="solid"/>
          </a:ln>
        </p:spPr>
      </p:sp>
      <p:sp>
        <p:nvSpPr>
          <p:cNvPr id="28" name="Shape 26"/>
          <p:cNvSpPr/>
          <p:nvPr/>
        </p:nvSpPr>
        <p:spPr>
          <a:xfrm>
            <a:off x="6455664" y="1837944"/>
            <a:ext cx="5193792" cy="277978"/>
          </a:xfrm>
          <a:prstGeom prst="rect">
            <a:avLst/>
          </a:prstGeom>
          <a:solidFill>
            <a:srgbClr val="F1F2F4"/>
          </a:solidFill>
          <a:ln/>
        </p:spPr>
      </p:sp>
      <p:sp>
        <p:nvSpPr>
          <p:cNvPr id="29" name="Shape 27"/>
          <p:cNvSpPr/>
          <p:nvPr/>
        </p:nvSpPr>
        <p:spPr>
          <a:xfrm>
            <a:off x="6574536" y="1924355"/>
            <a:ext cx="91440" cy="91440"/>
          </a:xfrm>
          <a:prstGeom prst="ellipse">
            <a:avLst/>
          </a:prstGeom>
          <a:solidFill>
            <a:srgbClr val="D5D8DC"/>
          </a:solidFill>
          <a:ln/>
        </p:spPr>
      </p:sp>
      <p:sp>
        <p:nvSpPr>
          <p:cNvPr id="30" name="Shape 28"/>
          <p:cNvSpPr/>
          <p:nvPr/>
        </p:nvSpPr>
        <p:spPr>
          <a:xfrm>
            <a:off x="6720840" y="1924355"/>
            <a:ext cx="91440" cy="91440"/>
          </a:xfrm>
          <a:prstGeom prst="ellipse">
            <a:avLst/>
          </a:prstGeom>
          <a:solidFill>
            <a:srgbClr val="D5D8DC"/>
          </a:solidFill>
          <a:ln/>
        </p:spPr>
      </p:sp>
      <p:sp>
        <p:nvSpPr>
          <p:cNvPr id="31" name="Shape 29"/>
          <p:cNvSpPr/>
          <p:nvPr/>
        </p:nvSpPr>
        <p:spPr>
          <a:xfrm>
            <a:off x="6867144" y="1924355"/>
            <a:ext cx="91440" cy="91440"/>
          </a:xfrm>
          <a:prstGeom prst="ellipse">
            <a:avLst/>
          </a:prstGeom>
          <a:solidFill>
            <a:srgbClr val="D5D8DC"/>
          </a:solidFill>
          <a:ln/>
        </p:spPr>
      </p:sp>
      <p:sp>
        <p:nvSpPr>
          <p:cNvPr id="32" name="Text 30"/>
          <p:cNvSpPr/>
          <p:nvPr/>
        </p:nvSpPr>
        <p:spPr>
          <a:xfrm>
            <a:off x="7086600" y="1847088"/>
            <a:ext cx="4389120" cy="260604"/>
          </a:xfrm>
          <a:prstGeom prst="rect">
            <a:avLst/>
          </a:prstGeom>
          <a:noFill/>
          <a:ln/>
        </p:spPr>
        <p:txBody>
          <a:bodyPr wrap="square" lIns="0" tIns="0" rIns="0" bIns="0" rtlCol="0" anchor="ctr"/>
          <a:lstStyle/>
          <a:p>
            <a:pPr indent="0" marL="0">
              <a:buNone/>
            </a:pPr>
            <a:r>
              <a:rPr lang="en-US" sz="903" dirty="0">
                <a:solidFill>
                  <a:srgbClr val="6C7078"/>
                </a:solidFill>
                <a:latin typeface="IBM Plex Mono" pitchFamily="34" charset="0"/>
                <a:ea typeface="IBM Plex Mono" pitchFamily="34" charset="-122"/>
                <a:cs typeface="IBM Plex Mono" pitchFamily="34" charset="-120"/>
              </a:rPr>
              <a:t>127.0.0.1:5500/mockup/index.html</a:t>
            </a:r>
            <a:endParaRPr lang="en-US" sz="903" dirty="0"/>
          </a:p>
        </p:txBody>
      </p:sp>
      <p:sp>
        <p:nvSpPr>
          <p:cNvPr id="33" name="Text 31"/>
          <p:cNvSpPr/>
          <p:nvPr/>
        </p:nvSpPr>
        <p:spPr>
          <a:xfrm>
            <a:off x="6647688" y="2219706"/>
            <a:ext cx="4809744" cy="347472"/>
          </a:xfrm>
          <a:prstGeom prst="rect">
            <a:avLst/>
          </a:prstGeom>
          <a:noFill/>
          <a:ln/>
        </p:spPr>
        <p:txBody>
          <a:bodyPr wrap="square" lIns="0" tIns="0" rIns="0" bIns="0" rtlCol="0" anchor="ctr"/>
          <a:lstStyle/>
          <a:p>
            <a:pPr indent="0" marL="0">
              <a:buNone/>
            </a:pPr>
            <a:r>
              <a:rPr lang="en-US" sz="1425" b="1" dirty="0">
                <a:solidFill>
                  <a:srgbClr val="1B1D21"/>
                </a:solidFill>
                <a:latin typeface="IBM Plex Sans KR" pitchFamily="34" charset="0"/>
                <a:ea typeface="IBM Plex Sans KR" pitchFamily="34" charset="-122"/>
                <a:cs typeface="IBM Plex Sans KR" pitchFamily="34" charset="-120"/>
              </a:rPr>
              <a:t>하나 뽑기</a:t>
            </a:r>
            <a:endParaRPr lang="en-US" sz="1425" dirty="0"/>
          </a:p>
        </p:txBody>
      </p:sp>
      <p:sp>
        <p:nvSpPr>
          <p:cNvPr id="34" name="Shape 32"/>
          <p:cNvSpPr/>
          <p:nvPr/>
        </p:nvSpPr>
        <p:spPr>
          <a:xfrm>
            <a:off x="6647688" y="2601925"/>
            <a:ext cx="4809744" cy="330098"/>
          </a:xfrm>
          <a:prstGeom prst="roundRect">
            <a:avLst>
              <a:gd name="adj" fmla="val 11080"/>
            </a:avLst>
          </a:prstGeom>
          <a:solidFill>
            <a:srgbClr val="FFFFFF"/>
          </a:solidFill>
          <a:ln w="12700">
            <a:solidFill>
              <a:srgbClr val="C9CDD2"/>
            </a:solidFill>
            <a:prstDash val="solid"/>
          </a:ln>
        </p:spPr>
      </p:sp>
      <p:sp>
        <p:nvSpPr>
          <p:cNvPr id="35" name="Text 33"/>
          <p:cNvSpPr/>
          <p:nvPr/>
        </p:nvSpPr>
        <p:spPr>
          <a:xfrm>
            <a:off x="6720840" y="2601925"/>
            <a:ext cx="4663440" cy="330098"/>
          </a:xfrm>
          <a:prstGeom prst="rect">
            <a:avLst/>
          </a:prstGeom>
          <a:noFill/>
          <a:ln/>
        </p:spPr>
        <p:txBody>
          <a:bodyPr wrap="square" lIns="0" tIns="0" rIns="0" bIns="0" rtlCol="0" anchor="ctr"/>
          <a:lstStyle/>
          <a:p>
            <a:pPr indent="0" marL="0">
              <a:buNone/>
            </a:pPr>
            <a:r>
              <a:rPr lang="en-US" sz="998" dirty="0">
                <a:solidFill>
                  <a:srgbClr val="9AA0A6"/>
                </a:solidFill>
                <a:latin typeface="IBM Plex Sans KR" pitchFamily="34" charset="0"/>
                <a:ea typeface="IBM Plex Sans KR" pitchFamily="34" charset="-122"/>
                <a:cs typeface="IBM Plex Sans KR" pitchFamily="34" charset="-120"/>
              </a:rPr>
              <a:t>외울 항목을 적어 주세요</a:t>
            </a:r>
            <a:endParaRPr lang="en-US" sz="998" dirty="0"/>
          </a:p>
        </p:txBody>
      </p:sp>
      <p:sp>
        <p:nvSpPr>
          <p:cNvPr id="36" name="Shape 34"/>
          <p:cNvSpPr/>
          <p:nvPr/>
        </p:nvSpPr>
        <p:spPr>
          <a:xfrm>
            <a:off x="6647688" y="3018892"/>
            <a:ext cx="1060704" cy="312725"/>
          </a:xfrm>
          <a:prstGeom prst="roundRect">
            <a:avLst>
              <a:gd name="adj" fmla="val 14620"/>
            </a:avLst>
          </a:prstGeom>
          <a:solidFill>
            <a:srgbClr val="FF5C00"/>
          </a:solidFill>
          <a:ln w="12700">
            <a:solidFill>
              <a:srgbClr val="FF5C00"/>
            </a:solidFill>
            <a:prstDash val="solid"/>
          </a:ln>
        </p:spPr>
      </p:sp>
      <p:sp>
        <p:nvSpPr>
          <p:cNvPr id="37" name="Text 35"/>
          <p:cNvSpPr/>
          <p:nvPr/>
        </p:nvSpPr>
        <p:spPr>
          <a:xfrm>
            <a:off x="6647688" y="3018892"/>
            <a:ext cx="1060704" cy="312725"/>
          </a:xfrm>
          <a:prstGeom prst="rect">
            <a:avLst/>
          </a:prstGeom>
          <a:noFill/>
          <a:ln/>
        </p:spPr>
        <p:txBody>
          <a:bodyPr wrap="square" lIns="0" tIns="0" rIns="0" bIns="0" rtlCol="0" anchor="ctr"/>
          <a:lstStyle/>
          <a:p>
            <a:pPr algn="ctr" indent="0" marL="0">
              <a:buNone/>
            </a:pPr>
            <a:r>
              <a:rPr lang="en-US" sz="1045" b="1" dirty="0">
                <a:solidFill>
                  <a:srgbClr val="FFFFFF"/>
                </a:solidFill>
                <a:latin typeface="IBM Plex Sans KR" pitchFamily="34" charset="0"/>
                <a:ea typeface="IBM Plex Sans KR" pitchFamily="34" charset="-122"/>
                <a:cs typeface="IBM Plex Sans KR" pitchFamily="34" charset="-120"/>
              </a:rPr>
              <a:t>하나 뽑기</a:t>
            </a:r>
            <a:endParaRPr lang="en-US" sz="1045" dirty="0"/>
          </a:p>
        </p:txBody>
      </p:sp>
      <p:sp>
        <p:nvSpPr>
          <p:cNvPr id="38" name="Shape 36"/>
          <p:cNvSpPr/>
          <p:nvPr/>
        </p:nvSpPr>
        <p:spPr>
          <a:xfrm>
            <a:off x="6647688" y="3418484"/>
            <a:ext cx="4809744" cy="364846"/>
          </a:xfrm>
          <a:prstGeom prst="roundRect">
            <a:avLst>
              <a:gd name="adj" fmla="val 12531"/>
            </a:avLst>
          </a:prstGeom>
          <a:solidFill>
            <a:srgbClr val="FFFFFF"/>
          </a:solidFill>
          <a:ln w="12700">
            <a:solidFill>
              <a:srgbClr val="E0E3E7"/>
            </a:solidFill>
            <a:prstDash val="dash"/>
          </a:ln>
        </p:spPr>
      </p:sp>
      <p:sp>
        <p:nvSpPr>
          <p:cNvPr id="39" name="Text 37"/>
          <p:cNvSpPr/>
          <p:nvPr/>
        </p:nvSpPr>
        <p:spPr>
          <a:xfrm>
            <a:off x="6647688" y="3418484"/>
            <a:ext cx="4809744" cy="364846"/>
          </a:xfrm>
          <a:prstGeom prst="rect">
            <a:avLst/>
          </a:prstGeom>
          <a:noFill/>
          <a:ln/>
        </p:spPr>
        <p:txBody>
          <a:bodyPr wrap="square" lIns="0" tIns="0" rIns="0" bIns="0" rtlCol="0" anchor="ctr"/>
          <a:lstStyle/>
          <a:p>
            <a:pPr algn="ctr" indent="0" marL="0">
              <a:buNone/>
            </a:pPr>
            <a:r>
              <a:rPr lang="en-US" sz="998" dirty="0">
                <a:solidFill>
                  <a:srgbClr val="9AA0A6"/>
                </a:solidFill>
                <a:latin typeface="IBM Plex Sans KR" pitchFamily="34" charset="0"/>
                <a:ea typeface="IBM Plex Sans KR" pitchFamily="34" charset="-122"/>
                <a:cs typeface="IBM Plex Sans KR" pitchFamily="34" charset="-120"/>
              </a:rPr>
              <a:t>(아무것도 없다)</a:t>
            </a:r>
            <a:endParaRPr lang="en-US" sz="998" dirty="0"/>
          </a:p>
        </p:txBody>
      </p:sp>
      <p:sp>
        <p:nvSpPr>
          <p:cNvPr id="40" name="Shape 38"/>
          <p:cNvSpPr/>
          <p:nvPr/>
        </p:nvSpPr>
        <p:spPr>
          <a:xfrm>
            <a:off x="6455664" y="4480560"/>
            <a:ext cx="5193792" cy="356616"/>
          </a:xfrm>
          <a:prstGeom prst="rect">
            <a:avLst/>
          </a:prstGeom>
          <a:solidFill>
            <a:srgbClr val="F1F2F4"/>
          </a:solidFill>
          <a:ln/>
        </p:spPr>
      </p:sp>
      <p:sp>
        <p:nvSpPr>
          <p:cNvPr id="41" name="Text 39"/>
          <p:cNvSpPr/>
          <p:nvPr/>
        </p:nvSpPr>
        <p:spPr>
          <a:xfrm>
            <a:off x="6583680" y="4480560"/>
            <a:ext cx="4937760" cy="356616"/>
          </a:xfrm>
          <a:prstGeom prst="rect">
            <a:avLst/>
          </a:prstGeom>
          <a:noFill/>
          <a:ln/>
        </p:spPr>
        <p:txBody>
          <a:bodyPr wrap="square" lIns="0" tIns="0" rIns="0" bIns="0" rtlCol="0" anchor="ctr"/>
          <a:lstStyle/>
          <a:p>
            <a:pPr indent="0" marL="0">
              <a:buNone/>
            </a:pPr>
            <a:r>
              <a:rPr lang="en-US" sz="1200" b="1" dirty="0">
                <a:solidFill>
                  <a:srgbClr val="1B1D21"/>
                </a:solidFill>
                <a:latin typeface="IBM Plex Sans KR" pitchFamily="34" charset="0"/>
                <a:ea typeface="IBM Plex Sans KR" pitchFamily="34" charset="-122"/>
                <a:cs typeface="IBM Plex Sans KR" pitchFamily="34" charset="-120"/>
              </a:rPr>
              <a:t>② F5를 누르면 처음으로 돌아간다</a:t>
            </a:r>
            <a:endParaRPr lang="en-US" sz="1200" dirty="0"/>
          </a:p>
        </p:txBody>
      </p:sp>
      <p:sp>
        <p:nvSpPr>
          <p:cNvPr id="42" name="Shape 40"/>
          <p:cNvSpPr/>
          <p:nvPr/>
        </p:nvSpPr>
        <p:spPr>
          <a:xfrm>
            <a:off x="530352" y="5120640"/>
            <a:ext cx="11128248" cy="512064"/>
          </a:xfrm>
          <a:prstGeom prst="roundRect">
            <a:avLst>
              <a:gd name="adj" fmla="val 39286"/>
            </a:avLst>
          </a:prstGeom>
          <a:solidFill>
            <a:srgbClr val="EAF5FB"/>
          </a:solidFill>
          <a:ln w="12700">
            <a:solidFill>
              <a:srgbClr val="3D8DFF"/>
            </a:solidFill>
            <a:prstDash val="solid"/>
          </a:ln>
        </p:spPr>
      </p:sp>
      <p:sp>
        <p:nvSpPr>
          <p:cNvPr id="43" name="Text 41"/>
          <p:cNvSpPr/>
          <p:nvPr/>
        </p:nvSpPr>
        <p:spPr>
          <a:xfrm>
            <a:off x="731520" y="5120640"/>
            <a:ext cx="10725912" cy="512064"/>
          </a:xfrm>
          <a:prstGeom prst="rect">
            <a:avLst/>
          </a:prstGeom>
          <a:noFill/>
          <a:ln/>
        </p:spPr>
        <p:txBody>
          <a:bodyPr wrap="square" lIns="0" tIns="0" rIns="0" bIns="0" rtlCol="0" anchor="ctr"/>
          <a:lstStyle/>
          <a:p>
            <a:pPr algn="ctr" indent="0" marL="0">
              <a:buNone/>
            </a:pPr>
            <a:r>
              <a:rPr lang="en-US" sz="1400" b="1" dirty="0">
                <a:solidFill>
                  <a:srgbClr val="34373D"/>
                </a:solidFill>
                <a:latin typeface="IBM Plex Sans KR" pitchFamily="34" charset="0"/>
                <a:ea typeface="IBM Plex Sans KR" pitchFamily="34" charset="-122"/>
                <a:cs typeface="IBM Plex Sans KR" pitchFamily="34" charset="-120"/>
              </a:rPr>
              <a:t>mockup → index.html 오른쪽 클릭 → Open with Live Server → 적고 누르고 → F5</a:t>
            </a:r>
            <a:endParaRPr lang="en-US" sz="1400" dirty="0"/>
          </a:p>
        </p:txBody>
      </p:sp>
      <p:sp>
        <p:nvSpPr>
          <p:cNvPr id="44" name="Text 42"/>
          <p:cNvSpPr/>
          <p:nvPr/>
        </p:nvSpPr>
        <p:spPr>
          <a:xfrm>
            <a:off x="530352" y="576072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적은 것을 어디에도 저장하지 않았다 → 서비스가 기억하지 못한다</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데이터베이스는 서비스의 기억 장소다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07-1 · 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04</a:t>
            </a:r>
            <a:endParaRPr lang="en-US" sz="900" dirty="0"/>
          </a:p>
        </p:txBody>
      </p:sp>
      <p:sp>
        <p:nvSpPr>
          <p:cNvPr id="10" name="Shape 8"/>
          <p:cNvSpPr/>
          <p:nvPr/>
        </p:nvSpPr>
        <p:spPr>
          <a:xfrm>
            <a:off x="530352" y="1920240"/>
            <a:ext cx="2448215" cy="402336"/>
          </a:xfrm>
          <a:prstGeom prst="rect">
            <a:avLst/>
          </a:prstGeom>
          <a:solidFill>
            <a:srgbClr val="1B1D21"/>
          </a:solidFill>
          <a:ln/>
        </p:spPr>
      </p:sp>
      <p:sp>
        <p:nvSpPr>
          <p:cNvPr id="11" name="Text 9"/>
          <p:cNvSpPr/>
          <p:nvPr/>
        </p:nvSpPr>
        <p:spPr>
          <a:xfrm>
            <a:off x="658368" y="1920240"/>
            <a:ext cx="2192183"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어디에 두나</a:t>
            </a:r>
            <a:endParaRPr lang="en-US" sz="1050" dirty="0"/>
          </a:p>
        </p:txBody>
      </p:sp>
      <p:sp>
        <p:nvSpPr>
          <p:cNvPr id="12" name="Shape 10"/>
          <p:cNvSpPr/>
          <p:nvPr/>
        </p:nvSpPr>
        <p:spPr>
          <a:xfrm>
            <a:off x="2978567" y="1920240"/>
            <a:ext cx="5341559" cy="402336"/>
          </a:xfrm>
          <a:prstGeom prst="rect">
            <a:avLst/>
          </a:prstGeom>
          <a:solidFill>
            <a:srgbClr val="1B1D21"/>
          </a:solidFill>
          <a:ln/>
        </p:spPr>
      </p:sp>
      <p:sp>
        <p:nvSpPr>
          <p:cNvPr id="13" name="Text 11"/>
          <p:cNvSpPr/>
          <p:nvPr/>
        </p:nvSpPr>
        <p:spPr>
          <a:xfrm>
            <a:off x="3106583" y="1920240"/>
            <a:ext cx="508552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언제까지 남나</a:t>
            </a:r>
            <a:endParaRPr lang="en-US" sz="1050" dirty="0"/>
          </a:p>
        </p:txBody>
      </p:sp>
      <p:sp>
        <p:nvSpPr>
          <p:cNvPr id="14" name="Shape 12"/>
          <p:cNvSpPr/>
          <p:nvPr/>
        </p:nvSpPr>
        <p:spPr>
          <a:xfrm>
            <a:off x="8320126" y="1920240"/>
            <a:ext cx="3338474" cy="402336"/>
          </a:xfrm>
          <a:prstGeom prst="rect">
            <a:avLst/>
          </a:prstGeom>
          <a:solidFill>
            <a:srgbClr val="1B1D21"/>
          </a:solidFill>
          <a:ln/>
        </p:spPr>
      </p:sp>
      <p:sp>
        <p:nvSpPr>
          <p:cNvPr id="15" name="Text 13"/>
          <p:cNvSpPr/>
          <p:nvPr/>
        </p:nvSpPr>
        <p:spPr>
          <a:xfrm>
            <a:off x="8448142" y="1920240"/>
            <a:ext cx="308244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예</a:t>
            </a:r>
            <a:endParaRPr lang="en-US" sz="1050" dirty="0"/>
          </a:p>
        </p:txBody>
      </p:sp>
      <p:sp>
        <p:nvSpPr>
          <p:cNvPr id="16" name="Shape 14"/>
          <p:cNvSpPr/>
          <p:nvPr/>
        </p:nvSpPr>
        <p:spPr>
          <a:xfrm>
            <a:off x="530352" y="2322576"/>
            <a:ext cx="11128248" cy="566928"/>
          </a:xfrm>
          <a:prstGeom prst="rect">
            <a:avLst/>
          </a:prstGeom>
          <a:solidFill>
            <a:srgbClr val="F1F2F4"/>
          </a:solidFill>
          <a:ln w="9525">
            <a:solidFill>
              <a:srgbClr val="E0E3E7"/>
            </a:solidFill>
            <a:prstDash val="solid"/>
          </a:ln>
        </p:spPr>
      </p:sp>
      <p:sp>
        <p:nvSpPr>
          <p:cNvPr id="17" name="Text 15"/>
          <p:cNvSpPr/>
          <p:nvPr/>
        </p:nvSpPr>
        <p:spPr>
          <a:xfrm>
            <a:off x="658368" y="2322576"/>
            <a:ext cx="2192183" cy="56692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변수</a:t>
            </a:r>
            <a:endParaRPr lang="en-US" sz="1400" dirty="0"/>
          </a:p>
        </p:txBody>
      </p:sp>
      <p:sp>
        <p:nvSpPr>
          <p:cNvPr id="18" name="Text 16"/>
          <p:cNvSpPr/>
          <p:nvPr/>
        </p:nvSpPr>
        <p:spPr>
          <a:xfrm>
            <a:off x="3106583" y="2322576"/>
            <a:ext cx="5085527" cy="56692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프로그램이 실행되는 동안만</a:t>
            </a:r>
            <a:endParaRPr lang="en-US" sz="1400" dirty="0"/>
          </a:p>
        </p:txBody>
      </p:sp>
      <p:sp>
        <p:nvSpPr>
          <p:cNvPr id="19" name="Text 17"/>
          <p:cNvSpPr/>
          <p:nvPr/>
        </p:nvSpPr>
        <p:spPr>
          <a:xfrm>
            <a:off x="8448142" y="2322576"/>
            <a:ext cx="3082442" cy="56692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2-2에서 만든 변수</a:t>
            </a:r>
            <a:endParaRPr lang="en-US" sz="1400" dirty="0"/>
          </a:p>
        </p:txBody>
      </p:sp>
      <p:sp>
        <p:nvSpPr>
          <p:cNvPr id="20" name="Shape 18"/>
          <p:cNvSpPr/>
          <p:nvPr/>
        </p:nvSpPr>
        <p:spPr>
          <a:xfrm>
            <a:off x="530352" y="2889504"/>
            <a:ext cx="11128248" cy="566928"/>
          </a:xfrm>
          <a:prstGeom prst="rect">
            <a:avLst/>
          </a:prstGeom>
          <a:solidFill>
            <a:srgbClr val="FFFFFF"/>
          </a:solidFill>
          <a:ln w="9525">
            <a:solidFill>
              <a:srgbClr val="E0E3E7"/>
            </a:solidFill>
            <a:prstDash val="solid"/>
          </a:ln>
        </p:spPr>
      </p:sp>
      <p:sp>
        <p:nvSpPr>
          <p:cNvPr id="21" name="Text 19"/>
          <p:cNvSpPr/>
          <p:nvPr/>
        </p:nvSpPr>
        <p:spPr>
          <a:xfrm>
            <a:off x="658368" y="2889504"/>
            <a:ext cx="2192183" cy="56692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파일</a:t>
            </a:r>
            <a:endParaRPr lang="en-US" sz="1400" dirty="0"/>
          </a:p>
        </p:txBody>
      </p:sp>
      <p:sp>
        <p:nvSpPr>
          <p:cNvPr id="22" name="Text 20"/>
          <p:cNvSpPr/>
          <p:nvPr/>
        </p:nvSpPr>
        <p:spPr>
          <a:xfrm>
            <a:off x="3106583" y="2889504"/>
            <a:ext cx="5085527" cy="56692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지우기 전까지 · 여럿이 고치거나 다른 자료와 잇기는 번거롭다</a:t>
            </a:r>
            <a:endParaRPr lang="en-US" sz="1400" dirty="0"/>
          </a:p>
        </p:txBody>
      </p:sp>
      <p:sp>
        <p:nvSpPr>
          <p:cNvPr id="23" name="Text 21"/>
          <p:cNvSpPr/>
          <p:nvPr/>
        </p:nvSpPr>
        <p:spPr>
          <a:xfrm>
            <a:off x="8448142" y="2889504"/>
            <a:ext cx="3082442" cy="56692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5회의 CSV 파일</a:t>
            </a:r>
            <a:endParaRPr lang="en-US" sz="1400" dirty="0"/>
          </a:p>
        </p:txBody>
      </p:sp>
      <p:sp>
        <p:nvSpPr>
          <p:cNvPr id="24" name="Shape 22"/>
          <p:cNvSpPr/>
          <p:nvPr/>
        </p:nvSpPr>
        <p:spPr>
          <a:xfrm>
            <a:off x="530352" y="3456432"/>
            <a:ext cx="11128248" cy="566928"/>
          </a:xfrm>
          <a:prstGeom prst="rect">
            <a:avLst/>
          </a:prstGeom>
          <a:solidFill>
            <a:srgbClr val="F1F2F4"/>
          </a:solidFill>
          <a:ln w="9525">
            <a:solidFill>
              <a:srgbClr val="E0E3E7"/>
            </a:solidFill>
            <a:prstDash val="solid"/>
          </a:ln>
        </p:spPr>
      </p:sp>
      <p:sp>
        <p:nvSpPr>
          <p:cNvPr id="25" name="Text 23"/>
          <p:cNvSpPr/>
          <p:nvPr/>
        </p:nvSpPr>
        <p:spPr>
          <a:xfrm>
            <a:off x="658368" y="3456432"/>
            <a:ext cx="2192183" cy="56692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데이터베이스</a:t>
            </a:r>
            <a:endParaRPr lang="en-US" sz="1400" dirty="0"/>
          </a:p>
        </p:txBody>
      </p:sp>
      <p:sp>
        <p:nvSpPr>
          <p:cNvPr id="26" name="Text 24"/>
          <p:cNvSpPr/>
          <p:nvPr/>
        </p:nvSpPr>
        <p:spPr>
          <a:xfrm>
            <a:off x="3106583" y="3456432"/>
            <a:ext cx="5085527" cy="56692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지우기 전까지 · 찾고 고치고 연결하기 쉽다</a:t>
            </a:r>
            <a:endParaRPr lang="en-US" sz="1400" dirty="0"/>
          </a:p>
        </p:txBody>
      </p:sp>
      <p:sp>
        <p:nvSpPr>
          <p:cNvPr id="27" name="Text 25"/>
          <p:cNvSpPr/>
          <p:nvPr/>
        </p:nvSpPr>
        <p:spPr>
          <a:xfrm>
            <a:off x="8448142" y="3456432"/>
            <a:ext cx="3082442" cy="56692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쇼핑 앱의 장바구니</a:t>
            </a:r>
            <a:endParaRPr lang="en-US" sz="1400" dirty="0"/>
          </a:p>
        </p:txBody>
      </p:sp>
      <p:sp>
        <p:nvSpPr>
          <p:cNvPr id="28" name="Shape 26"/>
          <p:cNvSpPr/>
          <p:nvPr/>
        </p:nvSpPr>
        <p:spPr>
          <a:xfrm>
            <a:off x="530352" y="4251960"/>
            <a:ext cx="11128248" cy="512064"/>
          </a:xfrm>
          <a:prstGeom prst="roundRect">
            <a:avLst>
              <a:gd name="adj" fmla="val 39286"/>
            </a:avLst>
          </a:prstGeom>
          <a:solidFill>
            <a:srgbClr val="FF5C00"/>
          </a:solidFill>
          <a:ln w="12700">
            <a:solidFill>
              <a:srgbClr val="FF5C00"/>
            </a:solidFill>
            <a:prstDash val="solid"/>
          </a:ln>
        </p:spPr>
      </p:sp>
      <p:sp>
        <p:nvSpPr>
          <p:cNvPr id="29" name="Text 27"/>
          <p:cNvSpPr/>
          <p:nvPr/>
        </p:nvSpPr>
        <p:spPr>
          <a:xfrm>
            <a:off x="731520" y="425196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관계형 데이터베이스(RDBMS) = 정보를 표 여러 개로 나누어 저장하고 서로 이어 놓는다</a:t>
            </a:r>
            <a:endParaRPr lang="en-US" sz="1500" dirty="0"/>
          </a:p>
        </p:txBody>
      </p:sp>
      <p:sp>
        <p:nvSpPr>
          <p:cNvPr id="30" name="Text 28"/>
          <p:cNvSpPr/>
          <p:nvPr/>
        </p:nvSpPr>
        <p:spPr>
          <a:xfrm>
            <a:off x="530352" y="5029200"/>
            <a:ext cx="11128248" cy="365760"/>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11회에 SQLite라는 관계형 데이터베이스에 연결한다  ·  참고: 표가 아닌 방식(NoSQL)도 있지만 이 수업에서는 다루지 않는다</a:t>
            </a:r>
            <a:endParaRPr lang="en-US" sz="1300" dirty="0"/>
          </a:p>
        </p:txBody>
      </p:sp>
      <p:sp>
        <p:nvSpPr>
          <p:cNvPr id="31" name="Text 29"/>
          <p:cNvSpPr/>
          <p:nvPr/>
        </p:nvSpPr>
        <p:spPr>
          <a:xfrm>
            <a:off x="530352" y="571500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저장하고, 찾고, 고치고, 연결한다</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표의 한 행은 기록 하나다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07-1 · 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05</a:t>
            </a:r>
            <a:endParaRPr lang="en-US" sz="900" dirty="0"/>
          </a:p>
        </p:txBody>
      </p:sp>
      <p:sp>
        <p:nvSpPr>
          <p:cNvPr id="10" name="Text 8"/>
          <p:cNvSpPr/>
          <p:nvPr/>
        </p:nvSpPr>
        <p:spPr>
          <a:xfrm>
            <a:off x="530352" y="1892808"/>
            <a:ext cx="11128248" cy="29260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독서 기록  reads</a:t>
            </a:r>
            <a:endParaRPr lang="en-US" sz="1300" dirty="0"/>
          </a:p>
        </p:txBody>
      </p:sp>
      <p:sp>
        <p:nvSpPr>
          <p:cNvPr id="11" name="Shape 9"/>
          <p:cNvSpPr/>
          <p:nvPr/>
        </p:nvSpPr>
        <p:spPr>
          <a:xfrm>
            <a:off x="530352" y="2240280"/>
            <a:ext cx="1335390" cy="402336"/>
          </a:xfrm>
          <a:prstGeom prst="rect">
            <a:avLst/>
          </a:prstGeom>
          <a:solidFill>
            <a:srgbClr val="1B1D21"/>
          </a:solidFill>
          <a:ln/>
        </p:spPr>
      </p:sp>
      <p:sp>
        <p:nvSpPr>
          <p:cNvPr id="12" name="Text 10"/>
          <p:cNvSpPr/>
          <p:nvPr/>
        </p:nvSpPr>
        <p:spPr>
          <a:xfrm>
            <a:off x="640080" y="2240280"/>
            <a:ext cx="1115934"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id</a:t>
            </a:r>
            <a:endParaRPr lang="en-US" sz="1200" dirty="0"/>
          </a:p>
        </p:txBody>
      </p:sp>
      <p:sp>
        <p:nvSpPr>
          <p:cNvPr id="13" name="Shape 11"/>
          <p:cNvSpPr/>
          <p:nvPr/>
        </p:nvSpPr>
        <p:spPr>
          <a:xfrm>
            <a:off x="1865742" y="2240280"/>
            <a:ext cx="2893344" cy="402336"/>
          </a:xfrm>
          <a:prstGeom prst="rect">
            <a:avLst/>
          </a:prstGeom>
          <a:solidFill>
            <a:srgbClr val="1B1D21"/>
          </a:solidFill>
          <a:ln/>
        </p:spPr>
      </p:sp>
      <p:sp>
        <p:nvSpPr>
          <p:cNvPr id="14" name="Text 12"/>
          <p:cNvSpPr/>
          <p:nvPr/>
        </p:nvSpPr>
        <p:spPr>
          <a:xfrm>
            <a:off x="1975470" y="2240280"/>
            <a:ext cx="2673888"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title</a:t>
            </a:r>
            <a:endParaRPr lang="en-US" sz="1200" dirty="0"/>
          </a:p>
        </p:txBody>
      </p:sp>
      <p:sp>
        <p:nvSpPr>
          <p:cNvPr id="15" name="Shape 13"/>
          <p:cNvSpPr/>
          <p:nvPr/>
        </p:nvSpPr>
        <p:spPr>
          <a:xfrm>
            <a:off x="4759086" y="2240280"/>
            <a:ext cx="1780520" cy="402336"/>
          </a:xfrm>
          <a:prstGeom prst="rect">
            <a:avLst/>
          </a:prstGeom>
          <a:solidFill>
            <a:srgbClr val="2F6FD0"/>
          </a:solidFill>
          <a:ln/>
        </p:spPr>
      </p:sp>
      <p:sp>
        <p:nvSpPr>
          <p:cNvPr id="16" name="Text 14"/>
          <p:cNvSpPr/>
          <p:nvPr/>
        </p:nvSpPr>
        <p:spPr>
          <a:xfrm>
            <a:off x="4868814" y="2240280"/>
            <a:ext cx="1561064"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rating</a:t>
            </a:r>
            <a:endParaRPr lang="en-US" sz="1200" dirty="0"/>
          </a:p>
        </p:txBody>
      </p:sp>
      <p:sp>
        <p:nvSpPr>
          <p:cNvPr id="17" name="Shape 15"/>
          <p:cNvSpPr/>
          <p:nvPr/>
        </p:nvSpPr>
        <p:spPr>
          <a:xfrm>
            <a:off x="6539606" y="2240280"/>
            <a:ext cx="5118994" cy="402336"/>
          </a:xfrm>
          <a:prstGeom prst="rect">
            <a:avLst/>
          </a:prstGeom>
          <a:solidFill>
            <a:srgbClr val="1B1D21"/>
          </a:solidFill>
          <a:ln/>
        </p:spPr>
      </p:sp>
      <p:sp>
        <p:nvSpPr>
          <p:cNvPr id="18" name="Text 16"/>
          <p:cNvSpPr/>
          <p:nvPr/>
        </p:nvSpPr>
        <p:spPr>
          <a:xfrm>
            <a:off x="6649334" y="2240280"/>
            <a:ext cx="4899538"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comment</a:t>
            </a:r>
            <a:endParaRPr lang="en-US" sz="1200" dirty="0"/>
          </a:p>
        </p:txBody>
      </p:sp>
      <p:sp>
        <p:nvSpPr>
          <p:cNvPr id="19" name="Shape 17"/>
          <p:cNvSpPr/>
          <p:nvPr/>
        </p:nvSpPr>
        <p:spPr>
          <a:xfrm>
            <a:off x="530352" y="2642616"/>
            <a:ext cx="1335390" cy="420624"/>
          </a:xfrm>
          <a:prstGeom prst="rect">
            <a:avLst/>
          </a:prstGeom>
          <a:solidFill>
            <a:srgbClr val="FFFFFF"/>
          </a:solidFill>
          <a:ln w="9525">
            <a:solidFill>
              <a:srgbClr val="E0E3E7"/>
            </a:solidFill>
            <a:prstDash val="solid"/>
          </a:ln>
        </p:spPr>
      </p:sp>
      <p:sp>
        <p:nvSpPr>
          <p:cNvPr id="20" name="Text 18"/>
          <p:cNvSpPr/>
          <p:nvPr/>
        </p:nvSpPr>
        <p:spPr>
          <a:xfrm>
            <a:off x="640080" y="2642616"/>
            <a:ext cx="1115934"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1</a:t>
            </a:r>
            <a:endParaRPr lang="en-US" sz="1350" dirty="0"/>
          </a:p>
        </p:txBody>
      </p:sp>
      <p:sp>
        <p:nvSpPr>
          <p:cNvPr id="21" name="Shape 19"/>
          <p:cNvSpPr/>
          <p:nvPr/>
        </p:nvSpPr>
        <p:spPr>
          <a:xfrm>
            <a:off x="1865742" y="2642616"/>
            <a:ext cx="2893344" cy="420624"/>
          </a:xfrm>
          <a:prstGeom prst="rect">
            <a:avLst/>
          </a:prstGeom>
          <a:solidFill>
            <a:srgbClr val="FFFFFF"/>
          </a:solidFill>
          <a:ln w="9525">
            <a:solidFill>
              <a:srgbClr val="E0E3E7"/>
            </a:solidFill>
            <a:prstDash val="solid"/>
          </a:ln>
        </p:spPr>
      </p:sp>
      <p:sp>
        <p:nvSpPr>
          <p:cNvPr id="22" name="Text 20"/>
          <p:cNvSpPr/>
          <p:nvPr/>
        </p:nvSpPr>
        <p:spPr>
          <a:xfrm>
            <a:off x="1975470" y="2642616"/>
            <a:ext cx="2673888"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어린 왕자</a:t>
            </a:r>
            <a:endParaRPr lang="en-US" sz="1350" dirty="0"/>
          </a:p>
        </p:txBody>
      </p:sp>
      <p:sp>
        <p:nvSpPr>
          <p:cNvPr id="23" name="Shape 21"/>
          <p:cNvSpPr/>
          <p:nvPr/>
        </p:nvSpPr>
        <p:spPr>
          <a:xfrm>
            <a:off x="4759086" y="2642616"/>
            <a:ext cx="1780520" cy="420624"/>
          </a:xfrm>
          <a:prstGeom prst="rect">
            <a:avLst/>
          </a:prstGeom>
          <a:solidFill>
            <a:srgbClr val="EAF2FD"/>
          </a:solidFill>
          <a:ln w="9525">
            <a:solidFill>
              <a:srgbClr val="E0E3E7"/>
            </a:solidFill>
            <a:prstDash val="solid"/>
          </a:ln>
        </p:spPr>
      </p:sp>
      <p:sp>
        <p:nvSpPr>
          <p:cNvPr id="24" name="Text 22"/>
          <p:cNvSpPr/>
          <p:nvPr/>
        </p:nvSpPr>
        <p:spPr>
          <a:xfrm>
            <a:off x="4868814" y="2642616"/>
            <a:ext cx="1561064"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5</a:t>
            </a:r>
            <a:endParaRPr lang="en-US" sz="1350" dirty="0"/>
          </a:p>
        </p:txBody>
      </p:sp>
      <p:sp>
        <p:nvSpPr>
          <p:cNvPr id="25" name="Shape 23"/>
          <p:cNvSpPr/>
          <p:nvPr/>
        </p:nvSpPr>
        <p:spPr>
          <a:xfrm>
            <a:off x="6539606" y="2642616"/>
            <a:ext cx="5118994" cy="420624"/>
          </a:xfrm>
          <a:prstGeom prst="rect">
            <a:avLst/>
          </a:prstGeom>
          <a:solidFill>
            <a:srgbClr val="FFFFFF"/>
          </a:solidFill>
          <a:ln w="9525">
            <a:solidFill>
              <a:srgbClr val="E0E3E7"/>
            </a:solidFill>
            <a:prstDash val="solid"/>
          </a:ln>
        </p:spPr>
      </p:sp>
      <p:sp>
        <p:nvSpPr>
          <p:cNvPr id="26" name="Text 24"/>
          <p:cNvSpPr/>
          <p:nvPr/>
        </p:nvSpPr>
        <p:spPr>
          <a:xfrm>
            <a:off x="6649334" y="2642616"/>
            <a:ext cx="4899538"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다시 읽고 싶다.</a:t>
            </a:r>
            <a:endParaRPr lang="en-US" sz="1350" dirty="0"/>
          </a:p>
        </p:txBody>
      </p:sp>
      <p:sp>
        <p:nvSpPr>
          <p:cNvPr id="27" name="Shape 25"/>
          <p:cNvSpPr/>
          <p:nvPr/>
        </p:nvSpPr>
        <p:spPr>
          <a:xfrm>
            <a:off x="530352" y="3063240"/>
            <a:ext cx="1335390" cy="420624"/>
          </a:xfrm>
          <a:prstGeom prst="rect">
            <a:avLst/>
          </a:prstGeom>
          <a:solidFill>
            <a:srgbClr val="FFE7D6"/>
          </a:solidFill>
          <a:ln w="9525">
            <a:solidFill>
              <a:srgbClr val="E0E3E7"/>
            </a:solidFill>
            <a:prstDash val="solid"/>
          </a:ln>
        </p:spPr>
      </p:sp>
      <p:sp>
        <p:nvSpPr>
          <p:cNvPr id="28" name="Text 26"/>
          <p:cNvSpPr/>
          <p:nvPr/>
        </p:nvSpPr>
        <p:spPr>
          <a:xfrm>
            <a:off x="640080" y="3063240"/>
            <a:ext cx="1115934"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2</a:t>
            </a:r>
            <a:endParaRPr lang="en-US" sz="1350" dirty="0"/>
          </a:p>
        </p:txBody>
      </p:sp>
      <p:sp>
        <p:nvSpPr>
          <p:cNvPr id="29" name="Shape 27"/>
          <p:cNvSpPr/>
          <p:nvPr/>
        </p:nvSpPr>
        <p:spPr>
          <a:xfrm>
            <a:off x="1865742" y="3063240"/>
            <a:ext cx="2893344" cy="420624"/>
          </a:xfrm>
          <a:prstGeom prst="rect">
            <a:avLst/>
          </a:prstGeom>
          <a:solidFill>
            <a:srgbClr val="FFE7D6"/>
          </a:solidFill>
          <a:ln w="9525">
            <a:solidFill>
              <a:srgbClr val="E0E3E7"/>
            </a:solidFill>
            <a:prstDash val="solid"/>
          </a:ln>
        </p:spPr>
      </p:sp>
      <p:sp>
        <p:nvSpPr>
          <p:cNvPr id="30" name="Text 28"/>
          <p:cNvSpPr/>
          <p:nvPr/>
        </p:nvSpPr>
        <p:spPr>
          <a:xfrm>
            <a:off x="1975470" y="3063240"/>
            <a:ext cx="2673888"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모모</a:t>
            </a:r>
            <a:endParaRPr lang="en-US" sz="1350" dirty="0"/>
          </a:p>
        </p:txBody>
      </p:sp>
      <p:sp>
        <p:nvSpPr>
          <p:cNvPr id="31" name="Shape 29"/>
          <p:cNvSpPr/>
          <p:nvPr/>
        </p:nvSpPr>
        <p:spPr>
          <a:xfrm>
            <a:off x="4759086" y="3063240"/>
            <a:ext cx="1780520" cy="420624"/>
          </a:xfrm>
          <a:prstGeom prst="rect">
            <a:avLst/>
          </a:prstGeom>
          <a:solidFill>
            <a:srgbClr val="F5D9C8"/>
          </a:solidFill>
          <a:ln w="9525">
            <a:solidFill>
              <a:srgbClr val="E0E3E7"/>
            </a:solidFill>
            <a:prstDash val="solid"/>
          </a:ln>
        </p:spPr>
      </p:sp>
      <p:sp>
        <p:nvSpPr>
          <p:cNvPr id="32" name="Text 30"/>
          <p:cNvSpPr/>
          <p:nvPr/>
        </p:nvSpPr>
        <p:spPr>
          <a:xfrm>
            <a:off x="4868814" y="3063240"/>
            <a:ext cx="1561064"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4</a:t>
            </a:r>
            <a:endParaRPr lang="en-US" sz="1350" dirty="0"/>
          </a:p>
        </p:txBody>
      </p:sp>
      <p:sp>
        <p:nvSpPr>
          <p:cNvPr id="33" name="Shape 31"/>
          <p:cNvSpPr/>
          <p:nvPr/>
        </p:nvSpPr>
        <p:spPr>
          <a:xfrm>
            <a:off x="6539606" y="3063240"/>
            <a:ext cx="5118994" cy="420624"/>
          </a:xfrm>
          <a:prstGeom prst="rect">
            <a:avLst/>
          </a:prstGeom>
          <a:solidFill>
            <a:srgbClr val="FFE7D6"/>
          </a:solidFill>
          <a:ln w="9525">
            <a:solidFill>
              <a:srgbClr val="E0E3E7"/>
            </a:solidFill>
            <a:prstDash val="solid"/>
          </a:ln>
        </p:spPr>
      </p:sp>
      <p:sp>
        <p:nvSpPr>
          <p:cNvPr id="34" name="Text 32"/>
          <p:cNvSpPr/>
          <p:nvPr/>
        </p:nvSpPr>
        <p:spPr>
          <a:xfrm>
            <a:off x="6649334" y="3063240"/>
            <a:ext cx="4899538"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시간에 대해 생각했다.</a:t>
            </a:r>
            <a:endParaRPr lang="en-US" sz="1350" dirty="0"/>
          </a:p>
        </p:txBody>
      </p:sp>
      <p:sp>
        <p:nvSpPr>
          <p:cNvPr id="35" name="Shape 33"/>
          <p:cNvSpPr/>
          <p:nvPr/>
        </p:nvSpPr>
        <p:spPr>
          <a:xfrm>
            <a:off x="530352" y="3483864"/>
            <a:ext cx="1335390" cy="420624"/>
          </a:xfrm>
          <a:prstGeom prst="rect">
            <a:avLst/>
          </a:prstGeom>
          <a:solidFill>
            <a:srgbClr val="FFFFFF"/>
          </a:solidFill>
          <a:ln w="9525">
            <a:solidFill>
              <a:srgbClr val="E0E3E7"/>
            </a:solidFill>
            <a:prstDash val="solid"/>
          </a:ln>
        </p:spPr>
      </p:sp>
      <p:sp>
        <p:nvSpPr>
          <p:cNvPr id="36" name="Text 34"/>
          <p:cNvSpPr/>
          <p:nvPr/>
        </p:nvSpPr>
        <p:spPr>
          <a:xfrm>
            <a:off x="640080" y="3483864"/>
            <a:ext cx="1115934"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3</a:t>
            </a:r>
            <a:endParaRPr lang="en-US" sz="1350" dirty="0"/>
          </a:p>
        </p:txBody>
      </p:sp>
      <p:sp>
        <p:nvSpPr>
          <p:cNvPr id="37" name="Shape 35"/>
          <p:cNvSpPr/>
          <p:nvPr/>
        </p:nvSpPr>
        <p:spPr>
          <a:xfrm>
            <a:off x="1865742" y="3483864"/>
            <a:ext cx="2893344" cy="420624"/>
          </a:xfrm>
          <a:prstGeom prst="rect">
            <a:avLst/>
          </a:prstGeom>
          <a:solidFill>
            <a:srgbClr val="FFFFFF"/>
          </a:solidFill>
          <a:ln w="9525">
            <a:solidFill>
              <a:srgbClr val="E0E3E7"/>
            </a:solidFill>
            <a:prstDash val="solid"/>
          </a:ln>
        </p:spPr>
      </p:sp>
      <p:sp>
        <p:nvSpPr>
          <p:cNvPr id="38" name="Text 36"/>
          <p:cNvSpPr/>
          <p:nvPr/>
        </p:nvSpPr>
        <p:spPr>
          <a:xfrm>
            <a:off x="1975470" y="3483864"/>
            <a:ext cx="2673888"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어린 왕자</a:t>
            </a:r>
            <a:endParaRPr lang="en-US" sz="1350" dirty="0"/>
          </a:p>
        </p:txBody>
      </p:sp>
      <p:sp>
        <p:nvSpPr>
          <p:cNvPr id="39" name="Shape 37"/>
          <p:cNvSpPr/>
          <p:nvPr/>
        </p:nvSpPr>
        <p:spPr>
          <a:xfrm>
            <a:off x="4759086" y="3483864"/>
            <a:ext cx="1780520" cy="420624"/>
          </a:xfrm>
          <a:prstGeom prst="rect">
            <a:avLst/>
          </a:prstGeom>
          <a:solidFill>
            <a:srgbClr val="EAF2FD"/>
          </a:solidFill>
          <a:ln w="9525">
            <a:solidFill>
              <a:srgbClr val="E0E3E7"/>
            </a:solidFill>
            <a:prstDash val="solid"/>
          </a:ln>
        </p:spPr>
      </p:sp>
      <p:sp>
        <p:nvSpPr>
          <p:cNvPr id="40" name="Text 38"/>
          <p:cNvSpPr/>
          <p:nvPr/>
        </p:nvSpPr>
        <p:spPr>
          <a:xfrm>
            <a:off x="4868814" y="3483864"/>
            <a:ext cx="1561064"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4</a:t>
            </a:r>
            <a:endParaRPr lang="en-US" sz="1350" dirty="0"/>
          </a:p>
        </p:txBody>
      </p:sp>
      <p:sp>
        <p:nvSpPr>
          <p:cNvPr id="41" name="Shape 39"/>
          <p:cNvSpPr/>
          <p:nvPr/>
        </p:nvSpPr>
        <p:spPr>
          <a:xfrm>
            <a:off x="6539606" y="3483864"/>
            <a:ext cx="5118994" cy="420624"/>
          </a:xfrm>
          <a:prstGeom prst="rect">
            <a:avLst/>
          </a:prstGeom>
          <a:solidFill>
            <a:srgbClr val="FFFFFF"/>
          </a:solidFill>
          <a:ln w="9525">
            <a:solidFill>
              <a:srgbClr val="E0E3E7"/>
            </a:solidFill>
            <a:prstDash val="solid"/>
          </a:ln>
        </p:spPr>
      </p:sp>
      <p:sp>
        <p:nvSpPr>
          <p:cNvPr id="42" name="Text 40"/>
          <p:cNvSpPr/>
          <p:nvPr/>
        </p:nvSpPr>
        <p:spPr>
          <a:xfrm>
            <a:off x="6649334" y="3483864"/>
            <a:ext cx="4899538"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두 번째로 읽었다.</a:t>
            </a:r>
            <a:endParaRPr lang="en-US" sz="1350" dirty="0"/>
          </a:p>
        </p:txBody>
      </p:sp>
      <p:sp>
        <p:nvSpPr>
          <p:cNvPr id="43" name="Text 41"/>
          <p:cNvSpPr/>
          <p:nvPr/>
        </p:nvSpPr>
        <p:spPr>
          <a:xfrm>
            <a:off x="530352" y="4041648"/>
            <a:ext cx="11128248" cy="320040"/>
          </a:xfrm>
          <a:prstGeom prst="rect">
            <a:avLst/>
          </a:prstGeom>
          <a:noFill/>
          <a:ln/>
        </p:spPr>
        <p:txBody>
          <a:bodyPr wrap="square" lIns="0" tIns="0" rIns="0" bIns="0" rtlCol="0" anchor="ctr"/>
          <a:lstStyle/>
          <a:p>
            <a:pPr indent="0" marL="0">
              <a:buNone/>
            </a:pPr>
            <a:r>
              <a:rPr lang="en-US" sz="1350" dirty="0">
                <a:solidFill>
                  <a:srgbClr val="F5B48A"/>
                </a:solidFill>
                <a:latin typeface="IBM Plex Sans KR" pitchFamily="34" charset="0"/>
                <a:ea typeface="IBM Plex Sans KR" pitchFamily="34" charset="-122"/>
                <a:cs typeface="IBM Plex Sans KR" pitchFamily="34" charset="-120"/>
              </a:rPr>
              <a:t>■ </a:t>
            </a:r>
            <a:pPr indent="0" marL="0">
              <a:buNone/>
            </a:pPr>
            <a:r>
              <a:rPr lang="en-US" sz="1350" dirty="0">
                <a:solidFill>
                  <a:srgbClr val="6C7078"/>
                </a:solidFill>
                <a:latin typeface="IBM Plex Sans KR" pitchFamily="34" charset="0"/>
                <a:ea typeface="IBM Plex Sans KR" pitchFamily="34" charset="-122"/>
                <a:cs typeface="IBM Plex Sans KR" pitchFamily="34" charset="-120"/>
              </a:rPr>
              <a:t>주황 줄 = 행 하나 = 독서 기록 하나     </a:t>
            </a:r>
            <a:pPr indent="0" marL="0">
              <a:buNone/>
            </a:pPr>
            <a:r>
              <a:rPr lang="en-US" sz="1350" dirty="0">
                <a:solidFill>
                  <a:srgbClr val="9DBEF0"/>
                </a:solidFill>
                <a:latin typeface="IBM Plex Sans KR" pitchFamily="34" charset="0"/>
                <a:ea typeface="IBM Plex Sans KR" pitchFamily="34" charset="-122"/>
                <a:cs typeface="IBM Plex Sans KR" pitchFamily="34" charset="-120"/>
              </a:rPr>
              <a:t>■ </a:t>
            </a:r>
            <a:pPr indent="0" marL="0">
              <a:buNone/>
            </a:pPr>
            <a:r>
              <a:rPr lang="en-US" sz="1350" dirty="0">
                <a:solidFill>
                  <a:srgbClr val="6C7078"/>
                </a:solidFill>
                <a:latin typeface="IBM Plex Sans KR" pitchFamily="34" charset="0"/>
                <a:ea typeface="IBM Plex Sans KR" pitchFamily="34" charset="-122"/>
                <a:cs typeface="IBM Plex Sans KR" pitchFamily="34" charset="-120"/>
              </a:rPr>
              <a:t>파란 칸 = 열 하나 = 평점(rating)</a:t>
            </a:r>
            <a:endParaRPr lang="en-US" sz="1350" dirty="0"/>
          </a:p>
        </p:txBody>
      </p:sp>
      <p:sp>
        <p:nvSpPr>
          <p:cNvPr id="44" name="Shape 42"/>
          <p:cNvSpPr/>
          <p:nvPr/>
        </p:nvSpPr>
        <p:spPr>
          <a:xfrm>
            <a:off x="530352" y="4663440"/>
            <a:ext cx="11128248" cy="512064"/>
          </a:xfrm>
          <a:prstGeom prst="roundRect">
            <a:avLst>
              <a:gd name="adj" fmla="val 39286"/>
            </a:avLst>
          </a:prstGeom>
          <a:solidFill>
            <a:srgbClr val="FF5C00"/>
          </a:solidFill>
          <a:ln w="12700">
            <a:solidFill>
              <a:srgbClr val="FF5C00"/>
            </a:solidFill>
            <a:prstDash val="solid"/>
          </a:ln>
        </p:spPr>
      </p:sp>
      <p:sp>
        <p:nvSpPr>
          <p:cNvPr id="45" name="Text 43"/>
          <p:cNvSpPr/>
          <p:nvPr/>
        </p:nvSpPr>
        <p:spPr>
          <a:xfrm>
            <a:off x="731520" y="466344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첫 질문 · 「이 표의 한 행은 무엇인가?」 → 한 행은 독서 기록 하나를 나타낸다</a:t>
            </a:r>
            <a:endParaRPr lang="en-US" sz="1500" dirty="0"/>
          </a:p>
        </p:txBody>
      </p:sp>
      <p:sp>
        <p:nvSpPr>
          <p:cNvPr id="46" name="Text 44"/>
          <p:cNvSpPr/>
          <p:nvPr/>
        </p:nvSpPr>
        <p:spPr>
          <a:xfrm>
            <a:off x="530352" y="548640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책·회원·기록이 한 표에 섞이면 이 문장을 쓸 수 없다</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기본키 id가 행 하나를 집어낸다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07-1 · 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06</a:t>
            </a:r>
            <a:endParaRPr lang="en-US" sz="900" dirty="0"/>
          </a:p>
        </p:txBody>
      </p:sp>
      <p:sp>
        <p:nvSpPr>
          <p:cNvPr id="10" name="Text 8"/>
          <p:cNvSpPr/>
          <p:nvPr/>
        </p:nvSpPr>
        <p:spPr>
          <a:xfrm>
            <a:off x="530352" y="1892808"/>
            <a:ext cx="6766560" cy="29260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독서 기록  reads</a:t>
            </a:r>
            <a:endParaRPr lang="en-US" sz="1300" dirty="0"/>
          </a:p>
        </p:txBody>
      </p:sp>
      <p:sp>
        <p:nvSpPr>
          <p:cNvPr id="11" name="Shape 9"/>
          <p:cNvSpPr/>
          <p:nvPr/>
        </p:nvSpPr>
        <p:spPr>
          <a:xfrm>
            <a:off x="530352" y="2240280"/>
            <a:ext cx="1488643" cy="402336"/>
          </a:xfrm>
          <a:prstGeom prst="rect">
            <a:avLst/>
          </a:prstGeom>
          <a:solidFill>
            <a:srgbClr val="2F6FD0"/>
          </a:solidFill>
          <a:ln/>
        </p:spPr>
      </p:sp>
      <p:sp>
        <p:nvSpPr>
          <p:cNvPr id="12" name="Text 10"/>
          <p:cNvSpPr/>
          <p:nvPr/>
        </p:nvSpPr>
        <p:spPr>
          <a:xfrm>
            <a:off x="640080" y="2240280"/>
            <a:ext cx="1269187"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id</a:t>
            </a:r>
            <a:endParaRPr lang="en-US" sz="1200" dirty="0"/>
          </a:p>
        </p:txBody>
      </p:sp>
      <p:sp>
        <p:nvSpPr>
          <p:cNvPr id="13" name="Shape 11"/>
          <p:cNvSpPr/>
          <p:nvPr/>
        </p:nvSpPr>
        <p:spPr>
          <a:xfrm>
            <a:off x="905256" y="2350008"/>
            <a:ext cx="329184" cy="182880"/>
          </a:xfrm>
          <a:prstGeom prst="roundRect">
            <a:avLst>
              <a:gd name="adj" fmla="val 15000"/>
            </a:avLst>
          </a:prstGeom>
          <a:solidFill>
            <a:srgbClr val="FF5C00"/>
          </a:solidFill>
          <a:ln/>
        </p:spPr>
      </p:sp>
      <p:sp>
        <p:nvSpPr>
          <p:cNvPr id="14" name="Text 12"/>
          <p:cNvSpPr/>
          <p:nvPr/>
        </p:nvSpPr>
        <p:spPr>
          <a:xfrm>
            <a:off x="905256" y="2350008"/>
            <a:ext cx="3291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IBM Plex Mono" pitchFamily="34" charset="0"/>
                <a:ea typeface="IBM Plex Mono" pitchFamily="34" charset="-122"/>
                <a:cs typeface="IBM Plex Mono" pitchFamily="34" charset="-120"/>
              </a:rPr>
              <a:t>PK</a:t>
            </a:r>
            <a:endParaRPr lang="en-US" sz="800" dirty="0"/>
          </a:p>
        </p:txBody>
      </p:sp>
      <p:sp>
        <p:nvSpPr>
          <p:cNvPr id="15" name="Shape 13"/>
          <p:cNvSpPr/>
          <p:nvPr/>
        </p:nvSpPr>
        <p:spPr>
          <a:xfrm>
            <a:off x="2018995" y="2240280"/>
            <a:ext cx="3383280" cy="402336"/>
          </a:xfrm>
          <a:prstGeom prst="rect">
            <a:avLst/>
          </a:prstGeom>
          <a:solidFill>
            <a:srgbClr val="1B1D21"/>
          </a:solidFill>
          <a:ln/>
        </p:spPr>
      </p:sp>
      <p:sp>
        <p:nvSpPr>
          <p:cNvPr id="16" name="Text 14"/>
          <p:cNvSpPr/>
          <p:nvPr/>
        </p:nvSpPr>
        <p:spPr>
          <a:xfrm>
            <a:off x="2128723" y="2240280"/>
            <a:ext cx="3163824"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title</a:t>
            </a:r>
            <a:endParaRPr lang="en-US" sz="1200" dirty="0"/>
          </a:p>
        </p:txBody>
      </p:sp>
      <p:sp>
        <p:nvSpPr>
          <p:cNvPr id="17" name="Shape 15"/>
          <p:cNvSpPr/>
          <p:nvPr/>
        </p:nvSpPr>
        <p:spPr>
          <a:xfrm>
            <a:off x="5402275" y="2240280"/>
            <a:ext cx="1894637" cy="402336"/>
          </a:xfrm>
          <a:prstGeom prst="rect">
            <a:avLst/>
          </a:prstGeom>
          <a:solidFill>
            <a:srgbClr val="1B1D21"/>
          </a:solidFill>
          <a:ln/>
        </p:spPr>
      </p:sp>
      <p:sp>
        <p:nvSpPr>
          <p:cNvPr id="18" name="Text 16"/>
          <p:cNvSpPr/>
          <p:nvPr/>
        </p:nvSpPr>
        <p:spPr>
          <a:xfrm>
            <a:off x="5512003" y="2240280"/>
            <a:ext cx="1675181"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rating</a:t>
            </a:r>
            <a:endParaRPr lang="en-US" sz="1200" dirty="0"/>
          </a:p>
        </p:txBody>
      </p:sp>
      <p:sp>
        <p:nvSpPr>
          <p:cNvPr id="19" name="Shape 17"/>
          <p:cNvSpPr/>
          <p:nvPr/>
        </p:nvSpPr>
        <p:spPr>
          <a:xfrm>
            <a:off x="530352" y="2642616"/>
            <a:ext cx="1488643" cy="420624"/>
          </a:xfrm>
          <a:prstGeom prst="rect">
            <a:avLst/>
          </a:prstGeom>
          <a:solidFill>
            <a:srgbClr val="EAF2FD"/>
          </a:solidFill>
          <a:ln w="9525">
            <a:solidFill>
              <a:srgbClr val="E0E3E7"/>
            </a:solidFill>
            <a:prstDash val="solid"/>
          </a:ln>
        </p:spPr>
      </p:sp>
      <p:sp>
        <p:nvSpPr>
          <p:cNvPr id="20" name="Text 18"/>
          <p:cNvSpPr/>
          <p:nvPr/>
        </p:nvSpPr>
        <p:spPr>
          <a:xfrm>
            <a:off x="640080" y="2642616"/>
            <a:ext cx="1269187"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1</a:t>
            </a:r>
            <a:endParaRPr lang="en-US" sz="1350" dirty="0"/>
          </a:p>
        </p:txBody>
      </p:sp>
      <p:sp>
        <p:nvSpPr>
          <p:cNvPr id="21" name="Shape 19"/>
          <p:cNvSpPr/>
          <p:nvPr/>
        </p:nvSpPr>
        <p:spPr>
          <a:xfrm>
            <a:off x="2018995" y="2642616"/>
            <a:ext cx="3383280" cy="420624"/>
          </a:xfrm>
          <a:prstGeom prst="rect">
            <a:avLst/>
          </a:prstGeom>
          <a:solidFill>
            <a:srgbClr val="FFFFFF"/>
          </a:solidFill>
          <a:ln w="9525">
            <a:solidFill>
              <a:srgbClr val="E0E3E7"/>
            </a:solidFill>
            <a:prstDash val="solid"/>
          </a:ln>
        </p:spPr>
      </p:sp>
      <p:sp>
        <p:nvSpPr>
          <p:cNvPr id="22" name="Text 20"/>
          <p:cNvSpPr/>
          <p:nvPr/>
        </p:nvSpPr>
        <p:spPr>
          <a:xfrm>
            <a:off x="2128723" y="2642616"/>
            <a:ext cx="3163824"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어린 왕자</a:t>
            </a:r>
            <a:endParaRPr lang="en-US" sz="1350" dirty="0"/>
          </a:p>
        </p:txBody>
      </p:sp>
      <p:sp>
        <p:nvSpPr>
          <p:cNvPr id="23" name="Shape 21"/>
          <p:cNvSpPr/>
          <p:nvPr/>
        </p:nvSpPr>
        <p:spPr>
          <a:xfrm>
            <a:off x="5402275" y="2642616"/>
            <a:ext cx="1894637" cy="420624"/>
          </a:xfrm>
          <a:prstGeom prst="rect">
            <a:avLst/>
          </a:prstGeom>
          <a:solidFill>
            <a:srgbClr val="FFFFFF"/>
          </a:solidFill>
          <a:ln w="9525">
            <a:solidFill>
              <a:srgbClr val="E0E3E7"/>
            </a:solidFill>
            <a:prstDash val="solid"/>
          </a:ln>
        </p:spPr>
      </p:sp>
      <p:sp>
        <p:nvSpPr>
          <p:cNvPr id="24" name="Text 22"/>
          <p:cNvSpPr/>
          <p:nvPr/>
        </p:nvSpPr>
        <p:spPr>
          <a:xfrm>
            <a:off x="5512003" y="2642616"/>
            <a:ext cx="1675181"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5</a:t>
            </a:r>
            <a:endParaRPr lang="en-US" sz="1350" dirty="0"/>
          </a:p>
        </p:txBody>
      </p:sp>
      <p:sp>
        <p:nvSpPr>
          <p:cNvPr id="25" name="Shape 23"/>
          <p:cNvSpPr/>
          <p:nvPr/>
        </p:nvSpPr>
        <p:spPr>
          <a:xfrm>
            <a:off x="530352" y="3063240"/>
            <a:ext cx="1488643" cy="420624"/>
          </a:xfrm>
          <a:prstGeom prst="rect">
            <a:avLst/>
          </a:prstGeom>
          <a:solidFill>
            <a:srgbClr val="EAF2FD"/>
          </a:solidFill>
          <a:ln w="9525">
            <a:solidFill>
              <a:srgbClr val="E0E3E7"/>
            </a:solidFill>
            <a:prstDash val="solid"/>
          </a:ln>
        </p:spPr>
      </p:sp>
      <p:sp>
        <p:nvSpPr>
          <p:cNvPr id="26" name="Text 24"/>
          <p:cNvSpPr/>
          <p:nvPr/>
        </p:nvSpPr>
        <p:spPr>
          <a:xfrm>
            <a:off x="640080" y="3063240"/>
            <a:ext cx="1269187"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2</a:t>
            </a:r>
            <a:endParaRPr lang="en-US" sz="1350" dirty="0"/>
          </a:p>
        </p:txBody>
      </p:sp>
      <p:sp>
        <p:nvSpPr>
          <p:cNvPr id="27" name="Shape 25"/>
          <p:cNvSpPr/>
          <p:nvPr/>
        </p:nvSpPr>
        <p:spPr>
          <a:xfrm>
            <a:off x="2018995" y="3063240"/>
            <a:ext cx="3383280" cy="420624"/>
          </a:xfrm>
          <a:prstGeom prst="rect">
            <a:avLst/>
          </a:prstGeom>
          <a:solidFill>
            <a:srgbClr val="FFFFFF"/>
          </a:solidFill>
          <a:ln w="9525">
            <a:solidFill>
              <a:srgbClr val="E0E3E7"/>
            </a:solidFill>
            <a:prstDash val="solid"/>
          </a:ln>
        </p:spPr>
      </p:sp>
      <p:sp>
        <p:nvSpPr>
          <p:cNvPr id="28" name="Text 26"/>
          <p:cNvSpPr/>
          <p:nvPr/>
        </p:nvSpPr>
        <p:spPr>
          <a:xfrm>
            <a:off x="2128723" y="3063240"/>
            <a:ext cx="3163824"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모모</a:t>
            </a:r>
            <a:endParaRPr lang="en-US" sz="1350" dirty="0"/>
          </a:p>
        </p:txBody>
      </p:sp>
      <p:sp>
        <p:nvSpPr>
          <p:cNvPr id="29" name="Shape 27"/>
          <p:cNvSpPr/>
          <p:nvPr/>
        </p:nvSpPr>
        <p:spPr>
          <a:xfrm>
            <a:off x="5402275" y="3063240"/>
            <a:ext cx="1894637" cy="420624"/>
          </a:xfrm>
          <a:prstGeom prst="rect">
            <a:avLst/>
          </a:prstGeom>
          <a:solidFill>
            <a:srgbClr val="FFFFFF"/>
          </a:solidFill>
          <a:ln w="9525">
            <a:solidFill>
              <a:srgbClr val="E0E3E7"/>
            </a:solidFill>
            <a:prstDash val="solid"/>
          </a:ln>
        </p:spPr>
      </p:sp>
      <p:sp>
        <p:nvSpPr>
          <p:cNvPr id="30" name="Text 28"/>
          <p:cNvSpPr/>
          <p:nvPr/>
        </p:nvSpPr>
        <p:spPr>
          <a:xfrm>
            <a:off x="5512003" y="3063240"/>
            <a:ext cx="1675181"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4</a:t>
            </a:r>
            <a:endParaRPr lang="en-US" sz="1350" dirty="0"/>
          </a:p>
        </p:txBody>
      </p:sp>
      <p:sp>
        <p:nvSpPr>
          <p:cNvPr id="31" name="Shape 29"/>
          <p:cNvSpPr/>
          <p:nvPr/>
        </p:nvSpPr>
        <p:spPr>
          <a:xfrm>
            <a:off x="530352" y="3483864"/>
            <a:ext cx="1488643" cy="420624"/>
          </a:xfrm>
          <a:prstGeom prst="rect">
            <a:avLst/>
          </a:prstGeom>
          <a:solidFill>
            <a:srgbClr val="EAF2FD"/>
          </a:solidFill>
          <a:ln w="9525">
            <a:solidFill>
              <a:srgbClr val="E0E3E7"/>
            </a:solidFill>
            <a:prstDash val="solid"/>
          </a:ln>
        </p:spPr>
      </p:sp>
      <p:sp>
        <p:nvSpPr>
          <p:cNvPr id="32" name="Text 30"/>
          <p:cNvSpPr/>
          <p:nvPr/>
        </p:nvSpPr>
        <p:spPr>
          <a:xfrm>
            <a:off x="640080" y="3483864"/>
            <a:ext cx="1269187"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3</a:t>
            </a:r>
            <a:endParaRPr lang="en-US" sz="1350" dirty="0"/>
          </a:p>
        </p:txBody>
      </p:sp>
      <p:sp>
        <p:nvSpPr>
          <p:cNvPr id="33" name="Shape 31"/>
          <p:cNvSpPr/>
          <p:nvPr/>
        </p:nvSpPr>
        <p:spPr>
          <a:xfrm>
            <a:off x="2018995" y="3483864"/>
            <a:ext cx="3383280" cy="420624"/>
          </a:xfrm>
          <a:prstGeom prst="rect">
            <a:avLst/>
          </a:prstGeom>
          <a:solidFill>
            <a:srgbClr val="FFFFFF"/>
          </a:solidFill>
          <a:ln w="9525">
            <a:solidFill>
              <a:srgbClr val="E0E3E7"/>
            </a:solidFill>
            <a:prstDash val="solid"/>
          </a:ln>
        </p:spPr>
      </p:sp>
      <p:sp>
        <p:nvSpPr>
          <p:cNvPr id="34" name="Text 32"/>
          <p:cNvSpPr/>
          <p:nvPr/>
        </p:nvSpPr>
        <p:spPr>
          <a:xfrm>
            <a:off x="2128723" y="3483864"/>
            <a:ext cx="3163824"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어린 왕자</a:t>
            </a:r>
            <a:endParaRPr lang="en-US" sz="1350" dirty="0"/>
          </a:p>
        </p:txBody>
      </p:sp>
      <p:sp>
        <p:nvSpPr>
          <p:cNvPr id="35" name="Shape 33"/>
          <p:cNvSpPr/>
          <p:nvPr/>
        </p:nvSpPr>
        <p:spPr>
          <a:xfrm>
            <a:off x="5402275" y="3483864"/>
            <a:ext cx="1894637" cy="420624"/>
          </a:xfrm>
          <a:prstGeom prst="rect">
            <a:avLst/>
          </a:prstGeom>
          <a:solidFill>
            <a:srgbClr val="FFFFFF"/>
          </a:solidFill>
          <a:ln w="9525">
            <a:solidFill>
              <a:srgbClr val="E0E3E7"/>
            </a:solidFill>
            <a:prstDash val="solid"/>
          </a:ln>
        </p:spPr>
      </p:sp>
      <p:sp>
        <p:nvSpPr>
          <p:cNvPr id="36" name="Text 34"/>
          <p:cNvSpPr/>
          <p:nvPr/>
        </p:nvSpPr>
        <p:spPr>
          <a:xfrm>
            <a:off x="5512003" y="3483864"/>
            <a:ext cx="1675181"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4</a:t>
            </a:r>
            <a:endParaRPr lang="en-US" sz="1350" dirty="0"/>
          </a:p>
        </p:txBody>
      </p:sp>
      <p:sp>
        <p:nvSpPr>
          <p:cNvPr id="37" name="Text 35"/>
          <p:cNvSpPr/>
          <p:nvPr/>
        </p:nvSpPr>
        <p:spPr>
          <a:xfrm>
            <a:off x="530352" y="4041648"/>
            <a:ext cx="6766560" cy="320040"/>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1번과 3번은 제목이 같지만 id가 달라서 구별된다</a:t>
            </a:r>
            <a:endParaRPr lang="en-US" sz="1300" dirty="0"/>
          </a:p>
        </p:txBody>
      </p:sp>
      <p:sp>
        <p:nvSpPr>
          <p:cNvPr id="38" name="Shape 36"/>
          <p:cNvSpPr/>
          <p:nvPr/>
        </p:nvSpPr>
        <p:spPr>
          <a:xfrm>
            <a:off x="7589520" y="1892808"/>
            <a:ext cx="4069080" cy="1143000"/>
          </a:xfrm>
          <a:prstGeom prst="roundRect">
            <a:avLst>
              <a:gd name="adj" fmla="val 4400"/>
            </a:avLst>
          </a:prstGeom>
          <a:solidFill>
            <a:srgbClr val="E7F2ED"/>
          </a:solidFill>
          <a:ln w="12700">
            <a:solidFill>
              <a:srgbClr val="0E7C86"/>
            </a:solidFill>
            <a:prstDash val="solid"/>
          </a:ln>
        </p:spPr>
      </p:sp>
      <p:sp>
        <p:nvSpPr>
          <p:cNvPr id="39" name="Text 37"/>
          <p:cNvSpPr/>
          <p:nvPr/>
        </p:nvSpPr>
        <p:spPr>
          <a:xfrm>
            <a:off x="7772400" y="2057400"/>
            <a:ext cx="370332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겹치지 않는다 · 비지 않는다</a:t>
            </a:r>
            <a:endParaRPr lang="en-US" sz="1650" dirty="0"/>
          </a:p>
        </p:txBody>
      </p:sp>
      <p:sp>
        <p:nvSpPr>
          <p:cNvPr id="40" name="Text 38"/>
          <p:cNvSpPr/>
          <p:nvPr/>
        </p:nvSpPr>
        <p:spPr>
          <a:xfrm>
            <a:off x="7772400" y="2551176"/>
            <a:ext cx="3703320" cy="338328"/>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그리고 바뀌지 않는다</a:t>
            </a:r>
            <a:endParaRPr lang="en-US" sz="1300" dirty="0"/>
          </a:p>
        </p:txBody>
      </p:sp>
      <p:sp>
        <p:nvSpPr>
          <p:cNvPr id="41" name="Shape 39"/>
          <p:cNvSpPr/>
          <p:nvPr/>
        </p:nvSpPr>
        <p:spPr>
          <a:xfrm>
            <a:off x="7589520" y="3200400"/>
            <a:ext cx="4069080" cy="1143000"/>
          </a:xfrm>
          <a:prstGeom prst="roundRect">
            <a:avLst>
              <a:gd name="adj" fmla="val 4400"/>
            </a:avLst>
          </a:prstGeom>
          <a:solidFill>
            <a:srgbClr val="F1F2F4"/>
          </a:solidFill>
          <a:ln w="12700">
            <a:solidFill>
              <a:srgbClr val="E0E3E7"/>
            </a:solidFill>
            <a:prstDash val="solid"/>
          </a:ln>
        </p:spPr>
      </p:sp>
      <p:sp>
        <p:nvSpPr>
          <p:cNvPr id="42" name="Text 40"/>
          <p:cNvSpPr/>
          <p:nvPr/>
        </p:nvSpPr>
        <p:spPr>
          <a:xfrm>
            <a:off x="7772400" y="3364992"/>
            <a:ext cx="370332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제목·이름은 안 된다</a:t>
            </a:r>
            <a:endParaRPr lang="en-US" sz="1650" dirty="0"/>
          </a:p>
        </p:txBody>
      </p:sp>
      <p:sp>
        <p:nvSpPr>
          <p:cNvPr id="43" name="Text 41"/>
          <p:cNvSpPr/>
          <p:nvPr/>
        </p:nvSpPr>
        <p:spPr>
          <a:xfrm>
            <a:off x="7772400" y="3858768"/>
            <a:ext cx="3703320" cy="338328"/>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같을 수 있고, 나중에 바뀔 수 있다</a:t>
            </a:r>
            <a:endParaRPr lang="en-US" sz="1300" dirty="0"/>
          </a:p>
        </p:txBody>
      </p:sp>
      <p:sp>
        <p:nvSpPr>
          <p:cNvPr id="44" name="Shape 42"/>
          <p:cNvSpPr/>
          <p:nvPr/>
        </p:nvSpPr>
        <p:spPr>
          <a:xfrm>
            <a:off x="530352" y="4754880"/>
            <a:ext cx="11128248" cy="512064"/>
          </a:xfrm>
          <a:prstGeom prst="roundRect">
            <a:avLst>
              <a:gd name="adj" fmla="val 39286"/>
            </a:avLst>
          </a:prstGeom>
          <a:solidFill>
            <a:srgbClr val="FF5C00"/>
          </a:solidFill>
          <a:ln w="12700">
            <a:solidFill>
              <a:srgbClr val="FF5C00"/>
            </a:solidFill>
            <a:prstDash val="solid"/>
          </a:ln>
        </p:spPr>
      </p:sp>
      <p:sp>
        <p:nvSpPr>
          <p:cNvPr id="45" name="Text 43"/>
          <p:cNvSpPr/>
          <p:nvPr/>
        </p:nvSpPr>
        <p:spPr>
          <a:xfrm>
            <a:off x="731520" y="4754880"/>
            <a:ext cx="10725912"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IBM Plex Sans KR" pitchFamily="34" charset="0"/>
                <a:ea typeface="IBM Plex Sans KR" pitchFamily="34" charset="-122"/>
                <a:cs typeface="IBM Plex Sans KR" pitchFamily="34" charset="-120"/>
              </a:rPr>
              <a:t>전화번호 같은 실제 개인정보는 기본키로 쓰지 않는다 · 꼭 필요한 것만 저장(데이터 최소 수집)</a:t>
            </a:r>
            <a:endParaRPr lang="en-US" sz="1450" dirty="0"/>
          </a:p>
        </p:txBody>
      </p:sp>
      <p:sp>
        <p:nvSpPr>
          <p:cNvPr id="46" name="Text 44"/>
          <p:cNvSpPr/>
          <p:nvPr/>
        </p:nvSpPr>
        <p:spPr>
          <a:xfrm>
            <a:off x="530352" y="553212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이 수업에서는 저절로 붙는 id가 기본키(PK)다</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반복되는 것은 표를 나누고 id로 잇는다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06</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07-1 · 8쪽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07</a:t>
            </a:r>
            <a:endParaRPr lang="en-US" sz="900" dirty="0"/>
          </a:p>
        </p:txBody>
      </p:sp>
      <p:sp>
        <p:nvSpPr>
          <p:cNvPr id="10" name="Text 8"/>
          <p:cNvSpPr/>
          <p:nvPr/>
        </p:nvSpPr>
        <p:spPr>
          <a:xfrm>
            <a:off x="530352" y="1938528"/>
            <a:ext cx="5120640" cy="29260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책  books</a:t>
            </a:r>
            <a:endParaRPr lang="en-US" sz="1300" dirty="0"/>
          </a:p>
        </p:txBody>
      </p:sp>
      <p:sp>
        <p:nvSpPr>
          <p:cNvPr id="11" name="Shape 9"/>
          <p:cNvSpPr/>
          <p:nvPr/>
        </p:nvSpPr>
        <p:spPr>
          <a:xfrm>
            <a:off x="530352" y="2286000"/>
            <a:ext cx="1024128" cy="402336"/>
          </a:xfrm>
          <a:prstGeom prst="rect">
            <a:avLst/>
          </a:prstGeom>
          <a:solidFill>
            <a:srgbClr val="2F6FD0"/>
          </a:solidFill>
          <a:ln/>
        </p:spPr>
      </p:sp>
      <p:sp>
        <p:nvSpPr>
          <p:cNvPr id="12" name="Text 10"/>
          <p:cNvSpPr/>
          <p:nvPr/>
        </p:nvSpPr>
        <p:spPr>
          <a:xfrm>
            <a:off x="640080" y="2286000"/>
            <a:ext cx="804672"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id</a:t>
            </a:r>
            <a:endParaRPr lang="en-US" sz="1200" dirty="0"/>
          </a:p>
        </p:txBody>
      </p:sp>
      <p:sp>
        <p:nvSpPr>
          <p:cNvPr id="13" name="Shape 11"/>
          <p:cNvSpPr/>
          <p:nvPr/>
        </p:nvSpPr>
        <p:spPr>
          <a:xfrm>
            <a:off x="905256" y="2395728"/>
            <a:ext cx="329184" cy="182880"/>
          </a:xfrm>
          <a:prstGeom prst="roundRect">
            <a:avLst>
              <a:gd name="adj" fmla="val 15000"/>
            </a:avLst>
          </a:prstGeom>
          <a:solidFill>
            <a:srgbClr val="FF5C00"/>
          </a:solidFill>
          <a:ln/>
        </p:spPr>
      </p:sp>
      <p:sp>
        <p:nvSpPr>
          <p:cNvPr id="14" name="Text 12"/>
          <p:cNvSpPr/>
          <p:nvPr/>
        </p:nvSpPr>
        <p:spPr>
          <a:xfrm>
            <a:off x="905256" y="2395728"/>
            <a:ext cx="3291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IBM Plex Mono" pitchFamily="34" charset="0"/>
                <a:ea typeface="IBM Plex Mono" pitchFamily="34" charset="-122"/>
                <a:cs typeface="IBM Plex Mono" pitchFamily="34" charset="-120"/>
              </a:rPr>
              <a:t>PK</a:t>
            </a:r>
            <a:endParaRPr lang="en-US" sz="800" dirty="0"/>
          </a:p>
        </p:txBody>
      </p:sp>
      <p:sp>
        <p:nvSpPr>
          <p:cNvPr id="15" name="Shape 13"/>
          <p:cNvSpPr/>
          <p:nvPr/>
        </p:nvSpPr>
        <p:spPr>
          <a:xfrm>
            <a:off x="1554480" y="2286000"/>
            <a:ext cx="1945843" cy="402336"/>
          </a:xfrm>
          <a:prstGeom prst="rect">
            <a:avLst/>
          </a:prstGeom>
          <a:solidFill>
            <a:srgbClr val="1B1D21"/>
          </a:solidFill>
          <a:ln/>
        </p:spPr>
      </p:sp>
      <p:sp>
        <p:nvSpPr>
          <p:cNvPr id="16" name="Text 14"/>
          <p:cNvSpPr/>
          <p:nvPr/>
        </p:nvSpPr>
        <p:spPr>
          <a:xfrm>
            <a:off x="1664208" y="2286000"/>
            <a:ext cx="1726387"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title</a:t>
            </a:r>
            <a:endParaRPr lang="en-US" sz="1200" dirty="0"/>
          </a:p>
        </p:txBody>
      </p:sp>
      <p:sp>
        <p:nvSpPr>
          <p:cNvPr id="17" name="Shape 15"/>
          <p:cNvSpPr/>
          <p:nvPr/>
        </p:nvSpPr>
        <p:spPr>
          <a:xfrm>
            <a:off x="3500323" y="2286000"/>
            <a:ext cx="2150669" cy="402336"/>
          </a:xfrm>
          <a:prstGeom prst="rect">
            <a:avLst/>
          </a:prstGeom>
          <a:solidFill>
            <a:srgbClr val="1B1D21"/>
          </a:solidFill>
          <a:ln/>
        </p:spPr>
      </p:sp>
      <p:sp>
        <p:nvSpPr>
          <p:cNvPr id="18" name="Text 16"/>
          <p:cNvSpPr/>
          <p:nvPr/>
        </p:nvSpPr>
        <p:spPr>
          <a:xfrm>
            <a:off x="3610051" y="2286000"/>
            <a:ext cx="1931213"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author</a:t>
            </a:r>
            <a:endParaRPr lang="en-US" sz="1200" dirty="0"/>
          </a:p>
        </p:txBody>
      </p:sp>
      <p:sp>
        <p:nvSpPr>
          <p:cNvPr id="19" name="Shape 17"/>
          <p:cNvSpPr/>
          <p:nvPr/>
        </p:nvSpPr>
        <p:spPr>
          <a:xfrm>
            <a:off x="530352" y="2688336"/>
            <a:ext cx="1024128" cy="420624"/>
          </a:xfrm>
          <a:prstGeom prst="rect">
            <a:avLst/>
          </a:prstGeom>
          <a:solidFill>
            <a:srgbClr val="EAF2FD"/>
          </a:solidFill>
          <a:ln w="9525">
            <a:solidFill>
              <a:srgbClr val="E0E3E7"/>
            </a:solidFill>
            <a:prstDash val="solid"/>
          </a:ln>
        </p:spPr>
      </p:sp>
      <p:sp>
        <p:nvSpPr>
          <p:cNvPr id="20" name="Text 18"/>
          <p:cNvSpPr/>
          <p:nvPr/>
        </p:nvSpPr>
        <p:spPr>
          <a:xfrm>
            <a:off x="640080" y="2688336"/>
            <a:ext cx="804672"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1</a:t>
            </a:r>
            <a:endParaRPr lang="en-US" sz="1350" dirty="0"/>
          </a:p>
        </p:txBody>
      </p:sp>
      <p:sp>
        <p:nvSpPr>
          <p:cNvPr id="21" name="Shape 19"/>
          <p:cNvSpPr/>
          <p:nvPr/>
        </p:nvSpPr>
        <p:spPr>
          <a:xfrm>
            <a:off x="1554480" y="2688336"/>
            <a:ext cx="1945843" cy="420624"/>
          </a:xfrm>
          <a:prstGeom prst="rect">
            <a:avLst/>
          </a:prstGeom>
          <a:solidFill>
            <a:srgbClr val="FFFFFF"/>
          </a:solidFill>
          <a:ln w="9525">
            <a:solidFill>
              <a:srgbClr val="E0E3E7"/>
            </a:solidFill>
            <a:prstDash val="solid"/>
          </a:ln>
        </p:spPr>
      </p:sp>
      <p:sp>
        <p:nvSpPr>
          <p:cNvPr id="22" name="Text 20"/>
          <p:cNvSpPr/>
          <p:nvPr/>
        </p:nvSpPr>
        <p:spPr>
          <a:xfrm>
            <a:off x="1664208" y="2688336"/>
            <a:ext cx="1726387"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어린 왕자</a:t>
            </a:r>
            <a:endParaRPr lang="en-US" sz="1350" dirty="0"/>
          </a:p>
        </p:txBody>
      </p:sp>
      <p:sp>
        <p:nvSpPr>
          <p:cNvPr id="23" name="Shape 21"/>
          <p:cNvSpPr/>
          <p:nvPr/>
        </p:nvSpPr>
        <p:spPr>
          <a:xfrm>
            <a:off x="3500323" y="2688336"/>
            <a:ext cx="2150669" cy="420624"/>
          </a:xfrm>
          <a:prstGeom prst="rect">
            <a:avLst/>
          </a:prstGeom>
          <a:solidFill>
            <a:srgbClr val="FFFFFF"/>
          </a:solidFill>
          <a:ln w="9525">
            <a:solidFill>
              <a:srgbClr val="E0E3E7"/>
            </a:solidFill>
            <a:prstDash val="solid"/>
          </a:ln>
        </p:spPr>
      </p:sp>
      <p:sp>
        <p:nvSpPr>
          <p:cNvPr id="24" name="Text 22"/>
          <p:cNvSpPr/>
          <p:nvPr/>
        </p:nvSpPr>
        <p:spPr>
          <a:xfrm>
            <a:off x="3610051" y="2688336"/>
            <a:ext cx="1931213"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생텍쥐페리</a:t>
            </a:r>
            <a:endParaRPr lang="en-US" sz="1350" dirty="0"/>
          </a:p>
        </p:txBody>
      </p:sp>
      <p:sp>
        <p:nvSpPr>
          <p:cNvPr id="25" name="Shape 23"/>
          <p:cNvSpPr/>
          <p:nvPr/>
        </p:nvSpPr>
        <p:spPr>
          <a:xfrm>
            <a:off x="530352" y="3108960"/>
            <a:ext cx="1024128" cy="420624"/>
          </a:xfrm>
          <a:prstGeom prst="rect">
            <a:avLst/>
          </a:prstGeom>
          <a:solidFill>
            <a:srgbClr val="EAF2FD"/>
          </a:solidFill>
          <a:ln w="9525">
            <a:solidFill>
              <a:srgbClr val="E0E3E7"/>
            </a:solidFill>
            <a:prstDash val="solid"/>
          </a:ln>
        </p:spPr>
      </p:sp>
      <p:sp>
        <p:nvSpPr>
          <p:cNvPr id="26" name="Text 24"/>
          <p:cNvSpPr/>
          <p:nvPr/>
        </p:nvSpPr>
        <p:spPr>
          <a:xfrm>
            <a:off x="640080" y="3108960"/>
            <a:ext cx="804672"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2</a:t>
            </a:r>
            <a:endParaRPr lang="en-US" sz="1350" dirty="0"/>
          </a:p>
        </p:txBody>
      </p:sp>
      <p:sp>
        <p:nvSpPr>
          <p:cNvPr id="27" name="Shape 25"/>
          <p:cNvSpPr/>
          <p:nvPr/>
        </p:nvSpPr>
        <p:spPr>
          <a:xfrm>
            <a:off x="1554480" y="3108960"/>
            <a:ext cx="1945843" cy="420624"/>
          </a:xfrm>
          <a:prstGeom prst="rect">
            <a:avLst/>
          </a:prstGeom>
          <a:solidFill>
            <a:srgbClr val="FFFFFF"/>
          </a:solidFill>
          <a:ln w="9525">
            <a:solidFill>
              <a:srgbClr val="E0E3E7"/>
            </a:solidFill>
            <a:prstDash val="solid"/>
          </a:ln>
        </p:spPr>
      </p:sp>
      <p:sp>
        <p:nvSpPr>
          <p:cNvPr id="28" name="Text 26"/>
          <p:cNvSpPr/>
          <p:nvPr/>
        </p:nvSpPr>
        <p:spPr>
          <a:xfrm>
            <a:off x="1664208" y="3108960"/>
            <a:ext cx="1726387"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모모</a:t>
            </a:r>
            <a:endParaRPr lang="en-US" sz="1350" dirty="0"/>
          </a:p>
        </p:txBody>
      </p:sp>
      <p:sp>
        <p:nvSpPr>
          <p:cNvPr id="29" name="Shape 27"/>
          <p:cNvSpPr/>
          <p:nvPr/>
        </p:nvSpPr>
        <p:spPr>
          <a:xfrm>
            <a:off x="3500323" y="3108960"/>
            <a:ext cx="2150669" cy="420624"/>
          </a:xfrm>
          <a:prstGeom prst="rect">
            <a:avLst/>
          </a:prstGeom>
          <a:solidFill>
            <a:srgbClr val="FFFFFF"/>
          </a:solidFill>
          <a:ln w="9525">
            <a:solidFill>
              <a:srgbClr val="E0E3E7"/>
            </a:solidFill>
            <a:prstDash val="solid"/>
          </a:ln>
        </p:spPr>
      </p:sp>
      <p:sp>
        <p:nvSpPr>
          <p:cNvPr id="30" name="Text 28"/>
          <p:cNvSpPr/>
          <p:nvPr/>
        </p:nvSpPr>
        <p:spPr>
          <a:xfrm>
            <a:off x="3610051" y="3108960"/>
            <a:ext cx="1931213"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미하엘 엔데</a:t>
            </a:r>
            <a:endParaRPr lang="en-US" sz="1350" dirty="0"/>
          </a:p>
        </p:txBody>
      </p:sp>
      <p:sp>
        <p:nvSpPr>
          <p:cNvPr id="31" name="Text 29"/>
          <p:cNvSpPr/>
          <p:nvPr/>
        </p:nvSpPr>
        <p:spPr>
          <a:xfrm>
            <a:off x="6537960" y="1938528"/>
            <a:ext cx="5120640" cy="29260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독서 기록  reads</a:t>
            </a:r>
            <a:endParaRPr lang="en-US" sz="1300" dirty="0"/>
          </a:p>
        </p:txBody>
      </p:sp>
      <p:sp>
        <p:nvSpPr>
          <p:cNvPr id="32" name="Shape 30"/>
          <p:cNvSpPr/>
          <p:nvPr/>
        </p:nvSpPr>
        <p:spPr>
          <a:xfrm>
            <a:off x="6537960" y="2286000"/>
            <a:ext cx="1126541" cy="402336"/>
          </a:xfrm>
          <a:prstGeom prst="rect">
            <a:avLst/>
          </a:prstGeom>
          <a:solidFill>
            <a:srgbClr val="1B1D21"/>
          </a:solidFill>
          <a:ln/>
        </p:spPr>
      </p:sp>
      <p:sp>
        <p:nvSpPr>
          <p:cNvPr id="33" name="Text 31"/>
          <p:cNvSpPr/>
          <p:nvPr/>
        </p:nvSpPr>
        <p:spPr>
          <a:xfrm>
            <a:off x="6647688" y="2286000"/>
            <a:ext cx="907085"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id</a:t>
            </a:r>
            <a:endParaRPr lang="en-US" sz="1200" dirty="0"/>
          </a:p>
        </p:txBody>
      </p:sp>
      <p:sp>
        <p:nvSpPr>
          <p:cNvPr id="34" name="Shape 32"/>
          <p:cNvSpPr/>
          <p:nvPr/>
        </p:nvSpPr>
        <p:spPr>
          <a:xfrm>
            <a:off x="6912864" y="2395728"/>
            <a:ext cx="329184" cy="182880"/>
          </a:xfrm>
          <a:prstGeom prst="roundRect">
            <a:avLst>
              <a:gd name="adj" fmla="val 15000"/>
            </a:avLst>
          </a:prstGeom>
          <a:solidFill>
            <a:srgbClr val="FF5C00"/>
          </a:solidFill>
          <a:ln/>
        </p:spPr>
      </p:sp>
      <p:sp>
        <p:nvSpPr>
          <p:cNvPr id="35" name="Text 33"/>
          <p:cNvSpPr/>
          <p:nvPr/>
        </p:nvSpPr>
        <p:spPr>
          <a:xfrm>
            <a:off x="6912864" y="2395728"/>
            <a:ext cx="3291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IBM Plex Mono" pitchFamily="34" charset="0"/>
                <a:ea typeface="IBM Plex Mono" pitchFamily="34" charset="-122"/>
                <a:cs typeface="IBM Plex Mono" pitchFamily="34" charset="-120"/>
              </a:rPr>
              <a:t>PK</a:t>
            </a:r>
            <a:endParaRPr lang="en-US" sz="800" dirty="0"/>
          </a:p>
        </p:txBody>
      </p:sp>
      <p:sp>
        <p:nvSpPr>
          <p:cNvPr id="36" name="Shape 34"/>
          <p:cNvSpPr/>
          <p:nvPr/>
        </p:nvSpPr>
        <p:spPr>
          <a:xfrm>
            <a:off x="7664501" y="2286000"/>
            <a:ext cx="2253082" cy="402336"/>
          </a:xfrm>
          <a:prstGeom prst="rect">
            <a:avLst/>
          </a:prstGeom>
          <a:solidFill>
            <a:srgbClr val="2F6FD0"/>
          </a:solidFill>
          <a:ln/>
        </p:spPr>
      </p:sp>
      <p:sp>
        <p:nvSpPr>
          <p:cNvPr id="37" name="Text 35"/>
          <p:cNvSpPr/>
          <p:nvPr/>
        </p:nvSpPr>
        <p:spPr>
          <a:xfrm>
            <a:off x="7774229" y="2286000"/>
            <a:ext cx="2033626"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book_id</a:t>
            </a:r>
            <a:endParaRPr lang="en-US" sz="1200" dirty="0"/>
          </a:p>
        </p:txBody>
      </p:sp>
      <p:sp>
        <p:nvSpPr>
          <p:cNvPr id="38" name="Shape 36"/>
          <p:cNvSpPr/>
          <p:nvPr/>
        </p:nvSpPr>
        <p:spPr>
          <a:xfrm>
            <a:off x="8519465" y="2395728"/>
            <a:ext cx="329184" cy="182880"/>
          </a:xfrm>
          <a:prstGeom prst="roundRect">
            <a:avLst>
              <a:gd name="adj" fmla="val 15000"/>
            </a:avLst>
          </a:prstGeom>
          <a:solidFill>
            <a:srgbClr val="0E7C86"/>
          </a:solidFill>
          <a:ln/>
        </p:spPr>
      </p:sp>
      <p:sp>
        <p:nvSpPr>
          <p:cNvPr id="39" name="Text 37"/>
          <p:cNvSpPr/>
          <p:nvPr/>
        </p:nvSpPr>
        <p:spPr>
          <a:xfrm>
            <a:off x="8519465" y="2395728"/>
            <a:ext cx="3291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IBM Plex Mono" pitchFamily="34" charset="0"/>
                <a:ea typeface="IBM Plex Mono" pitchFamily="34" charset="-122"/>
                <a:cs typeface="IBM Plex Mono" pitchFamily="34" charset="-120"/>
              </a:rPr>
              <a:t>FK</a:t>
            </a:r>
            <a:endParaRPr lang="en-US" sz="800" dirty="0"/>
          </a:p>
        </p:txBody>
      </p:sp>
      <p:sp>
        <p:nvSpPr>
          <p:cNvPr id="40" name="Shape 38"/>
          <p:cNvSpPr/>
          <p:nvPr/>
        </p:nvSpPr>
        <p:spPr>
          <a:xfrm>
            <a:off x="9917582" y="2286000"/>
            <a:ext cx="1741018" cy="402336"/>
          </a:xfrm>
          <a:prstGeom prst="rect">
            <a:avLst/>
          </a:prstGeom>
          <a:solidFill>
            <a:srgbClr val="1B1D21"/>
          </a:solidFill>
          <a:ln/>
        </p:spPr>
      </p:sp>
      <p:sp>
        <p:nvSpPr>
          <p:cNvPr id="41" name="Text 39"/>
          <p:cNvSpPr/>
          <p:nvPr/>
        </p:nvSpPr>
        <p:spPr>
          <a:xfrm>
            <a:off x="10027310" y="2286000"/>
            <a:ext cx="1521562"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rating</a:t>
            </a:r>
            <a:endParaRPr lang="en-US" sz="1200" dirty="0"/>
          </a:p>
        </p:txBody>
      </p:sp>
      <p:sp>
        <p:nvSpPr>
          <p:cNvPr id="42" name="Shape 40"/>
          <p:cNvSpPr/>
          <p:nvPr/>
        </p:nvSpPr>
        <p:spPr>
          <a:xfrm>
            <a:off x="6537960" y="2688336"/>
            <a:ext cx="1126541" cy="420624"/>
          </a:xfrm>
          <a:prstGeom prst="rect">
            <a:avLst/>
          </a:prstGeom>
          <a:solidFill>
            <a:srgbClr val="FFFFFF"/>
          </a:solidFill>
          <a:ln w="9525">
            <a:solidFill>
              <a:srgbClr val="E0E3E7"/>
            </a:solidFill>
            <a:prstDash val="solid"/>
          </a:ln>
        </p:spPr>
      </p:sp>
      <p:sp>
        <p:nvSpPr>
          <p:cNvPr id="43" name="Text 41"/>
          <p:cNvSpPr/>
          <p:nvPr/>
        </p:nvSpPr>
        <p:spPr>
          <a:xfrm>
            <a:off x="6647688" y="2688336"/>
            <a:ext cx="907085"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1</a:t>
            </a:r>
            <a:endParaRPr lang="en-US" sz="1350" dirty="0"/>
          </a:p>
        </p:txBody>
      </p:sp>
      <p:sp>
        <p:nvSpPr>
          <p:cNvPr id="44" name="Shape 42"/>
          <p:cNvSpPr/>
          <p:nvPr/>
        </p:nvSpPr>
        <p:spPr>
          <a:xfrm>
            <a:off x="7664501" y="2688336"/>
            <a:ext cx="2253082" cy="420624"/>
          </a:xfrm>
          <a:prstGeom prst="rect">
            <a:avLst/>
          </a:prstGeom>
          <a:solidFill>
            <a:srgbClr val="EAF2FD"/>
          </a:solidFill>
          <a:ln w="9525">
            <a:solidFill>
              <a:srgbClr val="E0E3E7"/>
            </a:solidFill>
            <a:prstDash val="solid"/>
          </a:ln>
        </p:spPr>
      </p:sp>
      <p:sp>
        <p:nvSpPr>
          <p:cNvPr id="45" name="Text 43"/>
          <p:cNvSpPr/>
          <p:nvPr/>
        </p:nvSpPr>
        <p:spPr>
          <a:xfrm>
            <a:off x="7774229" y="2688336"/>
            <a:ext cx="2033626"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1</a:t>
            </a:r>
            <a:endParaRPr lang="en-US" sz="1350" dirty="0"/>
          </a:p>
        </p:txBody>
      </p:sp>
      <p:sp>
        <p:nvSpPr>
          <p:cNvPr id="46" name="Shape 44"/>
          <p:cNvSpPr/>
          <p:nvPr/>
        </p:nvSpPr>
        <p:spPr>
          <a:xfrm>
            <a:off x="9917582" y="2688336"/>
            <a:ext cx="1741018" cy="420624"/>
          </a:xfrm>
          <a:prstGeom prst="rect">
            <a:avLst/>
          </a:prstGeom>
          <a:solidFill>
            <a:srgbClr val="FFFFFF"/>
          </a:solidFill>
          <a:ln w="9525">
            <a:solidFill>
              <a:srgbClr val="E0E3E7"/>
            </a:solidFill>
            <a:prstDash val="solid"/>
          </a:ln>
        </p:spPr>
      </p:sp>
      <p:sp>
        <p:nvSpPr>
          <p:cNvPr id="47" name="Text 45"/>
          <p:cNvSpPr/>
          <p:nvPr/>
        </p:nvSpPr>
        <p:spPr>
          <a:xfrm>
            <a:off x="10027310" y="2688336"/>
            <a:ext cx="1521562"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5</a:t>
            </a:r>
            <a:endParaRPr lang="en-US" sz="1350" dirty="0"/>
          </a:p>
        </p:txBody>
      </p:sp>
      <p:sp>
        <p:nvSpPr>
          <p:cNvPr id="48" name="Shape 46"/>
          <p:cNvSpPr/>
          <p:nvPr/>
        </p:nvSpPr>
        <p:spPr>
          <a:xfrm>
            <a:off x="6537960" y="3108960"/>
            <a:ext cx="1126541" cy="420624"/>
          </a:xfrm>
          <a:prstGeom prst="rect">
            <a:avLst/>
          </a:prstGeom>
          <a:solidFill>
            <a:srgbClr val="FFFFFF"/>
          </a:solidFill>
          <a:ln w="9525">
            <a:solidFill>
              <a:srgbClr val="E0E3E7"/>
            </a:solidFill>
            <a:prstDash val="solid"/>
          </a:ln>
        </p:spPr>
      </p:sp>
      <p:sp>
        <p:nvSpPr>
          <p:cNvPr id="49" name="Text 47"/>
          <p:cNvSpPr/>
          <p:nvPr/>
        </p:nvSpPr>
        <p:spPr>
          <a:xfrm>
            <a:off x="6647688" y="3108960"/>
            <a:ext cx="907085"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2</a:t>
            </a:r>
            <a:endParaRPr lang="en-US" sz="1350" dirty="0"/>
          </a:p>
        </p:txBody>
      </p:sp>
      <p:sp>
        <p:nvSpPr>
          <p:cNvPr id="50" name="Shape 48"/>
          <p:cNvSpPr/>
          <p:nvPr/>
        </p:nvSpPr>
        <p:spPr>
          <a:xfrm>
            <a:off x="7664501" y="3108960"/>
            <a:ext cx="2253082" cy="420624"/>
          </a:xfrm>
          <a:prstGeom prst="rect">
            <a:avLst/>
          </a:prstGeom>
          <a:solidFill>
            <a:srgbClr val="EAF2FD"/>
          </a:solidFill>
          <a:ln w="9525">
            <a:solidFill>
              <a:srgbClr val="E0E3E7"/>
            </a:solidFill>
            <a:prstDash val="solid"/>
          </a:ln>
        </p:spPr>
      </p:sp>
      <p:sp>
        <p:nvSpPr>
          <p:cNvPr id="51" name="Text 49"/>
          <p:cNvSpPr/>
          <p:nvPr/>
        </p:nvSpPr>
        <p:spPr>
          <a:xfrm>
            <a:off x="7774229" y="3108960"/>
            <a:ext cx="2033626"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2</a:t>
            </a:r>
            <a:endParaRPr lang="en-US" sz="1350" dirty="0"/>
          </a:p>
        </p:txBody>
      </p:sp>
      <p:sp>
        <p:nvSpPr>
          <p:cNvPr id="52" name="Shape 50"/>
          <p:cNvSpPr/>
          <p:nvPr/>
        </p:nvSpPr>
        <p:spPr>
          <a:xfrm>
            <a:off x="9917582" y="3108960"/>
            <a:ext cx="1741018" cy="420624"/>
          </a:xfrm>
          <a:prstGeom prst="rect">
            <a:avLst/>
          </a:prstGeom>
          <a:solidFill>
            <a:srgbClr val="FFFFFF"/>
          </a:solidFill>
          <a:ln w="9525">
            <a:solidFill>
              <a:srgbClr val="E0E3E7"/>
            </a:solidFill>
            <a:prstDash val="solid"/>
          </a:ln>
        </p:spPr>
      </p:sp>
      <p:sp>
        <p:nvSpPr>
          <p:cNvPr id="53" name="Text 51"/>
          <p:cNvSpPr/>
          <p:nvPr/>
        </p:nvSpPr>
        <p:spPr>
          <a:xfrm>
            <a:off x="10027310" y="3108960"/>
            <a:ext cx="1521562"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4</a:t>
            </a:r>
            <a:endParaRPr lang="en-US" sz="1350" dirty="0"/>
          </a:p>
        </p:txBody>
      </p:sp>
      <p:sp>
        <p:nvSpPr>
          <p:cNvPr id="54" name="Shape 52"/>
          <p:cNvSpPr/>
          <p:nvPr/>
        </p:nvSpPr>
        <p:spPr>
          <a:xfrm>
            <a:off x="6537960" y="3529584"/>
            <a:ext cx="1126541" cy="420624"/>
          </a:xfrm>
          <a:prstGeom prst="rect">
            <a:avLst/>
          </a:prstGeom>
          <a:solidFill>
            <a:srgbClr val="FFFFFF"/>
          </a:solidFill>
          <a:ln w="9525">
            <a:solidFill>
              <a:srgbClr val="E0E3E7"/>
            </a:solidFill>
            <a:prstDash val="solid"/>
          </a:ln>
        </p:spPr>
      </p:sp>
      <p:sp>
        <p:nvSpPr>
          <p:cNvPr id="55" name="Text 53"/>
          <p:cNvSpPr/>
          <p:nvPr/>
        </p:nvSpPr>
        <p:spPr>
          <a:xfrm>
            <a:off x="6647688" y="3529584"/>
            <a:ext cx="907085"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3</a:t>
            </a:r>
            <a:endParaRPr lang="en-US" sz="1350" dirty="0"/>
          </a:p>
        </p:txBody>
      </p:sp>
      <p:sp>
        <p:nvSpPr>
          <p:cNvPr id="56" name="Shape 54"/>
          <p:cNvSpPr/>
          <p:nvPr/>
        </p:nvSpPr>
        <p:spPr>
          <a:xfrm>
            <a:off x="7664501" y="3529584"/>
            <a:ext cx="2253082" cy="420624"/>
          </a:xfrm>
          <a:prstGeom prst="rect">
            <a:avLst/>
          </a:prstGeom>
          <a:solidFill>
            <a:srgbClr val="EAF2FD"/>
          </a:solidFill>
          <a:ln w="9525">
            <a:solidFill>
              <a:srgbClr val="E0E3E7"/>
            </a:solidFill>
            <a:prstDash val="solid"/>
          </a:ln>
        </p:spPr>
      </p:sp>
      <p:sp>
        <p:nvSpPr>
          <p:cNvPr id="57" name="Text 55"/>
          <p:cNvSpPr/>
          <p:nvPr/>
        </p:nvSpPr>
        <p:spPr>
          <a:xfrm>
            <a:off x="7774229" y="3529584"/>
            <a:ext cx="2033626"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1</a:t>
            </a:r>
            <a:endParaRPr lang="en-US" sz="1350" dirty="0"/>
          </a:p>
        </p:txBody>
      </p:sp>
      <p:sp>
        <p:nvSpPr>
          <p:cNvPr id="58" name="Shape 56"/>
          <p:cNvSpPr/>
          <p:nvPr/>
        </p:nvSpPr>
        <p:spPr>
          <a:xfrm>
            <a:off x="9917582" y="3529584"/>
            <a:ext cx="1741018" cy="420624"/>
          </a:xfrm>
          <a:prstGeom prst="rect">
            <a:avLst/>
          </a:prstGeom>
          <a:solidFill>
            <a:srgbClr val="FFFFFF"/>
          </a:solidFill>
          <a:ln w="9525">
            <a:solidFill>
              <a:srgbClr val="E0E3E7"/>
            </a:solidFill>
            <a:prstDash val="solid"/>
          </a:ln>
        </p:spPr>
      </p:sp>
      <p:sp>
        <p:nvSpPr>
          <p:cNvPr id="59" name="Text 57"/>
          <p:cNvSpPr/>
          <p:nvPr/>
        </p:nvSpPr>
        <p:spPr>
          <a:xfrm>
            <a:off x="10027310" y="3529584"/>
            <a:ext cx="1521562"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4</a:t>
            </a:r>
            <a:endParaRPr lang="en-US" sz="1350" dirty="0"/>
          </a:p>
        </p:txBody>
      </p:sp>
      <p:sp>
        <p:nvSpPr>
          <p:cNvPr id="60" name="Text 58"/>
          <p:cNvSpPr/>
          <p:nvPr/>
        </p:nvSpPr>
        <p:spPr>
          <a:xfrm>
            <a:off x="530352" y="4206240"/>
            <a:ext cx="11128248" cy="411480"/>
          </a:xfrm>
          <a:prstGeom prst="rect">
            <a:avLst/>
          </a:prstGeom>
          <a:noFill/>
          <a:ln/>
        </p:spPr>
        <p:txBody>
          <a:bodyPr wrap="square" lIns="0" tIns="0" rIns="0" bIns="0" rtlCol="0" anchor="ctr"/>
          <a:lstStyle/>
          <a:p>
            <a:pPr algn="ctr" indent="0" marL="0">
              <a:buNone/>
            </a:pPr>
            <a:r>
              <a:rPr lang="en-US" sz="1800" b="1" dirty="0">
                <a:solidFill>
                  <a:srgbClr val="FF5C00"/>
                </a:solidFill>
                <a:latin typeface="IBM Plex Mono" pitchFamily="34" charset="0"/>
                <a:ea typeface="IBM Plex Mono" pitchFamily="34" charset="-122"/>
                <a:cs typeface="IBM Plex Mono" pitchFamily="34" charset="-120"/>
              </a:rPr>
              <a:t>책.id   ←   독서 기록.book_id</a:t>
            </a:r>
            <a:endParaRPr lang="en-US" sz="1800" dirty="0"/>
          </a:p>
        </p:txBody>
      </p:sp>
      <p:sp>
        <p:nvSpPr>
          <p:cNvPr id="61" name="Shape 59"/>
          <p:cNvSpPr/>
          <p:nvPr/>
        </p:nvSpPr>
        <p:spPr>
          <a:xfrm>
            <a:off x="530352" y="4846320"/>
            <a:ext cx="11128248" cy="512064"/>
          </a:xfrm>
          <a:prstGeom prst="roundRect">
            <a:avLst>
              <a:gd name="adj" fmla="val 39286"/>
            </a:avLst>
          </a:prstGeom>
          <a:solidFill>
            <a:srgbClr val="EAF5FB"/>
          </a:solidFill>
          <a:ln w="12700">
            <a:solidFill>
              <a:srgbClr val="3D8DFF"/>
            </a:solidFill>
            <a:prstDash val="solid"/>
          </a:ln>
        </p:spPr>
      </p:sp>
      <p:sp>
        <p:nvSpPr>
          <p:cNvPr id="62" name="Text 60"/>
          <p:cNvSpPr/>
          <p:nvPr/>
        </p:nvSpPr>
        <p:spPr>
          <a:xfrm>
            <a:off x="731520" y="484632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외래키(FK) = 다른 표의 기본키를 가리키는 열 · 제목이 아니라 id를 적는다</a:t>
            </a:r>
            <a:endParaRPr lang="en-US" sz="1500" dirty="0"/>
          </a:p>
        </p:txBody>
      </p:sp>
      <p:sp>
        <p:nvSpPr>
          <p:cNvPr id="63" name="Text 61"/>
          <p:cNvSpPr/>
          <p:nvPr/>
        </p:nvSpPr>
        <p:spPr>
          <a:xfrm>
            <a:off x="530352" y="557784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책 제목을 고쳐도 연결은 그대로 남는다</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하나에 여러 개가 붙는 관계, 1:N</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07</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07-1 · 9쪽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08</a:t>
            </a:r>
            <a:endParaRPr lang="en-US" sz="900" dirty="0"/>
          </a:p>
        </p:txBody>
      </p:sp>
      <p:pic>
        <p:nvPicPr>
          <p:cNvPr id="10" name="Image 0" descr="/Users/gojiwoong/Library/Mobile Documents/com~apple~CloudDocs/Obsidian Vault/01_VibeCodingLabs/2607-01_장대현중고등학교_정보와_디지털_문해력/수업구성/교과서_배포/assets/img/07-1-01-points-to.png">    </p:cNvPr>
          <p:cNvPicPr>
            <a:picLocks noChangeAspect="1"/>
          </p:cNvPicPr>
          <p:nvPr/>
        </p:nvPicPr>
        <p:blipFill>
          <a:blip r:embed="rId1"/>
          <a:stretch>
            <a:fillRect/>
          </a:stretch>
        </p:blipFill>
        <p:spPr>
          <a:xfrm>
            <a:off x="530352" y="1828800"/>
            <a:ext cx="6583680" cy="3703320"/>
          </a:xfrm>
          <a:prstGeom prst="rect">
            <a:avLst/>
          </a:prstGeom>
        </p:spPr>
      </p:pic>
      <p:sp>
        <p:nvSpPr>
          <p:cNvPr id="11" name="Shape 8"/>
          <p:cNvSpPr/>
          <p:nvPr/>
        </p:nvSpPr>
        <p:spPr>
          <a:xfrm>
            <a:off x="7452360" y="1828800"/>
            <a:ext cx="4206240" cy="1645920"/>
          </a:xfrm>
          <a:prstGeom prst="roundRect">
            <a:avLst>
              <a:gd name="adj" fmla="val 3056"/>
            </a:avLst>
          </a:prstGeom>
          <a:solidFill>
            <a:srgbClr val="E7F2ED"/>
          </a:solidFill>
          <a:ln w="12700">
            <a:solidFill>
              <a:srgbClr val="0E7C86"/>
            </a:solidFill>
            <a:prstDash val="solid"/>
          </a:ln>
        </p:spPr>
      </p:sp>
      <p:sp>
        <p:nvSpPr>
          <p:cNvPr id="12" name="Text 9"/>
          <p:cNvSpPr/>
          <p:nvPr/>
        </p:nvSpPr>
        <p:spPr>
          <a:xfrm>
            <a:off x="7635240" y="1993392"/>
            <a:ext cx="384048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1:N</a:t>
            </a:r>
            <a:endParaRPr lang="en-US" sz="1050" dirty="0"/>
          </a:p>
        </p:txBody>
      </p:sp>
      <p:sp>
        <p:nvSpPr>
          <p:cNvPr id="13" name="Text 10"/>
          <p:cNvSpPr/>
          <p:nvPr/>
        </p:nvSpPr>
        <p:spPr>
          <a:xfrm>
            <a:off x="7635240" y="2286000"/>
            <a:ext cx="38404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책 하나에 기록 여러 개</a:t>
            </a:r>
            <a:endParaRPr lang="en-US" sz="1650" dirty="0"/>
          </a:p>
        </p:txBody>
      </p:sp>
      <p:sp>
        <p:nvSpPr>
          <p:cNvPr id="14" name="Text 11"/>
          <p:cNvSpPr/>
          <p:nvPr/>
        </p:nvSpPr>
        <p:spPr>
          <a:xfrm>
            <a:off x="7635240" y="2779776"/>
            <a:ext cx="3840480" cy="54864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어린 왕자(id 1)에 기록이 두 개 붙어 있다</a:t>
            </a:r>
            <a:endParaRPr lang="en-US" sz="1300" dirty="0"/>
          </a:p>
        </p:txBody>
      </p:sp>
      <p:sp>
        <p:nvSpPr>
          <p:cNvPr id="15" name="Shape 12"/>
          <p:cNvSpPr/>
          <p:nvPr/>
        </p:nvSpPr>
        <p:spPr>
          <a:xfrm>
            <a:off x="7452360" y="3703320"/>
            <a:ext cx="4206240" cy="1828800"/>
          </a:xfrm>
          <a:prstGeom prst="roundRect">
            <a:avLst>
              <a:gd name="adj" fmla="val 2750"/>
            </a:avLst>
          </a:prstGeom>
          <a:solidFill>
            <a:srgbClr val="FFF1E8"/>
          </a:solidFill>
          <a:ln w="12700">
            <a:solidFill>
              <a:srgbClr val="C24A00"/>
            </a:solidFill>
            <a:prstDash val="solid"/>
          </a:ln>
        </p:spPr>
      </p:sp>
      <p:sp>
        <p:nvSpPr>
          <p:cNvPr id="16" name="Text 13"/>
          <p:cNvSpPr/>
          <p:nvPr/>
        </p:nvSpPr>
        <p:spPr>
          <a:xfrm>
            <a:off x="7635240" y="3867912"/>
            <a:ext cx="3840480" cy="237744"/>
          </a:xfrm>
          <a:prstGeom prst="rect">
            <a:avLst/>
          </a:prstGeom>
          <a:noFill/>
          <a:ln/>
        </p:spPr>
        <p:txBody>
          <a:bodyPr wrap="square" lIns="0" tIns="0" rIns="0" bIns="0" rtlCol="0" anchor="ctr"/>
          <a:lstStyle/>
          <a:p>
            <a:pPr indent="0" marL="0">
              <a:buNone/>
            </a:pPr>
            <a:r>
              <a:rPr lang="en-US" sz="1050" b="1" spc="60" kern="0" dirty="0">
                <a:solidFill>
                  <a:srgbClr val="C24A00"/>
                </a:solidFill>
                <a:latin typeface="IBM Plex Sans KR" pitchFamily="34" charset="0"/>
                <a:ea typeface="IBM Plex Sans KR" pitchFamily="34" charset="-122"/>
                <a:cs typeface="IBM Plex Sans KR" pitchFamily="34" charset="-120"/>
              </a:rPr>
              <a:t>외래키는 어디에</a:t>
            </a:r>
            <a:endParaRPr lang="en-US" sz="1050" dirty="0"/>
          </a:p>
        </p:txBody>
      </p:sp>
      <p:sp>
        <p:nvSpPr>
          <p:cNvPr id="17" name="Text 14"/>
          <p:cNvSpPr/>
          <p:nvPr/>
        </p:nvSpPr>
        <p:spPr>
          <a:xfrm>
            <a:off x="7635240" y="4160520"/>
            <a:ext cx="384048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여러 개 쪽에 둔다</a:t>
            </a:r>
            <a:endParaRPr lang="en-US" sz="1650" dirty="0"/>
          </a:p>
        </p:txBody>
      </p:sp>
      <p:sp>
        <p:nvSpPr>
          <p:cNvPr id="18" name="Text 15"/>
          <p:cNvSpPr/>
          <p:nvPr/>
        </p:nvSpPr>
        <p:spPr>
          <a:xfrm>
            <a:off x="7635240" y="4654296"/>
            <a:ext cx="3840480" cy="73152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한 칸에는 값 하나 · 그래서 독서 기록 표에 book_id</a:t>
            </a:r>
            <a:endParaRPr lang="en-US" sz="1300" dirty="0"/>
          </a:p>
        </p:txBody>
      </p:sp>
      <p:sp>
        <p:nvSpPr>
          <p:cNvPr id="19" name="Text 16"/>
          <p:cNvSpPr/>
          <p:nvPr/>
        </p:nvSpPr>
        <p:spPr>
          <a:xfrm>
            <a:off x="530352" y="580644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한쪽 표의 한 칸이 다른 표의 한 줄을 가리킨다</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나눠 저장하고, 보여 줄 때 합친다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08</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07-1 · 10쪽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09</a:t>
            </a:r>
            <a:endParaRPr lang="en-US" sz="900" dirty="0"/>
          </a:p>
        </p:txBody>
      </p:sp>
      <p:sp>
        <p:nvSpPr>
          <p:cNvPr id="10" name="Text 8"/>
          <p:cNvSpPr/>
          <p:nvPr/>
        </p:nvSpPr>
        <p:spPr>
          <a:xfrm>
            <a:off x="530352" y="1938528"/>
            <a:ext cx="4846320" cy="29260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독서 기록 표만 보면</a:t>
            </a:r>
            <a:endParaRPr lang="en-US" sz="1300" dirty="0"/>
          </a:p>
        </p:txBody>
      </p:sp>
      <p:sp>
        <p:nvSpPr>
          <p:cNvPr id="11" name="Shape 9"/>
          <p:cNvSpPr/>
          <p:nvPr/>
        </p:nvSpPr>
        <p:spPr>
          <a:xfrm>
            <a:off x="530352" y="2286000"/>
            <a:ext cx="2665476" cy="402336"/>
          </a:xfrm>
          <a:prstGeom prst="rect">
            <a:avLst/>
          </a:prstGeom>
          <a:solidFill>
            <a:srgbClr val="1B1D21"/>
          </a:solidFill>
          <a:ln/>
        </p:spPr>
      </p:sp>
      <p:sp>
        <p:nvSpPr>
          <p:cNvPr id="12" name="Text 10"/>
          <p:cNvSpPr/>
          <p:nvPr/>
        </p:nvSpPr>
        <p:spPr>
          <a:xfrm>
            <a:off x="640080" y="2286000"/>
            <a:ext cx="2446020"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book_id</a:t>
            </a:r>
            <a:endParaRPr lang="en-US" sz="1200" dirty="0"/>
          </a:p>
        </p:txBody>
      </p:sp>
      <p:sp>
        <p:nvSpPr>
          <p:cNvPr id="13" name="Shape 11"/>
          <p:cNvSpPr/>
          <p:nvPr/>
        </p:nvSpPr>
        <p:spPr>
          <a:xfrm>
            <a:off x="1385316" y="2395728"/>
            <a:ext cx="329184" cy="182880"/>
          </a:xfrm>
          <a:prstGeom prst="roundRect">
            <a:avLst>
              <a:gd name="adj" fmla="val 15000"/>
            </a:avLst>
          </a:prstGeom>
          <a:solidFill>
            <a:srgbClr val="0E7C86"/>
          </a:solidFill>
          <a:ln/>
        </p:spPr>
      </p:sp>
      <p:sp>
        <p:nvSpPr>
          <p:cNvPr id="14" name="Text 12"/>
          <p:cNvSpPr/>
          <p:nvPr/>
        </p:nvSpPr>
        <p:spPr>
          <a:xfrm>
            <a:off x="1385316" y="2395728"/>
            <a:ext cx="3291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IBM Plex Mono" pitchFamily="34" charset="0"/>
                <a:ea typeface="IBM Plex Mono" pitchFamily="34" charset="-122"/>
                <a:cs typeface="IBM Plex Mono" pitchFamily="34" charset="-120"/>
              </a:rPr>
              <a:t>FK</a:t>
            </a:r>
            <a:endParaRPr lang="en-US" sz="800" dirty="0"/>
          </a:p>
        </p:txBody>
      </p:sp>
      <p:sp>
        <p:nvSpPr>
          <p:cNvPr id="15" name="Shape 13"/>
          <p:cNvSpPr/>
          <p:nvPr/>
        </p:nvSpPr>
        <p:spPr>
          <a:xfrm>
            <a:off x="3195828" y="2286000"/>
            <a:ext cx="2180844" cy="402336"/>
          </a:xfrm>
          <a:prstGeom prst="rect">
            <a:avLst/>
          </a:prstGeom>
          <a:solidFill>
            <a:srgbClr val="1B1D21"/>
          </a:solidFill>
          <a:ln/>
        </p:spPr>
      </p:sp>
      <p:sp>
        <p:nvSpPr>
          <p:cNvPr id="16" name="Text 14"/>
          <p:cNvSpPr/>
          <p:nvPr/>
        </p:nvSpPr>
        <p:spPr>
          <a:xfrm>
            <a:off x="3305556" y="2286000"/>
            <a:ext cx="1961388"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rating</a:t>
            </a:r>
            <a:endParaRPr lang="en-US" sz="1200" dirty="0"/>
          </a:p>
        </p:txBody>
      </p:sp>
      <p:sp>
        <p:nvSpPr>
          <p:cNvPr id="17" name="Shape 15"/>
          <p:cNvSpPr/>
          <p:nvPr/>
        </p:nvSpPr>
        <p:spPr>
          <a:xfrm>
            <a:off x="530352" y="2688336"/>
            <a:ext cx="2665476" cy="420624"/>
          </a:xfrm>
          <a:prstGeom prst="rect">
            <a:avLst/>
          </a:prstGeom>
          <a:solidFill>
            <a:srgbClr val="FFFFFF"/>
          </a:solidFill>
          <a:ln w="9525">
            <a:solidFill>
              <a:srgbClr val="E0E3E7"/>
            </a:solidFill>
            <a:prstDash val="solid"/>
          </a:ln>
        </p:spPr>
      </p:sp>
      <p:sp>
        <p:nvSpPr>
          <p:cNvPr id="18" name="Text 16"/>
          <p:cNvSpPr/>
          <p:nvPr/>
        </p:nvSpPr>
        <p:spPr>
          <a:xfrm>
            <a:off x="640080" y="2688336"/>
            <a:ext cx="2446020"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1</a:t>
            </a:r>
            <a:endParaRPr lang="en-US" sz="1350" dirty="0"/>
          </a:p>
        </p:txBody>
      </p:sp>
      <p:sp>
        <p:nvSpPr>
          <p:cNvPr id="19" name="Shape 17"/>
          <p:cNvSpPr/>
          <p:nvPr/>
        </p:nvSpPr>
        <p:spPr>
          <a:xfrm>
            <a:off x="3195828" y="2688336"/>
            <a:ext cx="2180844" cy="420624"/>
          </a:xfrm>
          <a:prstGeom prst="rect">
            <a:avLst/>
          </a:prstGeom>
          <a:solidFill>
            <a:srgbClr val="FFFFFF"/>
          </a:solidFill>
          <a:ln w="9525">
            <a:solidFill>
              <a:srgbClr val="E0E3E7"/>
            </a:solidFill>
            <a:prstDash val="solid"/>
          </a:ln>
        </p:spPr>
      </p:sp>
      <p:sp>
        <p:nvSpPr>
          <p:cNvPr id="20" name="Text 18"/>
          <p:cNvSpPr/>
          <p:nvPr/>
        </p:nvSpPr>
        <p:spPr>
          <a:xfrm>
            <a:off x="3305556" y="2688336"/>
            <a:ext cx="1961388"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5</a:t>
            </a:r>
            <a:endParaRPr lang="en-US" sz="1350" dirty="0"/>
          </a:p>
        </p:txBody>
      </p:sp>
      <p:sp>
        <p:nvSpPr>
          <p:cNvPr id="21" name="Shape 19"/>
          <p:cNvSpPr/>
          <p:nvPr/>
        </p:nvSpPr>
        <p:spPr>
          <a:xfrm>
            <a:off x="530352" y="3108960"/>
            <a:ext cx="2665476" cy="420624"/>
          </a:xfrm>
          <a:prstGeom prst="rect">
            <a:avLst/>
          </a:prstGeom>
          <a:solidFill>
            <a:srgbClr val="FFFFFF"/>
          </a:solidFill>
          <a:ln w="9525">
            <a:solidFill>
              <a:srgbClr val="E0E3E7"/>
            </a:solidFill>
            <a:prstDash val="solid"/>
          </a:ln>
        </p:spPr>
      </p:sp>
      <p:sp>
        <p:nvSpPr>
          <p:cNvPr id="22" name="Text 20"/>
          <p:cNvSpPr/>
          <p:nvPr/>
        </p:nvSpPr>
        <p:spPr>
          <a:xfrm>
            <a:off x="640080" y="3108960"/>
            <a:ext cx="2446020"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2</a:t>
            </a:r>
            <a:endParaRPr lang="en-US" sz="1350" dirty="0"/>
          </a:p>
        </p:txBody>
      </p:sp>
      <p:sp>
        <p:nvSpPr>
          <p:cNvPr id="23" name="Shape 21"/>
          <p:cNvSpPr/>
          <p:nvPr/>
        </p:nvSpPr>
        <p:spPr>
          <a:xfrm>
            <a:off x="3195828" y="3108960"/>
            <a:ext cx="2180844" cy="420624"/>
          </a:xfrm>
          <a:prstGeom prst="rect">
            <a:avLst/>
          </a:prstGeom>
          <a:solidFill>
            <a:srgbClr val="FFFFFF"/>
          </a:solidFill>
          <a:ln w="9525">
            <a:solidFill>
              <a:srgbClr val="E0E3E7"/>
            </a:solidFill>
            <a:prstDash val="solid"/>
          </a:ln>
        </p:spPr>
      </p:sp>
      <p:sp>
        <p:nvSpPr>
          <p:cNvPr id="24" name="Text 22"/>
          <p:cNvSpPr/>
          <p:nvPr/>
        </p:nvSpPr>
        <p:spPr>
          <a:xfrm>
            <a:off x="3305556" y="3108960"/>
            <a:ext cx="1961388"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4</a:t>
            </a:r>
            <a:endParaRPr lang="en-US" sz="1350" dirty="0"/>
          </a:p>
        </p:txBody>
      </p:sp>
      <p:sp>
        <p:nvSpPr>
          <p:cNvPr id="25" name="Shape 23"/>
          <p:cNvSpPr/>
          <p:nvPr/>
        </p:nvSpPr>
        <p:spPr>
          <a:xfrm>
            <a:off x="530352" y="3529584"/>
            <a:ext cx="2665476" cy="420624"/>
          </a:xfrm>
          <a:prstGeom prst="rect">
            <a:avLst/>
          </a:prstGeom>
          <a:solidFill>
            <a:srgbClr val="FFFFFF"/>
          </a:solidFill>
          <a:ln w="9525">
            <a:solidFill>
              <a:srgbClr val="E0E3E7"/>
            </a:solidFill>
            <a:prstDash val="solid"/>
          </a:ln>
        </p:spPr>
      </p:sp>
      <p:sp>
        <p:nvSpPr>
          <p:cNvPr id="26" name="Text 24"/>
          <p:cNvSpPr/>
          <p:nvPr/>
        </p:nvSpPr>
        <p:spPr>
          <a:xfrm>
            <a:off x="640080" y="3529584"/>
            <a:ext cx="2446020"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1</a:t>
            </a:r>
            <a:endParaRPr lang="en-US" sz="1350" dirty="0"/>
          </a:p>
        </p:txBody>
      </p:sp>
      <p:sp>
        <p:nvSpPr>
          <p:cNvPr id="27" name="Shape 25"/>
          <p:cNvSpPr/>
          <p:nvPr/>
        </p:nvSpPr>
        <p:spPr>
          <a:xfrm>
            <a:off x="3195828" y="3529584"/>
            <a:ext cx="2180844" cy="420624"/>
          </a:xfrm>
          <a:prstGeom prst="rect">
            <a:avLst/>
          </a:prstGeom>
          <a:solidFill>
            <a:srgbClr val="FFFFFF"/>
          </a:solidFill>
          <a:ln w="9525">
            <a:solidFill>
              <a:srgbClr val="E0E3E7"/>
            </a:solidFill>
            <a:prstDash val="solid"/>
          </a:ln>
        </p:spPr>
      </p:sp>
      <p:sp>
        <p:nvSpPr>
          <p:cNvPr id="28" name="Text 26"/>
          <p:cNvSpPr/>
          <p:nvPr/>
        </p:nvSpPr>
        <p:spPr>
          <a:xfrm>
            <a:off x="3305556" y="3529584"/>
            <a:ext cx="1961388"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4</a:t>
            </a:r>
            <a:endParaRPr lang="en-US" sz="1350" dirty="0"/>
          </a:p>
        </p:txBody>
      </p:sp>
      <p:sp>
        <p:nvSpPr>
          <p:cNvPr id="29" name="Text 27"/>
          <p:cNvSpPr/>
          <p:nvPr/>
        </p:nvSpPr>
        <p:spPr>
          <a:xfrm>
            <a:off x="5440680" y="2971800"/>
            <a:ext cx="1097280" cy="457200"/>
          </a:xfrm>
          <a:prstGeom prst="rect">
            <a:avLst/>
          </a:prstGeom>
          <a:noFill/>
          <a:ln/>
        </p:spPr>
        <p:txBody>
          <a:bodyPr wrap="square" lIns="0" tIns="0" rIns="0" bIns="0" rtlCol="0" anchor="ctr"/>
          <a:lstStyle/>
          <a:p>
            <a:pPr algn="ctr" indent="0" marL="0">
              <a:buNone/>
            </a:pPr>
            <a:r>
              <a:rPr lang="en-US" sz="1800" b="1" dirty="0">
                <a:solidFill>
                  <a:srgbClr val="FF5C00"/>
                </a:solidFill>
                <a:latin typeface="IBM Plex Mono" pitchFamily="34" charset="0"/>
                <a:ea typeface="IBM Plex Mono" pitchFamily="34" charset="-122"/>
                <a:cs typeface="IBM Plex Mono" pitchFamily="34" charset="-120"/>
              </a:rPr>
              <a:t>JOIN →</a:t>
            </a:r>
            <a:endParaRPr lang="en-US" sz="1800" dirty="0"/>
          </a:p>
        </p:txBody>
      </p:sp>
      <p:sp>
        <p:nvSpPr>
          <p:cNvPr id="30" name="Text 28"/>
          <p:cNvSpPr/>
          <p:nvPr/>
        </p:nvSpPr>
        <p:spPr>
          <a:xfrm>
            <a:off x="6812280" y="1938528"/>
            <a:ext cx="4846320" cy="29260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책 표와 JOIN 하면</a:t>
            </a:r>
            <a:endParaRPr lang="en-US" sz="1300" dirty="0"/>
          </a:p>
        </p:txBody>
      </p:sp>
      <p:sp>
        <p:nvSpPr>
          <p:cNvPr id="31" name="Shape 29"/>
          <p:cNvSpPr/>
          <p:nvPr/>
        </p:nvSpPr>
        <p:spPr>
          <a:xfrm>
            <a:off x="6812280" y="2286000"/>
            <a:ext cx="2907792" cy="402336"/>
          </a:xfrm>
          <a:prstGeom prst="rect">
            <a:avLst/>
          </a:prstGeom>
          <a:solidFill>
            <a:srgbClr val="2F6FD0"/>
          </a:solidFill>
          <a:ln/>
        </p:spPr>
      </p:sp>
      <p:sp>
        <p:nvSpPr>
          <p:cNvPr id="32" name="Text 30"/>
          <p:cNvSpPr/>
          <p:nvPr/>
        </p:nvSpPr>
        <p:spPr>
          <a:xfrm>
            <a:off x="6922008" y="2286000"/>
            <a:ext cx="2688336"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title</a:t>
            </a:r>
            <a:endParaRPr lang="en-US" sz="1200" dirty="0"/>
          </a:p>
        </p:txBody>
      </p:sp>
      <p:sp>
        <p:nvSpPr>
          <p:cNvPr id="33" name="Shape 31"/>
          <p:cNvSpPr/>
          <p:nvPr/>
        </p:nvSpPr>
        <p:spPr>
          <a:xfrm>
            <a:off x="9720072" y="2286000"/>
            <a:ext cx="1938528" cy="402336"/>
          </a:xfrm>
          <a:prstGeom prst="rect">
            <a:avLst/>
          </a:prstGeom>
          <a:solidFill>
            <a:srgbClr val="1B1D21"/>
          </a:solidFill>
          <a:ln/>
        </p:spPr>
      </p:sp>
      <p:sp>
        <p:nvSpPr>
          <p:cNvPr id="34" name="Text 32"/>
          <p:cNvSpPr/>
          <p:nvPr/>
        </p:nvSpPr>
        <p:spPr>
          <a:xfrm>
            <a:off x="9829800" y="2286000"/>
            <a:ext cx="1719072" cy="402336"/>
          </a:xfrm>
          <a:prstGeom prst="rect">
            <a:avLst/>
          </a:prstGeom>
          <a:noFill/>
          <a:ln/>
        </p:spPr>
        <p:txBody>
          <a:bodyPr wrap="square" lIns="0" tIns="0" rIns="0" bIns="0" rtlCol="0" anchor="ctr"/>
          <a:lstStyle/>
          <a:p>
            <a:pPr indent="0" marL="0">
              <a:buNone/>
            </a:pPr>
            <a:r>
              <a:rPr lang="en-US" sz="1200" b="1" dirty="0">
                <a:solidFill>
                  <a:srgbClr val="FFFFFF"/>
                </a:solidFill>
                <a:latin typeface="IBM Plex Mono" pitchFamily="34" charset="0"/>
                <a:ea typeface="IBM Plex Mono" pitchFamily="34" charset="-122"/>
                <a:cs typeface="IBM Plex Mono" pitchFamily="34" charset="-120"/>
              </a:rPr>
              <a:t>rating</a:t>
            </a:r>
            <a:endParaRPr lang="en-US" sz="1200" dirty="0"/>
          </a:p>
        </p:txBody>
      </p:sp>
      <p:sp>
        <p:nvSpPr>
          <p:cNvPr id="35" name="Shape 33"/>
          <p:cNvSpPr/>
          <p:nvPr/>
        </p:nvSpPr>
        <p:spPr>
          <a:xfrm>
            <a:off x="6812280" y="2688336"/>
            <a:ext cx="2907792" cy="420624"/>
          </a:xfrm>
          <a:prstGeom prst="rect">
            <a:avLst/>
          </a:prstGeom>
          <a:solidFill>
            <a:srgbClr val="EAF2FD"/>
          </a:solidFill>
          <a:ln w="9525">
            <a:solidFill>
              <a:srgbClr val="E0E3E7"/>
            </a:solidFill>
            <a:prstDash val="solid"/>
          </a:ln>
        </p:spPr>
      </p:sp>
      <p:sp>
        <p:nvSpPr>
          <p:cNvPr id="36" name="Text 34"/>
          <p:cNvSpPr/>
          <p:nvPr/>
        </p:nvSpPr>
        <p:spPr>
          <a:xfrm>
            <a:off x="6922008" y="2688336"/>
            <a:ext cx="2688336"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어린 왕자</a:t>
            </a:r>
            <a:endParaRPr lang="en-US" sz="1350" dirty="0"/>
          </a:p>
        </p:txBody>
      </p:sp>
      <p:sp>
        <p:nvSpPr>
          <p:cNvPr id="37" name="Shape 35"/>
          <p:cNvSpPr/>
          <p:nvPr/>
        </p:nvSpPr>
        <p:spPr>
          <a:xfrm>
            <a:off x="9720072" y="2688336"/>
            <a:ext cx="1938528" cy="420624"/>
          </a:xfrm>
          <a:prstGeom prst="rect">
            <a:avLst/>
          </a:prstGeom>
          <a:solidFill>
            <a:srgbClr val="FFFFFF"/>
          </a:solidFill>
          <a:ln w="9525">
            <a:solidFill>
              <a:srgbClr val="E0E3E7"/>
            </a:solidFill>
            <a:prstDash val="solid"/>
          </a:ln>
        </p:spPr>
      </p:sp>
      <p:sp>
        <p:nvSpPr>
          <p:cNvPr id="38" name="Text 36"/>
          <p:cNvSpPr/>
          <p:nvPr/>
        </p:nvSpPr>
        <p:spPr>
          <a:xfrm>
            <a:off x="9829800" y="2688336"/>
            <a:ext cx="1719072"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5</a:t>
            </a:r>
            <a:endParaRPr lang="en-US" sz="1350" dirty="0"/>
          </a:p>
        </p:txBody>
      </p:sp>
      <p:sp>
        <p:nvSpPr>
          <p:cNvPr id="39" name="Shape 37"/>
          <p:cNvSpPr/>
          <p:nvPr/>
        </p:nvSpPr>
        <p:spPr>
          <a:xfrm>
            <a:off x="6812280" y="3108960"/>
            <a:ext cx="2907792" cy="420624"/>
          </a:xfrm>
          <a:prstGeom prst="rect">
            <a:avLst/>
          </a:prstGeom>
          <a:solidFill>
            <a:srgbClr val="EAF2FD"/>
          </a:solidFill>
          <a:ln w="9525">
            <a:solidFill>
              <a:srgbClr val="E0E3E7"/>
            </a:solidFill>
            <a:prstDash val="solid"/>
          </a:ln>
        </p:spPr>
      </p:sp>
      <p:sp>
        <p:nvSpPr>
          <p:cNvPr id="40" name="Text 38"/>
          <p:cNvSpPr/>
          <p:nvPr/>
        </p:nvSpPr>
        <p:spPr>
          <a:xfrm>
            <a:off x="6922008" y="3108960"/>
            <a:ext cx="2688336"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모모</a:t>
            </a:r>
            <a:endParaRPr lang="en-US" sz="1350" dirty="0"/>
          </a:p>
        </p:txBody>
      </p:sp>
      <p:sp>
        <p:nvSpPr>
          <p:cNvPr id="41" name="Shape 39"/>
          <p:cNvSpPr/>
          <p:nvPr/>
        </p:nvSpPr>
        <p:spPr>
          <a:xfrm>
            <a:off x="9720072" y="3108960"/>
            <a:ext cx="1938528" cy="420624"/>
          </a:xfrm>
          <a:prstGeom prst="rect">
            <a:avLst/>
          </a:prstGeom>
          <a:solidFill>
            <a:srgbClr val="FFFFFF"/>
          </a:solidFill>
          <a:ln w="9525">
            <a:solidFill>
              <a:srgbClr val="E0E3E7"/>
            </a:solidFill>
            <a:prstDash val="solid"/>
          </a:ln>
        </p:spPr>
      </p:sp>
      <p:sp>
        <p:nvSpPr>
          <p:cNvPr id="42" name="Text 40"/>
          <p:cNvSpPr/>
          <p:nvPr/>
        </p:nvSpPr>
        <p:spPr>
          <a:xfrm>
            <a:off x="9829800" y="3108960"/>
            <a:ext cx="1719072"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4</a:t>
            </a:r>
            <a:endParaRPr lang="en-US" sz="1350" dirty="0"/>
          </a:p>
        </p:txBody>
      </p:sp>
      <p:sp>
        <p:nvSpPr>
          <p:cNvPr id="43" name="Shape 41"/>
          <p:cNvSpPr/>
          <p:nvPr/>
        </p:nvSpPr>
        <p:spPr>
          <a:xfrm>
            <a:off x="6812280" y="3529584"/>
            <a:ext cx="2907792" cy="420624"/>
          </a:xfrm>
          <a:prstGeom prst="rect">
            <a:avLst/>
          </a:prstGeom>
          <a:solidFill>
            <a:srgbClr val="EAF2FD"/>
          </a:solidFill>
          <a:ln w="9525">
            <a:solidFill>
              <a:srgbClr val="E0E3E7"/>
            </a:solidFill>
            <a:prstDash val="solid"/>
          </a:ln>
        </p:spPr>
      </p:sp>
      <p:sp>
        <p:nvSpPr>
          <p:cNvPr id="44" name="Text 42"/>
          <p:cNvSpPr/>
          <p:nvPr/>
        </p:nvSpPr>
        <p:spPr>
          <a:xfrm>
            <a:off x="6922008" y="3529584"/>
            <a:ext cx="2688336"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Sans KR" pitchFamily="34" charset="0"/>
                <a:ea typeface="IBM Plex Sans KR" pitchFamily="34" charset="-122"/>
                <a:cs typeface="IBM Plex Sans KR" pitchFamily="34" charset="-120"/>
              </a:rPr>
              <a:t>어린 왕자</a:t>
            </a:r>
            <a:endParaRPr lang="en-US" sz="1350" dirty="0"/>
          </a:p>
        </p:txBody>
      </p:sp>
      <p:sp>
        <p:nvSpPr>
          <p:cNvPr id="45" name="Shape 43"/>
          <p:cNvSpPr/>
          <p:nvPr/>
        </p:nvSpPr>
        <p:spPr>
          <a:xfrm>
            <a:off x="9720072" y="3529584"/>
            <a:ext cx="1938528" cy="420624"/>
          </a:xfrm>
          <a:prstGeom prst="rect">
            <a:avLst/>
          </a:prstGeom>
          <a:solidFill>
            <a:srgbClr val="FFFFFF"/>
          </a:solidFill>
          <a:ln w="9525">
            <a:solidFill>
              <a:srgbClr val="E0E3E7"/>
            </a:solidFill>
            <a:prstDash val="solid"/>
          </a:ln>
        </p:spPr>
      </p:sp>
      <p:sp>
        <p:nvSpPr>
          <p:cNvPr id="46" name="Text 44"/>
          <p:cNvSpPr/>
          <p:nvPr/>
        </p:nvSpPr>
        <p:spPr>
          <a:xfrm>
            <a:off x="9829800" y="3529584"/>
            <a:ext cx="1719072" cy="420624"/>
          </a:xfrm>
          <a:prstGeom prst="rect">
            <a:avLst/>
          </a:prstGeom>
          <a:noFill/>
          <a:ln/>
        </p:spPr>
        <p:txBody>
          <a:bodyPr wrap="square" lIns="0" tIns="0" rIns="0" bIns="0" rtlCol="0" anchor="ctr"/>
          <a:lstStyle/>
          <a:p>
            <a:pPr indent="0" marL="0">
              <a:buNone/>
            </a:pPr>
            <a:r>
              <a:rPr lang="en-US" sz="1350" dirty="0">
                <a:solidFill>
                  <a:srgbClr val="34373D"/>
                </a:solidFill>
                <a:latin typeface="IBM Plex Mono" pitchFamily="34" charset="0"/>
                <a:ea typeface="IBM Plex Mono" pitchFamily="34" charset="-122"/>
                <a:cs typeface="IBM Plex Mono" pitchFamily="34" charset="-120"/>
              </a:rPr>
              <a:t>4</a:t>
            </a:r>
            <a:endParaRPr lang="en-US" sz="1350" dirty="0"/>
          </a:p>
        </p:txBody>
      </p:sp>
      <p:sp>
        <p:nvSpPr>
          <p:cNvPr id="47" name="Shape 45"/>
          <p:cNvSpPr/>
          <p:nvPr/>
        </p:nvSpPr>
        <p:spPr>
          <a:xfrm>
            <a:off x="530352" y="4343400"/>
            <a:ext cx="11128248" cy="512064"/>
          </a:xfrm>
          <a:prstGeom prst="roundRect">
            <a:avLst>
              <a:gd name="adj" fmla="val 39286"/>
            </a:avLst>
          </a:prstGeom>
          <a:solidFill>
            <a:srgbClr val="EAF5FB"/>
          </a:solidFill>
          <a:ln w="12700">
            <a:solidFill>
              <a:srgbClr val="3D8DFF"/>
            </a:solidFill>
            <a:prstDash val="solid"/>
          </a:ln>
        </p:spPr>
      </p:sp>
      <p:sp>
        <p:nvSpPr>
          <p:cNvPr id="48" name="Text 46"/>
          <p:cNvSpPr/>
          <p:nvPr/>
        </p:nvSpPr>
        <p:spPr>
          <a:xfrm>
            <a:off x="731520" y="434340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어느 두 표를 · 어느 키로 이어 · 화면에 무엇을 보여 주는가</a:t>
            </a:r>
            <a:endParaRPr lang="en-US" sz="1500" dirty="0"/>
          </a:p>
        </p:txBody>
      </p:sp>
      <p:sp>
        <p:nvSpPr>
          <p:cNvPr id="49" name="Text 47"/>
          <p:cNvSpPr/>
          <p:nvPr/>
        </p:nvSpPr>
        <p:spPr>
          <a:xfrm>
            <a:off x="530352" y="4983480"/>
            <a:ext cx="11128248" cy="347472"/>
          </a:xfrm>
          <a:prstGeom prst="rect">
            <a:avLst/>
          </a:prstGeom>
          <a:noFill/>
          <a:ln/>
        </p:spPr>
        <p:txBody>
          <a:bodyPr wrap="square" lIns="0" tIns="0" rIns="0" bIns="0" rtlCol="0" anchor="ctr"/>
          <a:lstStyle/>
          <a:p>
            <a:pPr algn="ctr" indent="0" marL="0">
              <a:buNone/>
            </a:pPr>
            <a:r>
              <a:rPr lang="en-US" sz="1350" dirty="0">
                <a:solidFill>
                  <a:srgbClr val="6C7078"/>
                </a:solidFill>
                <a:latin typeface="IBM Plex Sans KR" pitchFamily="34" charset="0"/>
                <a:ea typeface="IBM Plex Sans KR" pitchFamily="34" charset="-122"/>
                <a:cs typeface="IBM Plex Sans KR" pitchFamily="34" charset="-120"/>
              </a:rPr>
              <a:t>JOIN을 쓰는 문법(SQL)은 배우지 않는다 · 읽을 수만 있으면 된다</a:t>
            </a:r>
            <a:endParaRPr lang="en-US" sz="1350" dirty="0"/>
          </a:p>
        </p:txBody>
      </p:sp>
      <p:sp>
        <p:nvSpPr>
          <p:cNvPr id="50" name="Text 48"/>
          <p:cNvSpPr/>
          <p:nvPr/>
        </p:nvSpPr>
        <p:spPr>
          <a:xfrm>
            <a:off x="530352" y="562356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나누어 저장하고, 보여 줄 때 합친다</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표는 하나로 충분한 경우가 많다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09</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07-1 · 11쪽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10</a:t>
            </a:r>
            <a:endParaRPr lang="en-US" sz="900" dirty="0"/>
          </a:p>
        </p:txBody>
      </p:sp>
      <p:sp>
        <p:nvSpPr>
          <p:cNvPr id="10" name="Shape 8"/>
          <p:cNvSpPr/>
          <p:nvPr/>
        </p:nvSpPr>
        <p:spPr>
          <a:xfrm>
            <a:off x="530352" y="1920240"/>
            <a:ext cx="3561039" cy="402336"/>
          </a:xfrm>
          <a:prstGeom prst="rect">
            <a:avLst/>
          </a:prstGeom>
          <a:solidFill>
            <a:srgbClr val="1B1D21"/>
          </a:solidFill>
          <a:ln/>
        </p:spPr>
      </p:sp>
      <p:sp>
        <p:nvSpPr>
          <p:cNvPr id="11" name="Text 9"/>
          <p:cNvSpPr/>
          <p:nvPr/>
        </p:nvSpPr>
        <p:spPr>
          <a:xfrm>
            <a:off x="658368" y="1920240"/>
            <a:ext cx="330500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서비스</a:t>
            </a:r>
            <a:endParaRPr lang="en-US" sz="1050" dirty="0"/>
          </a:p>
        </p:txBody>
      </p:sp>
      <p:sp>
        <p:nvSpPr>
          <p:cNvPr id="12" name="Shape 10"/>
          <p:cNvSpPr/>
          <p:nvPr/>
        </p:nvSpPr>
        <p:spPr>
          <a:xfrm>
            <a:off x="4091391" y="1920240"/>
            <a:ext cx="3783604" cy="402336"/>
          </a:xfrm>
          <a:prstGeom prst="rect">
            <a:avLst/>
          </a:prstGeom>
          <a:solidFill>
            <a:srgbClr val="1B1D21"/>
          </a:solidFill>
          <a:ln/>
        </p:spPr>
      </p:sp>
      <p:sp>
        <p:nvSpPr>
          <p:cNvPr id="13" name="Text 11"/>
          <p:cNvSpPr/>
          <p:nvPr/>
        </p:nvSpPr>
        <p:spPr>
          <a:xfrm>
            <a:off x="4219407" y="1920240"/>
            <a:ext cx="352757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표</a:t>
            </a:r>
            <a:endParaRPr lang="en-US" sz="1050" dirty="0"/>
          </a:p>
        </p:txBody>
      </p:sp>
      <p:sp>
        <p:nvSpPr>
          <p:cNvPr id="14" name="Shape 12"/>
          <p:cNvSpPr/>
          <p:nvPr/>
        </p:nvSpPr>
        <p:spPr>
          <a:xfrm>
            <a:off x="7874996" y="1920240"/>
            <a:ext cx="3783604" cy="402336"/>
          </a:xfrm>
          <a:prstGeom prst="rect">
            <a:avLst/>
          </a:prstGeom>
          <a:solidFill>
            <a:srgbClr val="1B1D21"/>
          </a:solidFill>
          <a:ln/>
        </p:spPr>
      </p:sp>
      <p:sp>
        <p:nvSpPr>
          <p:cNvPr id="15" name="Text 13"/>
          <p:cNvSpPr/>
          <p:nvPr/>
        </p:nvSpPr>
        <p:spPr>
          <a:xfrm>
            <a:off x="8003012" y="1920240"/>
            <a:ext cx="352757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한 행은</a:t>
            </a:r>
            <a:endParaRPr lang="en-US" sz="1050" dirty="0"/>
          </a:p>
        </p:txBody>
      </p:sp>
      <p:sp>
        <p:nvSpPr>
          <p:cNvPr id="16" name="Shape 14"/>
          <p:cNvSpPr/>
          <p:nvPr/>
        </p:nvSpPr>
        <p:spPr>
          <a:xfrm>
            <a:off x="530352" y="2322576"/>
            <a:ext cx="11128248" cy="530352"/>
          </a:xfrm>
          <a:prstGeom prst="rect">
            <a:avLst/>
          </a:prstGeom>
          <a:solidFill>
            <a:srgbClr val="F1F2F4"/>
          </a:solidFill>
          <a:ln w="9525">
            <a:solidFill>
              <a:srgbClr val="E0E3E7"/>
            </a:solidFill>
            <a:prstDash val="solid"/>
          </a:ln>
        </p:spPr>
      </p:sp>
      <p:sp>
        <p:nvSpPr>
          <p:cNvPr id="17" name="Text 15"/>
          <p:cNvSpPr/>
          <p:nvPr/>
        </p:nvSpPr>
        <p:spPr>
          <a:xfrm>
            <a:off x="658368" y="2322576"/>
            <a:ext cx="3305007" cy="530352"/>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할 일 기록</a:t>
            </a:r>
            <a:endParaRPr lang="en-US" sz="1400" dirty="0"/>
          </a:p>
        </p:txBody>
      </p:sp>
      <p:sp>
        <p:nvSpPr>
          <p:cNvPr id="18" name="Text 16"/>
          <p:cNvSpPr/>
          <p:nvPr/>
        </p:nvSpPr>
        <p:spPr>
          <a:xfrm>
            <a:off x="4219407" y="2322576"/>
            <a:ext cx="3527572" cy="53035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1개 · 할 일</a:t>
            </a:r>
            <a:endParaRPr lang="en-US" sz="1400" dirty="0"/>
          </a:p>
        </p:txBody>
      </p:sp>
      <p:sp>
        <p:nvSpPr>
          <p:cNvPr id="19" name="Text 17"/>
          <p:cNvSpPr/>
          <p:nvPr/>
        </p:nvSpPr>
        <p:spPr>
          <a:xfrm>
            <a:off x="8003012" y="2322576"/>
            <a:ext cx="3527572" cy="53035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할 일 하나</a:t>
            </a:r>
            <a:endParaRPr lang="en-US" sz="1400" dirty="0"/>
          </a:p>
        </p:txBody>
      </p:sp>
      <p:sp>
        <p:nvSpPr>
          <p:cNvPr id="20" name="Shape 18"/>
          <p:cNvSpPr/>
          <p:nvPr/>
        </p:nvSpPr>
        <p:spPr>
          <a:xfrm>
            <a:off x="530352" y="2852928"/>
            <a:ext cx="11128248" cy="530352"/>
          </a:xfrm>
          <a:prstGeom prst="rect">
            <a:avLst/>
          </a:prstGeom>
          <a:solidFill>
            <a:srgbClr val="FFFFFF"/>
          </a:solidFill>
          <a:ln w="9525">
            <a:solidFill>
              <a:srgbClr val="E0E3E7"/>
            </a:solidFill>
            <a:prstDash val="solid"/>
          </a:ln>
        </p:spPr>
      </p:sp>
      <p:sp>
        <p:nvSpPr>
          <p:cNvPr id="21" name="Text 19"/>
          <p:cNvSpPr/>
          <p:nvPr/>
        </p:nvSpPr>
        <p:spPr>
          <a:xfrm>
            <a:off x="658368" y="2852928"/>
            <a:ext cx="3305007" cy="530352"/>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하나 뽑기(6-2 예)</a:t>
            </a:r>
            <a:endParaRPr lang="en-US" sz="1400" dirty="0"/>
          </a:p>
        </p:txBody>
      </p:sp>
      <p:sp>
        <p:nvSpPr>
          <p:cNvPr id="22" name="Text 20"/>
          <p:cNvSpPr/>
          <p:nvPr/>
        </p:nvSpPr>
        <p:spPr>
          <a:xfrm>
            <a:off x="4219407" y="2852928"/>
            <a:ext cx="3527572" cy="53035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1개 · 뽑기 기록</a:t>
            </a:r>
            <a:endParaRPr lang="en-US" sz="1400" dirty="0"/>
          </a:p>
        </p:txBody>
      </p:sp>
      <p:sp>
        <p:nvSpPr>
          <p:cNvPr id="23" name="Text 21"/>
          <p:cNvSpPr/>
          <p:nvPr/>
        </p:nvSpPr>
        <p:spPr>
          <a:xfrm>
            <a:off x="8003012" y="2852928"/>
            <a:ext cx="3527572" cy="53035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한 번 뽑은 결과</a:t>
            </a:r>
            <a:endParaRPr lang="en-US" sz="1400" dirty="0"/>
          </a:p>
        </p:txBody>
      </p:sp>
      <p:sp>
        <p:nvSpPr>
          <p:cNvPr id="24" name="Shape 22"/>
          <p:cNvSpPr/>
          <p:nvPr/>
        </p:nvSpPr>
        <p:spPr>
          <a:xfrm>
            <a:off x="530352" y="3383280"/>
            <a:ext cx="11128248" cy="530352"/>
          </a:xfrm>
          <a:prstGeom prst="rect">
            <a:avLst/>
          </a:prstGeom>
          <a:solidFill>
            <a:srgbClr val="F1F2F4"/>
          </a:solidFill>
          <a:ln w="9525">
            <a:solidFill>
              <a:srgbClr val="E0E3E7"/>
            </a:solidFill>
            <a:prstDash val="solid"/>
          </a:ln>
        </p:spPr>
      </p:sp>
      <p:sp>
        <p:nvSpPr>
          <p:cNvPr id="25" name="Text 23"/>
          <p:cNvSpPr/>
          <p:nvPr/>
        </p:nvSpPr>
        <p:spPr>
          <a:xfrm>
            <a:off x="658368" y="3383280"/>
            <a:ext cx="3305007" cy="530352"/>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독서 기록</a:t>
            </a:r>
            <a:endParaRPr lang="en-US" sz="1400" dirty="0"/>
          </a:p>
        </p:txBody>
      </p:sp>
      <p:sp>
        <p:nvSpPr>
          <p:cNvPr id="26" name="Text 24"/>
          <p:cNvSpPr/>
          <p:nvPr/>
        </p:nvSpPr>
        <p:spPr>
          <a:xfrm>
            <a:off x="4219407" y="3383280"/>
            <a:ext cx="3527572" cy="53035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2개 · 책, 독서 기록</a:t>
            </a:r>
            <a:endParaRPr lang="en-US" sz="1400" dirty="0"/>
          </a:p>
        </p:txBody>
      </p:sp>
      <p:sp>
        <p:nvSpPr>
          <p:cNvPr id="27" name="Text 25"/>
          <p:cNvSpPr/>
          <p:nvPr/>
        </p:nvSpPr>
        <p:spPr>
          <a:xfrm>
            <a:off x="8003012" y="3383280"/>
            <a:ext cx="3527572" cy="53035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책 한 권 / 기록 하나</a:t>
            </a:r>
            <a:endParaRPr lang="en-US" sz="1400" dirty="0"/>
          </a:p>
        </p:txBody>
      </p:sp>
      <p:sp>
        <p:nvSpPr>
          <p:cNvPr id="28" name="Shape 26"/>
          <p:cNvSpPr/>
          <p:nvPr/>
        </p:nvSpPr>
        <p:spPr>
          <a:xfrm>
            <a:off x="530352" y="4023360"/>
            <a:ext cx="11128248" cy="512064"/>
          </a:xfrm>
          <a:prstGeom prst="roundRect">
            <a:avLst>
              <a:gd name="adj" fmla="val 39286"/>
            </a:avLst>
          </a:prstGeom>
          <a:solidFill>
            <a:srgbClr val="EAF5FB"/>
          </a:solidFill>
          <a:ln w="12700">
            <a:solidFill>
              <a:srgbClr val="3D8DFF"/>
            </a:solidFill>
            <a:prstDash val="solid"/>
          </a:ln>
        </p:spPr>
      </p:sp>
      <p:sp>
        <p:nvSpPr>
          <p:cNvPr id="29" name="Text 27"/>
          <p:cNvSpPr/>
          <p:nvPr/>
        </p:nvSpPr>
        <p:spPr>
          <a:xfrm>
            <a:off x="731520" y="402336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표를 나눌 때 · 서로 다른 대상이 섞일 때, 같은 정보가 되풀이될 때만</a:t>
            </a:r>
            <a:endParaRPr lang="en-US" sz="1500" dirty="0"/>
          </a:p>
        </p:txBody>
      </p:sp>
      <p:sp>
        <p:nvSpPr>
          <p:cNvPr id="30" name="Shape 28"/>
          <p:cNvSpPr/>
          <p:nvPr/>
        </p:nvSpPr>
        <p:spPr>
          <a:xfrm>
            <a:off x="530352" y="4709160"/>
            <a:ext cx="11128248" cy="960120"/>
          </a:xfrm>
          <a:prstGeom prst="roundRect">
            <a:avLst>
              <a:gd name="adj" fmla="val 5238"/>
            </a:avLst>
          </a:prstGeom>
          <a:solidFill>
            <a:srgbClr val="E7F2ED"/>
          </a:solidFill>
          <a:ln w="12700">
            <a:solidFill>
              <a:srgbClr val="0E7C86"/>
            </a:solidFill>
            <a:prstDash val="solid"/>
          </a:ln>
        </p:spPr>
      </p:sp>
      <p:sp>
        <p:nvSpPr>
          <p:cNvPr id="31" name="Text 29"/>
          <p:cNvSpPr/>
          <p:nvPr/>
        </p:nvSpPr>
        <p:spPr>
          <a:xfrm>
            <a:off x="713232" y="4873752"/>
            <a:ext cx="10762488" cy="649224"/>
          </a:xfrm>
          <a:prstGeom prst="rect">
            <a:avLst/>
          </a:prstGeom>
          <a:noFill/>
          <a:ln/>
        </p:spPr>
        <p:txBody>
          <a:bodyPr wrap="square" lIns="0" tIns="0" rIns="0" bIns="0" rtlCol="0" anchor="t"/>
          <a:lstStyle/>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모든 서비스는 사용자가 다시 볼 기록을 하나는 남긴다 · 결과만 보여 주는 도구라도 사용한 값과 결과를 남긴다</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AI에게 내 서비스의 표를 그려 달라고 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10</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07-1 · 12쪽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11</a:t>
            </a:r>
            <a:endParaRPr lang="en-US" sz="900" dirty="0"/>
          </a:p>
        </p:txBody>
      </p:sp>
      <p:sp>
        <p:nvSpPr>
          <p:cNvPr id="10" name="Text 8"/>
          <p:cNvSpPr/>
          <p:nvPr/>
        </p:nvSpPr>
        <p:spPr>
          <a:xfrm>
            <a:off x="530352" y="1691640"/>
            <a:ext cx="11128248" cy="310896"/>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지금 할 일 · 탐색기 맨 위 06 · 터미널 → 새 터미널 · …\06&gt; 확인 → opencode</a:t>
            </a:r>
            <a:endParaRPr lang="en-US" sz="1450" dirty="0"/>
          </a:p>
        </p:txBody>
      </p:sp>
      <p:sp>
        <p:nvSpPr>
          <p:cNvPr id="11" name="Shape 9"/>
          <p:cNvSpPr/>
          <p:nvPr/>
        </p:nvSpPr>
        <p:spPr>
          <a:xfrm>
            <a:off x="530352" y="2148840"/>
            <a:ext cx="11128248" cy="1783080"/>
          </a:xfrm>
          <a:prstGeom prst="roundRect">
            <a:avLst>
              <a:gd name="adj" fmla="val 2564"/>
            </a:avLst>
          </a:prstGeom>
          <a:solidFill>
            <a:srgbClr val="24272C"/>
          </a:solidFill>
          <a:ln/>
        </p:spPr>
      </p:sp>
      <p:sp>
        <p:nvSpPr>
          <p:cNvPr id="12" name="Text 10"/>
          <p:cNvSpPr/>
          <p:nvPr/>
        </p:nvSpPr>
        <p:spPr>
          <a:xfrm>
            <a:off x="768096" y="227685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OpenCode에 보낼 요청문 (교과서 12쪽에서 복사)</a:t>
            </a:r>
            <a:endParaRPr lang="en-US" sz="950" dirty="0"/>
          </a:p>
        </p:txBody>
      </p:sp>
      <p:sp>
        <p:nvSpPr>
          <p:cNvPr id="13" name="Text 11"/>
          <p:cNvSpPr/>
          <p:nvPr/>
        </p:nvSpPr>
        <p:spPr>
          <a:xfrm>
            <a:off x="768096" y="2551176"/>
            <a:ext cx="10652760" cy="1234440"/>
          </a:xfrm>
          <a:prstGeom prst="rect">
            <a:avLst/>
          </a:prstGeom>
          <a:noFill/>
          <a:ln/>
        </p:spPr>
        <p:txBody>
          <a:bodyPr wrap="square" lIns="0" tIns="0" rIns="0" bIns="0" rtlCol="0" anchor="t"/>
          <a:lstStyle/>
          <a:p>
            <a:pPr indent="0" marL="0">
              <a:lnSpc>
                <a:spcPts val="2380"/>
              </a:lnSpc>
              <a:buNone/>
            </a:pPr>
            <a:r>
              <a:rPr lang="en-US" sz="1400" dirty="0">
                <a:solidFill>
                  <a:srgbClr val="9BE6B8"/>
                </a:solidFill>
                <a:latin typeface="IBM Plex Mono" pitchFamily="34" charset="0"/>
                <a:ea typeface="IBM Plex Mono" pitchFamily="34" charset="-122"/>
                <a:cs typeface="IBM Plex Mono" pitchFamily="34" charset="-120"/>
              </a:rPr>
              <a:t>PRD.md를 읽고, 이 서비스가 기억해야 할 기록을 표로 그려 줘.</a:t>
            </a:r>
            <a:endParaRPr lang="en-US" sz="1400" dirty="0"/>
          </a:p>
          <a:p>
            <a:pPr indent="0" marL="0">
              <a:lnSpc>
                <a:spcPts val="2380"/>
              </a:lnSpc>
              <a:buNone/>
            </a:pPr>
            <a:r>
              <a:rPr lang="en-US" sz="1400" b="1" dirty="0">
                <a:solidFill>
                  <a:srgbClr val="E8EAED"/>
                </a:solidFill>
                <a:latin typeface="IBM Plex Mono" pitchFamily="34" charset="0"/>
                <a:ea typeface="IBM Plex Mono" pitchFamily="34" charset="-122"/>
                <a:cs typeface="IBM Plex Mono" pitchFamily="34" charset="-120"/>
              </a:rPr>
              <a:t>표마다 예시 행을 3줄 넣고, 한 행이 무엇을 나타내는지 한 문장으로 적어 줘.</a:t>
            </a:r>
            <a:endParaRPr lang="en-US" sz="1400" dirty="0"/>
          </a:p>
          <a:p>
            <a:pPr indent="0" marL="0">
              <a:lnSpc>
                <a:spcPts val="2380"/>
              </a:lnSpc>
              <a:buNone/>
            </a:pPr>
            <a:r>
              <a:rPr lang="en-US" sz="1400" dirty="0">
                <a:solidFill>
                  <a:srgbClr val="FFB089"/>
                </a:solidFill>
                <a:latin typeface="IBM Plex Mono" pitchFamily="34" charset="0"/>
                <a:ea typeface="IBM Plex Mono" pitchFamily="34" charset="-122"/>
                <a:cs typeface="IBM Plex Mono" pitchFamily="34" charset="-120"/>
              </a:rPr>
              <a:t>06 폴더에 데이터_예시.md 파일로 저장해 줘.</a:t>
            </a:r>
            <a:endParaRPr lang="en-US" sz="1400" dirty="0"/>
          </a:p>
        </p:txBody>
      </p:sp>
      <p:sp>
        <p:nvSpPr>
          <p:cNvPr id="14" name="Shape 12"/>
          <p:cNvSpPr/>
          <p:nvPr/>
        </p:nvSpPr>
        <p:spPr>
          <a:xfrm>
            <a:off x="530352" y="4160520"/>
            <a:ext cx="5426964" cy="1234440"/>
          </a:xfrm>
          <a:prstGeom prst="roundRect">
            <a:avLst>
              <a:gd name="adj" fmla="val 4074"/>
            </a:avLst>
          </a:prstGeom>
          <a:solidFill>
            <a:srgbClr val="E7F2ED"/>
          </a:solidFill>
          <a:ln w="12700">
            <a:solidFill>
              <a:srgbClr val="0E7C86"/>
            </a:solidFill>
            <a:prstDash val="solid"/>
          </a:ln>
        </p:spPr>
      </p:sp>
      <p:sp>
        <p:nvSpPr>
          <p:cNvPr id="15" name="Text 13"/>
          <p:cNvSpPr/>
          <p:nvPr/>
        </p:nvSpPr>
        <p:spPr>
          <a:xfrm>
            <a:off x="713232" y="4325112"/>
            <a:ext cx="5061204"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내가 하는 일</a:t>
            </a:r>
            <a:endParaRPr lang="en-US" sz="1050" dirty="0"/>
          </a:p>
        </p:txBody>
      </p:sp>
      <p:sp>
        <p:nvSpPr>
          <p:cNvPr id="16" name="Text 14"/>
          <p:cNvSpPr/>
          <p:nvPr/>
        </p:nvSpPr>
        <p:spPr>
          <a:xfrm>
            <a:off x="713232" y="4617720"/>
            <a:ext cx="506120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AI가 그린 표를 읽고 검토한다</a:t>
            </a:r>
            <a:endParaRPr lang="en-US" sz="1650" dirty="0"/>
          </a:p>
        </p:txBody>
      </p:sp>
      <p:sp>
        <p:nvSpPr>
          <p:cNvPr id="17" name="Text 15"/>
          <p:cNvSpPr/>
          <p:nvPr/>
        </p:nvSpPr>
        <p:spPr>
          <a:xfrm>
            <a:off x="713232" y="5111496"/>
            <a:ext cx="5061204" cy="13716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열·키는 내가 설계하지 않는다</a:t>
            </a:r>
            <a:endParaRPr lang="en-US" sz="1300" dirty="0"/>
          </a:p>
        </p:txBody>
      </p:sp>
      <p:sp>
        <p:nvSpPr>
          <p:cNvPr id="18" name="Shape 16"/>
          <p:cNvSpPr/>
          <p:nvPr/>
        </p:nvSpPr>
        <p:spPr>
          <a:xfrm>
            <a:off x="6231636" y="4160520"/>
            <a:ext cx="5426964" cy="1234440"/>
          </a:xfrm>
          <a:prstGeom prst="roundRect">
            <a:avLst>
              <a:gd name="adj" fmla="val 4074"/>
            </a:avLst>
          </a:prstGeom>
          <a:solidFill>
            <a:srgbClr val="FFF1E8"/>
          </a:solidFill>
          <a:ln w="12700">
            <a:solidFill>
              <a:srgbClr val="C24A00"/>
            </a:solidFill>
            <a:prstDash val="solid"/>
          </a:ln>
        </p:spPr>
      </p:sp>
      <p:sp>
        <p:nvSpPr>
          <p:cNvPr id="19" name="Text 17"/>
          <p:cNvSpPr/>
          <p:nvPr/>
        </p:nvSpPr>
        <p:spPr>
          <a:xfrm>
            <a:off x="6414516" y="4325112"/>
            <a:ext cx="5061204" cy="237744"/>
          </a:xfrm>
          <a:prstGeom prst="rect">
            <a:avLst/>
          </a:prstGeom>
          <a:noFill/>
          <a:ln/>
        </p:spPr>
        <p:txBody>
          <a:bodyPr wrap="square" lIns="0" tIns="0" rIns="0" bIns="0" rtlCol="0" anchor="ctr"/>
          <a:lstStyle/>
          <a:p>
            <a:pPr indent="0" marL="0">
              <a:buNone/>
            </a:pPr>
            <a:r>
              <a:rPr lang="en-US" sz="1050" b="1" spc="60" kern="0" dirty="0">
                <a:solidFill>
                  <a:srgbClr val="C24A00"/>
                </a:solidFill>
                <a:latin typeface="IBM Plex Sans KR" pitchFamily="34" charset="0"/>
                <a:ea typeface="IBM Plex Sans KR" pitchFamily="34" charset="-122"/>
                <a:cs typeface="IBM Plex Sans KR" pitchFamily="34" charset="-120"/>
              </a:rPr>
              <a:t>파일이 안 생기면</a:t>
            </a:r>
            <a:endParaRPr lang="en-US" sz="1050" dirty="0"/>
          </a:p>
        </p:txBody>
      </p:sp>
      <p:sp>
        <p:nvSpPr>
          <p:cNvPr id="20" name="Text 18"/>
          <p:cNvSpPr/>
          <p:nvPr/>
        </p:nvSpPr>
        <p:spPr>
          <a:xfrm>
            <a:off x="6414516" y="4617720"/>
            <a:ext cx="5061204"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「파일로 저장해 줘」를 한 번 더</a:t>
            </a:r>
            <a:endParaRPr lang="en-US" sz="1650" dirty="0"/>
          </a:p>
        </p:txBody>
      </p:sp>
      <p:sp>
        <p:nvSpPr>
          <p:cNvPr id="21" name="Text 19"/>
          <p:cNvSpPr/>
          <p:nvPr/>
        </p:nvSpPr>
        <p:spPr>
          <a:xfrm>
            <a:off x="6414516" y="5111496"/>
            <a:ext cx="5061204" cy="13716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429가 나오면 1~2분 뒤 같은 요청</a:t>
            </a:r>
            <a:endParaRPr lang="en-US" sz="1300" dirty="0"/>
          </a:p>
        </p:txBody>
      </p:sp>
      <p:sp>
        <p:nvSpPr>
          <p:cNvPr id="22" name="Text 20"/>
          <p:cNvSpPr/>
          <p:nvPr/>
        </p:nvSpPr>
        <p:spPr>
          <a:xfrm>
            <a:off x="530352" y="571500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이 파일은 제출물이 아니라 7-2의 재료다</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미리 보기로 표를 펼쳐 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07-1 · 13쪽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12</a:t>
            </a:r>
            <a:endParaRPr lang="en-US" sz="900" dirty="0"/>
          </a:p>
        </p:txBody>
      </p:sp>
      <p:pic>
        <p:nvPicPr>
          <p:cNvPr id="10" name="Image 0" descr="/Users/gojiwoong/Library/Mobile Documents/com~apple~CloudDocs/Obsidian Vault/01_VibeCodingLabs/2607-01_장대현중고등학교_정보와_디지털_문해력/수업구성/교과서_배포/assets/img/07-1-02-md-preview.png">    </p:cNvPr>
          <p:cNvPicPr>
            <a:picLocks noChangeAspect="1"/>
          </p:cNvPicPr>
          <p:nvPr/>
        </p:nvPicPr>
        <p:blipFill>
          <a:blip r:embed="rId1"/>
          <a:stretch>
            <a:fillRect/>
          </a:stretch>
        </p:blipFill>
        <p:spPr>
          <a:xfrm>
            <a:off x="530352" y="1831086"/>
            <a:ext cx="6949440" cy="3909060"/>
          </a:xfrm>
          <a:prstGeom prst="rect">
            <a:avLst/>
          </a:prstGeom>
        </p:spPr>
      </p:pic>
      <p:sp>
        <p:nvSpPr>
          <p:cNvPr id="11" name="Shape 8"/>
          <p:cNvSpPr/>
          <p:nvPr/>
        </p:nvSpPr>
        <p:spPr>
          <a:xfrm>
            <a:off x="7818120" y="1828800"/>
            <a:ext cx="3840480" cy="1783080"/>
          </a:xfrm>
          <a:prstGeom prst="roundRect">
            <a:avLst>
              <a:gd name="adj" fmla="val 2821"/>
            </a:avLst>
          </a:prstGeom>
          <a:solidFill>
            <a:srgbClr val="F1F2F4"/>
          </a:solidFill>
          <a:ln w="12700">
            <a:solidFill>
              <a:srgbClr val="E0E3E7"/>
            </a:solidFill>
            <a:prstDash val="solid"/>
          </a:ln>
        </p:spPr>
      </p:sp>
      <p:sp>
        <p:nvSpPr>
          <p:cNvPr id="12" name="Text 9"/>
          <p:cNvSpPr/>
          <p:nvPr/>
        </p:nvSpPr>
        <p:spPr>
          <a:xfrm>
            <a:off x="8001000" y="1993392"/>
            <a:ext cx="3474720"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3" name="Text 10"/>
          <p:cNvSpPr/>
          <p:nvPr/>
        </p:nvSpPr>
        <p:spPr>
          <a:xfrm>
            <a:off x="8001000" y="2414016"/>
            <a:ext cx="347472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미리보기 열기</a:t>
            </a:r>
            <a:endParaRPr lang="en-US" sz="1650" dirty="0"/>
          </a:p>
        </p:txBody>
      </p:sp>
      <p:sp>
        <p:nvSpPr>
          <p:cNvPr id="14" name="Text 11"/>
          <p:cNvSpPr/>
          <p:nvPr/>
        </p:nvSpPr>
        <p:spPr>
          <a:xfrm>
            <a:off x="8001000" y="2907792"/>
            <a:ext cx="3474720" cy="55778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데이터_예시.md 오른쪽 클릭 · 또는 Ctrl+Shift+V</a:t>
            </a:r>
            <a:endParaRPr lang="en-US" sz="1300" dirty="0"/>
          </a:p>
        </p:txBody>
      </p:sp>
      <p:sp>
        <p:nvSpPr>
          <p:cNvPr id="15" name="Shape 12"/>
          <p:cNvSpPr/>
          <p:nvPr/>
        </p:nvSpPr>
        <p:spPr>
          <a:xfrm>
            <a:off x="7818120" y="3840480"/>
            <a:ext cx="3840480" cy="1901952"/>
          </a:xfrm>
          <a:prstGeom prst="roundRect">
            <a:avLst>
              <a:gd name="adj" fmla="val 2644"/>
            </a:avLst>
          </a:prstGeom>
          <a:solidFill>
            <a:srgbClr val="E7F2ED"/>
          </a:solidFill>
          <a:ln w="12700">
            <a:solidFill>
              <a:srgbClr val="0E7C86"/>
            </a:solidFill>
            <a:prstDash val="solid"/>
          </a:ln>
        </p:spPr>
      </p:sp>
      <p:sp>
        <p:nvSpPr>
          <p:cNvPr id="16" name="Text 13"/>
          <p:cNvSpPr/>
          <p:nvPr/>
        </p:nvSpPr>
        <p:spPr>
          <a:xfrm>
            <a:off x="8001000" y="4005072"/>
            <a:ext cx="3474720"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2</a:t>
            </a:r>
            <a:endParaRPr lang="en-US" sz="1800" dirty="0"/>
          </a:p>
        </p:txBody>
      </p:sp>
      <p:sp>
        <p:nvSpPr>
          <p:cNvPr id="17" name="Text 14"/>
          <p:cNvSpPr/>
          <p:nvPr/>
        </p:nvSpPr>
        <p:spPr>
          <a:xfrm>
            <a:off x="8001000" y="4425696"/>
            <a:ext cx="347472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끝까지 읽는다</a:t>
            </a:r>
            <a:endParaRPr lang="en-US" sz="1650" dirty="0"/>
          </a:p>
        </p:txBody>
      </p:sp>
      <p:sp>
        <p:nvSpPr>
          <p:cNvPr id="18" name="Text 15"/>
          <p:cNvSpPr/>
          <p:nvPr/>
        </p:nvSpPr>
        <p:spPr>
          <a:xfrm>
            <a:off x="8001000" y="4919472"/>
            <a:ext cx="3474720" cy="676656"/>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열 이름 · 예시 세 줄 · 「한 행은 ~」 문장</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네 가지를 읽고, 다르면 다시 말한다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07-1 · 14쪽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13</a:t>
            </a:r>
            <a:endParaRPr lang="en-US" sz="900" dirty="0"/>
          </a:p>
        </p:txBody>
      </p:sp>
      <p:sp>
        <p:nvSpPr>
          <p:cNvPr id="10" name="Shape 8"/>
          <p:cNvSpPr/>
          <p:nvPr/>
        </p:nvSpPr>
        <p:spPr>
          <a:xfrm>
            <a:off x="530352" y="1874520"/>
            <a:ext cx="4896429" cy="402336"/>
          </a:xfrm>
          <a:prstGeom prst="rect">
            <a:avLst/>
          </a:prstGeom>
          <a:solidFill>
            <a:srgbClr val="1B1D21"/>
          </a:solidFill>
          <a:ln/>
        </p:spPr>
      </p:sp>
      <p:sp>
        <p:nvSpPr>
          <p:cNvPr id="11" name="Text 9"/>
          <p:cNvSpPr/>
          <p:nvPr/>
        </p:nvSpPr>
        <p:spPr>
          <a:xfrm>
            <a:off x="658368" y="1874520"/>
            <a:ext cx="464039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읽고 확인할 것</a:t>
            </a:r>
            <a:endParaRPr lang="en-US" sz="1050" dirty="0"/>
          </a:p>
        </p:txBody>
      </p:sp>
      <p:sp>
        <p:nvSpPr>
          <p:cNvPr id="12" name="Shape 10"/>
          <p:cNvSpPr/>
          <p:nvPr/>
        </p:nvSpPr>
        <p:spPr>
          <a:xfrm>
            <a:off x="5426781" y="1874520"/>
            <a:ext cx="6231819" cy="402336"/>
          </a:xfrm>
          <a:prstGeom prst="rect">
            <a:avLst/>
          </a:prstGeom>
          <a:solidFill>
            <a:srgbClr val="1B1D21"/>
          </a:solidFill>
          <a:ln/>
        </p:spPr>
      </p:sp>
      <p:sp>
        <p:nvSpPr>
          <p:cNvPr id="13" name="Text 11"/>
          <p:cNvSpPr/>
          <p:nvPr/>
        </p:nvSpPr>
        <p:spPr>
          <a:xfrm>
            <a:off x="5554797" y="1874520"/>
            <a:ext cx="597578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다르면 이렇게 말한다</a:t>
            </a:r>
            <a:endParaRPr lang="en-US" sz="1050" dirty="0"/>
          </a:p>
        </p:txBody>
      </p:sp>
      <p:sp>
        <p:nvSpPr>
          <p:cNvPr id="14" name="Shape 12"/>
          <p:cNvSpPr/>
          <p:nvPr/>
        </p:nvSpPr>
        <p:spPr>
          <a:xfrm>
            <a:off x="530352" y="2276856"/>
            <a:ext cx="11128248" cy="530352"/>
          </a:xfrm>
          <a:prstGeom prst="rect">
            <a:avLst/>
          </a:prstGeom>
          <a:solidFill>
            <a:srgbClr val="F1F2F4"/>
          </a:solidFill>
          <a:ln w="9525">
            <a:solidFill>
              <a:srgbClr val="E0E3E7"/>
            </a:solidFill>
            <a:prstDash val="solid"/>
          </a:ln>
        </p:spPr>
      </p:sp>
      <p:sp>
        <p:nvSpPr>
          <p:cNvPr id="15" name="Text 13"/>
          <p:cNvSpPr/>
          <p:nvPr/>
        </p:nvSpPr>
        <p:spPr>
          <a:xfrm>
            <a:off x="658368" y="2276856"/>
            <a:ext cx="4640397" cy="530352"/>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한 행은 무엇인가</a:t>
            </a:r>
            <a:endParaRPr lang="en-US" sz="1400" dirty="0"/>
          </a:p>
        </p:txBody>
      </p:sp>
      <p:sp>
        <p:nvSpPr>
          <p:cNvPr id="16" name="Text 14"/>
          <p:cNvSpPr/>
          <p:nvPr/>
        </p:nvSpPr>
        <p:spPr>
          <a:xfrm>
            <a:off x="5554797" y="2276856"/>
            <a:ext cx="5975787" cy="53035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「한 행이 무엇인지 더 쉬운 말로 다시 적어 줘.」</a:t>
            </a:r>
            <a:endParaRPr lang="en-US" sz="1400" dirty="0"/>
          </a:p>
        </p:txBody>
      </p:sp>
      <p:sp>
        <p:nvSpPr>
          <p:cNvPr id="17" name="Shape 15"/>
          <p:cNvSpPr/>
          <p:nvPr/>
        </p:nvSpPr>
        <p:spPr>
          <a:xfrm>
            <a:off x="530352" y="2807208"/>
            <a:ext cx="11128248" cy="530352"/>
          </a:xfrm>
          <a:prstGeom prst="rect">
            <a:avLst/>
          </a:prstGeom>
          <a:solidFill>
            <a:srgbClr val="FFFFFF"/>
          </a:solidFill>
          <a:ln w="9525">
            <a:solidFill>
              <a:srgbClr val="E0E3E7"/>
            </a:solidFill>
            <a:prstDash val="solid"/>
          </a:ln>
        </p:spPr>
      </p:sp>
      <p:sp>
        <p:nvSpPr>
          <p:cNvPr id="18" name="Text 16"/>
          <p:cNvSpPr/>
          <p:nvPr/>
        </p:nvSpPr>
        <p:spPr>
          <a:xfrm>
            <a:off x="658368" y="2807208"/>
            <a:ext cx="4640397" cy="530352"/>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표마다 id 열이 있나</a:t>
            </a:r>
            <a:endParaRPr lang="en-US" sz="1400" dirty="0"/>
          </a:p>
        </p:txBody>
      </p:sp>
      <p:sp>
        <p:nvSpPr>
          <p:cNvPr id="19" name="Text 17"/>
          <p:cNvSpPr/>
          <p:nvPr/>
        </p:nvSpPr>
        <p:spPr>
          <a:xfrm>
            <a:off x="5554797" y="2807208"/>
            <a:ext cx="5975787" cy="53035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「표마다 id 열을 기본키로 넣어 줘.」</a:t>
            </a:r>
            <a:endParaRPr lang="en-US" sz="1400" dirty="0"/>
          </a:p>
        </p:txBody>
      </p:sp>
      <p:sp>
        <p:nvSpPr>
          <p:cNvPr id="20" name="Shape 18"/>
          <p:cNvSpPr/>
          <p:nvPr/>
        </p:nvSpPr>
        <p:spPr>
          <a:xfrm>
            <a:off x="530352" y="3337560"/>
            <a:ext cx="11128248" cy="530352"/>
          </a:xfrm>
          <a:prstGeom prst="rect">
            <a:avLst/>
          </a:prstGeom>
          <a:solidFill>
            <a:srgbClr val="F1F2F4"/>
          </a:solidFill>
          <a:ln w="9525">
            <a:solidFill>
              <a:srgbClr val="E0E3E7"/>
            </a:solidFill>
            <a:prstDash val="solid"/>
          </a:ln>
        </p:spPr>
      </p:sp>
      <p:sp>
        <p:nvSpPr>
          <p:cNvPr id="21" name="Text 19"/>
          <p:cNvSpPr/>
          <p:nvPr/>
        </p:nvSpPr>
        <p:spPr>
          <a:xfrm>
            <a:off x="658368" y="3337560"/>
            <a:ext cx="4640397" cy="530352"/>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예시에 실제 개인정보가 있나</a:t>
            </a:r>
            <a:endParaRPr lang="en-US" sz="1400" dirty="0"/>
          </a:p>
        </p:txBody>
      </p:sp>
      <p:sp>
        <p:nvSpPr>
          <p:cNvPr id="22" name="Text 20"/>
          <p:cNvSpPr/>
          <p:nvPr/>
        </p:nvSpPr>
        <p:spPr>
          <a:xfrm>
            <a:off x="5554797" y="3337560"/>
            <a:ext cx="5975787" cy="53035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「예시에서 실제 개인정보를 빼 줘.」</a:t>
            </a:r>
            <a:endParaRPr lang="en-US" sz="1400" dirty="0"/>
          </a:p>
        </p:txBody>
      </p:sp>
      <p:sp>
        <p:nvSpPr>
          <p:cNvPr id="23" name="Shape 21"/>
          <p:cNvSpPr/>
          <p:nvPr/>
        </p:nvSpPr>
        <p:spPr>
          <a:xfrm>
            <a:off x="530352" y="3867912"/>
            <a:ext cx="11128248" cy="530352"/>
          </a:xfrm>
          <a:prstGeom prst="rect">
            <a:avLst/>
          </a:prstGeom>
          <a:solidFill>
            <a:srgbClr val="FFFFFF"/>
          </a:solidFill>
          <a:ln w="9525">
            <a:solidFill>
              <a:srgbClr val="E0E3E7"/>
            </a:solidFill>
            <a:prstDash val="solid"/>
          </a:ln>
        </p:spPr>
      </p:sp>
      <p:sp>
        <p:nvSpPr>
          <p:cNvPr id="24" name="Text 22"/>
          <p:cNvSpPr/>
          <p:nvPr/>
        </p:nvSpPr>
        <p:spPr>
          <a:xfrm>
            <a:off x="658368" y="3867912"/>
            <a:ext cx="4640397" cy="530352"/>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섞인 대상 · 표가 세 개를 넘나</a:t>
            </a:r>
            <a:endParaRPr lang="en-US" sz="1400" dirty="0"/>
          </a:p>
        </p:txBody>
      </p:sp>
      <p:sp>
        <p:nvSpPr>
          <p:cNvPr id="25" name="Text 23"/>
          <p:cNvSpPr/>
          <p:nvPr/>
        </p:nvSpPr>
        <p:spPr>
          <a:xfrm>
            <a:off x="5554797" y="3867912"/>
            <a:ext cx="5975787" cy="53035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「표를 하나로 줄일 수 있는지 이유와 함께 알려 줘.」</a:t>
            </a:r>
            <a:endParaRPr lang="en-US" sz="1400" dirty="0"/>
          </a:p>
        </p:txBody>
      </p:sp>
      <p:sp>
        <p:nvSpPr>
          <p:cNvPr id="26" name="Shape 24"/>
          <p:cNvSpPr/>
          <p:nvPr/>
        </p:nvSpPr>
        <p:spPr>
          <a:xfrm>
            <a:off x="530352" y="4526280"/>
            <a:ext cx="11128248" cy="512064"/>
          </a:xfrm>
          <a:prstGeom prst="roundRect">
            <a:avLst>
              <a:gd name="adj" fmla="val 39286"/>
            </a:avLst>
          </a:prstGeom>
          <a:solidFill>
            <a:srgbClr val="FF5C00"/>
          </a:solidFill>
          <a:ln w="12700">
            <a:solidFill>
              <a:srgbClr val="FF5C00"/>
            </a:solidFill>
            <a:prstDash val="solid"/>
          </a:ln>
        </p:spPr>
      </p:sp>
      <p:sp>
        <p:nvSpPr>
          <p:cNvPr id="27" name="Text 25"/>
          <p:cNvSpPr/>
          <p:nvPr/>
        </p:nvSpPr>
        <p:spPr>
          <a:xfrm>
            <a:off x="731520" y="452628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AI가 고쳐도 된다 · 고친 뒤 다시 끝까지 읽는다</a:t>
            </a:r>
            <a:endParaRPr lang="en-US" sz="1500" dirty="0"/>
          </a:p>
        </p:txBody>
      </p:sp>
      <p:sp>
        <p:nvSpPr>
          <p:cNvPr id="28" name="Text 26"/>
          <p:cNvSpPr/>
          <p:nvPr/>
        </p:nvSpPr>
        <p:spPr>
          <a:xfrm>
            <a:off x="530352" y="548640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표가 둘 이상이면 외래키가 여러 개 쪽에 있는지도 본다</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저장하고 다음 차시를 준비한다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07-1 · 15–17쪽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14</a:t>
            </a:r>
            <a:endParaRPr lang="en-US" sz="900" dirty="0"/>
          </a:p>
        </p:txBody>
      </p:sp>
      <p:sp>
        <p:nvSpPr>
          <p:cNvPr id="10" name="Shape 8"/>
          <p:cNvSpPr/>
          <p:nvPr/>
        </p:nvSpPr>
        <p:spPr>
          <a:xfrm>
            <a:off x="530352" y="1874520"/>
            <a:ext cx="4451299" cy="402336"/>
          </a:xfrm>
          <a:prstGeom prst="rect">
            <a:avLst/>
          </a:prstGeom>
          <a:solidFill>
            <a:srgbClr val="1B1D21"/>
          </a:solidFill>
          <a:ln/>
        </p:spPr>
      </p:sp>
      <p:sp>
        <p:nvSpPr>
          <p:cNvPr id="11" name="Text 9"/>
          <p:cNvSpPr/>
          <p:nvPr/>
        </p:nvSpPr>
        <p:spPr>
          <a:xfrm>
            <a:off x="658368" y="1874520"/>
            <a:ext cx="419526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06 폴더에 남은 것</a:t>
            </a:r>
            <a:endParaRPr lang="en-US" sz="1050" dirty="0"/>
          </a:p>
        </p:txBody>
      </p:sp>
      <p:sp>
        <p:nvSpPr>
          <p:cNvPr id="12" name="Shape 10"/>
          <p:cNvSpPr/>
          <p:nvPr/>
        </p:nvSpPr>
        <p:spPr>
          <a:xfrm>
            <a:off x="4981651" y="1874520"/>
            <a:ext cx="6676949" cy="402336"/>
          </a:xfrm>
          <a:prstGeom prst="rect">
            <a:avLst/>
          </a:prstGeom>
          <a:solidFill>
            <a:srgbClr val="1B1D21"/>
          </a:solidFill>
          <a:ln/>
        </p:spPr>
      </p:sp>
      <p:sp>
        <p:nvSpPr>
          <p:cNvPr id="13" name="Text 11"/>
          <p:cNvSpPr/>
          <p:nvPr/>
        </p:nvSpPr>
        <p:spPr>
          <a:xfrm>
            <a:off x="5109667" y="1874520"/>
            <a:ext cx="642091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다음에</a:t>
            </a:r>
            <a:endParaRPr lang="en-US" sz="1050" dirty="0"/>
          </a:p>
        </p:txBody>
      </p:sp>
      <p:sp>
        <p:nvSpPr>
          <p:cNvPr id="14" name="Shape 12"/>
          <p:cNvSpPr/>
          <p:nvPr/>
        </p:nvSpPr>
        <p:spPr>
          <a:xfrm>
            <a:off x="530352" y="2276856"/>
            <a:ext cx="11128248" cy="475488"/>
          </a:xfrm>
          <a:prstGeom prst="rect">
            <a:avLst/>
          </a:prstGeom>
          <a:solidFill>
            <a:srgbClr val="F1F2F4"/>
          </a:solidFill>
          <a:ln w="9525">
            <a:solidFill>
              <a:srgbClr val="E0E3E7"/>
            </a:solidFill>
            <a:prstDash val="solid"/>
          </a:ln>
        </p:spPr>
      </p:sp>
      <p:sp>
        <p:nvSpPr>
          <p:cNvPr id="15" name="Text 13"/>
          <p:cNvSpPr/>
          <p:nvPr/>
        </p:nvSpPr>
        <p:spPr>
          <a:xfrm>
            <a:off x="658368" y="2276856"/>
            <a:ext cx="4195267"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데이터_예시.md</a:t>
            </a:r>
            <a:endParaRPr lang="en-US" sz="1350" dirty="0"/>
          </a:p>
        </p:txBody>
      </p:sp>
      <p:sp>
        <p:nvSpPr>
          <p:cNvPr id="16" name="Text 14"/>
          <p:cNvSpPr/>
          <p:nvPr/>
        </p:nvSpPr>
        <p:spPr>
          <a:xfrm>
            <a:off x="5109667" y="2276856"/>
            <a:ext cx="6420917"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7-2에서 PRD 5항의 재료로 쓴다 · 제출물은 아니다</a:t>
            </a:r>
            <a:endParaRPr lang="en-US" sz="1350" dirty="0"/>
          </a:p>
        </p:txBody>
      </p:sp>
      <p:sp>
        <p:nvSpPr>
          <p:cNvPr id="17" name="Shape 15"/>
          <p:cNvSpPr/>
          <p:nvPr/>
        </p:nvSpPr>
        <p:spPr>
          <a:xfrm>
            <a:off x="530352" y="2752344"/>
            <a:ext cx="11128248" cy="475488"/>
          </a:xfrm>
          <a:prstGeom prst="rect">
            <a:avLst/>
          </a:prstGeom>
          <a:solidFill>
            <a:srgbClr val="FFFFFF"/>
          </a:solidFill>
          <a:ln w="9525">
            <a:solidFill>
              <a:srgbClr val="E0E3E7"/>
            </a:solidFill>
            <a:prstDash val="solid"/>
          </a:ln>
        </p:spPr>
      </p:sp>
      <p:sp>
        <p:nvSpPr>
          <p:cNvPr id="18" name="Text 16"/>
          <p:cNvSpPr/>
          <p:nvPr/>
        </p:nvSpPr>
        <p:spPr>
          <a:xfrm>
            <a:off x="658368" y="2752344"/>
            <a:ext cx="4195267"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PRD.md</a:t>
            </a:r>
            <a:endParaRPr lang="en-US" sz="1350" dirty="0"/>
          </a:p>
        </p:txBody>
      </p:sp>
      <p:sp>
        <p:nvSpPr>
          <p:cNvPr id="19" name="Text 17"/>
          <p:cNvSpPr/>
          <p:nvPr/>
        </p:nvSpPr>
        <p:spPr>
          <a:xfrm>
            <a:off x="5109667" y="2752344"/>
            <a:ext cx="6420917"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7-2에서 5. 데이터를 채운다</a:t>
            </a:r>
            <a:endParaRPr lang="en-US" sz="1350" dirty="0"/>
          </a:p>
        </p:txBody>
      </p:sp>
      <p:sp>
        <p:nvSpPr>
          <p:cNvPr id="20" name="Shape 18"/>
          <p:cNvSpPr/>
          <p:nvPr/>
        </p:nvSpPr>
        <p:spPr>
          <a:xfrm>
            <a:off x="530352" y="3227832"/>
            <a:ext cx="11128248" cy="475488"/>
          </a:xfrm>
          <a:prstGeom prst="rect">
            <a:avLst/>
          </a:prstGeom>
          <a:solidFill>
            <a:srgbClr val="F1F2F4"/>
          </a:solidFill>
          <a:ln w="9525">
            <a:solidFill>
              <a:srgbClr val="E0E3E7"/>
            </a:solidFill>
            <a:prstDash val="solid"/>
          </a:ln>
        </p:spPr>
      </p:sp>
      <p:sp>
        <p:nvSpPr>
          <p:cNvPr id="21" name="Text 19"/>
          <p:cNvSpPr/>
          <p:nvPr/>
        </p:nvSpPr>
        <p:spPr>
          <a:xfrm>
            <a:off x="658368" y="3227832"/>
            <a:ext cx="4195267"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mockup · 기획_메모.md · .agents · opencode.json</a:t>
            </a:r>
            <a:endParaRPr lang="en-US" sz="1350" dirty="0"/>
          </a:p>
        </p:txBody>
      </p:sp>
      <p:sp>
        <p:nvSpPr>
          <p:cNvPr id="22" name="Text 20"/>
          <p:cNvSpPr/>
          <p:nvPr/>
        </p:nvSpPr>
        <p:spPr>
          <a:xfrm>
            <a:off x="5109667" y="3227832"/>
            <a:ext cx="6420917"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지우지 않는다</a:t>
            </a:r>
            <a:endParaRPr lang="en-US" sz="1350" dirty="0"/>
          </a:p>
        </p:txBody>
      </p:sp>
      <p:sp>
        <p:nvSpPr>
          <p:cNvPr id="23" name="Shape 21"/>
          <p:cNvSpPr/>
          <p:nvPr/>
        </p:nvSpPr>
        <p:spPr>
          <a:xfrm>
            <a:off x="530352" y="3931920"/>
            <a:ext cx="11128248" cy="512064"/>
          </a:xfrm>
          <a:prstGeom prst="roundRect">
            <a:avLst>
              <a:gd name="adj" fmla="val 39286"/>
            </a:avLst>
          </a:prstGeom>
          <a:solidFill>
            <a:srgbClr val="FF5C00"/>
          </a:solidFill>
          <a:ln w="12700">
            <a:solidFill>
              <a:srgbClr val="FF5C00"/>
            </a:solidFill>
            <a:prstDash val="solid"/>
          </a:ln>
        </p:spPr>
      </p:sp>
      <p:sp>
        <p:nvSpPr>
          <p:cNvPr id="24" name="Text 22"/>
          <p:cNvSpPr/>
          <p:nvPr/>
        </p:nvSpPr>
        <p:spPr>
          <a:xfrm>
            <a:off x="731520" y="393192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탭 이름 옆에 ● 가 있으면 저장 전 · Ctrl+S</a:t>
            </a:r>
            <a:endParaRPr lang="en-US" sz="1500" dirty="0"/>
          </a:p>
        </p:txBody>
      </p:sp>
      <p:sp>
        <p:nvSpPr>
          <p:cNvPr id="25" name="Shape 23"/>
          <p:cNvSpPr/>
          <p:nvPr/>
        </p:nvSpPr>
        <p:spPr>
          <a:xfrm>
            <a:off x="530352" y="4572000"/>
            <a:ext cx="11128248" cy="960120"/>
          </a:xfrm>
          <a:prstGeom prst="roundRect">
            <a:avLst>
              <a:gd name="adj" fmla="val 5238"/>
            </a:avLst>
          </a:prstGeom>
          <a:solidFill>
            <a:srgbClr val="F1F2F4"/>
          </a:solidFill>
          <a:ln w="12700">
            <a:solidFill>
              <a:srgbClr val="E0E3E7"/>
            </a:solidFill>
            <a:prstDash val="solid"/>
          </a:ln>
        </p:spPr>
      </p:sp>
      <p:sp>
        <p:nvSpPr>
          <p:cNvPr id="26" name="Text 24"/>
          <p:cNvSpPr/>
          <p:nvPr/>
        </p:nvSpPr>
        <p:spPr>
          <a:xfrm>
            <a:off x="713232" y="4736592"/>
            <a:ext cx="10762488" cy="6492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막혔던 곳은 교과서 15쪽 「이럴 때는 이렇게 한다」 · 오늘의 핵심은 16쪽</a:t>
            </a:r>
            <a:endParaRPr lang="en-US" sz="1350" dirty="0"/>
          </a:p>
        </p:txBody>
      </p:sp>
      <p:sp>
        <p:nvSpPr>
          <p:cNvPr id="27" name="Text 25"/>
          <p:cNvSpPr/>
          <p:nvPr/>
        </p:nvSpPr>
        <p:spPr>
          <a:xfrm>
            <a:off x="530352" y="585216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나눠 저장하고, 보여 줄 때 합친다 · AI가 그린 표는 내가 읽는다</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2026-10-11T06:32:59Z</dcterms:created>
  <dcterms:modified xsi:type="dcterms:W3CDTF">2026-10-11T06:32:59Z</dcterms:modified>
</cp:coreProperties>
</file>