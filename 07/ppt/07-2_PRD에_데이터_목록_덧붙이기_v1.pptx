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[0–1분] 표지
6-2에서 PRD 5항 「데이터」는 다음 주에 쓴다고 비워 뒀죠. 오늘 그 칸을 채웁니다.
지난 시간에 AI와 그린 데이터_예시.md가 재료입니다. AI가 5항 초안을 쓰고, 여러분이 읽고 고칩니다. 마지막에 목업에 지난 기록 목록을 붙여 봅니다.
[시간 계획 — 학생 화면에는 표시하지 않는다]
0–1 표지 / 1–2 오늘 할 일 / 2–4 06 폴더·5항 찾기 / 4–6 5항이 묻는 것 / 6–8 하나 뽑기 예 / 8–10 기록이 없어 보이는 서비스
10–19 AI와 5항 초안·읽고 고치기 / 19–26 AI와 다듬기·6항 3번 / 26–29 7항 / 29–36 목업에 다시 보기 / 36–40 Live Server·F5 / 40–45 막힐 때·저장·8회 예고
※ 중심은 PRD 5항이다. 목업은 붙여 보는 정도로 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[1–2분] 오늘은 네 단계로 간다
(카드를 차례로 가리키며) 5항이 무엇을 묻는지 보고, AI가 초안을 쓰고 내가 고치고, AI에게 질문을 받아 다듬고, 마지막에 목업에 붙여 봅니다.
(띠를 가리키며) 오늘이 지나면 PRD의 모든 칸이 찹니다. 8회에는 새로 쓰지 않고 다듬어서 제출합니다.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[2–4분] 06 폴더에서 PRD.md의 5항을 찾는다
06 폴더를 Code로 여세요. (왼쪽 상자를 가리키며) 맨 위 06, 그 아래 데이터_예시.md와 PRD.md가 보여야 합니다.
PRD.md를 열고 Ctrl+F로 「5. 데이터」를 찾아 두세요. 오늘 쓸 칸입니다. 데이터_예시.md는 옆에 두고 봅니다.
터미널 → 새 터미널을 열고 줄 끝이 06&gt;인지 본 뒤 opencode를 미리 열어 두세요. Big Pickle은 느리니 먼저 켜 두는 게 낫습니다.
[진행 메모]
7-1에서 데이터_예시.md를 못 만든 학생은 지금 7-1 교과서 12쪽 요청문부터 보내게 한다. 기다리는 동안 다음 장을 함께 본다.
PRD.md를 잃어버린 학생은 6-1 내려받기 버튼으로 06 자료를 받고, 6-2 흐름을 빠르게 따라가게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[4–6분] 5항은 「무엇을 기억하나」를 묻는다
(표를 가리키며) 5항은 이 줄들로 되어 있습니다. 오른쪽 질문에 답하면 됩니다. 무엇을 기억하나, 언제 생기나, 언제 다시 보나, 무엇을 저장하고 무엇을 버리나.
지난 시간 데이터_예시.md의 표를 사람의 말로 옮긴다고 생각하세요. id나 book_id 같은 열 이름, 기본키는 PRD에 적지 않습니다. 그건 개발할 때 AI가 정하고 우리가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[6–8분] 6-2의 「하나 뽑기」라면 이렇게 쓴다
6-2에서 본 하나 뽑기 서비스로 채운 예입니다. 교과서 5쪽에 전체가 있습니다.
(초록 줄과 주황 줄을 가리키며) 저장할 것은 적은 항목들, 뽑힌 항목, 뽑은 시각. 저장하지 않을 것은 이름, 학번, 연락처.
기억할 기록이 「한 번 뽑은 결과」 한 종류라서 표도 하나입니다. 표가 하나면 관계 문장은 「없음」. 쓰지 않는 후보 테이블 2·3 칸도 지우지 말고 「없음」이라고 적습니다.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[8–10분] 결과만 보여 주는 서비스도 남길 기록이 있다
계산기나 추천 도구처럼 결과를 보여 주고 끝나는 서비스는 기억할 게 없어 보이죠. 그래도 사용한 값과 결과를 남기면 다음에 다시 볼 수 있습니다.
(표를 가리키며) 내 서비스와 비슷한 줄을 찾으세요.
(띠를 가리키며) 기록을 남기려고 로그인이나 회원 정보를 넣지 않습니다. 누가 썼는지가 아니라 무엇을 했는지를 남깁니다.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[10–19분] AI가 5항에 옮기고, 내가 읽고 고친다
6-2에서 메모를 PRD로 옮겼던 것과 같습니다. 교과서 7쪽 요청문을 복사해 보내세요. 9분.
데이터_예시.md와 PRD를 함께 읽혀서 5항을 채우게 합니다. 모르는 건 지어내지 말고 「(확인 필요)」. 파일에 직접 저장하라고 꼭 말합니다.
AI가 끝나면 PRD.md 5항을 처음부터 읽으세요. (표를 가리키며) 이 네 가지를 보고 고칩니다. 특히 AI가 id, book_id 같은 열 이름을 적어 놨으면 사람의 말로 바꿉니다.
[진행 메모]
AI가 5항 말고 다른 항목까지 크게 바꾼 학생에게는 「무엇을 어떻게 고쳤는지 줄마다 알려 줘」를 보내게 한다.
FreeUsageLimitError가 계속되면 펜즈(PENZ) AI에 데이터_예시.md와 PRD.md 내용을 붙여 넣고 같은 요청을 한 뒤, 받은 5항을 PRD.md의 5항 자리에 붙여 넣고 저장하게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[19–26분] 5항이 다른 항목과 맞는지 묻고, 6항 3번을 쓴다
5항을 고쳤으면 AI에게 PRD 전체를 읽혀 질문을 받습니다. 교과서 8쪽 요청문. 5항이 2항 기능, 3항 흐름, 4항 화면과 맞는지 하나씩 물어봅니다.
AI가 고쳐도 괜찮습니다. 고친 곳은 여러분이 끝까지 읽고 받아들일지 정합니다.
(아래 상자를 가리키며) 그다음 6항 3번을 씁니다. 6-2에서는 1·2번만 썼죠. 빈칸에는 5항의 기록을 넣습니다. 지난 시간 처음에 F5를 누르면 사라졌던 바로 그것, 완성된 서비스에서는 다시 볼 수 있어야 한다는 약속입니다. 12회 테스트에서 이 문장을 그대로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[26–29분] 오늘 AI와 정한 것을 7항에 이어 적는다
7항에 오늘의 판단을 이어 적습니다. 6-2에 쓴 문장은 지우지 말고 줄 끝에 덧붙입니다. 3분.
(초록 두 줄을 가리키며) 특히 무엇을 받아들이고 무엇을 뺐는지, 이유와 함께. 「사용자 표는 뺐다. 로그인이 없다.」 같은 식입니다.
AI가 써 준 문장을 그대로 붙이지 않습니다. 8회에 여러분이 설명할 내용입니다.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[29–36분] 목업에 지난 기록을 다시 보는 자리를 붙인다
마지막으로 5항의 기록이 화면에서 어떻게 보일지 봅니다. 교과서 10쪽 요청문을 보내세요.
6-2에서 만든 mockup/index.html에 지난 기록 목록을 넣어 달라고 합니다. 예시 기록 세 개, 디자인은 지금 화면에 맞춰서. 파일에 저장하고 코드는 대화창에 보이지 말라고 합니다.
(오른쪽 화면을 가리키며) 이렇게 아래에 「지난 기록」이 붙습니다. 목록이 5항의 「저장해야 할 정보」를 보여 주는지 보세요.
[진행 메모]
mockup 폴더가 없는 학생은 6-2 교과서의 목업 요청문을 먼저 보내게 한다.
색·그림 꾸미기 요청으로 새는 학생을 잡는다. 오늘의 중심은 PRD 5항이다.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[36–40분] Live Server로 보고, F5로 무엇이 남는지 본다
AI가 저장했다고 하면 mockup의 index.html을 Live Server로 여세요. 이미 열려 있으면 저절로 바뀝니다.
(둘째 카드를 가리키며) 목록이 5항과 맞는지 보고, 다르면 PRD부터 고칩니다.
(셋째 카드를 가리키며) 새 항목을 넣고 버튼을 누른 뒤 F5. 예시 세 개는 파일에 적혀 있으니 남고, 방금 뽑은 건 대개 사라집니다. AI가 브라우저에 잠깐 저장하는 기능을 넣었다면 남을 수도 있는데, 그건 내 브라우저 안에만 있어서 다른 컴퓨터에서는 안 보입니다.
(아래 띠를 가리키며) 진짜로 기억하게 하는 건 11회에 SQLite로 합니다. 그때 오늘 쓴 5항과 6항 3번이 기준이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[40–45분] 저장하고 8회를 준비한다
막힌 사람은 교과서 12쪽에서 내 상황과 같은 줄을 찾으세요.
(표를 가리키며) 이제 PRD.md의 1항부터 7항까지 모두 찼습니다. 8회에 제출할 때 수행평가 이름으로 바꿉니다. 지금은 그대로 PRD.md입니다. 탭에 동그라미가 있으면 Ctrl+S.
8회는 수행평가 2입니다. 새로 쓰지 않습니다. 지금까지 쓴 PRD를 처음부터 끝까지 읽고 서로 맞지 않는 곳을 고쳐서 냅니다. 집에서 한 번 소리 내어 읽어 보세요.
[진행 메모]
5항이 비어 있는 학생을 적어 두고 8-1 시작 전에 챙긴다. 06 폴더를 지우거나 옮기지 말라고 반드시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D21"/>
        </a:solidFill>
      </p:bgPr>
    </p:bg>
    <p:spTree>
      <p:nvGrpSpPr>
        <p:cNvPr id="1" name=""/>
        <p:cNvGrpSpPr/>
        <p:nvPr/>
      </p:nvGrpSpPr>
      <p:grpSpPr>
        <a:xfrm>
          <a:off x="0" y="0"/>
          <a:ext cx="0" cy="0"/>
          <a:chOff x="0" y="0"/>
          <a:chExt cx="0" cy="0"/>
        </a:xfrm>
      </p:grpSpPr>
      <p:sp>
        <p:nvSpPr>
          <p:cNvPr id="2" name="Shape 0"/>
          <p:cNvSpPr/>
          <p:nvPr/>
        </p:nvSpPr>
        <p:spPr>
          <a:xfrm>
            <a:off x="0" y="0"/>
            <a:ext cx="209398" cy="6858000"/>
          </a:xfrm>
          <a:prstGeom prst="rect">
            <a:avLst/>
          </a:prstGeom>
          <a:solidFill>
            <a:srgbClr val="FF5C00"/>
          </a:solidFill>
          <a:ln/>
        </p:spPr>
      </p:sp>
      <p:sp>
        <p:nvSpPr>
          <p:cNvPr id="3" name="Text 1"/>
          <p:cNvSpPr/>
          <p:nvPr/>
        </p:nvSpPr>
        <p:spPr>
          <a:xfrm>
            <a:off x="530352" y="1417320"/>
            <a:ext cx="9144000" cy="274320"/>
          </a:xfrm>
          <a:prstGeom prst="rect">
            <a:avLst/>
          </a:prstGeom>
          <a:noFill/>
          <a:ln/>
        </p:spPr>
        <p:txBody>
          <a:bodyPr wrap="square" lIns="0" tIns="0" rIns="0" bIns="0" rtlCol="0" anchor="ctr"/>
          <a:lstStyle/>
          <a:p>
            <a:pPr indent="0" marL="0">
              <a:buNone/>
            </a:pPr>
            <a:r>
              <a:rPr lang="en-US" sz="1200" b="1" spc="100" kern="0" dirty="0">
                <a:solidFill>
                  <a:srgbClr val="6C7078"/>
                </a:solidFill>
                <a:latin typeface="IBM Plex Sans KR" pitchFamily="34" charset="0"/>
                <a:ea typeface="IBM Plex Sans KR" pitchFamily="34" charset="-122"/>
                <a:cs typeface="IBM Plex Sans KR" pitchFamily="34" charset="-120"/>
              </a:rPr>
              <a:t>7회 · 둘째 차시</a:t>
            </a:r>
            <a:endParaRPr lang="en-US" sz="1200" dirty="0"/>
          </a:p>
        </p:txBody>
      </p:sp>
      <p:sp>
        <p:nvSpPr>
          <p:cNvPr id="4" name="Text 2"/>
          <p:cNvSpPr/>
          <p:nvPr/>
        </p:nvSpPr>
        <p:spPr>
          <a:xfrm>
            <a:off x="530352" y="1828800"/>
            <a:ext cx="10424160" cy="1783080"/>
          </a:xfrm>
          <a:prstGeom prst="rect">
            <a:avLst/>
          </a:prstGeom>
          <a:noFill/>
          <a:ln/>
        </p:spPr>
        <p:txBody>
          <a:bodyPr wrap="square" lIns="0" tIns="0" rIns="0" bIns="0" rtlCol="0" anchor="ctr"/>
          <a:lstStyle/>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PRD에 데이터 목록</a:t>
            </a:r>
            <a:endParaRPr lang="en-US" sz="3800" dirty="0"/>
          </a:p>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덧붙이기</a:t>
            </a:r>
            <a:endParaRPr lang="en-US" sz="3800" dirty="0"/>
          </a:p>
        </p:txBody>
      </p:sp>
      <p:sp>
        <p:nvSpPr>
          <p:cNvPr id="5" name="Text 3"/>
          <p:cNvSpPr/>
          <p:nvPr/>
        </p:nvSpPr>
        <p:spPr>
          <a:xfrm>
            <a:off x="530352" y="3657600"/>
            <a:ext cx="9966960" cy="1737360"/>
          </a:xfrm>
          <a:prstGeom prst="rect">
            <a:avLst/>
          </a:prstGeom>
          <a:noFill/>
          <a:ln/>
        </p:spPr>
        <p:txBody>
          <a:bodyPr wrap="square" lIns="0" tIns="0" rIns="0" bIns="0" rtlCol="0" anchor="ctr"/>
          <a:lstStyle/>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내 서비스가 기억할 기록을 AI와 함께 PRD 5항에 쓰고,</a:t>
            </a:r>
            <a:endParaRPr lang="en-US" sz="1900" dirty="0"/>
          </a:p>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목업에 지난 기록을 다시 보는 자리를 붙여 봅니다.</a:t>
            </a:r>
            <a:endParaRPr lang="en-US" sz="1900" dirty="0"/>
          </a:p>
        </p:txBody>
      </p:sp>
      <p:sp>
        <p:nvSpPr>
          <p:cNvPr id="6" name="Text 4"/>
          <p:cNvSpPr/>
          <p:nvPr/>
        </p:nvSpPr>
        <p:spPr>
          <a:xfrm>
            <a:off x="530352" y="6327648"/>
            <a:ext cx="73152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07-2 · 1쪽</a:t>
            </a:r>
            <a:endParaRPr lang="en-US" sz="900" dirty="0"/>
          </a:p>
        </p:txBody>
      </p:sp>
      <p:sp>
        <p:nvSpPr>
          <p:cNvPr id="7" name="Text 5"/>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오늘은 네 단계로 간다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01</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07-2 · 2쪽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02</a:t>
            </a:r>
            <a:endParaRPr lang="en-US" sz="900" dirty="0"/>
          </a:p>
        </p:txBody>
      </p:sp>
      <p:sp>
        <p:nvSpPr>
          <p:cNvPr id="10" name="Shape 8"/>
          <p:cNvSpPr/>
          <p:nvPr/>
        </p:nvSpPr>
        <p:spPr>
          <a:xfrm>
            <a:off x="530352" y="2057400"/>
            <a:ext cx="2615184" cy="2103120"/>
          </a:xfrm>
          <a:prstGeom prst="roundRect">
            <a:avLst>
              <a:gd name="adj" fmla="val 2391"/>
            </a:avLst>
          </a:prstGeom>
          <a:solidFill>
            <a:srgbClr val="F1F2F4"/>
          </a:solidFill>
          <a:ln w="12700">
            <a:solidFill>
              <a:srgbClr val="E0E3E7"/>
            </a:solidFill>
            <a:prstDash val="solid"/>
          </a:ln>
        </p:spPr>
      </p:sp>
      <p:sp>
        <p:nvSpPr>
          <p:cNvPr id="11" name="Text 9"/>
          <p:cNvSpPr/>
          <p:nvPr/>
        </p:nvSpPr>
        <p:spPr>
          <a:xfrm>
            <a:off x="713232" y="2221992"/>
            <a:ext cx="2249424"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①</a:t>
            </a:r>
            <a:endParaRPr lang="en-US" sz="1800" dirty="0"/>
          </a:p>
        </p:txBody>
      </p:sp>
      <p:sp>
        <p:nvSpPr>
          <p:cNvPr id="12" name="Text 10"/>
          <p:cNvSpPr/>
          <p:nvPr/>
        </p:nvSpPr>
        <p:spPr>
          <a:xfrm>
            <a:off x="713232" y="2642616"/>
            <a:ext cx="224942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5항 알기</a:t>
            </a:r>
            <a:endParaRPr lang="en-US" sz="1650" dirty="0"/>
          </a:p>
        </p:txBody>
      </p:sp>
      <p:sp>
        <p:nvSpPr>
          <p:cNvPr id="13" name="Text 11"/>
          <p:cNvSpPr/>
          <p:nvPr/>
        </p:nvSpPr>
        <p:spPr>
          <a:xfrm>
            <a:off x="713232" y="3136392"/>
            <a:ext cx="2249424" cy="87782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무엇을 묻는 칸인가</a:t>
            </a:r>
            <a:endParaRPr lang="en-US" sz="1300" dirty="0"/>
          </a:p>
        </p:txBody>
      </p:sp>
      <p:sp>
        <p:nvSpPr>
          <p:cNvPr id="14" name="Text 12"/>
          <p:cNvSpPr/>
          <p:nvPr/>
        </p:nvSpPr>
        <p:spPr>
          <a:xfrm>
            <a:off x="3081528" y="292608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5" name="Shape 13"/>
          <p:cNvSpPr/>
          <p:nvPr/>
        </p:nvSpPr>
        <p:spPr>
          <a:xfrm>
            <a:off x="3364992" y="2057400"/>
            <a:ext cx="2615184" cy="2103120"/>
          </a:xfrm>
          <a:prstGeom prst="roundRect">
            <a:avLst>
              <a:gd name="adj" fmla="val 2391"/>
            </a:avLst>
          </a:prstGeom>
          <a:solidFill>
            <a:srgbClr val="E7F2ED"/>
          </a:solidFill>
          <a:ln w="12700">
            <a:solidFill>
              <a:srgbClr val="0E7C86"/>
            </a:solidFill>
            <a:prstDash val="solid"/>
          </a:ln>
        </p:spPr>
      </p:sp>
      <p:sp>
        <p:nvSpPr>
          <p:cNvPr id="16" name="Text 14"/>
          <p:cNvSpPr/>
          <p:nvPr/>
        </p:nvSpPr>
        <p:spPr>
          <a:xfrm>
            <a:off x="3547872" y="2221992"/>
            <a:ext cx="2249424"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②</a:t>
            </a:r>
            <a:endParaRPr lang="en-US" sz="1800" dirty="0"/>
          </a:p>
        </p:txBody>
      </p:sp>
      <p:sp>
        <p:nvSpPr>
          <p:cNvPr id="17" name="Text 15"/>
          <p:cNvSpPr/>
          <p:nvPr/>
        </p:nvSpPr>
        <p:spPr>
          <a:xfrm>
            <a:off x="3547872" y="2642616"/>
            <a:ext cx="224942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AI와 초안</a:t>
            </a:r>
            <a:endParaRPr lang="en-US" sz="1650" dirty="0"/>
          </a:p>
        </p:txBody>
      </p:sp>
      <p:sp>
        <p:nvSpPr>
          <p:cNvPr id="18" name="Text 16"/>
          <p:cNvSpPr/>
          <p:nvPr/>
        </p:nvSpPr>
        <p:spPr>
          <a:xfrm>
            <a:off x="3547872" y="3136392"/>
            <a:ext cx="2249424" cy="877824"/>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AI가 옮기고, 내가 고친다</a:t>
            </a:r>
            <a:endParaRPr lang="en-US" sz="1300" dirty="0"/>
          </a:p>
        </p:txBody>
      </p:sp>
      <p:sp>
        <p:nvSpPr>
          <p:cNvPr id="19" name="Text 17"/>
          <p:cNvSpPr/>
          <p:nvPr/>
        </p:nvSpPr>
        <p:spPr>
          <a:xfrm>
            <a:off x="5916168" y="292608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0" name="Shape 18"/>
          <p:cNvSpPr/>
          <p:nvPr/>
        </p:nvSpPr>
        <p:spPr>
          <a:xfrm>
            <a:off x="6199632" y="2057400"/>
            <a:ext cx="2615184" cy="2103120"/>
          </a:xfrm>
          <a:prstGeom prst="roundRect">
            <a:avLst>
              <a:gd name="adj" fmla="val 2391"/>
            </a:avLst>
          </a:prstGeom>
          <a:solidFill>
            <a:srgbClr val="F1F2F4"/>
          </a:solidFill>
          <a:ln w="12700">
            <a:solidFill>
              <a:srgbClr val="E0E3E7"/>
            </a:solidFill>
            <a:prstDash val="solid"/>
          </a:ln>
        </p:spPr>
      </p:sp>
      <p:sp>
        <p:nvSpPr>
          <p:cNvPr id="21" name="Text 19"/>
          <p:cNvSpPr/>
          <p:nvPr/>
        </p:nvSpPr>
        <p:spPr>
          <a:xfrm>
            <a:off x="6382512" y="2221992"/>
            <a:ext cx="2249424"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③</a:t>
            </a:r>
            <a:endParaRPr lang="en-US" sz="1800" dirty="0"/>
          </a:p>
        </p:txBody>
      </p:sp>
      <p:sp>
        <p:nvSpPr>
          <p:cNvPr id="22" name="Text 20"/>
          <p:cNvSpPr/>
          <p:nvPr/>
        </p:nvSpPr>
        <p:spPr>
          <a:xfrm>
            <a:off x="6382512" y="2642616"/>
            <a:ext cx="224942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AI와 다듬기</a:t>
            </a:r>
            <a:endParaRPr lang="en-US" sz="1650" dirty="0"/>
          </a:p>
        </p:txBody>
      </p:sp>
      <p:sp>
        <p:nvSpPr>
          <p:cNvPr id="23" name="Text 21"/>
          <p:cNvSpPr/>
          <p:nvPr/>
        </p:nvSpPr>
        <p:spPr>
          <a:xfrm>
            <a:off x="6382512" y="3136392"/>
            <a:ext cx="2249424" cy="87782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다른 항목과 맞추고 6항 3번</a:t>
            </a:r>
            <a:endParaRPr lang="en-US" sz="1300" dirty="0"/>
          </a:p>
        </p:txBody>
      </p:sp>
      <p:sp>
        <p:nvSpPr>
          <p:cNvPr id="24" name="Text 22"/>
          <p:cNvSpPr/>
          <p:nvPr/>
        </p:nvSpPr>
        <p:spPr>
          <a:xfrm>
            <a:off x="8750808" y="292608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5" name="Shape 23"/>
          <p:cNvSpPr/>
          <p:nvPr/>
        </p:nvSpPr>
        <p:spPr>
          <a:xfrm>
            <a:off x="9034272" y="2057400"/>
            <a:ext cx="2615184" cy="2103120"/>
          </a:xfrm>
          <a:prstGeom prst="roundRect">
            <a:avLst>
              <a:gd name="adj" fmla="val 2391"/>
            </a:avLst>
          </a:prstGeom>
          <a:solidFill>
            <a:srgbClr val="F1F2F4"/>
          </a:solidFill>
          <a:ln w="12700">
            <a:solidFill>
              <a:srgbClr val="E0E3E7"/>
            </a:solidFill>
            <a:prstDash val="solid"/>
          </a:ln>
        </p:spPr>
      </p:sp>
      <p:sp>
        <p:nvSpPr>
          <p:cNvPr id="26" name="Text 24"/>
          <p:cNvSpPr/>
          <p:nvPr/>
        </p:nvSpPr>
        <p:spPr>
          <a:xfrm>
            <a:off x="9217152" y="2221992"/>
            <a:ext cx="2249424"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④</a:t>
            </a:r>
            <a:endParaRPr lang="en-US" sz="1800" dirty="0"/>
          </a:p>
        </p:txBody>
      </p:sp>
      <p:sp>
        <p:nvSpPr>
          <p:cNvPr id="27" name="Text 25"/>
          <p:cNvSpPr/>
          <p:nvPr/>
        </p:nvSpPr>
        <p:spPr>
          <a:xfrm>
            <a:off x="9217152" y="2642616"/>
            <a:ext cx="224942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목업에 다시 보기</a:t>
            </a:r>
            <a:endParaRPr lang="en-US" sz="1650" dirty="0"/>
          </a:p>
        </p:txBody>
      </p:sp>
      <p:sp>
        <p:nvSpPr>
          <p:cNvPr id="28" name="Text 26"/>
          <p:cNvSpPr/>
          <p:nvPr/>
        </p:nvSpPr>
        <p:spPr>
          <a:xfrm>
            <a:off x="9217152" y="3136392"/>
            <a:ext cx="2249424" cy="87782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Live Server로 본다</a:t>
            </a:r>
            <a:endParaRPr lang="en-US" sz="1300" dirty="0"/>
          </a:p>
        </p:txBody>
      </p:sp>
      <p:sp>
        <p:nvSpPr>
          <p:cNvPr id="29" name="Shape 27"/>
          <p:cNvSpPr/>
          <p:nvPr/>
        </p:nvSpPr>
        <p:spPr>
          <a:xfrm>
            <a:off x="530352" y="4572000"/>
            <a:ext cx="11128248" cy="512064"/>
          </a:xfrm>
          <a:prstGeom prst="roundRect">
            <a:avLst>
              <a:gd name="adj" fmla="val 39286"/>
            </a:avLst>
          </a:prstGeom>
          <a:solidFill>
            <a:srgbClr val="FF5C00"/>
          </a:solidFill>
          <a:ln w="12700">
            <a:solidFill>
              <a:srgbClr val="FF5C00"/>
            </a:solidFill>
            <a:prstDash val="solid"/>
          </a:ln>
        </p:spPr>
      </p:sp>
      <p:sp>
        <p:nvSpPr>
          <p:cNvPr id="30" name="Text 28"/>
          <p:cNvSpPr/>
          <p:nvPr/>
        </p:nvSpPr>
        <p:spPr>
          <a:xfrm>
            <a:off x="731520" y="457200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오늘 꼭 끝낼 것 · PRD.md의 5항, 6항 3번, 7항까지 쓰고 끝까지 읽기</a:t>
            </a:r>
            <a:endParaRPr lang="en-US" sz="1500" dirty="0"/>
          </a:p>
        </p:txBody>
      </p:sp>
      <p:sp>
        <p:nvSpPr>
          <p:cNvPr id="31" name="Text 29"/>
          <p:cNvSpPr/>
          <p:nvPr/>
        </p:nvSpPr>
        <p:spPr>
          <a:xfrm>
            <a:off x="530352" y="548640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이것으로 PRD의 모든 칸이 찬다 · 8회에 다듬어 제출한다</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06 폴더에서 PRD.md의 5항을 찾는다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02</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07-2 · 3쪽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03</a:t>
            </a:r>
            <a:endParaRPr lang="en-US" sz="900" dirty="0"/>
          </a:p>
        </p:txBody>
      </p:sp>
      <p:sp>
        <p:nvSpPr>
          <p:cNvPr id="10" name="Shape 8"/>
          <p:cNvSpPr/>
          <p:nvPr/>
        </p:nvSpPr>
        <p:spPr>
          <a:xfrm>
            <a:off x="530352" y="2011680"/>
            <a:ext cx="4937760" cy="2926080"/>
          </a:xfrm>
          <a:prstGeom prst="roundRect">
            <a:avLst>
              <a:gd name="adj" fmla="val 1563"/>
            </a:avLst>
          </a:prstGeom>
          <a:solidFill>
            <a:srgbClr val="24272C"/>
          </a:solidFill>
          <a:ln/>
        </p:spPr>
      </p:sp>
      <p:sp>
        <p:nvSpPr>
          <p:cNvPr id="11" name="Text 9"/>
          <p:cNvSpPr/>
          <p:nvPr/>
        </p:nvSpPr>
        <p:spPr>
          <a:xfrm>
            <a:off x="768096" y="2139696"/>
            <a:ext cx="2743200" cy="237744"/>
          </a:xfrm>
          <a:prstGeom prst="rect">
            <a:avLst/>
          </a:prstGeom>
          <a:noFill/>
          <a:ln/>
        </p:spPr>
        <p:txBody>
          <a:bodyPr wrap="square" lIns="0" tIns="0" rIns="0" bIns="0" rtlCol="0" anchor="ctr"/>
          <a:lstStyle/>
          <a:p>
            <a:pPr indent="0" marL="0">
              <a:buNone/>
            </a:pPr>
            <a:r>
              <a:rPr lang="en-US" sz="1050" dirty="0">
                <a:solidFill>
                  <a:srgbClr val="8A9099"/>
                </a:solidFill>
                <a:latin typeface="IBM Plex Mono" pitchFamily="34" charset="0"/>
                <a:ea typeface="IBM Plex Mono" pitchFamily="34" charset="-122"/>
                <a:cs typeface="IBM Plex Mono" pitchFamily="34" charset="-120"/>
              </a:rPr>
              <a:t>탐색기</a:t>
            </a:r>
            <a:endParaRPr lang="en-US" sz="1050" dirty="0"/>
          </a:p>
        </p:txBody>
      </p:sp>
      <p:sp>
        <p:nvSpPr>
          <p:cNvPr id="12" name="Shape 10"/>
          <p:cNvSpPr/>
          <p:nvPr/>
        </p:nvSpPr>
        <p:spPr>
          <a:xfrm>
            <a:off x="3685032" y="2121408"/>
            <a:ext cx="1554480" cy="292608"/>
          </a:xfrm>
          <a:prstGeom prst="roundRect">
            <a:avLst>
              <a:gd name="adj" fmla="val 37500"/>
            </a:avLst>
          </a:prstGeom>
          <a:solidFill>
            <a:srgbClr val="FF5C00"/>
          </a:solidFill>
          <a:ln/>
        </p:spPr>
      </p:sp>
      <p:sp>
        <p:nvSpPr>
          <p:cNvPr id="13" name="Text 11"/>
          <p:cNvSpPr/>
          <p:nvPr/>
        </p:nvSpPr>
        <p:spPr>
          <a:xfrm>
            <a:off x="3685032" y="2121408"/>
            <a:ext cx="1554480"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IBM Plex Sans KR" pitchFamily="34" charset="0"/>
                <a:ea typeface="IBM Plex Sans KR" pitchFamily="34" charset="-122"/>
                <a:cs typeface="IBM Plex Sans KR" pitchFamily="34" charset="-120"/>
              </a:rPr>
              <a:t>확인</a:t>
            </a:r>
            <a:endParaRPr lang="en-US" sz="1150" dirty="0"/>
          </a:p>
        </p:txBody>
      </p:sp>
      <p:sp>
        <p:nvSpPr>
          <p:cNvPr id="14" name="Text 12"/>
          <p:cNvSpPr/>
          <p:nvPr/>
        </p:nvSpPr>
        <p:spPr>
          <a:xfrm>
            <a:off x="804672" y="2514600"/>
            <a:ext cx="4389120" cy="2286000"/>
          </a:xfrm>
          <a:prstGeom prst="rect">
            <a:avLst/>
          </a:prstGeom>
          <a:noFill/>
          <a:ln/>
        </p:spPr>
        <p:txBody>
          <a:bodyPr wrap="square" lIns="0" tIns="0" rIns="0" bIns="0" rtlCol="0" anchor="t"/>
          <a:lstStyle/>
          <a:p>
            <a:pPr indent="0" marL="0">
              <a:lnSpc>
                <a:spcPts val="2723"/>
              </a:lnSpc>
              <a:buNone/>
            </a:pPr>
            <a:r>
              <a:rPr lang="en-US" sz="1650" b="1" dirty="0">
                <a:solidFill>
                  <a:srgbClr val="FF5C00"/>
                </a:solidFill>
                <a:latin typeface="IBM Plex Sans KR" pitchFamily="34" charset="0"/>
                <a:ea typeface="IBM Plex Sans KR" pitchFamily="34" charset="-122"/>
                <a:cs typeface="IBM Plex Sans KR" pitchFamily="34" charset="-120"/>
              </a:rPr>
              <a:t>∨ 06</a:t>
            </a:r>
            <a:endParaRPr lang="en-US" sz="1650" dirty="0"/>
          </a:p>
          <a:p>
            <a:pPr indent="0" marL="0">
              <a:lnSpc>
                <a:spcPts val="2723"/>
              </a:lnSpc>
              <a:buNone/>
            </a:pPr>
            <a:r>
              <a:rPr lang="en-US" sz="1650" b="1" dirty="0">
                <a:solidFill>
                  <a:srgbClr val="E8EAED"/>
                </a:solidFill>
                <a:latin typeface="IBM Plex Sans KR" pitchFamily="34" charset="0"/>
                <a:ea typeface="IBM Plex Sans KR" pitchFamily="34" charset="-122"/>
                <a:cs typeface="IBM Plex Sans KR" pitchFamily="34" charset="-120"/>
              </a:rPr>
              <a:t>    &gt; mockup</a:t>
            </a:r>
            <a:endParaRPr lang="en-US" sz="1650" dirty="0"/>
          </a:p>
          <a:p>
            <a:pPr indent="0" marL="0">
              <a:lnSpc>
                <a:spcPts val="2723"/>
              </a:lnSpc>
              <a:buNone/>
            </a:pPr>
            <a:r>
              <a:rPr lang="en-US" sz="1650" b="1" dirty="0">
                <a:solidFill>
                  <a:srgbClr val="9BE6B8"/>
                </a:solidFill>
                <a:latin typeface="IBM Plex Sans KR" pitchFamily="34" charset="0"/>
                <a:ea typeface="IBM Plex Sans KR" pitchFamily="34" charset="-122"/>
                <a:cs typeface="IBM Plex Sans KR" pitchFamily="34" charset="-120"/>
              </a:rPr>
              <a:t>    데이터_예시.md</a:t>
            </a:r>
            <a:endParaRPr lang="en-US" sz="1650" dirty="0"/>
          </a:p>
          <a:p>
            <a:pPr indent="0" marL="0">
              <a:lnSpc>
                <a:spcPts val="2723"/>
              </a:lnSpc>
              <a:buNone/>
            </a:pPr>
            <a:r>
              <a:rPr lang="en-US" sz="1650" b="1" dirty="0">
                <a:solidFill>
                  <a:srgbClr val="9BE6B8"/>
                </a:solidFill>
                <a:latin typeface="IBM Plex Sans KR" pitchFamily="34" charset="0"/>
                <a:ea typeface="IBM Plex Sans KR" pitchFamily="34" charset="-122"/>
                <a:cs typeface="IBM Plex Sans KR" pitchFamily="34" charset="-120"/>
              </a:rPr>
              <a:t>    PRD.md</a:t>
            </a:r>
            <a:endParaRPr lang="en-US" sz="1650" dirty="0"/>
          </a:p>
          <a:p>
            <a:pPr indent="0" marL="0">
              <a:lnSpc>
                <a:spcPts val="2723"/>
              </a:lnSpc>
              <a:buNone/>
            </a:pPr>
            <a:r>
              <a:rPr lang="en-US" sz="1650" b="1" dirty="0">
                <a:solidFill>
                  <a:srgbClr val="E8EAED"/>
                </a:solidFill>
                <a:latin typeface="IBM Plex Sans KR" pitchFamily="34" charset="0"/>
                <a:ea typeface="IBM Plex Sans KR" pitchFamily="34" charset="-122"/>
                <a:cs typeface="IBM Plex Sans KR" pitchFamily="34" charset="-120"/>
              </a:rPr>
              <a:t>    기획_메모.md</a:t>
            </a:r>
            <a:endParaRPr lang="en-US" sz="1650" dirty="0"/>
          </a:p>
        </p:txBody>
      </p:sp>
      <p:sp>
        <p:nvSpPr>
          <p:cNvPr id="15" name="Shape 13"/>
          <p:cNvSpPr/>
          <p:nvPr/>
        </p:nvSpPr>
        <p:spPr>
          <a:xfrm>
            <a:off x="5852160" y="2011680"/>
            <a:ext cx="5806440" cy="1325880"/>
          </a:xfrm>
          <a:prstGeom prst="roundRect">
            <a:avLst>
              <a:gd name="adj" fmla="val 3793"/>
            </a:avLst>
          </a:prstGeom>
          <a:solidFill>
            <a:srgbClr val="E7F2ED"/>
          </a:solidFill>
          <a:ln w="12700">
            <a:solidFill>
              <a:srgbClr val="0E7C86"/>
            </a:solidFill>
            <a:prstDash val="solid"/>
          </a:ln>
        </p:spPr>
      </p:sp>
      <p:sp>
        <p:nvSpPr>
          <p:cNvPr id="16" name="Text 14"/>
          <p:cNvSpPr/>
          <p:nvPr/>
        </p:nvSpPr>
        <p:spPr>
          <a:xfrm>
            <a:off x="6035040" y="2176272"/>
            <a:ext cx="544068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PRD.md → Ctrl+F → 5. 데이터</a:t>
            </a:r>
            <a:endParaRPr lang="en-US" sz="1650" dirty="0"/>
          </a:p>
        </p:txBody>
      </p:sp>
      <p:sp>
        <p:nvSpPr>
          <p:cNvPr id="17" name="Text 15"/>
          <p:cNvSpPr/>
          <p:nvPr/>
        </p:nvSpPr>
        <p:spPr>
          <a:xfrm>
            <a:off x="6035040" y="2670048"/>
            <a:ext cx="5440680" cy="521208"/>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터미널 → 새 터미널 · …\06&gt; 확인 → opencode</a:t>
            </a:r>
            <a:endParaRPr lang="en-US" sz="1300" dirty="0"/>
          </a:p>
        </p:txBody>
      </p:sp>
      <p:sp>
        <p:nvSpPr>
          <p:cNvPr id="18" name="Shape 16"/>
          <p:cNvSpPr/>
          <p:nvPr/>
        </p:nvSpPr>
        <p:spPr>
          <a:xfrm>
            <a:off x="5852160" y="3611880"/>
            <a:ext cx="5806440" cy="1325880"/>
          </a:xfrm>
          <a:prstGeom prst="roundRect">
            <a:avLst>
              <a:gd name="adj" fmla="val 3793"/>
            </a:avLst>
          </a:prstGeom>
          <a:solidFill>
            <a:srgbClr val="FFF1E8"/>
          </a:solidFill>
          <a:ln w="12700">
            <a:solidFill>
              <a:srgbClr val="C24A00"/>
            </a:solidFill>
            <a:prstDash val="solid"/>
          </a:ln>
        </p:spPr>
      </p:sp>
      <p:sp>
        <p:nvSpPr>
          <p:cNvPr id="19" name="Text 17"/>
          <p:cNvSpPr/>
          <p:nvPr/>
        </p:nvSpPr>
        <p:spPr>
          <a:xfrm>
            <a:off x="6035040" y="3776472"/>
            <a:ext cx="5440680"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데이터_예시.md가 없다면</a:t>
            </a:r>
            <a:endParaRPr lang="en-US" sz="1650" dirty="0"/>
          </a:p>
        </p:txBody>
      </p:sp>
      <p:sp>
        <p:nvSpPr>
          <p:cNvPr id="20" name="Text 18"/>
          <p:cNvSpPr/>
          <p:nvPr/>
        </p:nvSpPr>
        <p:spPr>
          <a:xfrm>
            <a:off x="6035040" y="4270248"/>
            <a:ext cx="5440680" cy="521208"/>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7-1 교과서 12쪽 요청문을 먼저 보낸다</a:t>
            </a:r>
            <a:endParaRPr lang="en-US" sz="1300" dirty="0"/>
          </a:p>
        </p:txBody>
      </p:sp>
      <p:sp>
        <p:nvSpPr>
          <p:cNvPr id="21" name="Shape 19"/>
          <p:cNvSpPr/>
          <p:nvPr/>
        </p:nvSpPr>
        <p:spPr>
          <a:xfrm>
            <a:off x="530352" y="5440680"/>
            <a:ext cx="11128248" cy="512064"/>
          </a:xfrm>
          <a:prstGeom prst="roundRect">
            <a:avLst>
              <a:gd name="adj" fmla="val 39286"/>
            </a:avLst>
          </a:prstGeom>
          <a:solidFill>
            <a:srgbClr val="EAF5FB"/>
          </a:solidFill>
          <a:ln w="12700">
            <a:solidFill>
              <a:srgbClr val="3D8DFF"/>
            </a:solidFill>
            <a:prstDash val="solid"/>
          </a:ln>
        </p:spPr>
      </p:sp>
      <p:sp>
        <p:nvSpPr>
          <p:cNvPr id="22" name="Text 20"/>
          <p:cNvSpPr/>
          <p:nvPr/>
        </p:nvSpPr>
        <p:spPr>
          <a:xfrm>
            <a:off x="731520" y="5440680"/>
            <a:ext cx="10725912" cy="512064"/>
          </a:xfrm>
          <a:prstGeom prst="rect">
            <a:avLst/>
          </a:prstGeom>
          <a:noFill/>
          <a:ln/>
        </p:spPr>
        <p:txBody>
          <a:bodyPr wrap="square" lIns="0" tIns="0" rIns="0" bIns="0" rtlCol="0" anchor="ctr"/>
          <a:lstStyle/>
          <a:p>
            <a:pPr algn="ctr" indent="0" marL="0">
              <a:buNone/>
            </a:pPr>
            <a:r>
              <a:rPr lang="en-US" sz="1400" b="1" dirty="0">
                <a:solidFill>
                  <a:srgbClr val="34373D"/>
                </a:solidFill>
                <a:latin typeface="IBM Plex Sans KR" pitchFamily="34" charset="0"/>
                <a:ea typeface="IBM Plex Sans KR" pitchFamily="34" charset="-122"/>
                <a:cs typeface="IBM Plex Sans KR" pitchFamily="34" charset="-120"/>
              </a:rPr>
              <a:t>새로 내려받지 않는다 · 6회의 06 폴더에서 이어서 한다</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5항은 「무엇을 기억하나」를 묻는다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03</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07-2 · 4쪽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04</a:t>
            </a:r>
            <a:endParaRPr lang="en-US" sz="900" dirty="0"/>
          </a:p>
        </p:txBody>
      </p:sp>
      <p:sp>
        <p:nvSpPr>
          <p:cNvPr id="10" name="Shape 8"/>
          <p:cNvSpPr/>
          <p:nvPr/>
        </p:nvSpPr>
        <p:spPr>
          <a:xfrm>
            <a:off x="530352" y="1828800"/>
            <a:ext cx="5118994" cy="402336"/>
          </a:xfrm>
          <a:prstGeom prst="rect">
            <a:avLst/>
          </a:prstGeom>
          <a:solidFill>
            <a:srgbClr val="1B1D21"/>
          </a:solidFill>
          <a:ln/>
        </p:spPr>
      </p:sp>
      <p:sp>
        <p:nvSpPr>
          <p:cNvPr id="11" name="Text 9"/>
          <p:cNvSpPr/>
          <p:nvPr/>
        </p:nvSpPr>
        <p:spPr>
          <a:xfrm>
            <a:off x="658368" y="1828800"/>
            <a:ext cx="486296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5항의 줄</a:t>
            </a:r>
            <a:endParaRPr lang="en-US" sz="1050" dirty="0"/>
          </a:p>
        </p:txBody>
      </p:sp>
      <p:sp>
        <p:nvSpPr>
          <p:cNvPr id="12" name="Shape 10"/>
          <p:cNvSpPr/>
          <p:nvPr/>
        </p:nvSpPr>
        <p:spPr>
          <a:xfrm>
            <a:off x="5649346" y="1828800"/>
            <a:ext cx="6009254" cy="402336"/>
          </a:xfrm>
          <a:prstGeom prst="rect">
            <a:avLst/>
          </a:prstGeom>
          <a:solidFill>
            <a:srgbClr val="1B1D21"/>
          </a:solidFill>
          <a:ln/>
        </p:spPr>
      </p:sp>
      <p:sp>
        <p:nvSpPr>
          <p:cNvPr id="13" name="Text 11"/>
          <p:cNvSpPr/>
          <p:nvPr/>
        </p:nvSpPr>
        <p:spPr>
          <a:xfrm>
            <a:off x="5777362" y="1828800"/>
            <a:ext cx="575322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답하는 질문</a:t>
            </a:r>
            <a:endParaRPr lang="en-US" sz="1050" dirty="0"/>
          </a:p>
        </p:txBody>
      </p:sp>
      <p:sp>
        <p:nvSpPr>
          <p:cNvPr id="14" name="Shape 12"/>
          <p:cNvSpPr/>
          <p:nvPr/>
        </p:nvSpPr>
        <p:spPr>
          <a:xfrm>
            <a:off x="530352" y="2231136"/>
            <a:ext cx="11128248" cy="429768"/>
          </a:xfrm>
          <a:prstGeom prst="rect">
            <a:avLst/>
          </a:prstGeom>
          <a:solidFill>
            <a:srgbClr val="F1F2F4"/>
          </a:solidFill>
          <a:ln w="9525">
            <a:solidFill>
              <a:srgbClr val="E0E3E7"/>
            </a:solidFill>
            <a:prstDash val="solid"/>
          </a:ln>
        </p:spPr>
      </p:sp>
      <p:sp>
        <p:nvSpPr>
          <p:cNvPr id="15" name="Text 13"/>
          <p:cNvSpPr/>
          <p:nvPr/>
        </p:nvSpPr>
        <p:spPr>
          <a:xfrm>
            <a:off x="658368" y="2231136"/>
            <a:ext cx="4862962" cy="42976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서비스가 반드시 기억해야 할 기록</a:t>
            </a:r>
            <a:endParaRPr lang="en-US" sz="1300" dirty="0"/>
          </a:p>
        </p:txBody>
      </p:sp>
      <p:sp>
        <p:nvSpPr>
          <p:cNvPr id="16" name="Text 14"/>
          <p:cNvSpPr/>
          <p:nvPr/>
        </p:nvSpPr>
        <p:spPr>
          <a:xfrm>
            <a:off x="5777362" y="2231136"/>
            <a:ext cx="5753222" cy="42976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다시 열었을 때 남아 있어야 하는 것은?</a:t>
            </a:r>
            <a:endParaRPr lang="en-US" sz="1300" dirty="0"/>
          </a:p>
        </p:txBody>
      </p:sp>
      <p:sp>
        <p:nvSpPr>
          <p:cNvPr id="17" name="Shape 15"/>
          <p:cNvSpPr/>
          <p:nvPr/>
        </p:nvSpPr>
        <p:spPr>
          <a:xfrm>
            <a:off x="530352" y="2660904"/>
            <a:ext cx="11128248" cy="429768"/>
          </a:xfrm>
          <a:prstGeom prst="rect">
            <a:avLst/>
          </a:prstGeom>
          <a:solidFill>
            <a:srgbClr val="FFFFFF"/>
          </a:solidFill>
          <a:ln w="9525">
            <a:solidFill>
              <a:srgbClr val="E0E3E7"/>
            </a:solidFill>
            <a:prstDash val="solid"/>
          </a:ln>
        </p:spPr>
      </p:sp>
      <p:sp>
        <p:nvSpPr>
          <p:cNvPr id="18" name="Text 16"/>
          <p:cNvSpPr/>
          <p:nvPr/>
        </p:nvSpPr>
        <p:spPr>
          <a:xfrm>
            <a:off x="658368" y="2660904"/>
            <a:ext cx="4862962" cy="42976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이 기록이 생기는 사용자 행동</a:t>
            </a:r>
            <a:endParaRPr lang="en-US" sz="1300" dirty="0"/>
          </a:p>
        </p:txBody>
      </p:sp>
      <p:sp>
        <p:nvSpPr>
          <p:cNvPr id="19" name="Text 17"/>
          <p:cNvSpPr/>
          <p:nvPr/>
        </p:nvSpPr>
        <p:spPr>
          <a:xfrm>
            <a:off x="5777362" y="2660904"/>
            <a:ext cx="5753222" cy="42976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무엇을 하면 기록이 생기나?</a:t>
            </a:r>
            <a:endParaRPr lang="en-US" sz="1300" dirty="0"/>
          </a:p>
        </p:txBody>
      </p:sp>
      <p:sp>
        <p:nvSpPr>
          <p:cNvPr id="20" name="Shape 18"/>
          <p:cNvSpPr/>
          <p:nvPr/>
        </p:nvSpPr>
        <p:spPr>
          <a:xfrm>
            <a:off x="530352" y="3090672"/>
            <a:ext cx="11128248" cy="429768"/>
          </a:xfrm>
          <a:prstGeom prst="rect">
            <a:avLst/>
          </a:prstGeom>
          <a:solidFill>
            <a:srgbClr val="F1F2F4"/>
          </a:solidFill>
          <a:ln w="9525">
            <a:solidFill>
              <a:srgbClr val="E0E3E7"/>
            </a:solidFill>
            <a:prstDash val="solid"/>
          </a:ln>
        </p:spPr>
      </p:sp>
      <p:sp>
        <p:nvSpPr>
          <p:cNvPr id="21" name="Text 19"/>
          <p:cNvSpPr/>
          <p:nvPr/>
        </p:nvSpPr>
        <p:spPr>
          <a:xfrm>
            <a:off x="658368" y="3090672"/>
            <a:ext cx="4862962" cy="42976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사용자가 이 기록을 다시 확인하는 순간</a:t>
            </a:r>
            <a:endParaRPr lang="en-US" sz="1300" dirty="0"/>
          </a:p>
        </p:txBody>
      </p:sp>
      <p:sp>
        <p:nvSpPr>
          <p:cNvPr id="22" name="Text 20"/>
          <p:cNvSpPr/>
          <p:nvPr/>
        </p:nvSpPr>
        <p:spPr>
          <a:xfrm>
            <a:off x="5777362" y="3090672"/>
            <a:ext cx="5753222" cy="42976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언제 그 기록을 다시 보나?</a:t>
            </a:r>
            <a:endParaRPr lang="en-US" sz="1300" dirty="0"/>
          </a:p>
        </p:txBody>
      </p:sp>
      <p:sp>
        <p:nvSpPr>
          <p:cNvPr id="23" name="Shape 21"/>
          <p:cNvSpPr/>
          <p:nvPr/>
        </p:nvSpPr>
        <p:spPr>
          <a:xfrm>
            <a:off x="530352" y="3520440"/>
            <a:ext cx="11128248" cy="429768"/>
          </a:xfrm>
          <a:prstGeom prst="rect">
            <a:avLst/>
          </a:prstGeom>
          <a:solidFill>
            <a:srgbClr val="FFFFFF"/>
          </a:solidFill>
          <a:ln w="9525">
            <a:solidFill>
              <a:srgbClr val="E0E3E7"/>
            </a:solidFill>
            <a:prstDash val="solid"/>
          </a:ln>
        </p:spPr>
      </p:sp>
      <p:sp>
        <p:nvSpPr>
          <p:cNvPr id="24" name="Text 22"/>
          <p:cNvSpPr/>
          <p:nvPr/>
        </p:nvSpPr>
        <p:spPr>
          <a:xfrm>
            <a:off x="658368" y="3520440"/>
            <a:ext cx="4862962" cy="42976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저장해야 할 정보 · 저장하지 않을 정보</a:t>
            </a:r>
            <a:endParaRPr lang="en-US" sz="1300" dirty="0"/>
          </a:p>
        </p:txBody>
      </p:sp>
      <p:sp>
        <p:nvSpPr>
          <p:cNvPr id="25" name="Text 23"/>
          <p:cNvSpPr/>
          <p:nvPr/>
        </p:nvSpPr>
        <p:spPr>
          <a:xfrm>
            <a:off x="5777362" y="3520440"/>
            <a:ext cx="5753222" cy="42976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꼭 필요한 것과 버릴 것은?</a:t>
            </a:r>
            <a:endParaRPr lang="en-US" sz="1300" dirty="0"/>
          </a:p>
        </p:txBody>
      </p:sp>
      <p:sp>
        <p:nvSpPr>
          <p:cNvPr id="26" name="Shape 24"/>
          <p:cNvSpPr/>
          <p:nvPr/>
        </p:nvSpPr>
        <p:spPr>
          <a:xfrm>
            <a:off x="530352" y="3950208"/>
            <a:ext cx="11128248" cy="429768"/>
          </a:xfrm>
          <a:prstGeom prst="rect">
            <a:avLst/>
          </a:prstGeom>
          <a:solidFill>
            <a:srgbClr val="F1F2F4"/>
          </a:solidFill>
          <a:ln w="9525">
            <a:solidFill>
              <a:srgbClr val="E0E3E7"/>
            </a:solidFill>
            <a:prstDash val="solid"/>
          </a:ln>
        </p:spPr>
      </p:sp>
      <p:sp>
        <p:nvSpPr>
          <p:cNvPr id="27" name="Text 25"/>
          <p:cNvSpPr/>
          <p:nvPr/>
        </p:nvSpPr>
        <p:spPr>
          <a:xfrm>
            <a:off x="658368" y="3950208"/>
            <a:ext cx="4862962" cy="42976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실제 개인정보를 사용하지 않는 방법</a:t>
            </a:r>
            <a:endParaRPr lang="en-US" sz="1300" dirty="0"/>
          </a:p>
        </p:txBody>
      </p:sp>
      <p:sp>
        <p:nvSpPr>
          <p:cNvPr id="28" name="Text 26"/>
          <p:cNvSpPr/>
          <p:nvPr/>
        </p:nvSpPr>
        <p:spPr>
          <a:xfrm>
            <a:off x="5777362" y="3950208"/>
            <a:ext cx="5753222" cy="42976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이름·연락처 없이 어떻게 쓰게 하나?</a:t>
            </a:r>
            <a:endParaRPr lang="en-US" sz="1300" dirty="0"/>
          </a:p>
        </p:txBody>
      </p:sp>
      <p:sp>
        <p:nvSpPr>
          <p:cNvPr id="29" name="Shape 27"/>
          <p:cNvSpPr/>
          <p:nvPr/>
        </p:nvSpPr>
        <p:spPr>
          <a:xfrm>
            <a:off x="530352" y="4379976"/>
            <a:ext cx="11128248" cy="429768"/>
          </a:xfrm>
          <a:prstGeom prst="rect">
            <a:avLst/>
          </a:prstGeom>
          <a:solidFill>
            <a:srgbClr val="FFFFFF"/>
          </a:solidFill>
          <a:ln w="9525">
            <a:solidFill>
              <a:srgbClr val="E0E3E7"/>
            </a:solidFill>
            <a:prstDash val="solid"/>
          </a:ln>
        </p:spPr>
      </p:sp>
      <p:sp>
        <p:nvSpPr>
          <p:cNvPr id="30" name="Text 28"/>
          <p:cNvSpPr/>
          <p:nvPr/>
        </p:nvSpPr>
        <p:spPr>
          <a:xfrm>
            <a:off x="658368" y="4379976"/>
            <a:ext cx="4862962" cy="42976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후보 테이블 — 1~3개</a:t>
            </a:r>
            <a:endParaRPr lang="en-US" sz="1300" dirty="0"/>
          </a:p>
        </p:txBody>
      </p:sp>
      <p:sp>
        <p:nvSpPr>
          <p:cNvPr id="31" name="Text 29"/>
          <p:cNvSpPr/>
          <p:nvPr/>
        </p:nvSpPr>
        <p:spPr>
          <a:xfrm>
            <a:off x="5777362" y="4379976"/>
            <a:ext cx="5753222" cy="42976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표 이름 · 기억하는 내용 · 연결되는 기능</a:t>
            </a:r>
            <a:endParaRPr lang="en-US" sz="1300" dirty="0"/>
          </a:p>
        </p:txBody>
      </p:sp>
      <p:sp>
        <p:nvSpPr>
          <p:cNvPr id="32" name="Shape 30"/>
          <p:cNvSpPr/>
          <p:nvPr/>
        </p:nvSpPr>
        <p:spPr>
          <a:xfrm>
            <a:off x="530352" y="4809744"/>
            <a:ext cx="11128248" cy="429768"/>
          </a:xfrm>
          <a:prstGeom prst="rect">
            <a:avLst/>
          </a:prstGeom>
          <a:solidFill>
            <a:srgbClr val="F1F2F4"/>
          </a:solidFill>
          <a:ln w="9525">
            <a:solidFill>
              <a:srgbClr val="E0E3E7"/>
            </a:solidFill>
            <a:prstDash val="solid"/>
          </a:ln>
        </p:spPr>
      </p:sp>
      <p:sp>
        <p:nvSpPr>
          <p:cNvPr id="33" name="Text 31"/>
          <p:cNvSpPr/>
          <p:nvPr/>
        </p:nvSpPr>
        <p:spPr>
          <a:xfrm>
            <a:off x="658368" y="4809744"/>
            <a:ext cx="4862962" cy="42976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관계를 설명하는 쉬운 문장</a:t>
            </a:r>
            <a:endParaRPr lang="en-US" sz="1300" dirty="0"/>
          </a:p>
        </p:txBody>
      </p:sp>
      <p:sp>
        <p:nvSpPr>
          <p:cNvPr id="34" name="Text 32"/>
          <p:cNvSpPr/>
          <p:nvPr/>
        </p:nvSpPr>
        <p:spPr>
          <a:xfrm>
            <a:off x="5777362" y="4809744"/>
            <a:ext cx="5753222" cy="42976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표가 둘 이상일 때만, 한 문장</a:t>
            </a:r>
            <a:endParaRPr lang="en-US" sz="1300" dirty="0"/>
          </a:p>
        </p:txBody>
      </p:sp>
      <p:sp>
        <p:nvSpPr>
          <p:cNvPr id="35" name="Text 33"/>
          <p:cNvSpPr/>
          <p:nvPr/>
        </p:nvSpPr>
        <p:spPr>
          <a:xfrm>
            <a:off x="530352" y="571500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7-1의 표를 사람의 말로 옮긴다 · 열 이름과 기본키는 적지 않는다</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6-2의 「하나 뽑기」라면 이렇게 쓴다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04</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07-2 · 5쪽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05</a:t>
            </a:r>
            <a:endParaRPr lang="en-US" sz="900" dirty="0"/>
          </a:p>
        </p:txBody>
      </p:sp>
      <p:sp>
        <p:nvSpPr>
          <p:cNvPr id="10" name="Shape 8"/>
          <p:cNvSpPr/>
          <p:nvPr/>
        </p:nvSpPr>
        <p:spPr>
          <a:xfrm>
            <a:off x="530352" y="1828800"/>
            <a:ext cx="11128248" cy="3657600"/>
          </a:xfrm>
          <a:prstGeom prst="roundRect">
            <a:avLst>
              <a:gd name="adj" fmla="val 1250"/>
            </a:avLst>
          </a:prstGeom>
          <a:solidFill>
            <a:srgbClr val="24272C"/>
          </a:solidFill>
          <a:ln/>
        </p:spPr>
      </p:sp>
      <p:sp>
        <p:nvSpPr>
          <p:cNvPr id="11" name="Text 9"/>
          <p:cNvSpPr/>
          <p:nvPr/>
        </p:nvSpPr>
        <p:spPr>
          <a:xfrm>
            <a:off x="768096" y="1956816"/>
            <a:ext cx="8933688" cy="237744"/>
          </a:xfrm>
          <a:prstGeom prst="rect">
            <a:avLst/>
          </a:prstGeom>
          <a:noFill/>
          <a:ln/>
        </p:spPr>
        <p:txBody>
          <a:bodyPr wrap="square" lIns="0" tIns="0" rIns="0" bIns="0" rtlCol="0" anchor="ctr"/>
          <a:lstStyle/>
          <a:p>
            <a:pPr indent="0" marL="0">
              <a:buNone/>
            </a:pPr>
            <a:r>
              <a:rPr lang="en-US" sz="1050" dirty="0">
                <a:solidFill>
                  <a:srgbClr val="8A9099"/>
                </a:solidFill>
                <a:latin typeface="IBM Plex Mono" pitchFamily="34" charset="0"/>
                <a:ea typeface="IBM Plex Mono" pitchFamily="34" charset="-122"/>
                <a:cs typeface="IBM Plex Mono" pitchFamily="34" charset="-120"/>
              </a:rPr>
              <a:t>PRD.md · 5. 데이터</a:t>
            </a:r>
            <a:endParaRPr lang="en-US" sz="1050" dirty="0"/>
          </a:p>
        </p:txBody>
      </p:sp>
      <p:sp>
        <p:nvSpPr>
          <p:cNvPr id="12" name="Shape 10"/>
          <p:cNvSpPr/>
          <p:nvPr/>
        </p:nvSpPr>
        <p:spPr>
          <a:xfrm>
            <a:off x="9875520" y="1938528"/>
            <a:ext cx="1554480" cy="292608"/>
          </a:xfrm>
          <a:prstGeom prst="roundRect">
            <a:avLst>
              <a:gd name="adj" fmla="val 37500"/>
            </a:avLst>
          </a:prstGeom>
          <a:solidFill>
            <a:srgbClr val="FF5C00"/>
          </a:solidFill>
          <a:ln/>
        </p:spPr>
      </p:sp>
      <p:sp>
        <p:nvSpPr>
          <p:cNvPr id="13" name="Text 11"/>
          <p:cNvSpPr/>
          <p:nvPr/>
        </p:nvSpPr>
        <p:spPr>
          <a:xfrm>
            <a:off x="9875520" y="1938528"/>
            <a:ext cx="1554480"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IBM Plex Sans KR" pitchFamily="34" charset="0"/>
                <a:ea typeface="IBM Plex Sans KR" pitchFamily="34" charset="-122"/>
                <a:cs typeface="IBM Plex Sans KR" pitchFamily="34" charset="-120"/>
              </a:rPr>
              <a:t>예</a:t>
            </a:r>
            <a:endParaRPr lang="en-US" sz="1150" dirty="0"/>
          </a:p>
        </p:txBody>
      </p:sp>
      <p:sp>
        <p:nvSpPr>
          <p:cNvPr id="14" name="Text 12"/>
          <p:cNvSpPr/>
          <p:nvPr/>
        </p:nvSpPr>
        <p:spPr>
          <a:xfrm>
            <a:off x="804672" y="2331720"/>
            <a:ext cx="10579608" cy="3017520"/>
          </a:xfrm>
          <a:prstGeom prst="rect">
            <a:avLst/>
          </a:prstGeom>
          <a:noFill/>
          <a:ln/>
        </p:spPr>
        <p:txBody>
          <a:bodyPr wrap="square" lIns="0" tIns="0" rIns="0" bIns="0" rtlCol="0" anchor="t"/>
          <a:lstStyle/>
          <a:p>
            <a:pPr indent="0" marL="0">
              <a:lnSpc>
                <a:spcPts val="2228"/>
              </a:lnSpc>
              <a:buNone/>
            </a:pPr>
            <a:r>
              <a:rPr lang="en-US" sz="1350" b="1" dirty="0">
                <a:solidFill>
                  <a:srgbClr val="E8EAED"/>
                </a:solidFill>
                <a:latin typeface="IBM Plex Sans KR" pitchFamily="34" charset="0"/>
                <a:ea typeface="IBM Plex Sans KR" pitchFamily="34" charset="-122"/>
                <a:cs typeface="IBM Plex Sans KR" pitchFamily="34" charset="-120"/>
              </a:rPr>
              <a:t>- 서비스가 반드시 기억해야 할 기록: 뽑기 결과</a:t>
            </a:r>
            <a:endParaRPr lang="en-US" sz="1350" dirty="0"/>
          </a:p>
          <a:p>
            <a:pPr indent="0" marL="0">
              <a:lnSpc>
                <a:spcPts val="2228"/>
              </a:lnSpc>
              <a:buNone/>
            </a:pPr>
            <a:r>
              <a:rPr lang="en-US" sz="1350" b="1" dirty="0">
                <a:solidFill>
                  <a:srgbClr val="E8EAED"/>
                </a:solidFill>
                <a:latin typeface="IBM Plex Sans KR" pitchFamily="34" charset="0"/>
                <a:ea typeface="IBM Plex Sans KR" pitchFamily="34" charset="-122"/>
                <a:cs typeface="IBM Plex Sans KR" pitchFamily="34" charset="-120"/>
              </a:rPr>
              <a:t>- 이 기록이 생기는 사용자 행동: 하나 뽑기 버튼을 누를 때</a:t>
            </a:r>
            <a:endParaRPr lang="en-US" sz="1350" dirty="0"/>
          </a:p>
          <a:p>
            <a:pPr indent="0" marL="0">
              <a:lnSpc>
                <a:spcPts val="2228"/>
              </a:lnSpc>
              <a:buNone/>
            </a:pPr>
            <a:r>
              <a:rPr lang="en-US" sz="1350" b="1" dirty="0">
                <a:solidFill>
                  <a:srgbClr val="E8EAED"/>
                </a:solidFill>
                <a:latin typeface="IBM Plex Sans KR" pitchFamily="34" charset="0"/>
                <a:ea typeface="IBM Plex Sans KR" pitchFamily="34" charset="-122"/>
                <a:cs typeface="IBM Plex Sans KR" pitchFamily="34" charset="-120"/>
              </a:rPr>
              <a:t>- 사용자가 이 기록을 다시 확인하는 순간: 다음에 열어 지난번에 뽑힌 항목을 볼 때</a:t>
            </a:r>
            <a:endParaRPr lang="en-US" sz="1350" dirty="0"/>
          </a:p>
          <a:p>
            <a:pPr indent="0" marL="0">
              <a:lnSpc>
                <a:spcPts val="2228"/>
              </a:lnSpc>
              <a:buNone/>
            </a:pPr>
            <a:r>
              <a:rPr lang="en-US" sz="1350" dirty="0">
                <a:solidFill>
                  <a:srgbClr val="9BE6B8"/>
                </a:solidFill>
                <a:latin typeface="IBM Plex Sans KR" pitchFamily="34" charset="0"/>
                <a:ea typeface="IBM Plex Sans KR" pitchFamily="34" charset="-122"/>
                <a:cs typeface="IBM Plex Sans KR" pitchFamily="34" charset="-120"/>
              </a:rPr>
              <a:t>- 저장해야 할 정보: 적은 항목들, 뽑힌 항목, 뽑은 시각</a:t>
            </a:r>
            <a:endParaRPr lang="en-US" sz="1350" dirty="0"/>
          </a:p>
          <a:p>
            <a:pPr indent="0" marL="0">
              <a:lnSpc>
                <a:spcPts val="2228"/>
              </a:lnSpc>
              <a:buNone/>
            </a:pPr>
            <a:r>
              <a:rPr lang="en-US" sz="1350" dirty="0">
                <a:solidFill>
                  <a:srgbClr val="FFB089"/>
                </a:solidFill>
                <a:latin typeface="IBM Plex Sans KR" pitchFamily="34" charset="0"/>
                <a:ea typeface="IBM Plex Sans KR" pitchFamily="34" charset="-122"/>
                <a:cs typeface="IBM Plex Sans KR" pitchFamily="34" charset="-120"/>
              </a:rPr>
              <a:t>- 저장하지 않을 정보: 이름, 학번, 연락처</a:t>
            </a:r>
            <a:endParaRPr lang="en-US" sz="1350" dirty="0"/>
          </a:p>
          <a:p>
            <a:pPr indent="0" marL="0">
              <a:lnSpc>
                <a:spcPts val="2228"/>
              </a:lnSpc>
              <a:buNone/>
            </a:pPr>
            <a:r>
              <a:rPr lang="en-US" sz="1350" b="1" dirty="0">
                <a:solidFill>
                  <a:srgbClr val="E8EAED"/>
                </a:solidFill>
                <a:latin typeface="IBM Plex Sans KR" pitchFamily="34" charset="0"/>
                <a:ea typeface="IBM Plex Sans KR" pitchFamily="34" charset="-122"/>
                <a:cs typeface="IBM Plex Sans KR" pitchFamily="34" charset="-120"/>
              </a:rPr>
              <a:t>- 후보 테이블 1 · 이름: 뽑기 기록 · 기억하는 내용: 적은 항목들, 뽑힌 항목, 뽑은 시각</a:t>
            </a:r>
            <a:endParaRPr lang="en-US" sz="1350" dirty="0"/>
          </a:p>
          <a:p>
            <a:pPr indent="0" marL="0">
              <a:lnSpc>
                <a:spcPts val="2228"/>
              </a:lnSpc>
              <a:buNone/>
            </a:pPr>
            <a:r>
              <a:rPr lang="en-US" sz="1350" b="1" dirty="0">
                <a:solidFill>
                  <a:srgbClr val="E8EAED"/>
                </a:solidFill>
                <a:latin typeface="IBM Plex Sans KR" pitchFamily="34" charset="0"/>
                <a:ea typeface="IBM Plex Sans KR" pitchFamily="34" charset="-122"/>
                <a:cs typeface="IBM Plex Sans KR" pitchFamily="34" charset="-120"/>
              </a:rPr>
              <a:t>- 테이블이 여러 개라면 관계를 설명하는 쉬운 문장: 없음</a:t>
            </a:r>
            <a:endParaRPr lang="en-US" sz="1350" dirty="0"/>
          </a:p>
        </p:txBody>
      </p:sp>
      <p:sp>
        <p:nvSpPr>
          <p:cNvPr id="15" name="Text 13"/>
          <p:cNvSpPr/>
          <p:nvPr/>
        </p:nvSpPr>
        <p:spPr>
          <a:xfrm>
            <a:off x="530352" y="580644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기록이 한 종류면 표도 하나 · 쓰지 않는 칸은 지우지 않고 「없음」</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결과만 보여 주는 서비스도 남길 기록이 있다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05</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07-2 · 6쪽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06</a:t>
            </a:r>
            <a:endParaRPr lang="en-US" sz="900" dirty="0"/>
          </a:p>
        </p:txBody>
      </p:sp>
      <p:sp>
        <p:nvSpPr>
          <p:cNvPr id="10" name="Shape 8"/>
          <p:cNvSpPr/>
          <p:nvPr/>
        </p:nvSpPr>
        <p:spPr>
          <a:xfrm>
            <a:off x="530352" y="1828800"/>
            <a:ext cx="2893344" cy="402336"/>
          </a:xfrm>
          <a:prstGeom prst="rect">
            <a:avLst/>
          </a:prstGeom>
          <a:solidFill>
            <a:srgbClr val="1B1D21"/>
          </a:solidFill>
          <a:ln/>
        </p:spPr>
      </p:sp>
      <p:sp>
        <p:nvSpPr>
          <p:cNvPr id="11" name="Text 9"/>
          <p:cNvSpPr/>
          <p:nvPr/>
        </p:nvSpPr>
        <p:spPr>
          <a:xfrm>
            <a:off x="658368" y="1828800"/>
            <a:ext cx="263731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서비스 종류</a:t>
            </a:r>
            <a:endParaRPr lang="en-US" sz="1050" dirty="0"/>
          </a:p>
        </p:txBody>
      </p:sp>
      <p:sp>
        <p:nvSpPr>
          <p:cNvPr id="12" name="Shape 10"/>
          <p:cNvSpPr/>
          <p:nvPr/>
        </p:nvSpPr>
        <p:spPr>
          <a:xfrm>
            <a:off x="3423696" y="1828800"/>
            <a:ext cx="4228734" cy="402336"/>
          </a:xfrm>
          <a:prstGeom prst="rect">
            <a:avLst/>
          </a:prstGeom>
          <a:solidFill>
            <a:srgbClr val="1B1D21"/>
          </a:solidFill>
          <a:ln/>
        </p:spPr>
      </p:sp>
      <p:sp>
        <p:nvSpPr>
          <p:cNvPr id="13" name="Text 11"/>
          <p:cNvSpPr/>
          <p:nvPr/>
        </p:nvSpPr>
        <p:spPr>
          <a:xfrm>
            <a:off x="3551712" y="1828800"/>
            <a:ext cx="397270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남길 수 있는 기록</a:t>
            </a:r>
            <a:endParaRPr lang="en-US" sz="1050" dirty="0"/>
          </a:p>
        </p:txBody>
      </p:sp>
      <p:sp>
        <p:nvSpPr>
          <p:cNvPr id="14" name="Shape 12"/>
          <p:cNvSpPr/>
          <p:nvPr/>
        </p:nvSpPr>
        <p:spPr>
          <a:xfrm>
            <a:off x="7652431" y="1828800"/>
            <a:ext cx="4006169" cy="402336"/>
          </a:xfrm>
          <a:prstGeom prst="rect">
            <a:avLst/>
          </a:prstGeom>
          <a:solidFill>
            <a:srgbClr val="1B1D21"/>
          </a:solidFill>
          <a:ln/>
        </p:spPr>
      </p:sp>
      <p:sp>
        <p:nvSpPr>
          <p:cNvPr id="15" name="Text 13"/>
          <p:cNvSpPr/>
          <p:nvPr/>
        </p:nvSpPr>
        <p:spPr>
          <a:xfrm>
            <a:off x="7780447" y="1828800"/>
            <a:ext cx="375013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다시 확인하는 순간</a:t>
            </a:r>
            <a:endParaRPr lang="en-US" sz="1050" dirty="0"/>
          </a:p>
        </p:txBody>
      </p:sp>
      <p:sp>
        <p:nvSpPr>
          <p:cNvPr id="16" name="Shape 14"/>
          <p:cNvSpPr/>
          <p:nvPr/>
        </p:nvSpPr>
        <p:spPr>
          <a:xfrm>
            <a:off x="530352" y="2231136"/>
            <a:ext cx="11128248" cy="457200"/>
          </a:xfrm>
          <a:prstGeom prst="rect">
            <a:avLst/>
          </a:prstGeom>
          <a:solidFill>
            <a:srgbClr val="F1F2F4"/>
          </a:solidFill>
          <a:ln w="9525">
            <a:solidFill>
              <a:srgbClr val="E0E3E7"/>
            </a:solidFill>
            <a:prstDash val="solid"/>
          </a:ln>
        </p:spPr>
      </p:sp>
      <p:sp>
        <p:nvSpPr>
          <p:cNvPr id="17" name="Text 15"/>
          <p:cNvSpPr/>
          <p:nvPr/>
        </p:nvSpPr>
        <p:spPr>
          <a:xfrm>
            <a:off x="658368" y="2231136"/>
            <a:ext cx="2637312" cy="45720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계산·변환 도구</a:t>
            </a:r>
            <a:endParaRPr lang="en-US" sz="1350" dirty="0"/>
          </a:p>
        </p:txBody>
      </p:sp>
      <p:sp>
        <p:nvSpPr>
          <p:cNvPr id="18" name="Text 16"/>
          <p:cNvSpPr/>
          <p:nvPr/>
        </p:nvSpPr>
        <p:spPr>
          <a:xfrm>
            <a:off x="3551712" y="2231136"/>
            <a:ext cx="3972702"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사용한 값과 결과</a:t>
            </a:r>
            <a:endParaRPr lang="en-US" sz="1350" dirty="0"/>
          </a:p>
        </p:txBody>
      </p:sp>
      <p:sp>
        <p:nvSpPr>
          <p:cNvPr id="19" name="Text 17"/>
          <p:cNvSpPr/>
          <p:nvPr/>
        </p:nvSpPr>
        <p:spPr>
          <a:xfrm>
            <a:off x="7780447" y="2231136"/>
            <a:ext cx="3750137"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최근 계산 기록을 볼 때</a:t>
            </a:r>
            <a:endParaRPr lang="en-US" sz="1350" dirty="0"/>
          </a:p>
        </p:txBody>
      </p:sp>
      <p:sp>
        <p:nvSpPr>
          <p:cNvPr id="20" name="Shape 18"/>
          <p:cNvSpPr/>
          <p:nvPr/>
        </p:nvSpPr>
        <p:spPr>
          <a:xfrm>
            <a:off x="530352" y="2688336"/>
            <a:ext cx="11128248" cy="457200"/>
          </a:xfrm>
          <a:prstGeom prst="rect">
            <a:avLst/>
          </a:prstGeom>
          <a:solidFill>
            <a:srgbClr val="FFFFFF"/>
          </a:solidFill>
          <a:ln w="9525">
            <a:solidFill>
              <a:srgbClr val="E0E3E7"/>
            </a:solidFill>
            <a:prstDash val="solid"/>
          </a:ln>
        </p:spPr>
      </p:sp>
      <p:sp>
        <p:nvSpPr>
          <p:cNvPr id="21" name="Text 19"/>
          <p:cNvSpPr/>
          <p:nvPr/>
        </p:nvSpPr>
        <p:spPr>
          <a:xfrm>
            <a:off x="658368" y="2688336"/>
            <a:ext cx="2637312" cy="45720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추천 도구</a:t>
            </a:r>
            <a:endParaRPr lang="en-US" sz="1350" dirty="0"/>
          </a:p>
        </p:txBody>
      </p:sp>
      <p:sp>
        <p:nvSpPr>
          <p:cNvPr id="22" name="Text 20"/>
          <p:cNvSpPr/>
          <p:nvPr/>
        </p:nvSpPr>
        <p:spPr>
          <a:xfrm>
            <a:off x="3551712" y="2688336"/>
            <a:ext cx="3972702"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고른 조건과 추천 결과</a:t>
            </a:r>
            <a:endParaRPr lang="en-US" sz="1350" dirty="0"/>
          </a:p>
        </p:txBody>
      </p:sp>
      <p:sp>
        <p:nvSpPr>
          <p:cNvPr id="23" name="Text 21"/>
          <p:cNvSpPr/>
          <p:nvPr/>
        </p:nvSpPr>
        <p:spPr>
          <a:xfrm>
            <a:off x="7780447" y="2688336"/>
            <a:ext cx="3750137"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이전 추천을 다시 볼 때</a:t>
            </a:r>
            <a:endParaRPr lang="en-US" sz="1350" dirty="0"/>
          </a:p>
        </p:txBody>
      </p:sp>
      <p:sp>
        <p:nvSpPr>
          <p:cNvPr id="24" name="Shape 22"/>
          <p:cNvSpPr/>
          <p:nvPr/>
        </p:nvSpPr>
        <p:spPr>
          <a:xfrm>
            <a:off x="530352" y="3145536"/>
            <a:ext cx="11128248" cy="457200"/>
          </a:xfrm>
          <a:prstGeom prst="rect">
            <a:avLst/>
          </a:prstGeom>
          <a:solidFill>
            <a:srgbClr val="F1F2F4"/>
          </a:solidFill>
          <a:ln w="9525">
            <a:solidFill>
              <a:srgbClr val="E0E3E7"/>
            </a:solidFill>
            <a:prstDash val="solid"/>
          </a:ln>
        </p:spPr>
      </p:sp>
      <p:sp>
        <p:nvSpPr>
          <p:cNvPr id="25" name="Text 23"/>
          <p:cNvSpPr/>
          <p:nvPr/>
        </p:nvSpPr>
        <p:spPr>
          <a:xfrm>
            <a:off x="658368" y="3145536"/>
            <a:ext cx="2637312" cy="45720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문제·퀴즈</a:t>
            </a:r>
            <a:endParaRPr lang="en-US" sz="1350" dirty="0"/>
          </a:p>
        </p:txBody>
      </p:sp>
      <p:sp>
        <p:nvSpPr>
          <p:cNvPr id="26" name="Text 24"/>
          <p:cNvSpPr/>
          <p:nvPr/>
        </p:nvSpPr>
        <p:spPr>
          <a:xfrm>
            <a:off x="3551712" y="3145536"/>
            <a:ext cx="3972702"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문제, 내 답, 맞았는지</a:t>
            </a:r>
            <a:endParaRPr lang="en-US" sz="1350" dirty="0"/>
          </a:p>
        </p:txBody>
      </p:sp>
      <p:sp>
        <p:nvSpPr>
          <p:cNvPr id="27" name="Text 25"/>
          <p:cNvSpPr/>
          <p:nvPr/>
        </p:nvSpPr>
        <p:spPr>
          <a:xfrm>
            <a:off x="7780447" y="3145536"/>
            <a:ext cx="3750137"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풀이 기록을 확인할 때</a:t>
            </a:r>
            <a:endParaRPr lang="en-US" sz="1350" dirty="0"/>
          </a:p>
        </p:txBody>
      </p:sp>
      <p:sp>
        <p:nvSpPr>
          <p:cNvPr id="28" name="Shape 26"/>
          <p:cNvSpPr/>
          <p:nvPr/>
        </p:nvSpPr>
        <p:spPr>
          <a:xfrm>
            <a:off x="530352" y="3602736"/>
            <a:ext cx="11128248" cy="457200"/>
          </a:xfrm>
          <a:prstGeom prst="rect">
            <a:avLst/>
          </a:prstGeom>
          <a:solidFill>
            <a:srgbClr val="FFFFFF"/>
          </a:solidFill>
          <a:ln w="9525">
            <a:solidFill>
              <a:srgbClr val="E0E3E7"/>
            </a:solidFill>
            <a:prstDash val="solid"/>
          </a:ln>
        </p:spPr>
      </p:sp>
      <p:sp>
        <p:nvSpPr>
          <p:cNvPr id="29" name="Text 27"/>
          <p:cNvSpPr/>
          <p:nvPr/>
        </p:nvSpPr>
        <p:spPr>
          <a:xfrm>
            <a:off x="658368" y="3602736"/>
            <a:ext cx="2637312" cy="45720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만들어 주는 도구</a:t>
            </a:r>
            <a:endParaRPr lang="en-US" sz="1350" dirty="0"/>
          </a:p>
        </p:txBody>
      </p:sp>
      <p:sp>
        <p:nvSpPr>
          <p:cNvPr id="30" name="Text 28"/>
          <p:cNvSpPr/>
          <p:nvPr/>
        </p:nvSpPr>
        <p:spPr>
          <a:xfrm>
            <a:off x="3551712" y="3602736"/>
            <a:ext cx="3972702"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넣은 조건과 만들어진 결과</a:t>
            </a:r>
            <a:endParaRPr lang="en-US" sz="1350" dirty="0"/>
          </a:p>
        </p:txBody>
      </p:sp>
      <p:sp>
        <p:nvSpPr>
          <p:cNvPr id="31" name="Text 29"/>
          <p:cNvSpPr/>
          <p:nvPr/>
        </p:nvSpPr>
        <p:spPr>
          <a:xfrm>
            <a:off x="7780447" y="3602736"/>
            <a:ext cx="3750137"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지난 결과를 다시 쓸 때</a:t>
            </a:r>
            <a:endParaRPr lang="en-US" sz="1350" dirty="0"/>
          </a:p>
        </p:txBody>
      </p:sp>
      <p:sp>
        <p:nvSpPr>
          <p:cNvPr id="32" name="Shape 30"/>
          <p:cNvSpPr/>
          <p:nvPr/>
        </p:nvSpPr>
        <p:spPr>
          <a:xfrm>
            <a:off x="530352" y="4059936"/>
            <a:ext cx="11128248" cy="457200"/>
          </a:xfrm>
          <a:prstGeom prst="rect">
            <a:avLst/>
          </a:prstGeom>
          <a:solidFill>
            <a:srgbClr val="F1F2F4"/>
          </a:solidFill>
          <a:ln w="9525">
            <a:solidFill>
              <a:srgbClr val="E0E3E7"/>
            </a:solidFill>
            <a:prstDash val="solid"/>
          </a:ln>
        </p:spPr>
      </p:sp>
      <p:sp>
        <p:nvSpPr>
          <p:cNvPr id="33" name="Text 31"/>
          <p:cNvSpPr/>
          <p:nvPr/>
        </p:nvSpPr>
        <p:spPr>
          <a:xfrm>
            <a:off x="658368" y="4059936"/>
            <a:ext cx="2637312" cy="45720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정보 안내</a:t>
            </a:r>
            <a:endParaRPr lang="en-US" sz="1350" dirty="0"/>
          </a:p>
        </p:txBody>
      </p:sp>
      <p:sp>
        <p:nvSpPr>
          <p:cNvPr id="34" name="Text 32"/>
          <p:cNvSpPr/>
          <p:nvPr/>
        </p:nvSpPr>
        <p:spPr>
          <a:xfrm>
            <a:off x="3551712" y="4059936"/>
            <a:ext cx="3972702"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내가 표시한 항목</a:t>
            </a:r>
            <a:endParaRPr lang="en-US" sz="1350" dirty="0"/>
          </a:p>
        </p:txBody>
      </p:sp>
      <p:sp>
        <p:nvSpPr>
          <p:cNvPr id="35" name="Text 33"/>
          <p:cNvSpPr/>
          <p:nvPr/>
        </p:nvSpPr>
        <p:spPr>
          <a:xfrm>
            <a:off x="7780447" y="4059936"/>
            <a:ext cx="3750137"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즐겨찾기를 볼 때</a:t>
            </a:r>
            <a:endParaRPr lang="en-US" sz="1350" dirty="0"/>
          </a:p>
        </p:txBody>
      </p:sp>
      <p:sp>
        <p:nvSpPr>
          <p:cNvPr id="36" name="Shape 34"/>
          <p:cNvSpPr/>
          <p:nvPr/>
        </p:nvSpPr>
        <p:spPr>
          <a:xfrm>
            <a:off x="530352" y="4709160"/>
            <a:ext cx="11128248" cy="512064"/>
          </a:xfrm>
          <a:prstGeom prst="roundRect">
            <a:avLst>
              <a:gd name="adj" fmla="val 39286"/>
            </a:avLst>
          </a:prstGeom>
          <a:solidFill>
            <a:srgbClr val="FF5C00"/>
          </a:solidFill>
          <a:ln w="12700">
            <a:solidFill>
              <a:srgbClr val="FF5C00"/>
            </a:solidFill>
            <a:prstDash val="solid"/>
          </a:ln>
        </p:spPr>
      </p:sp>
      <p:sp>
        <p:nvSpPr>
          <p:cNvPr id="37" name="Text 35"/>
          <p:cNvSpPr/>
          <p:nvPr/>
        </p:nvSpPr>
        <p:spPr>
          <a:xfrm>
            <a:off x="731520" y="4709160"/>
            <a:ext cx="10725912" cy="512064"/>
          </a:xfrm>
          <a:prstGeom prst="rect">
            <a:avLst/>
          </a:prstGeom>
          <a:noFill/>
          <a:ln/>
        </p:spPr>
        <p:txBody>
          <a:bodyPr wrap="square" lIns="0" tIns="0" rIns="0" bIns="0" rtlCol="0" anchor="ctr"/>
          <a:lstStyle/>
          <a:p>
            <a:pPr algn="ctr" indent="0" marL="0">
              <a:buNone/>
            </a:pPr>
            <a:r>
              <a:rPr lang="en-US" sz="1450" b="1" dirty="0">
                <a:solidFill>
                  <a:srgbClr val="FFFFFF"/>
                </a:solidFill>
                <a:latin typeface="IBM Plex Sans KR" pitchFamily="34" charset="0"/>
                <a:ea typeface="IBM Plex Sans KR" pitchFamily="34" charset="-122"/>
                <a:cs typeface="IBM Plex Sans KR" pitchFamily="34" charset="-120"/>
              </a:rPr>
              <a:t>기록을 만들려고 로그인·회원 정보를 넣지 않는다 · 누가가 아니라 무엇을 했는지</a:t>
            </a:r>
            <a:endParaRPr lang="en-US" sz="1450" dirty="0"/>
          </a:p>
        </p:txBody>
      </p:sp>
      <p:sp>
        <p:nvSpPr>
          <p:cNvPr id="38" name="Text 36"/>
          <p:cNvSpPr/>
          <p:nvPr/>
        </p:nvSpPr>
        <p:spPr>
          <a:xfrm>
            <a:off x="530352" y="557784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내 서비스와 비슷한 줄을 찾는다</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AI가 5항에 옮기고, 내가 읽고 고친다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06</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07-2 · 7쪽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07</a:t>
            </a:r>
            <a:endParaRPr lang="en-US" sz="900" dirty="0"/>
          </a:p>
        </p:txBody>
      </p:sp>
      <p:sp>
        <p:nvSpPr>
          <p:cNvPr id="10" name="Shape 8"/>
          <p:cNvSpPr/>
          <p:nvPr/>
        </p:nvSpPr>
        <p:spPr>
          <a:xfrm>
            <a:off x="530352" y="1828800"/>
            <a:ext cx="11128248" cy="1783080"/>
          </a:xfrm>
          <a:prstGeom prst="roundRect">
            <a:avLst>
              <a:gd name="adj" fmla="val 2564"/>
            </a:avLst>
          </a:prstGeom>
          <a:solidFill>
            <a:srgbClr val="24272C"/>
          </a:solidFill>
          <a:ln/>
        </p:spPr>
      </p:sp>
      <p:sp>
        <p:nvSpPr>
          <p:cNvPr id="11" name="Text 9"/>
          <p:cNvSpPr/>
          <p:nvPr/>
        </p:nvSpPr>
        <p:spPr>
          <a:xfrm>
            <a:off x="768096" y="195681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OpenCode에 보낼 요청문 (교과서 7쪽에서 복사)</a:t>
            </a:r>
            <a:endParaRPr lang="en-US" sz="950" dirty="0"/>
          </a:p>
        </p:txBody>
      </p:sp>
      <p:sp>
        <p:nvSpPr>
          <p:cNvPr id="12" name="Text 10"/>
          <p:cNvSpPr/>
          <p:nvPr/>
        </p:nvSpPr>
        <p:spPr>
          <a:xfrm>
            <a:off x="768096" y="2231136"/>
            <a:ext cx="10652760" cy="1234440"/>
          </a:xfrm>
          <a:prstGeom prst="rect">
            <a:avLst/>
          </a:prstGeom>
          <a:noFill/>
          <a:ln/>
        </p:spPr>
        <p:txBody>
          <a:bodyPr wrap="square" lIns="0" tIns="0" rIns="0" bIns="0" rtlCol="0" anchor="t"/>
          <a:lstStyle/>
          <a:p>
            <a:pPr indent="0" marL="0">
              <a:lnSpc>
                <a:spcPts val="2295"/>
              </a:lnSpc>
              <a:buNone/>
            </a:pPr>
            <a:r>
              <a:rPr lang="en-US" sz="1350" dirty="0">
                <a:solidFill>
                  <a:srgbClr val="9BE6B8"/>
                </a:solidFill>
                <a:latin typeface="IBM Plex Mono" pitchFamily="34" charset="0"/>
                <a:ea typeface="IBM Plex Mono" pitchFamily="34" charset="-122"/>
                <a:cs typeface="IBM Plex Mono" pitchFamily="34" charset="-120"/>
              </a:rPr>
              <a:t>데이터_예시.md와 PRD.md를 읽고, PRD.md의 5. 데이터를 채워 줘.</a:t>
            </a:r>
            <a:endParaRPr lang="en-US" sz="1350" dirty="0"/>
          </a:p>
          <a:p>
            <a:pPr indent="0" marL="0">
              <a:lnSpc>
                <a:spcPts val="2295"/>
              </a:lnSpc>
              <a:buNone/>
            </a:pPr>
            <a:r>
              <a:rPr lang="en-US" sz="1350" b="1" dirty="0">
                <a:solidFill>
                  <a:srgbClr val="E8EAED"/>
                </a:solidFill>
                <a:latin typeface="IBM Plex Mono" pitchFamily="34" charset="0"/>
                <a:ea typeface="IBM Plex Mono" pitchFamily="34" charset="-122"/>
                <a:cs typeface="IBM Plex Mono" pitchFamily="34" charset="-120"/>
              </a:rPr>
              <a:t>모르는 내용은 지어내지 말고 「(확인 필요)」라고 적어 줘.</a:t>
            </a:r>
            <a:endParaRPr lang="en-US" sz="1350" dirty="0"/>
          </a:p>
          <a:p>
            <a:pPr indent="0" marL="0">
              <a:lnSpc>
                <a:spcPts val="2295"/>
              </a:lnSpc>
              <a:buNone/>
            </a:pPr>
            <a:r>
              <a:rPr lang="en-US" sz="1350" dirty="0">
                <a:solidFill>
                  <a:srgbClr val="FFB089"/>
                </a:solidFill>
                <a:latin typeface="IBM Plex Mono" pitchFamily="34" charset="0"/>
                <a:ea typeface="IBM Plex Mono" pitchFamily="34" charset="-122"/>
                <a:cs typeface="IBM Plex Mono" pitchFamily="34" charset="-120"/>
              </a:rPr>
              <a:t>PRD.md 파일에 직접 저장하고, 무엇을 적었는지 세 줄로 알려 줘.</a:t>
            </a:r>
            <a:endParaRPr lang="en-US" sz="1350" dirty="0"/>
          </a:p>
        </p:txBody>
      </p:sp>
      <p:sp>
        <p:nvSpPr>
          <p:cNvPr id="13" name="Shape 11"/>
          <p:cNvSpPr/>
          <p:nvPr/>
        </p:nvSpPr>
        <p:spPr>
          <a:xfrm>
            <a:off x="530352" y="3840480"/>
            <a:ext cx="2893344" cy="402336"/>
          </a:xfrm>
          <a:prstGeom prst="rect">
            <a:avLst/>
          </a:prstGeom>
          <a:solidFill>
            <a:srgbClr val="1B1D21"/>
          </a:solidFill>
          <a:ln/>
        </p:spPr>
      </p:sp>
      <p:sp>
        <p:nvSpPr>
          <p:cNvPr id="14" name="Text 12"/>
          <p:cNvSpPr/>
          <p:nvPr/>
        </p:nvSpPr>
        <p:spPr>
          <a:xfrm>
            <a:off x="658368" y="3840480"/>
            <a:ext cx="263731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옮긴 뒤 내가 확인할 것</a:t>
            </a:r>
            <a:endParaRPr lang="en-US" sz="1050" dirty="0"/>
          </a:p>
        </p:txBody>
      </p:sp>
      <p:sp>
        <p:nvSpPr>
          <p:cNvPr id="15" name="Shape 13"/>
          <p:cNvSpPr/>
          <p:nvPr/>
        </p:nvSpPr>
        <p:spPr>
          <a:xfrm>
            <a:off x="3423696" y="3840480"/>
            <a:ext cx="8234904" cy="402336"/>
          </a:xfrm>
          <a:prstGeom prst="rect">
            <a:avLst/>
          </a:prstGeom>
          <a:solidFill>
            <a:srgbClr val="1B1D21"/>
          </a:solidFill>
          <a:ln/>
        </p:spPr>
      </p:sp>
      <p:sp>
        <p:nvSpPr>
          <p:cNvPr id="16" name="Text 14"/>
          <p:cNvSpPr/>
          <p:nvPr/>
        </p:nvSpPr>
        <p:spPr>
          <a:xfrm>
            <a:off x="3551712" y="3840480"/>
            <a:ext cx="797887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이렇게 고친다</a:t>
            </a:r>
            <a:endParaRPr lang="en-US" sz="1050" dirty="0"/>
          </a:p>
        </p:txBody>
      </p:sp>
      <p:sp>
        <p:nvSpPr>
          <p:cNvPr id="17" name="Shape 15"/>
          <p:cNvSpPr/>
          <p:nvPr/>
        </p:nvSpPr>
        <p:spPr>
          <a:xfrm>
            <a:off x="530352" y="4242816"/>
            <a:ext cx="11128248" cy="384048"/>
          </a:xfrm>
          <a:prstGeom prst="rect">
            <a:avLst/>
          </a:prstGeom>
          <a:solidFill>
            <a:srgbClr val="F1F2F4"/>
          </a:solidFill>
          <a:ln w="9525">
            <a:solidFill>
              <a:srgbClr val="E0E3E7"/>
            </a:solidFill>
            <a:prstDash val="solid"/>
          </a:ln>
        </p:spPr>
      </p:sp>
      <p:sp>
        <p:nvSpPr>
          <p:cNvPr id="18" name="Text 16"/>
          <p:cNvSpPr/>
          <p:nvPr/>
        </p:nvSpPr>
        <p:spPr>
          <a:xfrm>
            <a:off x="658368" y="4242816"/>
            <a:ext cx="2637312" cy="384048"/>
          </a:xfrm>
          <a:prstGeom prst="rect">
            <a:avLst/>
          </a:prstGeom>
          <a:noFill/>
          <a:ln/>
        </p:spPr>
        <p:txBody>
          <a:bodyPr wrap="square" lIns="0" tIns="0" rIns="0" bIns="0" rtlCol="0" anchor="ctr"/>
          <a:lstStyle/>
          <a:p>
            <a:pPr indent="0" marL="0">
              <a:buNone/>
            </a:pPr>
            <a:r>
              <a:rPr lang="en-US" sz="1280" b="1" dirty="0">
                <a:solidFill>
                  <a:srgbClr val="1B1D21"/>
                </a:solidFill>
                <a:latin typeface="IBM Plex Sans KR" pitchFamily="34" charset="0"/>
                <a:ea typeface="IBM Plex Sans KR" pitchFamily="34" charset="-122"/>
                <a:cs typeface="IBM Plex Sans KR" pitchFamily="34" charset="-120"/>
              </a:rPr>
              <a:t>기록</a:t>
            </a:r>
            <a:endParaRPr lang="en-US" sz="1280" dirty="0"/>
          </a:p>
        </p:txBody>
      </p:sp>
      <p:sp>
        <p:nvSpPr>
          <p:cNvPr id="19" name="Text 17"/>
          <p:cNvSpPr/>
          <p:nvPr/>
        </p:nvSpPr>
        <p:spPr>
          <a:xfrm>
            <a:off x="3551712" y="4242816"/>
            <a:ext cx="7978872" cy="384048"/>
          </a:xfrm>
          <a:prstGeom prst="rect">
            <a:avLst/>
          </a:prstGeom>
          <a:noFill/>
          <a:ln/>
        </p:spPr>
        <p:txBody>
          <a:bodyPr wrap="square" lIns="0" tIns="0" rIns="0" bIns="0" rtlCol="0" anchor="ctr"/>
          <a:lstStyle/>
          <a:p>
            <a:pPr indent="0" marL="0">
              <a:buNone/>
            </a:pPr>
            <a:r>
              <a:rPr lang="en-US" sz="1280" dirty="0">
                <a:solidFill>
                  <a:srgbClr val="6C7078"/>
                </a:solidFill>
                <a:latin typeface="IBM Plex Sans KR" pitchFamily="34" charset="0"/>
                <a:ea typeface="IBM Plex Sans KR" pitchFamily="34" charset="-122"/>
                <a:cs typeface="IBM Plex Sans KR" pitchFamily="34" charset="-120"/>
              </a:rPr>
              <a:t>핵심 기능을 쓰면 저절로 생기는 기록인가</a:t>
            </a:r>
            <a:endParaRPr lang="en-US" sz="1280" dirty="0"/>
          </a:p>
        </p:txBody>
      </p:sp>
      <p:sp>
        <p:nvSpPr>
          <p:cNvPr id="20" name="Shape 18"/>
          <p:cNvSpPr/>
          <p:nvPr/>
        </p:nvSpPr>
        <p:spPr>
          <a:xfrm>
            <a:off x="530352" y="4626864"/>
            <a:ext cx="11128248" cy="384048"/>
          </a:xfrm>
          <a:prstGeom prst="rect">
            <a:avLst/>
          </a:prstGeom>
          <a:solidFill>
            <a:srgbClr val="FFFFFF"/>
          </a:solidFill>
          <a:ln w="9525">
            <a:solidFill>
              <a:srgbClr val="E0E3E7"/>
            </a:solidFill>
            <a:prstDash val="solid"/>
          </a:ln>
        </p:spPr>
      </p:sp>
      <p:sp>
        <p:nvSpPr>
          <p:cNvPr id="21" name="Text 19"/>
          <p:cNvSpPr/>
          <p:nvPr/>
        </p:nvSpPr>
        <p:spPr>
          <a:xfrm>
            <a:off x="658368" y="4626864"/>
            <a:ext cx="2637312" cy="384048"/>
          </a:xfrm>
          <a:prstGeom prst="rect">
            <a:avLst/>
          </a:prstGeom>
          <a:noFill/>
          <a:ln/>
        </p:spPr>
        <p:txBody>
          <a:bodyPr wrap="square" lIns="0" tIns="0" rIns="0" bIns="0" rtlCol="0" anchor="ctr"/>
          <a:lstStyle/>
          <a:p>
            <a:pPr indent="0" marL="0">
              <a:buNone/>
            </a:pPr>
            <a:r>
              <a:rPr lang="en-US" sz="1280" b="1" dirty="0">
                <a:solidFill>
                  <a:srgbClr val="1B1D21"/>
                </a:solidFill>
                <a:latin typeface="IBM Plex Sans KR" pitchFamily="34" charset="0"/>
                <a:ea typeface="IBM Plex Sans KR" pitchFamily="34" charset="-122"/>
                <a:cs typeface="IBM Plex Sans KR" pitchFamily="34" charset="-120"/>
              </a:rPr>
              <a:t>기억하는 내용</a:t>
            </a:r>
            <a:endParaRPr lang="en-US" sz="1280" dirty="0"/>
          </a:p>
        </p:txBody>
      </p:sp>
      <p:sp>
        <p:nvSpPr>
          <p:cNvPr id="22" name="Text 20"/>
          <p:cNvSpPr/>
          <p:nvPr/>
        </p:nvSpPr>
        <p:spPr>
          <a:xfrm>
            <a:off x="3551712" y="4626864"/>
            <a:ext cx="7978872" cy="384048"/>
          </a:xfrm>
          <a:prstGeom prst="rect">
            <a:avLst/>
          </a:prstGeom>
          <a:noFill/>
          <a:ln/>
        </p:spPr>
        <p:txBody>
          <a:bodyPr wrap="square" lIns="0" tIns="0" rIns="0" bIns="0" rtlCol="0" anchor="ctr"/>
          <a:lstStyle/>
          <a:p>
            <a:pPr indent="0" marL="0">
              <a:buNone/>
            </a:pPr>
            <a:r>
              <a:rPr lang="en-US" sz="1280" dirty="0">
                <a:solidFill>
                  <a:srgbClr val="6C7078"/>
                </a:solidFill>
                <a:latin typeface="IBM Plex Sans KR" pitchFamily="34" charset="0"/>
                <a:ea typeface="IBM Plex Sans KR" pitchFamily="34" charset="-122"/>
                <a:cs typeface="IBM Plex Sans KR" pitchFamily="34" charset="-120"/>
              </a:rPr>
              <a:t>id·book_id 같은 열 이름 대신 사람의 말로</a:t>
            </a:r>
            <a:endParaRPr lang="en-US" sz="1280" dirty="0"/>
          </a:p>
        </p:txBody>
      </p:sp>
      <p:sp>
        <p:nvSpPr>
          <p:cNvPr id="23" name="Shape 21"/>
          <p:cNvSpPr/>
          <p:nvPr/>
        </p:nvSpPr>
        <p:spPr>
          <a:xfrm>
            <a:off x="530352" y="5010912"/>
            <a:ext cx="11128248" cy="384048"/>
          </a:xfrm>
          <a:prstGeom prst="rect">
            <a:avLst/>
          </a:prstGeom>
          <a:solidFill>
            <a:srgbClr val="F1F2F4"/>
          </a:solidFill>
          <a:ln w="9525">
            <a:solidFill>
              <a:srgbClr val="E0E3E7"/>
            </a:solidFill>
            <a:prstDash val="solid"/>
          </a:ln>
        </p:spPr>
      </p:sp>
      <p:sp>
        <p:nvSpPr>
          <p:cNvPr id="24" name="Text 22"/>
          <p:cNvSpPr/>
          <p:nvPr/>
        </p:nvSpPr>
        <p:spPr>
          <a:xfrm>
            <a:off x="658368" y="5010912"/>
            <a:ext cx="2637312" cy="384048"/>
          </a:xfrm>
          <a:prstGeom prst="rect">
            <a:avLst/>
          </a:prstGeom>
          <a:noFill/>
          <a:ln/>
        </p:spPr>
        <p:txBody>
          <a:bodyPr wrap="square" lIns="0" tIns="0" rIns="0" bIns="0" rtlCol="0" anchor="ctr"/>
          <a:lstStyle/>
          <a:p>
            <a:pPr indent="0" marL="0">
              <a:buNone/>
            </a:pPr>
            <a:r>
              <a:rPr lang="en-US" sz="1280" b="1" dirty="0">
                <a:solidFill>
                  <a:srgbClr val="1B1D21"/>
                </a:solidFill>
                <a:latin typeface="IBM Plex Sans KR" pitchFamily="34" charset="0"/>
                <a:ea typeface="IBM Plex Sans KR" pitchFamily="34" charset="-122"/>
                <a:cs typeface="IBM Plex Sans KR" pitchFamily="34" charset="-120"/>
              </a:rPr>
              <a:t>저장하지 않을 정보</a:t>
            </a:r>
            <a:endParaRPr lang="en-US" sz="1280" dirty="0"/>
          </a:p>
        </p:txBody>
      </p:sp>
      <p:sp>
        <p:nvSpPr>
          <p:cNvPr id="25" name="Text 23"/>
          <p:cNvSpPr/>
          <p:nvPr/>
        </p:nvSpPr>
        <p:spPr>
          <a:xfrm>
            <a:off x="3551712" y="5010912"/>
            <a:ext cx="7978872" cy="384048"/>
          </a:xfrm>
          <a:prstGeom prst="rect">
            <a:avLst/>
          </a:prstGeom>
          <a:noFill/>
          <a:ln/>
        </p:spPr>
        <p:txBody>
          <a:bodyPr wrap="square" lIns="0" tIns="0" rIns="0" bIns="0" rtlCol="0" anchor="ctr"/>
          <a:lstStyle/>
          <a:p>
            <a:pPr indent="0" marL="0">
              <a:buNone/>
            </a:pPr>
            <a:r>
              <a:rPr lang="en-US" sz="1280" dirty="0">
                <a:solidFill>
                  <a:srgbClr val="6C7078"/>
                </a:solidFill>
                <a:latin typeface="IBM Plex Sans KR" pitchFamily="34" charset="0"/>
                <a:ea typeface="IBM Plex Sans KR" pitchFamily="34" charset="-122"/>
                <a:cs typeface="IBM Plex Sans KR" pitchFamily="34" charset="-120"/>
              </a:rPr>
              <a:t>이름·연락처가 저장할 쪽에 있으면 옮긴다</a:t>
            </a:r>
            <a:endParaRPr lang="en-US" sz="1280" dirty="0"/>
          </a:p>
        </p:txBody>
      </p:sp>
      <p:sp>
        <p:nvSpPr>
          <p:cNvPr id="26" name="Shape 24"/>
          <p:cNvSpPr/>
          <p:nvPr/>
        </p:nvSpPr>
        <p:spPr>
          <a:xfrm>
            <a:off x="530352" y="5394960"/>
            <a:ext cx="11128248" cy="384048"/>
          </a:xfrm>
          <a:prstGeom prst="rect">
            <a:avLst/>
          </a:prstGeom>
          <a:solidFill>
            <a:srgbClr val="FFFFFF"/>
          </a:solidFill>
          <a:ln w="9525">
            <a:solidFill>
              <a:srgbClr val="E0E3E7"/>
            </a:solidFill>
            <a:prstDash val="solid"/>
          </a:ln>
        </p:spPr>
      </p:sp>
      <p:sp>
        <p:nvSpPr>
          <p:cNvPr id="27" name="Text 25"/>
          <p:cNvSpPr/>
          <p:nvPr/>
        </p:nvSpPr>
        <p:spPr>
          <a:xfrm>
            <a:off x="658368" y="5394960"/>
            <a:ext cx="2637312" cy="384048"/>
          </a:xfrm>
          <a:prstGeom prst="rect">
            <a:avLst/>
          </a:prstGeom>
          <a:noFill/>
          <a:ln/>
        </p:spPr>
        <p:txBody>
          <a:bodyPr wrap="square" lIns="0" tIns="0" rIns="0" bIns="0" rtlCol="0" anchor="ctr"/>
          <a:lstStyle/>
          <a:p>
            <a:pPr indent="0" marL="0">
              <a:buNone/>
            </a:pPr>
            <a:r>
              <a:rPr lang="en-US" sz="1280" b="1" dirty="0">
                <a:solidFill>
                  <a:srgbClr val="1B1D21"/>
                </a:solidFill>
                <a:latin typeface="IBM Plex Sans KR" pitchFamily="34" charset="0"/>
                <a:ea typeface="IBM Plex Sans KR" pitchFamily="34" charset="-122"/>
                <a:cs typeface="IBM Plex Sans KR" pitchFamily="34" charset="-120"/>
              </a:rPr>
              <a:t>후보 테이블 · 「(확인 필요)」</a:t>
            </a:r>
            <a:endParaRPr lang="en-US" sz="1280" dirty="0"/>
          </a:p>
        </p:txBody>
      </p:sp>
      <p:sp>
        <p:nvSpPr>
          <p:cNvPr id="28" name="Text 26"/>
          <p:cNvSpPr/>
          <p:nvPr/>
        </p:nvSpPr>
        <p:spPr>
          <a:xfrm>
            <a:off x="3551712" y="5394960"/>
            <a:ext cx="7978872" cy="384048"/>
          </a:xfrm>
          <a:prstGeom prst="rect">
            <a:avLst/>
          </a:prstGeom>
          <a:noFill/>
          <a:ln/>
        </p:spPr>
        <p:txBody>
          <a:bodyPr wrap="square" lIns="0" tIns="0" rIns="0" bIns="0" rtlCol="0" anchor="ctr"/>
          <a:lstStyle/>
          <a:p>
            <a:pPr indent="0" marL="0">
              <a:buNone/>
            </a:pPr>
            <a:r>
              <a:rPr lang="en-US" sz="1280" dirty="0">
                <a:solidFill>
                  <a:srgbClr val="6C7078"/>
                </a:solidFill>
                <a:latin typeface="IBM Plex Sans KR" pitchFamily="34" charset="0"/>
                <a:ea typeface="IBM Plex Sans KR" pitchFamily="34" charset="-122"/>
                <a:cs typeface="IBM Plex Sans KR" pitchFamily="34" charset="-120"/>
              </a:rPr>
              <a:t>1~3개인가 · 빈 곳은 내 말로 채운다</a:t>
            </a:r>
            <a:endParaRPr lang="en-US" sz="12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5항이 다른 항목과 맞는지 묻고, 6항 3번을 쓴다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07</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07-2 · 8쪽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08</a:t>
            </a:r>
            <a:endParaRPr lang="en-US" sz="900" dirty="0"/>
          </a:p>
        </p:txBody>
      </p:sp>
      <p:sp>
        <p:nvSpPr>
          <p:cNvPr id="10" name="Shape 8"/>
          <p:cNvSpPr/>
          <p:nvPr/>
        </p:nvSpPr>
        <p:spPr>
          <a:xfrm>
            <a:off x="530352" y="1828800"/>
            <a:ext cx="11128248" cy="1463040"/>
          </a:xfrm>
          <a:prstGeom prst="roundRect">
            <a:avLst>
              <a:gd name="adj" fmla="val 3125"/>
            </a:avLst>
          </a:prstGeom>
          <a:solidFill>
            <a:srgbClr val="24272C"/>
          </a:solidFill>
          <a:ln/>
        </p:spPr>
      </p:sp>
      <p:sp>
        <p:nvSpPr>
          <p:cNvPr id="11" name="Text 9"/>
          <p:cNvSpPr/>
          <p:nvPr/>
        </p:nvSpPr>
        <p:spPr>
          <a:xfrm>
            <a:off x="768096" y="195681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OpenCode에 보낼 요청문 (교과서 8쪽에서 복사)</a:t>
            </a:r>
            <a:endParaRPr lang="en-US" sz="950" dirty="0"/>
          </a:p>
        </p:txBody>
      </p:sp>
      <p:sp>
        <p:nvSpPr>
          <p:cNvPr id="12" name="Text 10"/>
          <p:cNvSpPr/>
          <p:nvPr/>
        </p:nvSpPr>
        <p:spPr>
          <a:xfrm>
            <a:off x="768096" y="2231136"/>
            <a:ext cx="10652760" cy="914400"/>
          </a:xfrm>
          <a:prstGeom prst="rect">
            <a:avLst/>
          </a:prstGeom>
          <a:noFill/>
          <a:ln/>
        </p:spPr>
        <p:txBody>
          <a:bodyPr wrap="square" lIns="0" tIns="0" rIns="0" bIns="0" rtlCol="0" anchor="t"/>
          <a:lstStyle/>
          <a:p>
            <a:pPr indent="0" marL="0">
              <a:lnSpc>
                <a:spcPts val="2380"/>
              </a:lnSpc>
              <a:buNone/>
            </a:pPr>
            <a:r>
              <a:rPr lang="en-US" sz="1400" dirty="0">
                <a:solidFill>
                  <a:srgbClr val="9BE6B8"/>
                </a:solidFill>
                <a:latin typeface="IBM Plex Mono" pitchFamily="34" charset="0"/>
                <a:ea typeface="IBM Plex Mono" pitchFamily="34" charset="-122"/>
                <a:cs typeface="IBM Plex Mono" pitchFamily="34" charset="-120"/>
              </a:rPr>
              <a:t>PRD.md를 읽고, 5. 데이터가 다른 항목과 맞지 않는 곳을 하나씩 물어봐 줘.</a:t>
            </a:r>
            <a:endParaRPr lang="en-US" sz="1400" dirty="0"/>
          </a:p>
          <a:p>
            <a:pPr indent="0" marL="0">
              <a:lnSpc>
                <a:spcPts val="2380"/>
              </a:lnSpc>
              <a:buNone/>
            </a:pPr>
            <a:r>
              <a:rPr lang="en-US" sz="1400" b="1" dirty="0">
                <a:solidFill>
                  <a:srgbClr val="E8EAED"/>
                </a:solidFill>
                <a:latin typeface="IBM Plex Mono" pitchFamily="34" charset="0"/>
                <a:ea typeface="IBM Plex Mono" pitchFamily="34" charset="-122"/>
                <a:cs typeface="IBM Plex Mono" pitchFamily="34" charset="-120"/>
              </a:rPr>
              <a:t>고치면 좋을 점이 있으면 제안해 줘.</a:t>
            </a:r>
            <a:endParaRPr lang="en-US" sz="1400" dirty="0"/>
          </a:p>
        </p:txBody>
      </p:sp>
      <p:sp>
        <p:nvSpPr>
          <p:cNvPr id="13" name="Shape 11"/>
          <p:cNvSpPr/>
          <p:nvPr/>
        </p:nvSpPr>
        <p:spPr>
          <a:xfrm>
            <a:off x="530352" y="3520440"/>
            <a:ext cx="11128248" cy="1325880"/>
          </a:xfrm>
          <a:prstGeom prst="roundRect">
            <a:avLst>
              <a:gd name="adj" fmla="val 3448"/>
            </a:avLst>
          </a:prstGeom>
          <a:solidFill>
            <a:srgbClr val="24272C"/>
          </a:solidFill>
          <a:ln/>
        </p:spPr>
      </p:sp>
      <p:sp>
        <p:nvSpPr>
          <p:cNvPr id="14" name="Text 12"/>
          <p:cNvSpPr/>
          <p:nvPr/>
        </p:nvSpPr>
        <p:spPr>
          <a:xfrm>
            <a:off x="768096" y="3648456"/>
            <a:ext cx="8933688" cy="237744"/>
          </a:xfrm>
          <a:prstGeom prst="rect">
            <a:avLst/>
          </a:prstGeom>
          <a:noFill/>
          <a:ln/>
        </p:spPr>
        <p:txBody>
          <a:bodyPr wrap="square" lIns="0" tIns="0" rIns="0" bIns="0" rtlCol="0" anchor="ctr"/>
          <a:lstStyle/>
          <a:p>
            <a:pPr indent="0" marL="0">
              <a:buNone/>
            </a:pPr>
            <a:r>
              <a:rPr lang="en-US" sz="1050" dirty="0">
                <a:solidFill>
                  <a:srgbClr val="8A9099"/>
                </a:solidFill>
                <a:latin typeface="IBM Plex Mono" pitchFamily="34" charset="0"/>
                <a:ea typeface="IBM Plex Mono" pitchFamily="34" charset="-122"/>
                <a:cs typeface="IBM Plex Mono" pitchFamily="34" charset="-120"/>
              </a:rPr>
              <a:t>PRD.md · 6. 완성 기준</a:t>
            </a:r>
            <a:endParaRPr lang="en-US" sz="1050" dirty="0"/>
          </a:p>
        </p:txBody>
      </p:sp>
      <p:sp>
        <p:nvSpPr>
          <p:cNvPr id="15" name="Shape 13"/>
          <p:cNvSpPr/>
          <p:nvPr/>
        </p:nvSpPr>
        <p:spPr>
          <a:xfrm>
            <a:off x="9875520" y="3630168"/>
            <a:ext cx="1554480" cy="292608"/>
          </a:xfrm>
          <a:prstGeom prst="roundRect">
            <a:avLst>
              <a:gd name="adj" fmla="val 37500"/>
            </a:avLst>
          </a:prstGeom>
          <a:solidFill>
            <a:srgbClr val="FF5C00"/>
          </a:solidFill>
          <a:ln/>
        </p:spPr>
      </p:sp>
      <p:sp>
        <p:nvSpPr>
          <p:cNvPr id="16" name="Text 14"/>
          <p:cNvSpPr/>
          <p:nvPr/>
        </p:nvSpPr>
        <p:spPr>
          <a:xfrm>
            <a:off x="9875520" y="3630168"/>
            <a:ext cx="1554480"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IBM Plex Sans KR" pitchFamily="34" charset="0"/>
                <a:ea typeface="IBM Plex Sans KR" pitchFamily="34" charset="-122"/>
                <a:cs typeface="IBM Plex Sans KR" pitchFamily="34" charset="-120"/>
              </a:rPr>
              <a:t>직접 쓴다</a:t>
            </a:r>
            <a:endParaRPr lang="en-US" sz="1150" dirty="0"/>
          </a:p>
        </p:txBody>
      </p:sp>
      <p:sp>
        <p:nvSpPr>
          <p:cNvPr id="17" name="Text 15"/>
          <p:cNvSpPr/>
          <p:nvPr/>
        </p:nvSpPr>
        <p:spPr>
          <a:xfrm>
            <a:off x="804672" y="4023360"/>
            <a:ext cx="10579608" cy="685800"/>
          </a:xfrm>
          <a:prstGeom prst="rect">
            <a:avLst/>
          </a:prstGeom>
          <a:noFill/>
          <a:ln/>
        </p:spPr>
        <p:txBody>
          <a:bodyPr wrap="square" lIns="0" tIns="0" rIns="0" bIns="0" rtlCol="0" anchor="t"/>
          <a:lstStyle/>
          <a:p>
            <a:pPr indent="0" marL="0">
              <a:lnSpc>
                <a:spcPts val="2475"/>
              </a:lnSpc>
              <a:buNone/>
            </a:pPr>
            <a:r>
              <a:rPr lang="en-US" sz="1500" dirty="0">
                <a:solidFill>
                  <a:srgbClr val="9BE6B8"/>
                </a:solidFill>
                <a:latin typeface="IBM Plex Sans KR" pitchFamily="34" charset="0"/>
                <a:ea typeface="IBM Plex Sans KR" pitchFamily="34" charset="-122"/>
                <a:cs typeface="IBM Plex Sans KR" pitchFamily="34" charset="-120"/>
              </a:rPr>
              <a:t>3. 페이지를 다시 열어도 지난번에 뽑힌 항목 기록을 확인할 수 있다.</a:t>
            </a:r>
            <a:endParaRPr lang="en-US" sz="1500" dirty="0"/>
          </a:p>
        </p:txBody>
      </p:sp>
      <p:sp>
        <p:nvSpPr>
          <p:cNvPr id="18" name="Shape 16"/>
          <p:cNvSpPr/>
          <p:nvPr/>
        </p:nvSpPr>
        <p:spPr>
          <a:xfrm>
            <a:off x="530352" y="5074920"/>
            <a:ext cx="11128248" cy="512064"/>
          </a:xfrm>
          <a:prstGeom prst="roundRect">
            <a:avLst>
              <a:gd name="adj" fmla="val 39286"/>
            </a:avLst>
          </a:prstGeom>
          <a:solidFill>
            <a:srgbClr val="EAF5FB"/>
          </a:solidFill>
          <a:ln w="12700">
            <a:solidFill>
              <a:srgbClr val="3D8DFF"/>
            </a:solidFill>
            <a:prstDash val="solid"/>
          </a:ln>
        </p:spPr>
      </p:sp>
      <p:sp>
        <p:nvSpPr>
          <p:cNvPr id="19" name="Text 17"/>
          <p:cNvSpPr/>
          <p:nvPr/>
        </p:nvSpPr>
        <p:spPr>
          <a:xfrm>
            <a:off x="731520" y="5074920"/>
            <a:ext cx="10725912" cy="512064"/>
          </a:xfrm>
          <a:prstGeom prst="rect">
            <a:avLst/>
          </a:prstGeom>
          <a:noFill/>
          <a:ln/>
        </p:spPr>
        <p:txBody>
          <a:bodyPr wrap="square" lIns="0" tIns="0" rIns="0" bIns="0" rtlCol="0" anchor="ctr"/>
          <a:lstStyle/>
          <a:p>
            <a:pPr algn="ctr" indent="0" marL="0">
              <a:buNone/>
            </a:pPr>
            <a:r>
              <a:rPr lang="en-US" sz="1450" b="1" dirty="0">
                <a:solidFill>
                  <a:srgbClr val="34373D"/>
                </a:solidFill>
                <a:latin typeface="IBM Plex Sans KR" pitchFamily="34" charset="0"/>
                <a:ea typeface="IBM Plex Sans KR" pitchFamily="34" charset="-122"/>
                <a:cs typeface="IBM Plex Sans KR" pitchFamily="34" charset="-120"/>
              </a:rPr>
              <a:t>7-1에서 F5로 사라졌던 그것 → 완성된 서비스에서는 다시 볼 수 있어야 한다</a:t>
            </a:r>
            <a:endParaRPr lang="en-US" sz="1450" dirty="0"/>
          </a:p>
        </p:txBody>
      </p:sp>
      <p:sp>
        <p:nvSpPr>
          <p:cNvPr id="20" name="Text 18"/>
          <p:cNvSpPr/>
          <p:nvPr/>
        </p:nvSpPr>
        <p:spPr>
          <a:xfrm>
            <a:off x="530352" y="580644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AI가 고쳐도 된다 · 고친 곳은 내가 끝까지 읽는다</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오늘 AI와 정한 것을 7항에 이어 적는다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08</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07-2 · 9쪽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09</a:t>
            </a:r>
            <a:endParaRPr lang="en-US" sz="900" dirty="0"/>
          </a:p>
        </p:txBody>
      </p:sp>
      <p:sp>
        <p:nvSpPr>
          <p:cNvPr id="10" name="Shape 8"/>
          <p:cNvSpPr/>
          <p:nvPr/>
        </p:nvSpPr>
        <p:spPr>
          <a:xfrm>
            <a:off x="530352" y="1828800"/>
            <a:ext cx="11128248" cy="2926080"/>
          </a:xfrm>
          <a:prstGeom prst="roundRect">
            <a:avLst>
              <a:gd name="adj" fmla="val 1563"/>
            </a:avLst>
          </a:prstGeom>
          <a:solidFill>
            <a:srgbClr val="24272C"/>
          </a:solidFill>
          <a:ln/>
        </p:spPr>
      </p:sp>
      <p:sp>
        <p:nvSpPr>
          <p:cNvPr id="11" name="Text 9"/>
          <p:cNvSpPr/>
          <p:nvPr/>
        </p:nvSpPr>
        <p:spPr>
          <a:xfrm>
            <a:off x="768096" y="1956816"/>
            <a:ext cx="8933688" cy="237744"/>
          </a:xfrm>
          <a:prstGeom prst="rect">
            <a:avLst/>
          </a:prstGeom>
          <a:noFill/>
          <a:ln/>
        </p:spPr>
        <p:txBody>
          <a:bodyPr wrap="square" lIns="0" tIns="0" rIns="0" bIns="0" rtlCol="0" anchor="ctr"/>
          <a:lstStyle/>
          <a:p>
            <a:pPr indent="0" marL="0">
              <a:buNone/>
            </a:pPr>
            <a:r>
              <a:rPr lang="en-US" sz="1050" dirty="0">
                <a:solidFill>
                  <a:srgbClr val="8A9099"/>
                </a:solidFill>
                <a:latin typeface="IBM Plex Mono" pitchFamily="34" charset="0"/>
                <a:ea typeface="IBM Plex Mono" pitchFamily="34" charset="-122"/>
                <a:cs typeface="IBM Plex Mono" pitchFamily="34" charset="-120"/>
              </a:rPr>
              <a:t>PRD.md · 7. AI 사용과 학생의 판단 — 6-2에 쓴 줄 끝에 덧붙인다</a:t>
            </a:r>
            <a:endParaRPr lang="en-US" sz="1050" dirty="0"/>
          </a:p>
        </p:txBody>
      </p:sp>
      <p:sp>
        <p:nvSpPr>
          <p:cNvPr id="12" name="Shape 10"/>
          <p:cNvSpPr/>
          <p:nvPr/>
        </p:nvSpPr>
        <p:spPr>
          <a:xfrm>
            <a:off x="9875520" y="1938528"/>
            <a:ext cx="1554480" cy="292608"/>
          </a:xfrm>
          <a:prstGeom prst="roundRect">
            <a:avLst>
              <a:gd name="adj" fmla="val 37500"/>
            </a:avLst>
          </a:prstGeom>
          <a:solidFill>
            <a:srgbClr val="FF5C00"/>
          </a:solidFill>
          <a:ln/>
        </p:spPr>
      </p:sp>
      <p:sp>
        <p:nvSpPr>
          <p:cNvPr id="13" name="Text 11"/>
          <p:cNvSpPr/>
          <p:nvPr/>
        </p:nvSpPr>
        <p:spPr>
          <a:xfrm>
            <a:off x="9875520" y="1938528"/>
            <a:ext cx="1554480"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IBM Plex Sans KR" pitchFamily="34" charset="0"/>
                <a:ea typeface="IBM Plex Sans KR" pitchFamily="34" charset="-122"/>
                <a:cs typeface="IBM Plex Sans KR" pitchFamily="34" charset="-120"/>
              </a:rPr>
              <a:t>직접 쓴다</a:t>
            </a:r>
            <a:endParaRPr lang="en-US" sz="1150" dirty="0"/>
          </a:p>
        </p:txBody>
      </p:sp>
      <p:sp>
        <p:nvSpPr>
          <p:cNvPr id="14" name="Text 12"/>
          <p:cNvSpPr/>
          <p:nvPr/>
        </p:nvSpPr>
        <p:spPr>
          <a:xfrm>
            <a:off x="804672" y="2331720"/>
            <a:ext cx="10579608" cy="2286000"/>
          </a:xfrm>
          <a:prstGeom prst="rect">
            <a:avLst/>
          </a:prstGeom>
          <a:noFill/>
          <a:ln/>
        </p:spPr>
        <p:txBody>
          <a:bodyPr wrap="square" lIns="0" tIns="0" rIns="0" bIns="0" rtlCol="0" anchor="t"/>
          <a:lstStyle/>
          <a:p>
            <a:pPr indent="0" marL="0">
              <a:lnSpc>
                <a:spcPts val="2228"/>
              </a:lnSpc>
              <a:buNone/>
            </a:pPr>
            <a:r>
              <a:rPr lang="en-US" sz="1350" b="1" dirty="0">
                <a:solidFill>
                  <a:srgbClr val="E8EAED"/>
                </a:solidFill>
                <a:latin typeface="IBM Plex Sans KR" pitchFamily="34" charset="0"/>
                <a:ea typeface="IBM Plex Sans KR" pitchFamily="34" charset="-122"/>
                <a:cs typeface="IBM Plex Sans KR" pitchFamily="34" charset="-120"/>
              </a:rPr>
              <a:t>- AI에게 확인을 요청한 내용: … / 표를 그려 달라 · 5항 초안과 질문</a:t>
            </a:r>
            <a:endParaRPr lang="en-US" sz="1350" dirty="0"/>
          </a:p>
          <a:p>
            <a:pPr indent="0" marL="0">
              <a:lnSpc>
                <a:spcPts val="2228"/>
              </a:lnSpc>
              <a:buNone/>
            </a:pPr>
            <a:r>
              <a:rPr lang="en-US" sz="1350" b="1" dirty="0">
                <a:solidFill>
                  <a:srgbClr val="E8EAED"/>
                </a:solidFill>
                <a:latin typeface="IBM Plex Sans KR" pitchFamily="34" charset="0"/>
                <a:ea typeface="IBM Plex Sans KR" pitchFamily="34" charset="-122"/>
                <a:cs typeface="IBM Plex Sans KR" pitchFamily="34" charset="-120"/>
              </a:rPr>
              <a:t>- AI가 제안하거나 질문한 내용: … / 표를 두 개(뽑기 기록, 사용자)로 나누자</a:t>
            </a:r>
            <a:endParaRPr lang="en-US" sz="1350" dirty="0"/>
          </a:p>
          <a:p>
            <a:pPr indent="0" marL="0">
              <a:lnSpc>
                <a:spcPts val="2228"/>
              </a:lnSpc>
              <a:buNone/>
            </a:pPr>
            <a:r>
              <a:rPr lang="en-US" sz="1350" dirty="0">
                <a:solidFill>
                  <a:srgbClr val="9BE6B8"/>
                </a:solidFill>
                <a:latin typeface="IBM Plex Sans KR" pitchFamily="34" charset="0"/>
                <a:ea typeface="IBM Plex Sans KR" pitchFamily="34" charset="-122"/>
                <a:cs typeface="IBM Plex Sans KR" pitchFamily="34" charset="-120"/>
              </a:rPr>
              <a:t>- 반영한 내용과 이유: … / 뽑은 시각을 넣었다 · 순서대로 보여 주려면 필요</a:t>
            </a:r>
            <a:endParaRPr lang="en-US" sz="1350" dirty="0"/>
          </a:p>
          <a:p>
            <a:pPr indent="0" marL="0">
              <a:lnSpc>
                <a:spcPts val="2228"/>
              </a:lnSpc>
              <a:buNone/>
            </a:pPr>
            <a:r>
              <a:rPr lang="en-US" sz="1350" dirty="0">
                <a:solidFill>
                  <a:srgbClr val="9BE6B8"/>
                </a:solidFill>
                <a:latin typeface="IBM Plex Sans KR" pitchFamily="34" charset="0"/>
                <a:ea typeface="IBM Plex Sans KR" pitchFamily="34" charset="-122"/>
                <a:cs typeface="IBM Plex Sans KR" pitchFamily="34" charset="-120"/>
              </a:rPr>
              <a:t>- 반영하지 않은 내용과 이유: … / 사용자 표는 뺐다 · 로그인이 없다</a:t>
            </a:r>
            <a:endParaRPr lang="en-US" sz="1350" dirty="0"/>
          </a:p>
          <a:p>
            <a:pPr indent="0" marL="0">
              <a:lnSpc>
                <a:spcPts val="2228"/>
              </a:lnSpc>
              <a:buNone/>
            </a:pPr>
            <a:r>
              <a:rPr lang="en-US" sz="1350" b="1" dirty="0">
                <a:solidFill>
                  <a:srgbClr val="E8EAED"/>
                </a:solidFill>
                <a:latin typeface="IBM Plex Sans KR" pitchFamily="34" charset="0"/>
                <a:ea typeface="IBM Plex Sans KR" pitchFamily="34" charset="-122"/>
                <a:cs typeface="IBM Plex Sans KR" pitchFamily="34" charset="-120"/>
              </a:rPr>
              <a:t>- 학생이 직접 결정한 부분: … / 후보 테이블은 뽑기 기록 하나</a:t>
            </a:r>
            <a:endParaRPr lang="en-US" sz="1350" dirty="0"/>
          </a:p>
        </p:txBody>
      </p:sp>
      <p:sp>
        <p:nvSpPr>
          <p:cNvPr id="15" name="Shape 13"/>
          <p:cNvSpPr/>
          <p:nvPr/>
        </p:nvSpPr>
        <p:spPr>
          <a:xfrm>
            <a:off x="530352" y="5029200"/>
            <a:ext cx="11128248" cy="512064"/>
          </a:xfrm>
          <a:prstGeom prst="roundRect">
            <a:avLst>
              <a:gd name="adj" fmla="val 39286"/>
            </a:avLst>
          </a:prstGeom>
          <a:solidFill>
            <a:srgbClr val="FF5C00"/>
          </a:solidFill>
          <a:ln w="12700">
            <a:solidFill>
              <a:srgbClr val="FF5C00"/>
            </a:solidFill>
            <a:prstDash val="solid"/>
          </a:ln>
        </p:spPr>
      </p:sp>
      <p:sp>
        <p:nvSpPr>
          <p:cNvPr id="16" name="Text 14"/>
          <p:cNvSpPr/>
          <p:nvPr/>
        </p:nvSpPr>
        <p:spPr>
          <a:xfrm>
            <a:off x="731520" y="502920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6-2에 쓴 문장은 지우지 않는다 · AI의 문장을 그대로 붙이지 않는다</a:t>
            </a:r>
            <a:endParaRPr lang="en-US" sz="1500" dirty="0"/>
          </a:p>
        </p:txBody>
      </p:sp>
      <p:sp>
        <p:nvSpPr>
          <p:cNvPr id="17" name="Text 15"/>
          <p:cNvSpPr/>
          <p:nvPr/>
        </p:nvSpPr>
        <p:spPr>
          <a:xfrm>
            <a:off x="530352" y="576072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받아들이지 않은 제안과 그 이유도 판단의 증거다</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목업에 지난 기록을 다시 보는 자리를 붙인다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09</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07-2 · 10쪽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10</a:t>
            </a:r>
            <a:endParaRPr lang="en-US" sz="900" dirty="0"/>
          </a:p>
        </p:txBody>
      </p:sp>
      <p:sp>
        <p:nvSpPr>
          <p:cNvPr id="10" name="Shape 8"/>
          <p:cNvSpPr/>
          <p:nvPr/>
        </p:nvSpPr>
        <p:spPr>
          <a:xfrm>
            <a:off x="530352" y="1828800"/>
            <a:ext cx="6035040" cy="2514600"/>
          </a:xfrm>
          <a:prstGeom prst="roundRect">
            <a:avLst>
              <a:gd name="adj" fmla="val 1818"/>
            </a:avLst>
          </a:prstGeom>
          <a:solidFill>
            <a:srgbClr val="24272C"/>
          </a:solidFill>
          <a:ln/>
        </p:spPr>
      </p:sp>
      <p:sp>
        <p:nvSpPr>
          <p:cNvPr id="11" name="Text 9"/>
          <p:cNvSpPr/>
          <p:nvPr/>
        </p:nvSpPr>
        <p:spPr>
          <a:xfrm>
            <a:off x="768096" y="1956816"/>
            <a:ext cx="5559552"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OpenCode에 보낼 요청문 (교과서 10쪽에서 복사)</a:t>
            </a:r>
            <a:endParaRPr lang="en-US" sz="950" dirty="0"/>
          </a:p>
        </p:txBody>
      </p:sp>
      <p:sp>
        <p:nvSpPr>
          <p:cNvPr id="12" name="Text 10"/>
          <p:cNvSpPr/>
          <p:nvPr/>
        </p:nvSpPr>
        <p:spPr>
          <a:xfrm>
            <a:off x="768096" y="2231136"/>
            <a:ext cx="5559552" cy="1965960"/>
          </a:xfrm>
          <a:prstGeom prst="rect">
            <a:avLst/>
          </a:prstGeom>
          <a:noFill/>
          <a:ln/>
        </p:spPr>
        <p:txBody>
          <a:bodyPr wrap="square" lIns="0" tIns="0" rIns="0" bIns="0" rtlCol="0" anchor="t"/>
          <a:lstStyle/>
          <a:p>
            <a:pPr indent="0" marL="0">
              <a:lnSpc>
                <a:spcPts val="2125"/>
              </a:lnSpc>
              <a:buNone/>
            </a:pPr>
            <a:r>
              <a:rPr lang="en-US" sz="1250" dirty="0">
                <a:solidFill>
                  <a:srgbClr val="9BE6B8"/>
                </a:solidFill>
                <a:latin typeface="IBM Plex Mono" pitchFamily="34" charset="0"/>
                <a:ea typeface="IBM Plex Mono" pitchFamily="34" charset="-122"/>
                <a:cs typeface="IBM Plex Mono" pitchFamily="34" charset="-120"/>
              </a:rPr>
              <a:t>PRD.md의 5. 데이터를 보고,</a:t>
            </a:r>
            <a:endParaRPr lang="en-US" sz="1250" dirty="0"/>
          </a:p>
          <a:p>
            <a:pPr indent="0" marL="0">
              <a:lnSpc>
                <a:spcPts val="2125"/>
              </a:lnSpc>
              <a:buNone/>
            </a:pPr>
            <a:r>
              <a:rPr lang="en-US" sz="1250" dirty="0">
                <a:solidFill>
                  <a:srgbClr val="9BE6B8"/>
                </a:solidFill>
                <a:latin typeface="IBM Plex Mono" pitchFamily="34" charset="0"/>
                <a:ea typeface="IBM Plex Mono" pitchFamily="34" charset="-122"/>
                <a:cs typeface="IBM Plex Mono" pitchFamily="34" charset="-120"/>
              </a:rPr>
              <a:t>mockup/index.html에 지난 기록을</a:t>
            </a:r>
            <a:endParaRPr lang="en-US" sz="1250" dirty="0"/>
          </a:p>
          <a:p>
            <a:pPr indent="0" marL="0">
              <a:lnSpc>
                <a:spcPts val="2125"/>
              </a:lnSpc>
              <a:buNone/>
            </a:pPr>
            <a:r>
              <a:rPr lang="en-US" sz="1250" dirty="0">
                <a:solidFill>
                  <a:srgbClr val="9BE6B8"/>
                </a:solidFill>
                <a:latin typeface="IBM Plex Mono" pitchFamily="34" charset="0"/>
                <a:ea typeface="IBM Plex Mono" pitchFamily="34" charset="-122"/>
                <a:cs typeface="IBM Plex Mono" pitchFamily="34" charset="-120"/>
              </a:rPr>
              <a:t>다시 보는 부분을 넣어 줘.</a:t>
            </a:r>
            <a:endParaRPr lang="en-US" sz="1250" dirty="0"/>
          </a:p>
          <a:p>
            <a:pPr indent="0" marL="0">
              <a:lnSpc>
                <a:spcPts val="2125"/>
              </a:lnSpc>
              <a:buNone/>
            </a:pPr>
            <a:r>
              <a:rPr lang="en-US" sz="1250" b="1" dirty="0">
                <a:solidFill>
                  <a:srgbClr val="E8EAED"/>
                </a:solidFill>
                <a:latin typeface="IBM Plex Mono" pitchFamily="34" charset="0"/>
                <a:ea typeface="IBM Plex Mono" pitchFamily="34" charset="-122"/>
                <a:cs typeface="IBM Plex Mono" pitchFamily="34" charset="-120"/>
              </a:rPr>
              <a:t>예시 기록 3개를 보여 주고,</a:t>
            </a:r>
            <a:endParaRPr lang="en-US" sz="1250" dirty="0"/>
          </a:p>
          <a:p>
            <a:pPr indent="0" marL="0">
              <a:lnSpc>
                <a:spcPts val="2125"/>
              </a:lnSpc>
              <a:buNone/>
            </a:pPr>
            <a:r>
              <a:rPr lang="en-US" sz="1250" b="1" dirty="0">
                <a:solidFill>
                  <a:srgbClr val="E8EAED"/>
                </a:solidFill>
                <a:latin typeface="IBM Plex Mono" pitchFamily="34" charset="0"/>
                <a:ea typeface="IBM Plex Mono" pitchFamily="34" charset="-122"/>
                <a:cs typeface="IBM Plex Mono" pitchFamily="34" charset="-120"/>
              </a:rPr>
              <a:t>디자인은 지금 화면과 어울리게 맞춰 줘.</a:t>
            </a:r>
            <a:endParaRPr lang="en-US" sz="1250" dirty="0"/>
          </a:p>
          <a:p>
            <a:pPr indent="0" marL="0">
              <a:lnSpc>
                <a:spcPts val="2125"/>
              </a:lnSpc>
              <a:buNone/>
            </a:pPr>
            <a:r>
              <a:rPr lang="en-US" sz="1250" dirty="0">
                <a:solidFill>
                  <a:srgbClr val="FFB089"/>
                </a:solidFill>
                <a:latin typeface="IBM Plex Mono" pitchFamily="34" charset="0"/>
                <a:ea typeface="IBM Plex Mono" pitchFamily="34" charset="-122"/>
                <a:cs typeface="IBM Plex Mono" pitchFamily="34" charset="-120"/>
              </a:rPr>
              <a:t>mockup/index.html 파일에 저장해 줘.</a:t>
            </a:r>
            <a:endParaRPr lang="en-US" sz="1250" dirty="0"/>
          </a:p>
          <a:p>
            <a:pPr indent="0" marL="0">
              <a:lnSpc>
                <a:spcPts val="2125"/>
              </a:lnSpc>
              <a:buNone/>
            </a:pPr>
            <a:r>
              <a:rPr lang="en-US" sz="1250" dirty="0">
                <a:solidFill>
                  <a:srgbClr val="FFB089"/>
                </a:solidFill>
                <a:latin typeface="IBM Plex Mono" pitchFamily="34" charset="0"/>
                <a:ea typeface="IBM Plex Mono" pitchFamily="34" charset="-122"/>
                <a:cs typeface="IBM Plex Mono" pitchFamily="34" charset="-120"/>
              </a:rPr>
              <a:t>코드는 대화창에 보여 주지 마.</a:t>
            </a:r>
            <a:endParaRPr lang="en-US" sz="1250" dirty="0"/>
          </a:p>
        </p:txBody>
      </p:sp>
      <p:sp>
        <p:nvSpPr>
          <p:cNvPr id="13" name="Shape 11"/>
          <p:cNvSpPr/>
          <p:nvPr/>
        </p:nvSpPr>
        <p:spPr>
          <a:xfrm>
            <a:off x="6812280" y="1828800"/>
            <a:ext cx="4846320" cy="3886200"/>
          </a:xfrm>
          <a:prstGeom prst="roundRect">
            <a:avLst>
              <a:gd name="adj" fmla="val 1412"/>
            </a:avLst>
          </a:prstGeom>
          <a:solidFill>
            <a:srgbClr val="FFFFFF"/>
          </a:solidFill>
          <a:ln w="12700">
            <a:solidFill>
              <a:srgbClr val="E0E3E7"/>
            </a:solidFill>
            <a:prstDash val="solid"/>
          </a:ln>
        </p:spPr>
      </p:sp>
      <p:sp>
        <p:nvSpPr>
          <p:cNvPr id="14" name="Shape 12"/>
          <p:cNvSpPr/>
          <p:nvPr/>
        </p:nvSpPr>
        <p:spPr>
          <a:xfrm>
            <a:off x="6821424" y="1837944"/>
            <a:ext cx="4828032" cy="263347"/>
          </a:xfrm>
          <a:prstGeom prst="rect">
            <a:avLst/>
          </a:prstGeom>
          <a:solidFill>
            <a:srgbClr val="F1F2F4"/>
          </a:solidFill>
          <a:ln/>
        </p:spPr>
      </p:sp>
      <p:sp>
        <p:nvSpPr>
          <p:cNvPr id="15" name="Shape 13"/>
          <p:cNvSpPr/>
          <p:nvPr/>
        </p:nvSpPr>
        <p:spPr>
          <a:xfrm>
            <a:off x="6940296" y="1919326"/>
            <a:ext cx="91440" cy="91440"/>
          </a:xfrm>
          <a:prstGeom prst="ellipse">
            <a:avLst/>
          </a:prstGeom>
          <a:solidFill>
            <a:srgbClr val="D5D8DC"/>
          </a:solidFill>
          <a:ln/>
        </p:spPr>
      </p:sp>
      <p:sp>
        <p:nvSpPr>
          <p:cNvPr id="16" name="Shape 14"/>
          <p:cNvSpPr/>
          <p:nvPr/>
        </p:nvSpPr>
        <p:spPr>
          <a:xfrm>
            <a:off x="7086600" y="1919326"/>
            <a:ext cx="91440" cy="91440"/>
          </a:xfrm>
          <a:prstGeom prst="ellipse">
            <a:avLst/>
          </a:prstGeom>
          <a:solidFill>
            <a:srgbClr val="D5D8DC"/>
          </a:solidFill>
          <a:ln/>
        </p:spPr>
      </p:sp>
      <p:sp>
        <p:nvSpPr>
          <p:cNvPr id="17" name="Shape 15"/>
          <p:cNvSpPr/>
          <p:nvPr/>
        </p:nvSpPr>
        <p:spPr>
          <a:xfrm>
            <a:off x="7232904" y="1919326"/>
            <a:ext cx="91440" cy="91440"/>
          </a:xfrm>
          <a:prstGeom prst="ellipse">
            <a:avLst/>
          </a:prstGeom>
          <a:solidFill>
            <a:srgbClr val="D5D8DC"/>
          </a:solidFill>
          <a:ln/>
        </p:spPr>
      </p:sp>
      <p:sp>
        <p:nvSpPr>
          <p:cNvPr id="18" name="Text 16"/>
          <p:cNvSpPr/>
          <p:nvPr/>
        </p:nvSpPr>
        <p:spPr>
          <a:xfrm>
            <a:off x="7452360" y="1847088"/>
            <a:ext cx="4023360" cy="246888"/>
          </a:xfrm>
          <a:prstGeom prst="rect">
            <a:avLst/>
          </a:prstGeom>
          <a:noFill/>
          <a:ln/>
        </p:spPr>
        <p:txBody>
          <a:bodyPr wrap="square" lIns="0" tIns="0" rIns="0" bIns="0" rtlCol="0" anchor="ctr"/>
          <a:lstStyle/>
          <a:p>
            <a:pPr indent="0" marL="0">
              <a:buNone/>
            </a:pPr>
            <a:r>
              <a:rPr lang="en-US" sz="855" dirty="0">
                <a:solidFill>
                  <a:srgbClr val="6C7078"/>
                </a:solidFill>
                <a:latin typeface="IBM Plex Mono" pitchFamily="34" charset="0"/>
                <a:ea typeface="IBM Plex Mono" pitchFamily="34" charset="-122"/>
                <a:cs typeface="IBM Plex Mono" pitchFamily="34" charset="-120"/>
              </a:rPr>
              <a:t>127.0.0.1:5500/mockup/index.html</a:t>
            </a:r>
            <a:endParaRPr lang="en-US" sz="855" dirty="0"/>
          </a:p>
        </p:txBody>
      </p:sp>
      <p:sp>
        <p:nvSpPr>
          <p:cNvPr id="19" name="Text 17"/>
          <p:cNvSpPr/>
          <p:nvPr/>
        </p:nvSpPr>
        <p:spPr>
          <a:xfrm>
            <a:off x="7013448" y="2199132"/>
            <a:ext cx="4443984" cy="32918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하나 뽑기</a:t>
            </a:r>
            <a:endParaRPr lang="en-US" sz="1350" dirty="0"/>
          </a:p>
        </p:txBody>
      </p:sp>
      <p:sp>
        <p:nvSpPr>
          <p:cNvPr id="20" name="Shape 18"/>
          <p:cNvSpPr/>
          <p:nvPr/>
        </p:nvSpPr>
        <p:spPr>
          <a:xfrm>
            <a:off x="7013448" y="2561234"/>
            <a:ext cx="4443984" cy="312725"/>
          </a:xfrm>
          <a:prstGeom prst="roundRect">
            <a:avLst>
              <a:gd name="adj" fmla="val 11696"/>
            </a:avLst>
          </a:prstGeom>
          <a:solidFill>
            <a:srgbClr val="FFFFFF"/>
          </a:solidFill>
          <a:ln w="12700">
            <a:solidFill>
              <a:srgbClr val="C9CDD2"/>
            </a:solidFill>
            <a:prstDash val="solid"/>
          </a:ln>
        </p:spPr>
      </p:sp>
      <p:sp>
        <p:nvSpPr>
          <p:cNvPr id="21" name="Text 19"/>
          <p:cNvSpPr/>
          <p:nvPr/>
        </p:nvSpPr>
        <p:spPr>
          <a:xfrm>
            <a:off x="7086600" y="2561234"/>
            <a:ext cx="4297680" cy="312725"/>
          </a:xfrm>
          <a:prstGeom prst="rect">
            <a:avLst/>
          </a:prstGeom>
          <a:noFill/>
          <a:ln/>
        </p:spPr>
        <p:txBody>
          <a:bodyPr wrap="square" lIns="0" tIns="0" rIns="0" bIns="0" rtlCol="0" anchor="ctr"/>
          <a:lstStyle/>
          <a:p>
            <a:pPr indent="0" marL="0">
              <a:buNone/>
            </a:pPr>
            <a:r>
              <a:rPr lang="en-US" sz="945" dirty="0">
                <a:solidFill>
                  <a:srgbClr val="9AA0A6"/>
                </a:solidFill>
                <a:latin typeface="IBM Plex Sans KR" pitchFamily="34" charset="0"/>
                <a:ea typeface="IBM Plex Sans KR" pitchFamily="34" charset="-122"/>
                <a:cs typeface="IBM Plex Sans KR" pitchFamily="34" charset="-120"/>
              </a:rPr>
              <a:t>외울 항목을 적어 주세요</a:t>
            </a:r>
            <a:endParaRPr lang="en-US" sz="945" dirty="0"/>
          </a:p>
        </p:txBody>
      </p:sp>
      <p:sp>
        <p:nvSpPr>
          <p:cNvPr id="22" name="Shape 20"/>
          <p:cNvSpPr/>
          <p:nvPr/>
        </p:nvSpPr>
        <p:spPr>
          <a:xfrm>
            <a:off x="7013448" y="2956255"/>
            <a:ext cx="1024128" cy="296266"/>
          </a:xfrm>
          <a:prstGeom prst="roundRect">
            <a:avLst>
              <a:gd name="adj" fmla="val 15432"/>
            </a:avLst>
          </a:prstGeom>
          <a:solidFill>
            <a:srgbClr val="FF5C00"/>
          </a:solidFill>
          <a:ln w="12700">
            <a:solidFill>
              <a:srgbClr val="FF5C00"/>
            </a:solidFill>
            <a:prstDash val="solid"/>
          </a:ln>
        </p:spPr>
      </p:sp>
      <p:sp>
        <p:nvSpPr>
          <p:cNvPr id="23" name="Text 21"/>
          <p:cNvSpPr/>
          <p:nvPr/>
        </p:nvSpPr>
        <p:spPr>
          <a:xfrm>
            <a:off x="7013448" y="2956255"/>
            <a:ext cx="1024128" cy="296266"/>
          </a:xfrm>
          <a:prstGeom prst="rect">
            <a:avLst/>
          </a:prstGeom>
          <a:noFill/>
          <a:ln/>
        </p:spPr>
        <p:txBody>
          <a:bodyPr wrap="square" lIns="0" tIns="0" rIns="0" bIns="0" rtlCol="0" anchor="ctr"/>
          <a:lstStyle/>
          <a:p>
            <a:pPr algn="ctr" indent="0" marL="0">
              <a:buNone/>
            </a:pPr>
            <a:r>
              <a:rPr lang="en-US" sz="990" b="1" dirty="0">
                <a:solidFill>
                  <a:srgbClr val="FFFFFF"/>
                </a:solidFill>
                <a:latin typeface="IBM Plex Sans KR" pitchFamily="34" charset="0"/>
                <a:ea typeface="IBM Plex Sans KR" pitchFamily="34" charset="-122"/>
                <a:cs typeface="IBM Plex Sans KR" pitchFamily="34" charset="-120"/>
              </a:rPr>
              <a:t>하나 뽑기</a:t>
            </a:r>
            <a:endParaRPr lang="en-US" sz="990" dirty="0"/>
          </a:p>
        </p:txBody>
      </p:sp>
      <p:sp>
        <p:nvSpPr>
          <p:cNvPr id="24" name="Text 22"/>
          <p:cNvSpPr/>
          <p:nvPr/>
        </p:nvSpPr>
        <p:spPr>
          <a:xfrm>
            <a:off x="7013448" y="3334817"/>
            <a:ext cx="4443984" cy="246888"/>
          </a:xfrm>
          <a:prstGeom prst="rect">
            <a:avLst/>
          </a:prstGeom>
          <a:noFill/>
          <a:ln/>
        </p:spPr>
        <p:txBody>
          <a:bodyPr wrap="square" lIns="0" tIns="0" rIns="0" bIns="0" rtlCol="0" anchor="ctr"/>
          <a:lstStyle/>
          <a:p>
            <a:pPr indent="0" marL="0">
              <a:buNone/>
            </a:pPr>
            <a:r>
              <a:rPr lang="en-US" sz="1035" b="1" dirty="0">
                <a:solidFill>
                  <a:srgbClr val="1B1D21"/>
                </a:solidFill>
                <a:latin typeface="IBM Plex Sans KR" pitchFamily="34" charset="0"/>
                <a:ea typeface="IBM Plex Sans KR" pitchFamily="34" charset="-122"/>
                <a:cs typeface="IBM Plex Sans KR" pitchFamily="34" charset="-120"/>
              </a:rPr>
              <a:t>지난 기록</a:t>
            </a:r>
            <a:endParaRPr lang="en-US" sz="1035" dirty="0"/>
          </a:p>
        </p:txBody>
      </p:sp>
      <p:sp>
        <p:nvSpPr>
          <p:cNvPr id="25" name="Shape 23"/>
          <p:cNvSpPr/>
          <p:nvPr/>
        </p:nvSpPr>
        <p:spPr>
          <a:xfrm>
            <a:off x="7013448" y="3614623"/>
            <a:ext cx="4443984" cy="0"/>
          </a:xfrm>
          <a:prstGeom prst="line">
            <a:avLst/>
          </a:prstGeom>
          <a:noFill/>
          <a:ln w="9525">
            <a:solidFill>
              <a:srgbClr val="E0E3E7"/>
            </a:solidFill>
            <a:prstDash val="solid"/>
          </a:ln>
        </p:spPr>
      </p:sp>
      <p:sp>
        <p:nvSpPr>
          <p:cNvPr id="26" name="Text 24"/>
          <p:cNvSpPr/>
          <p:nvPr/>
        </p:nvSpPr>
        <p:spPr>
          <a:xfrm>
            <a:off x="7059168" y="3614623"/>
            <a:ext cx="2666390" cy="246888"/>
          </a:xfrm>
          <a:prstGeom prst="rect">
            <a:avLst/>
          </a:prstGeom>
          <a:noFill/>
          <a:ln/>
        </p:spPr>
        <p:txBody>
          <a:bodyPr wrap="square" lIns="0" tIns="0" rIns="0" bIns="0" rtlCol="0" anchor="ctr"/>
          <a:lstStyle/>
          <a:p>
            <a:pPr indent="0" marL="0">
              <a:buNone/>
            </a:pPr>
            <a:r>
              <a:rPr lang="en-US" sz="945" dirty="0">
                <a:solidFill>
                  <a:srgbClr val="34373D"/>
                </a:solidFill>
                <a:latin typeface="IBM Plex Sans KR" pitchFamily="34" charset="0"/>
                <a:ea typeface="IBM Plex Sans KR" pitchFamily="34" charset="-122"/>
                <a:cs typeface="IBM Plex Sans KR" pitchFamily="34" charset="-120"/>
              </a:rPr>
              <a:t>banana</a:t>
            </a:r>
            <a:endParaRPr lang="en-US" sz="945" dirty="0"/>
          </a:p>
        </p:txBody>
      </p:sp>
      <p:sp>
        <p:nvSpPr>
          <p:cNvPr id="27" name="Text 25"/>
          <p:cNvSpPr/>
          <p:nvPr/>
        </p:nvSpPr>
        <p:spPr>
          <a:xfrm>
            <a:off x="9679838" y="3614623"/>
            <a:ext cx="1731874" cy="246888"/>
          </a:xfrm>
          <a:prstGeom prst="rect">
            <a:avLst/>
          </a:prstGeom>
          <a:noFill/>
          <a:ln/>
        </p:spPr>
        <p:txBody>
          <a:bodyPr wrap="square" lIns="0" tIns="0" rIns="0" bIns="0" rtlCol="0" anchor="ctr"/>
          <a:lstStyle/>
          <a:p>
            <a:pPr algn="r" indent="0" marL="0">
              <a:buNone/>
            </a:pPr>
            <a:r>
              <a:rPr lang="en-US" sz="810" dirty="0">
                <a:solidFill>
                  <a:srgbClr val="6C7078"/>
                </a:solidFill>
                <a:latin typeface="IBM Plex Mono" pitchFamily="34" charset="0"/>
                <a:ea typeface="IBM Plex Mono" pitchFamily="34" charset="-122"/>
                <a:cs typeface="IBM Plex Mono" pitchFamily="34" charset="-120"/>
              </a:rPr>
              <a:t>10-08 18:40</a:t>
            </a:r>
            <a:endParaRPr lang="en-US" sz="810" dirty="0"/>
          </a:p>
        </p:txBody>
      </p:sp>
      <p:sp>
        <p:nvSpPr>
          <p:cNvPr id="28" name="Shape 26"/>
          <p:cNvSpPr/>
          <p:nvPr/>
        </p:nvSpPr>
        <p:spPr>
          <a:xfrm>
            <a:off x="7013448" y="3861511"/>
            <a:ext cx="4443984" cy="0"/>
          </a:xfrm>
          <a:prstGeom prst="line">
            <a:avLst/>
          </a:prstGeom>
          <a:noFill/>
          <a:ln w="9525">
            <a:solidFill>
              <a:srgbClr val="E0E3E7"/>
            </a:solidFill>
            <a:prstDash val="solid"/>
          </a:ln>
        </p:spPr>
      </p:sp>
      <p:sp>
        <p:nvSpPr>
          <p:cNvPr id="29" name="Text 27"/>
          <p:cNvSpPr/>
          <p:nvPr/>
        </p:nvSpPr>
        <p:spPr>
          <a:xfrm>
            <a:off x="7059168" y="3861511"/>
            <a:ext cx="2666390" cy="246888"/>
          </a:xfrm>
          <a:prstGeom prst="rect">
            <a:avLst/>
          </a:prstGeom>
          <a:noFill/>
          <a:ln/>
        </p:spPr>
        <p:txBody>
          <a:bodyPr wrap="square" lIns="0" tIns="0" rIns="0" bIns="0" rtlCol="0" anchor="ctr"/>
          <a:lstStyle/>
          <a:p>
            <a:pPr indent="0" marL="0">
              <a:buNone/>
            </a:pPr>
            <a:r>
              <a:rPr lang="en-US" sz="945" dirty="0">
                <a:solidFill>
                  <a:srgbClr val="34373D"/>
                </a:solidFill>
                <a:latin typeface="IBM Plex Sans KR" pitchFamily="34" charset="0"/>
                <a:ea typeface="IBM Plex Sans KR" pitchFamily="34" charset="-122"/>
                <a:cs typeface="IBM Plex Sans KR" pitchFamily="34" charset="-120"/>
              </a:rPr>
              <a:t>log</a:t>
            </a:r>
            <a:endParaRPr lang="en-US" sz="945" dirty="0"/>
          </a:p>
        </p:txBody>
      </p:sp>
      <p:sp>
        <p:nvSpPr>
          <p:cNvPr id="30" name="Text 28"/>
          <p:cNvSpPr/>
          <p:nvPr/>
        </p:nvSpPr>
        <p:spPr>
          <a:xfrm>
            <a:off x="9679838" y="3861511"/>
            <a:ext cx="1731874" cy="246888"/>
          </a:xfrm>
          <a:prstGeom prst="rect">
            <a:avLst/>
          </a:prstGeom>
          <a:noFill/>
          <a:ln/>
        </p:spPr>
        <p:txBody>
          <a:bodyPr wrap="square" lIns="0" tIns="0" rIns="0" bIns="0" rtlCol="0" anchor="ctr"/>
          <a:lstStyle/>
          <a:p>
            <a:pPr algn="r" indent="0" marL="0">
              <a:buNone/>
            </a:pPr>
            <a:r>
              <a:rPr lang="en-US" sz="810" dirty="0">
                <a:solidFill>
                  <a:srgbClr val="6C7078"/>
                </a:solidFill>
                <a:latin typeface="IBM Plex Mono" pitchFamily="34" charset="0"/>
                <a:ea typeface="IBM Plex Mono" pitchFamily="34" charset="-122"/>
                <a:cs typeface="IBM Plex Mono" pitchFamily="34" charset="-120"/>
              </a:rPr>
              <a:t>10-08 09:15</a:t>
            </a:r>
            <a:endParaRPr lang="en-US" sz="810" dirty="0"/>
          </a:p>
        </p:txBody>
      </p:sp>
      <p:sp>
        <p:nvSpPr>
          <p:cNvPr id="31" name="Shape 29"/>
          <p:cNvSpPr/>
          <p:nvPr/>
        </p:nvSpPr>
        <p:spPr>
          <a:xfrm>
            <a:off x="7013448" y="4108399"/>
            <a:ext cx="4443984" cy="0"/>
          </a:xfrm>
          <a:prstGeom prst="line">
            <a:avLst/>
          </a:prstGeom>
          <a:noFill/>
          <a:ln w="9525">
            <a:solidFill>
              <a:srgbClr val="E0E3E7"/>
            </a:solidFill>
            <a:prstDash val="solid"/>
          </a:ln>
        </p:spPr>
      </p:sp>
      <p:sp>
        <p:nvSpPr>
          <p:cNvPr id="32" name="Text 30"/>
          <p:cNvSpPr/>
          <p:nvPr/>
        </p:nvSpPr>
        <p:spPr>
          <a:xfrm>
            <a:off x="7059168" y="4108399"/>
            <a:ext cx="2666390" cy="246888"/>
          </a:xfrm>
          <a:prstGeom prst="rect">
            <a:avLst/>
          </a:prstGeom>
          <a:noFill/>
          <a:ln/>
        </p:spPr>
        <p:txBody>
          <a:bodyPr wrap="square" lIns="0" tIns="0" rIns="0" bIns="0" rtlCol="0" anchor="ctr"/>
          <a:lstStyle/>
          <a:p>
            <a:pPr indent="0" marL="0">
              <a:buNone/>
            </a:pPr>
            <a:r>
              <a:rPr lang="en-US" sz="945" dirty="0">
                <a:solidFill>
                  <a:srgbClr val="34373D"/>
                </a:solidFill>
                <a:latin typeface="IBM Plex Sans KR" pitchFamily="34" charset="0"/>
                <a:ea typeface="IBM Plex Sans KR" pitchFamily="34" charset="-122"/>
                <a:cs typeface="IBM Plex Sans KR" pitchFamily="34" charset="-120"/>
              </a:rPr>
              <a:t>cherry</a:t>
            </a:r>
            <a:endParaRPr lang="en-US" sz="945" dirty="0"/>
          </a:p>
        </p:txBody>
      </p:sp>
      <p:sp>
        <p:nvSpPr>
          <p:cNvPr id="33" name="Text 31"/>
          <p:cNvSpPr/>
          <p:nvPr/>
        </p:nvSpPr>
        <p:spPr>
          <a:xfrm>
            <a:off x="9679838" y="4108399"/>
            <a:ext cx="1731874" cy="246888"/>
          </a:xfrm>
          <a:prstGeom prst="rect">
            <a:avLst/>
          </a:prstGeom>
          <a:noFill/>
          <a:ln/>
        </p:spPr>
        <p:txBody>
          <a:bodyPr wrap="square" lIns="0" tIns="0" rIns="0" bIns="0" rtlCol="0" anchor="ctr"/>
          <a:lstStyle/>
          <a:p>
            <a:pPr algn="r" indent="0" marL="0">
              <a:buNone/>
            </a:pPr>
            <a:r>
              <a:rPr lang="en-US" sz="810" dirty="0">
                <a:solidFill>
                  <a:srgbClr val="6C7078"/>
                </a:solidFill>
                <a:latin typeface="IBM Plex Mono" pitchFamily="34" charset="0"/>
                <a:ea typeface="IBM Plex Mono" pitchFamily="34" charset="-122"/>
                <a:cs typeface="IBM Plex Mono" pitchFamily="34" charset="-120"/>
              </a:rPr>
              <a:t>10-07 21:02</a:t>
            </a:r>
            <a:endParaRPr lang="en-US" sz="810" dirty="0"/>
          </a:p>
        </p:txBody>
      </p:sp>
      <p:sp>
        <p:nvSpPr>
          <p:cNvPr id="34" name="Shape 32"/>
          <p:cNvSpPr/>
          <p:nvPr/>
        </p:nvSpPr>
        <p:spPr>
          <a:xfrm>
            <a:off x="6958584" y="3301898"/>
            <a:ext cx="4553712" cy="1102766"/>
          </a:xfrm>
          <a:prstGeom prst="roundRect">
            <a:avLst>
              <a:gd name="adj" fmla="val 4146"/>
            </a:avLst>
          </a:prstGeom>
          <a:noFill/>
          <a:ln w="25400">
            <a:solidFill>
              <a:srgbClr val="FF5C00"/>
            </a:solidFill>
            <a:prstDash val="solid"/>
          </a:ln>
        </p:spPr>
      </p:sp>
      <p:sp>
        <p:nvSpPr>
          <p:cNvPr id="35" name="Shape 33"/>
          <p:cNvSpPr/>
          <p:nvPr/>
        </p:nvSpPr>
        <p:spPr>
          <a:xfrm>
            <a:off x="530352" y="4572000"/>
            <a:ext cx="6035040" cy="1143000"/>
          </a:xfrm>
          <a:prstGeom prst="roundRect">
            <a:avLst>
              <a:gd name="adj" fmla="val 4400"/>
            </a:avLst>
          </a:prstGeom>
          <a:solidFill>
            <a:srgbClr val="E7F2ED"/>
          </a:solidFill>
          <a:ln w="12700">
            <a:solidFill>
              <a:srgbClr val="0E7C86"/>
            </a:solidFill>
            <a:prstDash val="solid"/>
          </a:ln>
        </p:spPr>
      </p:sp>
      <p:sp>
        <p:nvSpPr>
          <p:cNvPr id="36" name="Text 34"/>
          <p:cNvSpPr/>
          <p:nvPr/>
        </p:nvSpPr>
        <p:spPr>
          <a:xfrm>
            <a:off x="713232" y="4736592"/>
            <a:ext cx="566928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목업은 제출물이 아니다</a:t>
            </a:r>
            <a:endParaRPr lang="en-US" sz="1650" dirty="0"/>
          </a:p>
        </p:txBody>
      </p:sp>
      <p:sp>
        <p:nvSpPr>
          <p:cNvPr id="37" name="Text 35"/>
          <p:cNvSpPr/>
          <p:nvPr/>
        </p:nvSpPr>
        <p:spPr>
          <a:xfrm>
            <a:off x="713232" y="5230368"/>
            <a:ext cx="5669280" cy="338328"/>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내 PRD 5항이 화면에서 어떻게 보일지 확인하는 도구</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Live Server로 보고, F5로 무엇이 남는지 본다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10</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07-2 · 11쪽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11</a:t>
            </a:r>
            <a:endParaRPr lang="en-US" sz="900" dirty="0"/>
          </a:p>
        </p:txBody>
      </p:sp>
      <p:sp>
        <p:nvSpPr>
          <p:cNvPr id="10" name="Shape 8"/>
          <p:cNvSpPr/>
          <p:nvPr/>
        </p:nvSpPr>
        <p:spPr>
          <a:xfrm>
            <a:off x="530352" y="1920240"/>
            <a:ext cx="3566160" cy="2103120"/>
          </a:xfrm>
          <a:prstGeom prst="roundRect">
            <a:avLst>
              <a:gd name="adj" fmla="val 2391"/>
            </a:avLst>
          </a:prstGeom>
          <a:solidFill>
            <a:srgbClr val="F1F2F4"/>
          </a:solidFill>
          <a:ln w="12700">
            <a:solidFill>
              <a:srgbClr val="E0E3E7"/>
            </a:solidFill>
            <a:prstDash val="solid"/>
          </a:ln>
        </p:spPr>
      </p:sp>
      <p:sp>
        <p:nvSpPr>
          <p:cNvPr id="11" name="Text 9"/>
          <p:cNvSpPr/>
          <p:nvPr/>
        </p:nvSpPr>
        <p:spPr>
          <a:xfrm>
            <a:off x="713232" y="2084832"/>
            <a:ext cx="3200400"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2" name="Text 10"/>
          <p:cNvSpPr/>
          <p:nvPr/>
        </p:nvSpPr>
        <p:spPr>
          <a:xfrm>
            <a:off x="713232" y="2505456"/>
            <a:ext cx="320040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Open with Live Server</a:t>
            </a:r>
            <a:endParaRPr lang="en-US" sz="1650" dirty="0"/>
          </a:p>
        </p:txBody>
      </p:sp>
      <p:sp>
        <p:nvSpPr>
          <p:cNvPr id="13" name="Text 11"/>
          <p:cNvSpPr/>
          <p:nvPr/>
        </p:nvSpPr>
        <p:spPr>
          <a:xfrm>
            <a:off x="713232" y="2999232"/>
            <a:ext cx="3200400" cy="87782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mockup → index.html 오른쪽 클릭 · 열려 있으면 저절로 바뀐다</a:t>
            </a:r>
            <a:endParaRPr lang="en-US" sz="1300" dirty="0"/>
          </a:p>
        </p:txBody>
      </p:sp>
      <p:sp>
        <p:nvSpPr>
          <p:cNvPr id="14" name="Shape 12"/>
          <p:cNvSpPr/>
          <p:nvPr/>
        </p:nvSpPr>
        <p:spPr>
          <a:xfrm>
            <a:off x="4306824" y="1920240"/>
            <a:ext cx="3566160" cy="2103120"/>
          </a:xfrm>
          <a:prstGeom prst="roundRect">
            <a:avLst>
              <a:gd name="adj" fmla="val 2391"/>
            </a:avLst>
          </a:prstGeom>
          <a:solidFill>
            <a:srgbClr val="F1F2F4"/>
          </a:solidFill>
          <a:ln w="12700">
            <a:solidFill>
              <a:srgbClr val="E0E3E7"/>
            </a:solidFill>
            <a:prstDash val="solid"/>
          </a:ln>
        </p:spPr>
      </p:sp>
      <p:sp>
        <p:nvSpPr>
          <p:cNvPr id="15" name="Text 13"/>
          <p:cNvSpPr/>
          <p:nvPr/>
        </p:nvSpPr>
        <p:spPr>
          <a:xfrm>
            <a:off x="4489704" y="2084832"/>
            <a:ext cx="3200400"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6" name="Text 14"/>
          <p:cNvSpPr/>
          <p:nvPr/>
        </p:nvSpPr>
        <p:spPr>
          <a:xfrm>
            <a:off x="4489704" y="2505456"/>
            <a:ext cx="320040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5항과 맞는지 본다</a:t>
            </a:r>
            <a:endParaRPr lang="en-US" sz="1650" dirty="0"/>
          </a:p>
        </p:txBody>
      </p:sp>
      <p:sp>
        <p:nvSpPr>
          <p:cNvPr id="17" name="Text 15"/>
          <p:cNvSpPr/>
          <p:nvPr/>
        </p:nvSpPr>
        <p:spPr>
          <a:xfrm>
            <a:off x="4489704" y="2999232"/>
            <a:ext cx="3200400" cy="87782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다르면 PRD를 먼저 고치고 같은 요청을 다시</a:t>
            </a:r>
            <a:endParaRPr lang="en-US" sz="1300" dirty="0"/>
          </a:p>
        </p:txBody>
      </p:sp>
      <p:sp>
        <p:nvSpPr>
          <p:cNvPr id="18" name="Shape 16"/>
          <p:cNvSpPr/>
          <p:nvPr/>
        </p:nvSpPr>
        <p:spPr>
          <a:xfrm>
            <a:off x="8083296" y="1920240"/>
            <a:ext cx="3566160" cy="2103120"/>
          </a:xfrm>
          <a:prstGeom prst="roundRect">
            <a:avLst>
              <a:gd name="adj" fmla="val 2391"/>
            </a:avLst>
          </a:prstGeom>
          <a:solidFill>
            <a:srgbClr val="E7F2ED"/>
          </a:solidFill>
          <a:ln w="12700">
            <a:solidFill>
              <a:srgbClr val="0E7C86"/>
            </a:solidFill>
            <a:prstDash val="solid"/>
          </a:ln>
        </p:spPr>
      </p:sp>
      <p:sp>
        <p:nvSpPr>
          <p:cNvPr id="19" name="Text 17"/>
          <p:cNvSpPr/>
          <p:nvPr/>
        </p:nvSpPr>
        <p:spPr>
          <a:xfrm>
            <a:off x="8266176" y="2084832"/>
            <a:ext cx="3200400"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3</a:t>
            </a:r>
            <a:endParaRPr lang="en-US" sz="1800" dirty="0"/>
          </a:p>
        </p:txBody>
      </p:sp>
      <p:sp>
        <p:nvSpPr>
          <p:cNvPr id="20" name="Text 18"/>
          <p:cNvSpPr/>
          <p:nvPr/>
        </p:nvSpPr>
        <p:spPr>
          <a:xfrm>
            <a:off x="8266176" y="2505456"/>
            <a:ext cx="320040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새 항목 → 버튼 → F5</a:t>
            </a:r>
            <a:endParaRPr lang="en-US" sz="1650" dirty="0"/>
          </a:p>
        </p:txBody>
      </p:sp>
      <p:sp>
        <p:nvSpPr>
          <p:cNvPr id="21" name="Text 19"/>
          <p:cNvSpPr/>
          <p:nvPr/>
        </p:nvSpPr>
        <p:spPr>
          <a:xfrm>
            <a:off x="8266176" y="2999232"/>
            <a:ext cx="3200400" cy="877824"/>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예시 세 개는 남고, 방금 결과는 대개 사라진다</a:t>
            </a:r>
            <a:endParaRPr lang="en-US" sz="1300" dirty="0"/>
          </a:p>
        </p:txBody>
      </p:sp>
      <p:sp>
        <p:nvSpPr>
          <p:cNvPr id="22" name="Shape 20"/>
          <p:cNvSpPr/>
          <p:nvPr/>
        </p:nvSpPr>
        <p:spPr>
          <a:xfrm>
            <a:off x="530352" y="4343400"/>
            <a:ext cx="11128248" cy="512064"/>
          </a:xfrm>
          <a:prstGeom prst="roundRect">
            <a:avLst>
              <a:gd name="adj" fmla="val 39286"/>
            </a:avLst>
          </a:prstGeom>
          <a:solidFill>
            <a:srgbClr val="EAF5FB"/>
          </a:solidFill>
          <a:ln w="12700">
            <a:solidFill>
              <a:srgbClr val="3D8DFF"/>
            </a:solidFill>
            <a:prstDash val="solid"/>
          </a:ln>
        </p:spPr>
      </p:sp>
      <p:sp>
        <p:nvSpPr>
          <p:cNvPr id="23" name="Text 21"/>
          <p:cNvSpPr/>
          <p:nvPr/>
        </p:nvSpPr>
        <p:spPr>
          <a:xfrm>
            <a:off x="731520" y="4343400"/>
            <a:ext cx="10725912" cy="512064"/>
          </a:xfrm>
          <a:prstGeom prst="rect">
            <a:avLst/>
          </a:prstGeom>
          <a:noFill/>
          <a:ln/>
        </p:spPr>
        <p:txBody>
          <a:bodyPr wrap="square" lIns="0" tIns="0" rIns="0" bIns="0" rtlCol="0" anchor="ctr"/>
          <a:lstStyle/>
          <a:p>
            <a:pPr algn="ctr" indent="0" marL="0">
              <a:buNone/>
            </a:pPr>
            <a:r>
              <a:rPr lang="en-US" sz="1450" b="1" dirty="0">
                <a:solidFill>
                  <a:srgbClr val="34373D"/>
                </a:solidFill>
                <a:latin typeface="IBM Plex Sans KR" pitchFamily="34" charset="0"/>
                <a:ea typeface="IBM Plex Sans KR" pitchFamily="34" charset="-122"/>
                <a:cs typeface="IBM Plex Sans KR" pitchFamily="34" charset="-120"/>
              </a:rPr>
              <a:t>남아 있어도 내 브라우저 안에만 잠깐 · 다른 컴퓨터에서는 보이지 않는다</a:t>
            </a:r>
            <a:endParaRPr lang="en-US" sz="1450" dirty="0"/>
          </a:p>
        </p:txBody>
      </p:sp>
      <p:sp>
        <p:nvSpPr>
          <p:cNvPr id="24" name="Shape 22"/>
          <p:cNvSpPr/>
          <p:nvPr/>
        </p:nvSpPr>
        <p:spPr>
          <a:xfrm>
            <a:off x="530352" y="5029200"/>
            <a:ext cx="11128248" cy="512064"/>
          </a:xfrm>
          <a:prstGeom prst="roundRect">
            <a:avLst>
              <a:gd name="adj" fmla="val 39286"/>
            </a:avLst>
          </a:prstGeom>
          <a:solidFill>
            <a:srgbClr val="FF5C00"/>
          </a:solidFill>
          <a:ln w="12700">
            <a:solidFill>
              <a:srgbClr val="FF5C00"/>
            </a:solidFill>
            <a:prstDash val="solid"/>
          </a:ln>
        </p:spPr>
      </p:sp>
      <p:sp>
        <p:nvSpPr>
          <p:cNvPr id="25" name="Text 23"/>
          <p:cNvSpPr/>
          <p:nvPr/>
        </p:nvSpPr>
        <p:spPr>
          <a:xfrm>
            <a:off x="731520" y="502920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진짜로 기억하게 하는 것은 11회 SQLite · 오늘의 5항과 6항 3번이 그 기준</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7-2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저장하고 8회를 준비한다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11</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07-2 · 12–13쪽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12</a:t>
            </a:r>
            <a:endParaRPr lang="en-US" sz="900" dirty="0"/>
          </a:p>
        </p:txBody>
      </p:sp>
      <p:sp>
        <p:nvSpPr>
          <p:cNvPr id="10" name="Shape 8"/>
          <p:cNvSpPr/>
          <p:nvPr/>
        </p:nvSpPr>
        <p:spPr>
          <a:xfrm>
            <a:off x="530352" y="1874520"/>
            <a:ext cx="3783604" cy="402336"/>
          </a:xfrm>
          <a:prstGeom prst="rect">
            <a:avLst/>
          </a:prstGeom>
          <a:solidFill>
            <a:srgbClr val="1B1D21"/>
          </a:solidFill>
          <a:ln/>
        </p:spPr>
      </p:sp>
      <p:sp>
        <p:nvSpPr>
          <p:cNvPr id="11" name="Text 9"/>
          <p:cNvSpPr/>
          <p:nvPr/>
        </p:nvSpPr>
        <p:spPr>
          <a:xfrm>
            <a:off x="658368" y="1874520"/>
            <a:ext cx="352757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06 폴더에 남은 것</a:t>
            </a:r>
            <a:endParaRPr lang="en-US" sz="1050" dirty="0"/>
          </a:p>
        </p:txBody>
      </p:sp>
      <p:sp>
        <p:nvSpPr>
          <p:cNvPr id="12" name="Shape 10"/>
          <p:cNvSpPr/>
          <p:nvPr/>
        </p:nvSpPr>
        <p:spPr>
          <a:xfrm>
            <a:off x="4313956" y="1874520"/>
            <a:ext cx="7344644" cy="402336"/>
          </a:xfrm>
          <a:prstGeom prst="rect">
            <a:avLst/>
          </a:prstGeom>
          <a:solidFill>
            <a:srgbClr val="1B1D21"/>
          </a:solidFill>
          <a:ln/>
        </p:spPr>
      </p:sp>
      <p:sp>
        <p:nvSpPr>
          <p:cNvPr id="13" name="Text 11"/>
          <p:cNvSpPr/>
          <p:nvPr/>
        </p:nvSpPr>
        <p:spPr>
          <a:xfrm>
            <a:off x="4441972" y="1874520"/>
            <a:ext cx="708861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다음에</a:t>
            </a:r>
            <a:endParaRPr lang="en-US" sz="1050" dirty="0"/>
          </a:p>
        </p:txBody>
      </p:sp>
      <p:sp>
        <p:nvSpPr>
          <p:cNvPr id="14" name="Shape 12"/>
          <p:cNvSpPr/>
          <p:nvPr/>
        </p:nvSpPr>
        <p:spPr>
          <a:xfrm>
            <a:off x="530352" y="2276856"/>
            <a:ext cx="11128248" cy="512064"/>
          </a:xfrm>
          <a:prstGeom prst="rect">
            <a:avLst/>
          </a:prstGeom>
          <a:solidFill>
            <a:srgbClr val="F1F2F4"/>
          </a:solidFill>
          <a:ln w="9525">
            <a:solidFill>
              <a:srgbClr val="E0E3E7"/>
            </a:solidFill>
            <a:prstDash val="solid"/>
          </a:ln>
        </p:spPr>
      </p:sp>
      <p:sp>
        <p:nvSpPr>
          <p:cNvPr id="15" name="Text 13"/>
          <p:cNvSpPr/>
          <p:nvPr/>
        </p:nvSpPr>
        <p:spPr>
          <a:xfrm>
            <a:off x="658368" y="2276856"/>
            <a:ext cx="3527572" cy="512064"/>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PRD.md</a:t>
            </a:r>
            <a:endParaRPr lang="en-US" sz="1300" dirty="0"/>
          </a:p>
        </p:txBody>
      </p:sp>
      <p:sp>
        <p:nvSpPr>
          <p:cNvPr id="16" name="Text 14"/>
          <p:cNvSpPr/>
          <p:nvPr/>
        </p:nvSpPr>
        <p:spPr>
          <a:xfrm>
            <a:off x="4441972" y="2276856"/>
            <a:ext cx="7088612" cy="512064"/>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1~7항이 모두 찼다 · 8회 제출 때 08_assessment2_학생ID_이름.md로 이름을 바꾼다</a:t>
            </a:r>
            <a:endParaRPr lang="en-US" sz="1300" dirty="0"/>
          </a:p>
        </p:txBody>
      </p:sp>
      <p:sp>
        <p:nvSpPr>
          <p:cNvPr id="17" name="Shape 15"/>
          <p:cNvSpPr/>
          <p:nvPr/>
        </p:nvSpPr>
        <p:spPr>
          <a:xfrm>
            <a:off x="530352" y="2788920"/>
            <a:ext cx="11128248" cy="512064"/>
          </a:xfrm>
          <a:prstGeom prst="rect">
            <a:avLst/>
          </a:prstGeom>
          <a:solidFill>
            <a:srgbClr val="FFFFFF"/>
          </a:solidFill>
          <a:ln w="9525">
            <a:solidFill>
              <a:srgbClr val="E0E3E7"/>
            </a:solidFill>
            <a:prstDash val="solid"/>
          </a:ln>
        </p:spPr>
      </p:sp>
      <p:sp>
        <p:nvSpPr>
          <p:cNvPr id="18" name="Text 16"/>
          <p:cNvSpPr/>
          <p:nvPr/>
        </p:nvSpPr>
        <p:spPr>
          <a:xfrm>
            <a:off x="658368" y="2788920"/>
            <a:ext cx="3527572" cy="512064"/>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mockup 폴더</a:t>
            </a:r>
            <a:endParaRPr lang="en-US" sz="1300" dirty="0"/>
          </a:p>
        </p:txBody>
      </p:sp>
      <p:sp>
        <p:nvSpPr>
          <p:cNvPr id="19" name="Text 17"/>
          <p:cNvSpPr/>
          <p:nvPr/>
        </p:nvSpPr>
        <p:spPr>
          <a:xfrm>
            <a:off x="4441972" y="2788920"/>
            <a:ext cx="7088612" cy="512064"/>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지난 기록을 붙인 목업 · 제출물은 아니다</a:t>
            </a:r>
            <a:endParaRPr lang="en-US" sz="1300" dirty="0"/>
          </a:p>
        </p:txBody>
      </p:sp>
      <p:sp>
        <p:nvSpPr>
          <p:cNvPr id="20" name="Shape 18"/>
          <p:cNvSpPr/>
          <p:nvPr/>
        </p:nvSpPr>
        <p:spPr>
          <a:xfrm>
            <a:off x="530352" y="3300984"/>
            <a:ext cx="11128248" cy="512064"/>
          </a:xfrm>
          <a:prstGeom prst="rect">
            <a:avLst/>
          </a:prstGeom>
          <a:solidFill>
            <a:srgbClr val="F1F2F4"/>
          </a:solidFill>
          <a:ln w="9525">
            <a:solidFill>
              <a:srgbClr val="E0E3E7"/>
            </a:solidFill>
            <a:prstDash val="solid"/>
          </a:ln>
        </p:spPr>
      </p:sp>
      <p:sp>
        <p:nvSpPr>
          <p:cNvPr id="21" name="Text 19"/>
          <p:cNvSpPr/>
          <p:nvPr/>
        </p:nvSpPr>
        <p:spPr>
          <a:xfrm>
            <a:off x="658368" y="3300984"/>
            <a:ext cx="3527572" cy="512064"/>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데이터_예시.md · 기획_메모.md · .agents · opencode.json</a:t>
            </a:r>
            <a:endParaRPr lang="en-US" sz="1300" dirty="0"/>
          </a:p>
        </p:txBody>
      </p:sp>
      <p:sp>
        <p:nvSpPr>
          <p:cNvPr id="22" name="Text 20"/>
          <p:cNvSpPr/>
          <p:nvPr/>
        </p:nvSpPr>
        <p:spPr>
          <a:xfrm>
            <a:off x="4441972" y="3300984"/>
            <a:ext cx="7088612" cy="512064"/>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지우지 않는다</a:t>
            </a:r>
            <a:endParaRPr lang="en-US" sz="1300" dirty="0"/>
          </a:p>
        </p:txBody>
      </p:sp>
      <p:sp>
        <p:nvSpPr>
          <p:cNvPr id="23" name="Shape 21"/>
          <p:cNvSpPr/>
          <p:nvPr/>
        </p:nvSpPr>
        <p:spPr>
          <a:xfrm>
            <a:off x="530352" y="4023360"/>
            <a:ext cx="11128248" cy="512064"/>
          </a:xfrm>
          <a:prstGeom prst="roundRect">
            <a:avLst>
              <a:gd name="adj" fmla="val 39286"/>
            </a:avLst>
          </a:prstGeom>
          <a:solidFill>
            <a:srgbClr val="FF5C00"/>
          </a:solidFill>
          <a:ln w="12700">
            <a:solidFill>
              <a:srgbClr val="FF5C00"/>
            </a:solidFill>
            <a:prstDash val="solid"/>
          </a:ln>
        </p:spPr>
      </p:sp>
      <p:sp>
        <p:nvSpPr>
          <p:cNvPr id="24" name="Text 22"/>
          <p:cNvSpPr/>
          <p:nvPr/>
        </p:nvSpPr>
        <p:spPr>
          <a:xfrm>
            <a:off x="731520" y="402336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탭 이름 옆에 ● 가 있으면 저장 전 · PRD.md Ctrl+S</a:t>
            </a:r>
            <a:endParaRPr lang="en-US" sz="1500" dirty="0"/>
          </a:p>
        </p:txBody>
      </p:sp>
      <p:sp>
        <p:nvSpPr>
          <p:cNvPr id="25" name="Shape 23"/>
          <p:cNvSpPr/>
          <p:nvPr/>
        </p:nvSpPr>
        <p:spPr>
          <a:xfrm>
            <a:off x="530352" y="4663440"/>
            <a:ext cx="11128248" cy="960120"/>
          </a:xfrm>
          <a:prstGeom prst="roundRect">
            <a:avLst>
              <a:gd name="adj" fmla="val 5238"/>
            </a:avLst>
          </a:prstGeom>
          <a:solidFill>
            <a:srgbClr val="F1F2F4"/>
          </a:solidFill>
          <a:ln w="12700">
            <a:solidFill>
              <a:srgbClr val="E0E3E7"/>
            </a:solidFill>
            <a:prstDash val="solid"/>
          </a:ln>
        </p:spPr>
      </p:sp>
      <p:sp>
        <p:nvSpPr>
          <p:cNvPr id="26" name="Text 24"/>
          <p:cNvSpPr/>
          <p:nvPr/>
        </p:nvSpPr>
        <p:spPr>
          <a:xfrm>
            <a:off x="713232" y="4828032"/>
            <a:ext cx="10762488" cy="64922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막혔던 곳은 교과서 12쪽 「이럴 때는 이렇게 한다」 · 8회는 수행평가 2 — 새로 쓰지 않고 읽고 다듬어 제출한다</a:t>
            </a:r>
            <a:endParaRPr lang="en-US" sz="1350" dirty="0"/>
          </a:p>
        </p:txBody>
      </p:sp>
      <p:sp>
        <p:nvSpPr>
          <p:cNvPr id="27" name="Text 25"/>
          <p:cNvSpPr/>
          <p:nvPr/>
        </p:nvSpPr>
        <p:spPr>
          <a:xfrm>
            <a:off x="530352" y="589788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PRD의 모든 칸이 찼다 · 8회에는 처음부터 끝까지 읽는다</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2026-10-11T06:18:22Z</dcterms:created>
  <dcterms:modified xsi:type="dcterms:W3CDTF">2026-10-11T06:18:22Z</dcterms:modified>
</cp:coreProperties>
</file>