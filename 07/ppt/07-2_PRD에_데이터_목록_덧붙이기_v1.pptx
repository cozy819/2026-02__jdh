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[0–2분] 표지
지난 시간에 표를 배웠고, 내 서비스의 표를 네 번 적었죠.
오늘은 그걸 계획서로 옮깁니다. 6-2에 만든 파일을 열어 5번 데이터 항목을 채웁니다.
미리 말해 둡니다. **기술 용어로 적는 시간이 아닙니다.** 「무엇을 기억해야 하는가」를 여러분 말로 적는 시간이에요.
PK 니 FK 니 하는 말은 안 적어도 됩니다. 적고 싶으면 적어도 되고요.
[진행 메모]
6-2의 PRD 파일과 7-1 교과서를 둘 다 열어 두게 한다. 둘 중 하나라도 없으면 오늘이 막힌다.
파일이 없는 학생은 6-2의 내려받기 버튼으로 양식을 다시 받게 한다. 5분이면 따라온다.
[시간 계획 — 학생 화면에는 표시하지 않는다]
0–2 표지 / 2–5 오늘 적을 것과 안 적을 것 / 5–13 기록 정하기
13–20 기억할 것과 안 할 것 나누기 / 20–27 테이블 후보로 묶기
27–32 관계 한 문장 / 32–39 AI 점검 / 39–43 자기 점검 / 43–45 정리
※ 설명은 10분을 넘기지 않는다. **오늘의 성과는 5번 항목에 채워진 줄 수다.**
※ 「기억할 게 없는 서비스」라는 학생이 나온다. 교과서 9~10쪽에 그 경우가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[2–5분] 오늘 적을 것과 적지 않을 것
왼쪽이 오늘 적는 것입니다. 넷이에요.
오른쪽은 안 적는 것입니다. SQL 문장, 자료형 이름, 인덱스, 정규화. 그리고 **실제 사람의 개인정보.**
마지막 게 중요합니다. 친구 이름, 전화번호, 생일 같은 건 저장하지 않습니다. 필요하면 가상의 값을 씁니다.
용어는 자유입니다. PK 라고 적어도 되고 「번호」라고 적어도 됩니다. 채점하는 건 용어가 아니라 **항목끼리 맞는가**예요.
[예상 질문]
Q. 어려운 말 쓰면 점수 더 주나요?
A. 아니다. 오히려 뜻을 모르고 쓴 게 보이면 감점 요인이다. 8회 채점 기준이 그렇다.
[진행 메모]
3분 넘기지 않는다. **개인정보 이야기만 확실히 하고**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[5–13분] 사용자가 나중에 다시 볼 기록
계획서 5번을 여세요. 첫 세 줄부터 채웁니다. 7분 드립니다.
첫 줄이 제일 중요합니다. **이게 안 남으면 서비스가 안 되는 것.** 할 일 앱이면 「적은 할 일」이고, 독서 기록이면 「읽은 기록」이죠.
두 번째 줄은 그게 언제 생기는가. 6-1에서 적은 흐름 네 단계를 보세요. 보통 **3번 단계**에서 생깁니다. 버튼을 누르는 그 순간이요.
세 번째 줄은 언제 다시 열어 보는가.
(돌아다니며 확인한다)
기억할 게 없어 보인다는 학생이 있을 겁니다. 교과서 9쪽, 10쪽에 그런 경우가 있습니다. 대부분은 있는데 못 찾은 거예요.
[예상 질문]
Q. 제 서비스는 계산만 하는데요?
A. 계산 결과를 다시 볼 일이 있는지 묻는다. 있으면 그게 기록이다. 정말 없으면 「이번에는 기억할 것이 없다」고 적어도 된다. 교과서 9쪽에 그렇게 적혀 있다.
[진행 메모]
**7분은 오늘 가장 긴 쓰기 구간이다.** 중간에 설명을 끼우지 않는다.
6-1 흐름 표를 못 찾는 학생이 많다. 「17쪽 보세요」로 바로 안내한다.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[13–20분] 기억할 것과 기억하지 않을 것
6분 드립니다.
기준은 하나입니다. **나중에 다시 보여 줘야 하는가.**
보여 줘야 하면 저장하고, 아니면 안 합니다. 계산하다가 잠깐 쓰는 값 같은 건 저장할 필요 없어요.
그리고 남기면 안 되는 것도 있습니다. **실제 사람의 이름, 연락처, 생일.** 이건 다시 보여 줄 일이 있어도 저장하지 않습니다.
마지막 줄에 개인정보를 안 쓰는 방법을 한 줄 적으세요. 가상의 이름을 쓴다, 별명만 받는다, 아예 안 받는다. 셋 중 하나면 됩니다.
(돌아다니며 확인한다)
[예상 질문]
Q. 제 이름은 제가 쓰는 거니까 괜찮지 않아요?
A. 이 수업 프로젝트에서는 안 쓴다. 나중에 다른 사람이 볼 수도 있는 파일이다. 별명으로 하자.
[진행 메모]
「저장하지 않을 정보」 칸을 비우는 학생이 많다. **비우면 안 되는 칸**이라고 한 번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[20–27분] 비슷한 정보는 표 후보로 묶는다
6분 드립니다.
7-1의 10쪽에 그린 표가 있죠. **그걸 그대로 옮기면 됩니다.** 새로 만들지 마세요.
첫 줄은 예시입니다. 표 이름, 한 행이 무엇인지, 들어가는 항목.
「한 행은 무엇인가」를 빠뜨리지 마세요. 지난 시간에 제일 강조한 겁니다.
**표 하나로 충분하면 하나만 적습니다.** 세 줄이 있다고 세 개를 채우는 게 아닙니다.
(돌아다니며 확인한다)
[예상 질문]
Q. 표가 세 개인데요?
A. 이 수업 범위는 1~2개다. 셋 중 지금 안 만들어도 되는 걸 빼게 한다. 6-1의 「만들지 않을 기능」과 같은 이야기다.
[진행 메모]
**억지로 표를 둘로 나눈 학생이 반드시 나온다.** 반복되는 값이 실제로 보이는지 물어본다. 안 보이면 하나로 합치게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[27–32분] 관계는 쉬운 문장으로만 적는다
4분입니다.
7-1의 19쪽에 이미 적어 뒀죠. 그대로 옮기면 됩니다.
**어려운 말을 쓸 필요 없습니다.** 1:N 이라고 안 적어도 되고, 카디널리티 같은 말은 더더욱 필요 없습니다.
「책 하나에 독서 기록 여러 개가 붙는다」. 이 한 문장이면 충분합니다.
표가 하나면 「표 하나로 충분하다」 한 줄 적고 넘어가세요.
(돌아다니며 확인한다)
[진행 메모]
여기는 빨리 끝난다. 먼저 끝낸 학생에게는 앞 칸들을 다시 보게 한다. 특히 「저장하지 않을 정보」 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[32–39분] AI로 목록을 점검한다
교과서 12쪽입니다. 6분 드립니다.
여기까지 적은 문서를 통째로 붙여 넣고 이 요청문을 씁니다.
첫 줄을 보세요. **「표를 새로 설계하거나 고쳐 주지 말고」.** 6-2 때와 같습니다. 정하는 건 나예요.
세 가지만 확인시킵니다. 기능과 기록이 맞는가, 저장한다고 적은 것 중에 다시 볼 일 없는 게 있는가, 그리고 **실제 개인정보가 들어 있는가.**
3번은 반드시 확인하세요. AI가 이건 잘 찾습니다. 이름이나 연락처가 남아 있으면 지우고 별명이나 가상의 값으로 바꾸세요.
AI가 표를 늘리라고 하면 **따르지 않습니다.** 이 수업 범위가 1~2개라는 걸 AI는 모릅니다.
[예상 질문]
Q. AI가 정규화를 하라는데요?
A. 안 한다. 이 수업 범위 밖이다. 그 지적은 무시해도 된다.
[진행 메모]
**AI가 표를 세 개 네 개로 늘려 주는 일이 매번 생긴다.** 그걸 복사해 붙이는 학생을 잡는다.
고친 학생에게는 무엇을 왜 고쳤는지 한 줄 적게 한다. 8회 채점에서 유리하다.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[39–43분] 오늘 채운 칸을 세어 본다
교과서 15쪽입니다. 3분.
일곱 줄을 보고 표시하세요.
**비었음이 두 개 이하면 오늘 몫을 다 한 겁니다.**
그런데 오늘은 지난번과 다릅니다. **다음 시간이 수행평가 2예요.** 남은 칸은 그 전에 채워 와야 합니다.
세 개 이상 비어 있으면 교과서 14쪽 「이럴 때는 이렇게」를 보세요.
(돌아다니며 표시된 것을 본다)
[진행 메모]
**비었음이 셋 이상인 학생을 반드시 적어 둔다.** 다음이 평가 차시라 여기서 놓치면 회복할 시간이 없다.
그 학생들에게는 어느 칸이 비었는지 종이에 적어 주고 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[43–45분] 마무리
오늘 세 가지를 남깁니다.
첫째, 서비스가 **반드시 기억해야 하는 기록**이 있고, 그건 핵심 기능이 하는 일에서 나옵니다.
둘째, **저장하지 않을 것**도 정해야 합니다. 특히 실제 개인정보는 저장하지 않습니다.
셋째, 표는 1~2개면 충분합니다. 관계는 쉬운 문장 하나로 적습니다.
다음 시간은 **수행평가 2**입니다. 새로 배우는 건 없어요. 오늘까지 쓴 계획서를 완성해 제출하는 시간입니다.
파일을 지우지 마세요. 빈칸이 남았으면 그 전에 채워 오세요.
[진행 메모]
**파일을 지우지 말라는 말과, 다음이 평가라는 말을 둘 다 한다.**
겁먹지 않게 「새로 배울 것 없음」을 분명히 말한다. 4주차 마무리에서 쓴 것과 같은 화법이다.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7회 · 둘째 차시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PRD에 데이터 목록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덧붙이기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30352" y="365760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계획서에 비워 둔 「5. 데이터」를 오늘 채웁니다.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어려운 말로 적지 않습니다. 무엇을 기억하는지만 적습니다.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07-2 · 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적을 것과 적지 않을 것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07-2 · 2–4쪽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57400"/>
            <a:ext cx="5349240" cy="2331720"/>
          </a:xfrm>
          <a:prstGeom prst="roundRect">
            <a:avLst>
              <a:gd name="adj" fmla="val 215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22199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적는다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" y="251460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내 말로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008376"/>
            <a:ext cx="4983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서비스가 반드시 기억해야 할 기록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기록이 생기는 순간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저장할 정보와 저장하지 않을 정보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 후보 1~3개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9360" y="2057400"/>
            <a:ext cx="5349240" cy="2331720"/>
          </a:xfrm>
          <a:prstGeom prst="roundRect">
            <a:avLst>
              <a:gd name="adj" fmla="val 2157"/>
            </a:avLst>
          </a:prstGeom>
          <a:solidFill>
            <a:srgbClr val="FFF1E8"/>
          </a:solidFill>
          <a:ln w="12700">
            <a:solidFill>
              <a:srgbClr val="C24A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22199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적지 않는다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92240" y="251460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지금은 아니다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492240" y="3008376"/>
            <a:ext cx="4983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SQL 문장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자료형 이름(VARCHAR 같은 것)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인덱스 · 정규화 단계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실제 사람의 개인정보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0352" y="48006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8006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PK · FK 라고 적어도 되고, 「번호」·「가리키는 칸」이라고 적어도 된다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0352" y="562356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채점하는 것은 용어가 아니라 항목끼리 맞는가다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사용자가 나중에 다시 볼 기록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07-2 · 5–6쪽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계획서 5번 — 첫 세 줄을 채운다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03120"/>
            <a:ext cx="445129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103120"/>
            <a:ext cx="41952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적을 것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981651" y="2103120"/>
            <a:ext cx="667694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4" name="Text 12"/>
          <p:cNvSpPr/>
          <p:nvPr/>
        </p:nvSpPr>
        <p:spPr>
          <a:xfrm>
            <a:off x="5109667" y="2103120"/>
            <a:ext cx="642091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묻는 방식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30352" y="2505456"/>
            <a:ext cx="11128248" cy="56692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2505456"/>
            <a:ext cx="419526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반드시 기억해야 할 기록</a:t>
            </a:r>
            <a:endParaRPr lang="en-US" sz="1240" dirty="0"/>
          </a:p>
        </p:txBody>
      </p:sp>
      <p:sp>
        <p:nvSpPr>
          <p:cNvPr id="17" name="Text 15"/>
          <p:cNvSpPr/>
          <p:nvPr/>
        </p:nvSpPr>
        <p:spPr>
          <a:xfrm>
            <a:off x="5109667" y="2505456"/>
            <a:ext cx="642091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이게 안 남으면 서비스가 안 되는 것은?</a:t>
            </a:r>
            <a:endParaRPr lang="en-US" sz="1240" dirty="0"/>
          </a:p>
        </p:txBody>
      </p:sp>
      <p:sp>
        <p:nvSpPr>
          <p:cNvPr id="18" name="Shape 16"/>
          <p:cNvSpPr/>
          <p:nvPr/>
        </p:nvSpPr>
        <p:spPr>
          <a:xfrm>
            <a:off x="530352" y="3072384"/>
            <a:ext cx="111282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072384"/>
            <a:ext cx="419526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기록이 생기는 사용자 행동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5109667" y="3072384"/>
            <a:ext cx="642091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사용자가 무엇을 했을 때 생기나?</a:t>
            </a:r>
            <a:endParaRPr lang="en-US" sz="1240" dirty="0"/>
          </a:p>
        </p:txBody>
      </p:sp>
      <p:sp>
        <p:nvSpPr>
          <p:cNvPr id="21" name="Shape 19"/>
          <p:cNvSpPr/>
          <p:nvPr/>
        </p:nvSpPr>
        <p:spPr>
          <a:xfrm>
            <a:off x="530352" y="3639312"/>
            <a:ext cx="11128248" cy="56692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639312"/>
            <a:ext cx="419526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확인하는 순간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5109667" y="3639312"/>
            <a:ext cx="642091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언제 다시 열어 보나?</a:t>
            </a: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45720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5720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6-1의 흐름 네 단계를 보면 답이 거기 있다 — 보통 3번 단계에서 생긴다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30352" y="57150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57150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기억할 게 없어 보이면 교과서 9~10쪽을 본다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기억할 것과 기억하지 않을 것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07-2 · 7쪽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계획서 5번 — 저장할 정보와 저장하지 않을 정보를 나눈다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5349240" cy="2148840"/>
          </a:xfrm>
          <a:prstGeom prst="roundRect">
            <a:avLst>
              <a:gd name="adj" fmla="val 2340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3134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저장한다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2807208"/>
            <a:ext cx="498348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서비스가 다시 보여 줘야 하는 것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 · 할 일 내용, 적은 날짜, 완료 여부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9360" y="2148840"/>
            <a:ext cx="5349240" cy="2148840"/>
          </a:xfrm>
          <a:prstGeom prst="roundRect">
            <a:avLst>
              <a:gd name="adj" fmla="val 2340"/>
            </a:avLst>
          </a:prstGeom>
          <a:solidFill>
            <a:srgbClr val="FFF1E8"/>
          </a:solidFill>
          <a:ln w="12700">
            <a:solidFill>
              <a:srgbClr val="C24A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3134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저장하지 않는다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6492240" y="2807208"/>
            <a:ext cx="498348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볼 일이 없거나 남기면 안 되는 것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 · 실제 이름·연락처, 잠깐 쓰는 계산 중간값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30352" y="46634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6634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「나중에 다시 보여 줘야 하는가」 하나로 가른다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2377440" y="5394960"/>
            <a:ext cx="7406640" cy="868680"/>
          </a:xfrm>
          <a:prstGeom prst="roundRect">
            <a:avLst>
              <a:gd name="adj" fmla="val 5789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0" y="5559552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개인정보를 쓰지 않는 방법도 한 줄 적는다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2560320" y="6053328"/>
            <a:ext cx="7040880" cy="64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가상의 이름을 쓴다 · 별명만 받는다 · 아예 안 받는다 중 하나면 된다.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비슷한 정보는 표 후보로 묶는다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07-2 · 8–10쪽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계획서 5번 — 표 후보 1~3개를 적는다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03120"/>
            <a:ext cx="289334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103120"/>
            <a:ext cx="2637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 이름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23696" y="210312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4" name="Text 12"/>
          <p:cNvSpPr/>
          <p:nvPr/>
        </p:nvSpPr>
        <p:spPr>
          <a:xfrm>
            <a:off x="3551712" y="210312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행은 무엇인가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762171" y="2103120"/>
            <a:ext cx="489642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6" name="Text 14"/>
          <p:cNvSpPr/>
          <p:nvPr/>
        </p:nvSpPr>
        <p:spPr>
          <a:xfrm>
            <a:off x="6890187" y="2103120"/>
            <a:ext cx="4640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들어가는 항목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30352" y="2505456"/>
            <a:ext cx="11128248" cy="621792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2505456"/>
            <a:ext cx="2637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할 일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3551712" y="2505456"/>
            <a:ext cx="30824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할 일 하나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6890187" y="2505456"/>
            <a:ext cx="464039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id · 내용 · 적은 날짜 · 완료 여부</a:t>
            </a:r>
            <a:endParaRPr lang="en-US" sz="1240" dirty="0"/>
          </a:p>
        </p:txBody>
      </p:sp>
      <p:sp>
        <p:nvSpPr>
          <p:cNvPr id="21" name="Shape 19"/>
          <p:cNvSpPr/>
          <p:nvPr/>
        </p:nvSpPr>
        <p:spPr>
          <a:xfrm>
            <a:off x="530352" y="3127248"/>
            <a:ext cx="1112824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127248"/>
            <a:ext cx="2637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3551712" y="3127248"/>
            <a:ext cx="30824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6890187" y="3127248"/>
            <a:ext cx="464039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5" name="Shape 23"/>
          <p:cNvSpPr/>
          <p:nvPr/>
        </p:nvSpPr>
        <p:spPr>
          <a:xfrm>
            <a:off x="530352" y="3749040"/>
            <a:ext cx="11128248" cy="621792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" y="3749040"/>
            <a:ext cx="2637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3551712" y="3749040"/>
            <a:ext cx="30824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Text 26"/>
          <p:cNvSpPr/>
          <p:nvPr/>
        </p:nvSpPr>
        <p:spPr>
          <a:xfrm>
            <a:off x="6890187" y="3749040"/>
            <a:ext cx="464039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9" name="Shape 27"/>
          <p:cNvSpPr/>
          <p:nvPr/>
        </p:nvSpPr>
        <p:spPr>
          <a:xfrm>
            <a:off x="530352" y="47548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47548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7-1에서 그린 표를 그대로 옮긴다. 새로 만들지 않는다.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30352" y="57150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7150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 하나로 충분하면 하나만 적는다. 억지로 늘리지 않는다.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관계는 쉬운 문장으로만 적는다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07-2 · 11쪽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94560"/>
            <a:ext cx="11128248" cy="1051560"/>
          </a:xfrm>
          <a:prstGeom prst="roundRect">
            <a:avLst>
              <a:gd name="adj" fmla="val 4348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377440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90"/>
              </a:lnSpc>
              <a:buNone/>
            </a:pPr>
            <a:r>
              <a:rPr lang="en-US" sz="17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____________ 하나에  ____________ 여러 개가 붙는다.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30352" y="3429000"/>
            <a:ext cx="5349240" cy="1371600"/>
          </a:xfrm>
          <a:prstGeom prst="roundRect">
            <a:avLst>
              <a:gd name="adj" fmla="val 366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59359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이렇게 적으면 된다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3232" y="4087368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「책 하나에 독서 기록 여러 개가 붙는다」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309360" y="3429000"/>
            <a:ext cx="5349240" cy="1371600"/>
          </a:xfrm>
          <a:prstGeom prst="roundRect">
            <a:avLst>
              <a:gd name="adj" fmla="val 366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359359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표가 하나면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492240" y="4087368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「표 하나로 충분하다」 한 줄이면 끝이다.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30352" y="50292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0292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1:N · 카디널리티 같은 말을 쓰지 않아도 된다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30352" y="57150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7150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 19쪽에 이미 적어 두었다. 그대로 옮긴다.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AI로 목록을 점검한다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07-2 · 12–13쪽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5번 항목까지 적은 문서를 통째로 붙여 넣는다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03120"/>
            <a:ext cx="11128248" cy="2331720"/>
          </a:xfrm>
          <a:prstGeom prst="roundRect">
            <a:avLst>
              <a:gd name="adj" fmla="val 1961"/>
            </a:avLst>
          </a:prstGeom>
          <a:solidFill>
            <a:srgbClr val="24272C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23113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요청문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68096" y="2505456"/>
            <a:ext cx="10652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80"/>
              </a:lnSpc>
              <a:buNone/>
            </a:pPr>
            <a:r>
              <a:rPr lang="en-US" sz="14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아래는 내가 쓴 서비스 계획서다.</a:t>
            </a:r>
            <a:endParaRPr lang="en-US" sz="1400" dirty="0"/>
          </a:p>
          <a:p>
            <a:pPr indent="0" marL="0">
              <a:lnSpc>
                <a:spcPts val="2380"/>
              </a:lnSpc>
              <a:buNone/>
            </a:pPr>
            <a:r>
              <a:rPr lang="en-US" sz="14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표를 새로 설계하거나 고쳐 주지 말고, 아래 세 가지만 확인해 알려 줘.</a:t>
            </a:r>
            <a:endParaRPr lang="en-US" sz="1400" dirty="0"/>
          </a:p>
          <a:p>
            <a:pPr indent="0" marL="0">
              <a:lnSpc>
                <a:spcPts val="2380"/>
              </a:lnSpc>
              <a:buNone/>
            </a:pPr>
            <a:r>
              <a:rPr lang="en-US" sz="1400" dirty="0">
                <a:solidFill>
                  <a:srgbClr val="9BE6B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 핵심 기능이 하는 일과 기억할 기록이 서로 맞는가</a:t>
            </a:r>
            <a:endParaRPr lang="en-US" sz="1400" dirty="0"/>
          </a:p>
          <a:p>
            <a:pPr indent="0" marL="0">
              <a:lnSpc>
                <a:spcPts val="2380"/>
              </a:lnSpc>
              <a:buNone/>
            </a:pPr>
            <a:r>
              <a:rPr lang="en-US" sz="1400" dirty="0">
                <a:solidFill>
                  <a:srgbClr val="9BE6B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 저장한다고 적은 것 중에 다시 보여 줄 일이 없는 것이 있는가</a:t>
            </a:r>
            <a:endParaRPr lang="en-US" sz="1400" dirty="0"/>
          </a:p>
          <a:p>
            <a:pPr indent="0" marL="0">
              <a:lnSpc>
                <a:spcPts val="2380"/>
              </a:lnSpc>
              <a:buNone/>
            </a:pPr>
            <a:r>
              <a:rPr lang="en-US" sz="1400" dirty="0">
                <a:solidFill>
                  <a:srgbClr val="9BE6B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3. 실제 개인정보가 들어가 있는가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0352" y="4617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4617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「표 설계해 줘」가 아니다. AI가 표를 늘리면 그 지적은 따르지 않는다.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737360" y="5303520"/>
            <a:ext cx="8686800" cy="960120"/>
          </a:xfrm>
          <a:prstGeom prst="roundRect">
            <a:avLst>
              <a:gd name="adj" fmla="val 523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20240" y="5468112"/>
            <a:ext cx="8321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3번은 반드시 확인한다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920240" y="5961888"/>
            <a:ext cx="8321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이름·연락처·생일이 남아 있으면 지우고 가상의 값이나 별명으로 바꾼다.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채운 칸을 세어 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07-2 · 14–15쪽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57400"/>
            <a:ext cx="689951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057400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채웠어야 하는 것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29866" y="2057400"/>
            <a:ext cx="2114367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7557882" y="2057400"/>
            <a:ext cx="18583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채움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544233" y="2057400"/>
            <a:ext cx="2114367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9672249" y="2057400"/>
            <a:ext cx="18583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비었음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2459736"/>
            <a:ext cx="11128248" cy="393192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459736"/>
            <a:ext cx="664348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반드시 기억해야 할 기록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7557882" y="2459736"/>
            <a:ext cx="185833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9672249" y="2459736"/>
            <a:ext cx="185833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2852928"/>
            <a:ext cx="11128248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852928"/>
            <a:ext cx="664348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기록이 생기는 사용자 행동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7557882" y="2852928"/>
            <a:ext cx="185833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9672249" y="2852928"/>
            <a:ext cx="185833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246120"/>
            <a:ext cx="11128248" cy="393192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246120"/>
            <a:ext cx="664348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확인하는 순간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7557882" y="3246120"/>
            <a:ext cx="185833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9672249" y="3246120"/>
            <a:ext cx="185833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639312"/>
            <a:ext cx="11128248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639312"/>
            <a:ext cx="664348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저장할 정보 · 저장하지 않을 정보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7557882" y="3639312"/>
            <a:ext cx="185833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9672249" y="3639312"/>
            <a:ext cx="185833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530352" y="4032504"/>
            <a:ext cx="11128248" cy="393192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4032504"/>
            <a:ext cx="664348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개인정보를 쓰지 않는 방법</a:t>
            </a:r>
            <a:endParaRPr lang="en-US" sz="1240" dirty="0"/>
          </a:p>
        </p:txBody>
      </p:sp>
      <p:sp>
        <p:nvSpPr>
          <p:cNvPr id="34" name="Text 32"/>
          <p:cNvSpPr/>
          <p:nvPr/>
        </p:nvSpPr>
        <p:spPr>
          <a:xfrm>
            <a:off x="7557882" y="4032504"/>
            <a:ext cx="185833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9672249" y="4032504"/>
            <a:ext cx="185833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6" name="Shape 34"/>
          <p:cNvSpPr/>
          <p:nvPr/>
        </p:nvSpPr>
        <p:spPr>
          <a:xfrm>
            <a:off x="530352" y="4425696"/>
            <a:ext cx="11128248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425696"/>
            <a:ext cx="664348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 후보 1~3개와 각 표의 한 행</a:t>
            </a:r>
            <a:endParaRPr lang="en-US" sz="1240" dirty="0"/>
          </a:p>
        </p:txBody>
      </p:sp>
      <p:sp>
        <p:nvSpPr>
          <p:cNvPr id="38" name="Text 36"/>
          <p:cNvSpPr/>
          <p:nvPr/>
        </p:nvSpPr>
        <p:spPr>
          <a:xfrm>
            <a:off x="7557882" y="4425696"/>
            <a:ext cx="185833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9" name="Text 37"/>
          <p:cNvSpPr/>
          <p:nvPr/>
        </p:nvSpPr>
        <p:spPr>
          <a:xfrm>
            <a:off x="9672249" y="4425696"/>
            <a:ext cx="185833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0" name="Shape 38"/>
          <p:cNvSpPr/>
          <p:nvPr/>
        </p:nvSpPr>
        <p:spPr>
          <a:xfrm>
            <a:off x="530352" y="4818888"/>
            <a:ext cx="11128248" cy="393192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4818888"/>
            <a:ext cx="664348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 사이 관계 한 문장</a:t>
            </a:r>
            <a:endParaRPr lang="en-US" sz="1240" dirty="0"/>
          </a:p>
        </p:txBody>
      </p:sp>
      <p:sp>
        <p:nvSpPr>
          <p:cNvPr id="42" name="Text 40"/>
          <p:cNvSpPr/>
          <p:nvPr/>
        </p:nvSpPr>
        <p:spPr>
          <a:xfrm>
            <a:off x="7557882" y="4818888"/>
            <a:ext cx="185833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3" name="Text 41"/>
          <p:cNvSpPr/>
          <p:nvPr/>
        </p:nvSpPr>
        <p:spPr>
          <a:xfrm>
            <a:off x="9672249" y="4818888"/>
            <a:ext cx="185833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4" name="Shape 42"/>
          <p:cNvSpPr/>
          <p:nvPr/>
        </p:nvSpPr>
        <p:spPr>
          <a:xfrm>
            <a:off x="530352" y="53492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" y="53492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비었음이 두 개 이하면 오늘 몫을 다 한 것이다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530352" y="5760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1520" y="5760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다음 시간이 수행평가 2다. 남은 칸은 그 전에 채워 온다.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남길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무엇을 기억할지는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내가 정한다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30352" y="370332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어려운 말로 적지 않아도 된다. 항목끼리 맞으면 된다.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다음 시간은 수행평가 2입니다.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07-2 · 16쪽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2026-09-10T07:30:42Z</dcterms:created>
  <dcterms:modified xsi:type="dcterms:W3CDTF">2026-09-10T07:30:42Z</dcterms:modified>
</cp:coreProperties>
</file>